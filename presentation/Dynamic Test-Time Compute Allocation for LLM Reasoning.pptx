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6858000" cx="12192000"/>
  <p:notesSz cx="6858000" cy="12192000"/>
  <p:embeddedFontLst>
    <p:embeddedFont>
      <p:font typeface="Helvetica Neue"/>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3840">
          <p15:clr>
            <a:srgbClr val="747775"/>
          </p15:clr>
        </p15:guide>
      </p15:sldGuideLst>
    </p:ext>
    <p:ext uri="GoogleSlidesCustomDataVersion2">
      <go:slidesCustomData xmlns:go="http://customooxmlschemas.google.com/" r:id="rId40" roundtripDataSignature="AMtx7miGiS53LhPtf3iXQhPQyPxYg5Qn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HelveticaNeue-bold.fntdata"/><Relationship Id="rId14" Type="http://schemas.openxmlformats.org/officeDocument/2006/relationships/slide" Target="slides/slide8.xml"/><Relationship Id="rId36" Type="http://schemas.openxmlformats.org/officeDocument/2006/relationships/font" Target="fonts/HelveticaNeue-regular.fntdata"/><Relationship Id="rId17" Type="http://schemas.openxmlformats.org/officeDocument/2006/relationships/slide" Target="slides/slide11.xml"/><Relationship Id="rId39" Type="http://schemas.openxmlformats.org/officeDocument/2006/relationships/font" Target="fonts/HelveticaNeue-boldItalic.fntdata"/><Relationship Id="rId16" Type="http://schemas.openxmlformats.org/officeDocument/2006/relationships/slide" Target="slides/slide10.xml"/><Relationship Id="rId38" Type="http://schemas.openxmlformats.org/officeDocument/2006/relationships/font" Target="fonts/HelveticaNeue-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notes"/>
          <p:cNvSpPr txBox="1"/>
          <p:nvPr>
            <p:ph idx="1" type="body"/>
          </p:nvPr>
        </p:nvSpPr>
        <p:spPr>
          <a:xfrm>
            <a:off x="381000" y="4343400"/>
            <a:ext cx="6096000" cy="4114800"/>
          </a:xfrm>
          <a:prstGeom prst="rect">
            <a:avLst/>
          </a:prstGeom>
          <a:noFill/>
          <a:ln>
            <a:noFill/>
          </a:ln>
        </p:spPr>
        <p:txBody>
          <a:bodyPr anchorCtr="0" anchor="t" bIns="45700" lIns="91425" spcFirstLastPara="1" rIns="180000" wrap="square" tIns="45700">
            <a:noAutofit/>
          </a:bodyPr>
          <a:lstStyle/>
          <a:p>
            <a:pPr indent="0" lvl="0" marL="0" marR="0" rtl="0" algn="l">
              <a:spcBef>
                <a:spcPts val="0"/>
              </a:spcBef>
              <a:spcAft>
                <a:spcPts val="0"/>
              </a:spcAft>
              <a:buClr>
                <a:schemeClr val="dk1"/>
              </a:buClr>
              <a:buSzPts val="1200"/>
              <a:buFont typeface="Arial"/>
              <a:buNone/>
            </a:pPr>
            <a:r>
              <a:t/>
            </a:r>
            <a:endParaRPr b="0" i="0" sz="1200" u="none" cap="none" strike="noStrike">
              <a:solidFill>
                <a:schemeClr val="dk1"/>
              </a:solidFill>
              <a:latin typeface="Arial"/>
              <a:ea typeface="Arial"/>
              <a:cs typeface="Arial"/>
              <a:sym typeface="Arial"/>
            </a:endParaRPr>
          </a:p>
        </p:txBody>
      </p:sp>
      <p:sp>
        <p:nvSpPr>
          <p:cNvPr id="101" name="Google Shape;10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2dfb90ae07d12a84_2_5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h2dfb90ae07d12a84_2_5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2dfb90ae07d12a84_2_6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h2dfb90ae07d12a84_2_6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2dfb90ae07d12a84_2_10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h2dfb90ae07d12a84_2_10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2dfb90ae07d12a84_2_11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h2dfb90ae07d12a84_2_11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h2dfb90ae07d12a84_2_12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h2dfb90ae07d12a84_2_12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h2dfb90ae07d12a84_2_13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h2dfb90ae07d12a84_2_13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h2dfb90ae07d12a84_2_147: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h2dfb90ae07d12a84_2_14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h2dfb90ae07d12a84_2_158: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h2dfb90ae07d12a84_2_158: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h2dfb90ae07d12a84_2_169: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h2dfb90ae07d12a84_2_169: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2dfb90ae07d12a84_2_18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h2dfb90ae07d12a84_2_18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h2dfb90ae07d12a84_2_19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h2dfb90ae07d12a84_2_19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2dfb90ae07d12a84_2_258: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h2dfb90ae07d12a84_2_258: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h2dfb90ae07d12a84_2_27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h2dfb90ae07d12a84_2_27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h2dfb90ae07d12a84_2_28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h2dfb90ae07d12a84_2_284: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h2dfb90ae07d12a84_2_29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h2dfb90ae07d12a84_2_295: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h2dfb90ae07d12a84_2_30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h2dfb90ae07d12a84_2_30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h2dfb90ae07d12a84_2_318: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h2dfb90ae07d12a84_2_318: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fbf000509b_0_6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g3fbf000509b_0_64: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h2dfb90ae07d12a84_2_329: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h2dfb90ae07d12a84_2_329: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h2dfb90ae07d12a84_2_34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h2dfb90ae07d12a84_2_34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h2dfb90ae07d12a84_2_41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h2dfb90ae07d12a84_2_41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h2dfb90ae07d12a84_2_42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h2dfb90ae07d12a84_2_422: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h2dfb90ae07d12a84_2_43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h2dfb90ae07d12a84_2_43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h2dfb90ae07d12a84_2_45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h2dfb90ae07d12a84_2_45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h2dfb90ae07d12a84_2_467: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h2dfb90ae07d12a84_2_467: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h2dfb90ae07d12a84_2_52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h2dfb90ae07d12a84_2_523: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h2dfb90ae07d12a84_2_54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h2dfb90ae07d12a84_2_540: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h2dfb90ae07d12a84_2_551:notes"/>
          <p:cNvSpPr txBox="1"/>
          <p:nvPr>
            <p:ph idx="1" type="body"/>
          </p:nvPr>
        </p:nvSpPr>
        <p:spPr>
          <a:xfrm>
            <a:off x="381000" y="4343400"/>
            <a:ext cx="6096000" cy="4114800"/>
          </a:xfrm>
          <a:prstGeom prst="rect">
            <a:avLst/>
          </a:prstGeom>
          <a:noFill/>
          <a:ln>
            <a:noFill/>
          </a:ln>
        </p:spPr>
        <p:txBody>
          <a:bodyPr anchorCtr="0" anchor="t" bIns="45700" lIns="91425" spcFirstLastPara="1" rIns="180000"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sz="1200">
              <a:solidFill>
                <a:schemeClr val="dk1"/>
              </a:solidFill>
              <a:latin typeface="Arial"/>
              <a:ea typeface="Arial"/>
              <a:cs typeface="Arial"/>
              <a:sym typeface="Arial"/>
            </a:endParaRPr>
          </a:p>
        </p:txBody>
      </p:sp>
      <p:sp>
        <p:nvSpPr>
          <p:cNvPr id="693" name="Google Shape;693;h2dfb90ae07d12a84_2_5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showMasterSp="0">
  <p:cSld name="Diapositive de titre">
    <p:spTree>
      <p:nvGrpSpPr>
        <p:cNvPr id="9" name="Shape 9"/>
        <p:cNvGrpSpPr/>
        <p:nvPr/>
      </p:nvGrpSpPr>
      <p:grpSpPr>
        <a:xfrm>
          <a:off x="0" y="0"/>
          <a:ext cx="0" cy="0"/>
          <a:chOff x="0" y="0"/>
          <a:chExt cx="0" cy="0"/>
        </a:xfrm>
      </p:grpSpPr>
      <p:sp>
        <p:nvSpPr>
          <p:cNvPr id="10" name="Google Shape;10;p11"/>
          <p:cNvSpPr txBox="1"/>
          <p:nvPr>
            <p:ph type="ctrTitle"/>
          </p:nvPr>
        </p:nvSpPr>
        <p:spPr>
          <a:xfrm>
            <a:off x="1291200" y="2256000"/>
            <a:ext cx="9681600" cy="30912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dk1"/>
              </a:buClr>
              <a:buSzPts val="5500"/>
              <a:buFont typeface="Helvetica Neue"/>
              <a:buNone/>
              <a:defRPr sz="7333">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 name="Google Shape;11;p11"/>
          <p:cNvSpPr txBox="1"/>
          <p:nvPr>
            <p:ph idx="1" type="subTitle"/>
          </p:nvPr>
        </p:nvSpPr>
        <p:spPr>
          <a:xfrm>
            <a:off x="1267461" y="5569792"/>
            <a:ext cx="5788647" cy="451496"/>
          </a:xfrm>
          <a:prstGeom prst="rect">
            <a:avLst/>
          </a:prstGeom>
          <a:noFill/>
          <a:ln>
            <a:noFill/>
          </a:ln>
        </p:spPr>
        <p:txBody>
          <a:bodyPr anchorCtr="0" anchor="t" bIns="0" lIns="0" spcFirstLastPara="1" rIns="0" wrap="square" tIns="0">
            <a:noAutofit/>
          </a:bodyPr>
          <a:lstStyle>
            <a:lvl1pPr lvl="0" algn="l">
              <a:lnSpc>
                <a:spcPct val="90000"/>
              </a:lnSpc>
              <a:spcBef>
                <a:spcPts val="800"/>
              </a:spcBef>
              <a:spcAft>
                <a:spcPts val="0"/>
              </a:spcAft>
              <a:buSzPts val="350"/>
              <a:buNone/>
              <a:defRPr>
                <a:solidFill>
                  <a:schemeClr val="dk1"/>
                </a:solidFill>
              </a:defRPr>
            </a:lvl1pPr>
            <a:lvl2pPr lvl="1" algn="l">
              <a:lnSpc>
                <a:spcPct val="90000"/>
              </a:lnSpc>
              <a:spcBef>
                <a:spcPts val="800"/>
              </a:spcBef>
              <a:spcAft>
                <a:spcPts val="0"/>
              </a:spcAft>
              <a:buClr>
                <a:schemeClr val="lt2"/>
              </a:buClr>
              <a:buSzPts val="1400"/>
              <a:buFont typeface="Noto Sans Symbols"/>
              <a:buChar char="▪"/>
              <a:defRPr>
                <a:solidFill>
                  <a:schemeClr val="dk1"/>
                </a:solidFill>
              </a:defRPr>
            </a:lvl2pPr>
            <a:lvl3pPr lvl="2" algn="l">
              <a:lnSpc>
                <a:spcPct val="90000"/>
              </a:lnSpc>
              <a:spcBef>
                <a:spcPts val="448"/>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3pPr>
            <a:lvl4pPr lvl="3" algn="l">
              <a:lnSpc>
                <a:spcPct val="90000"/>
              </a:lnSpc>
              <a:spcBef>
                <a:spcPts val="32"/>
              </a:spcBef>
              <a:spcAft>
                <a:spcPts val="0"/>
              </a:spcAft>
              <a:buClr>
                <a:schemeClr val="dk1"/>
              </a:buClr>
              <a:buSzPts val="1400"/>
              <a:buFont typeface="Helvetica Neue"/>
              <a:buChar char="–"/>
              <a:defRPr>
                <a:solidFill>
                  <a:schemeClr val="dk1"/>
                </a:solidFill>
              </a:defRPr>
            </a:lvl4pPr>
            <a:lvl5pPr lvl="4" algn="l">
              <a:lnSpc>
                <a:spcPct val="90000"/>
              </a:lnSpc>
              <a:spcBef>
                <a:spcPts val="373"/>
              </a:spcBef>
              <a:spcAft>
                <a:spcPts val="0"/>
              </a:spcAft>
              <a:buSzPts val="1400"/>
              <a:buFont typeface="Helvetica Neue"/>
              <a:buChar char="–"/>
              <a:defRPr>
                <a:solidFill>
                  <a:schemeClr val="dk1"/>
                </a:solidFill>
              </a:defRPr>
            </a:lvl5pPr>
            <a:lvl6pPr lvl="5" algn="ctr">
              <a:lnSpc>
                <a:spcPct val="100000"/>
              </a:lnSpc>
              <a:spcBef>
                <a:spcPts val="373"/>
              </a:spcBef>
              <a:spcAft>
                <a:spcPts val="0"/>
              </a:spcAft>
              <a:buClr>
                <a:schemeClr val="dk1"/>
              </a:buClr>
              <a:buSzPts val="1400"/>
              <a:buNone/>
              <a:defRPr>
                <a:solidFill>
                  <a:schemeClr val="dk1"/>
                </a:solidFill>
              </a:defRPr>
            </a:lvl6pPr>
            <a:lvl7pPr lvl="6" algn="ctr">
              <a:lnSpc>
                <a:spcPct val="100000"/>
              </a:lnSpc>
              <a:spcBef>
                <a:spcPts val="533"/>
              </a:spcBef>
              <a:spcAft>
                <a:spcPts val="0"/>
              </a:spcAft>
              <a:buClr>
                <a:schemeClr val="dk1"/>
              </a:buClr>
              <a:buSzPts val="2000"/>
              <a:buNone/>
              <a:defRPr>
                <a:solidFill>
                  <a:schemeClr val="dk1"/>
                </a:solidFill>
              </a:defRPr>
            </a:lvl7pPr>
            <a:lvl8pPr lvl="7" algn="ctr">
              <a:lnSpc>
                <a:spcPct val="100000"/>
              </a:lnSpc>
              <a:spcBef>
                <a:spcPts val="533"/>
              </a:spcBef>
              <a:spcAft>
                <a:spcPts val="0"/>
              </a:spcAft>
              <a:buClr>
                <a:schemeClr val="dk1"/>
              </a:buClr>
              <a:buSzPts val="2000"/>
              <a:buNone/>
              <a:defRPr>
                <a:solidFill>
                  <a:schemeClr val="dk1"/>
                </a:solidFill>
              </a:defRPr>
            </a:lvl8pPr>
            <a:lvl9pPr lvl="8" algn="ctr">
              <a:lnSpc>
                <a:spcPct val="100000"/>
              </a:lnSpc>
              <a:spcBef>
                <a:spcPts val="533"/>
              </a:spcBef>
              <a:spcAft>
                <a:spcPts val="0"/>
              </a:spcAft>
              <a:buClr>
                <a:schemeClr val="dk1"/>
              </a:buClr>
              <a:buSzPts val="2000"/>
              <a:buNone/>
              <a:defRPr>
                <a:solidFill>
                  <a:schemeClr val="dk1"/>
                </a:solidFill>
              </a:defRPr>
            </a:lvl9pPr>
          </a:lstStyle>
          <a:p/>
        </p:txBody>
      </p:sp>
      <p:grpSp>
        <p:nvGrpSpPr>
          <p:cNvPr id="12" name="Google Shape;12;p11"/>
          <p:cNvGrpSpPr/>
          <p:nvPr/>
        </p:nvGrpSpPr>
        <p:grpSpPr>
          <a:xfrm>
            <a:off x="10969537" y="5645152"/>
            <a:ext cx="817033" cy="817033"/>
            <a:chOff x="313535" y="4233863"/>
            <a:chExt cx="612775" cy="612775"/>
          </a:xfrm>
        </p:grpSpPr>
        <p:sp>
          <p:nvSpPr>
            <p:cNvPr id="13" name="Google Shape;13;p11"/>
            <p:cNvSpPr/>
            <p:nvPr/>
          </p:nvSpPr>
          <p:spPr>
            <a:xfrm>
              <a:off x="313535" y="4233863"/>
              <a:ext cx="612775" cy="612775"/>
            </a:xfrm>
            <a:prstGeom prst="rect">
              <a:avLst/>
            </a:prstGeom>
            <a:solidFill>
              <a:srgbClr val="FF7900"/>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14" name="Google Shape;14;p11"/>
            <p:cNvSpPr/>
            <p:nvPr/>
          </p:nvSpPr>
          <p:spPr>
            <a:xfrm>
              <a:off x="500860" y="4708526"/>
              <a:ext cx="74613" cy="87313"/>
            </a:xfrm>
            <a:custGeom>
              <a:rect b="b" l="l" r="r" t="t"/>
              <a:pathLst>
                <a:path extrusionOk="0" h="109" w="93">
                  <a:moveTo>
                    <a:pt x="66" y="99"/>
                  </a:moveTo>
                  <a:cubicBezTo>
                    <a:pt x="55" y="106"/>
                    <a:pt x="43" y="109"/>
                    <a:pt x="31" y="109"/>
                  </a:cubicBezTo>
                  <a:cubicBezTo>
                    <a:pt x="11" y="109"/>
                    <a:pt x="0" y="96"/>
                    <a:pt x="0" y="79"/>
                  </a:cubicBezTo>
                  <a:cubicBezTo>
                    <a:pt x="0" y="55"/>
                    <a:pt x="21" y="42"/>
                    <a:pt x="66" y="37"/>
                  </a:cubicBezTo>
                  <a:cubicBezTo>
                    <a:pt x="66" y="32"/>
                    <a:pt x="66" y="32"/>
                    <a:pt x="66" y="32"/>
                  </a:cubicBezTo>
                  <a:cubicBezTo>
                    <a:pt x="66" y="24"/>
                    <a:pt x="60" y="19"/>
                    <a:pt x="49" y="19"/>
                  </a:cubicBezTo>
                  <a:cubicBezTo>
                    <a:pt x="39" y="19"/>
                    <a:pt x="30" y="24"/>
                    <a:pt x="24" y="32"/>
                  </a:cubicBezTo>
                  <a:cubicBezTo>
                    <a:pt x="5" y="21"/>
                    <a:pt x="5" y="21"/>
                    <a:pt x="5" y="21"/>
                  </a:cubicBezTo>
                  <a:cubicBezTo>
                    <a:pt x="15" y="7"/>
                    <a:pt x="30" y="0"/>
                    <a:pt x="50" y="0"/>
                  </a:cubicBezTo>
                  <a:cubicBezTo>
                    <a:pt x="77" y="0"/>
                    <a:pt x="93" y="12"/>
                    <a:pt x="93" y="32"/>
                  </a:cubicBezTo>
                  <a:cubicBezTo>
                    <a:pt x="93" y="32"/>
                    <a:pt x="93" y="108"/>
                    <a:pt x="93" y="108"/>
                  </a:cubicBezTo>
                  <a:cubicBezTo>
                    <a:pt x="68" y="108"/>
                    <a:pt x="68" y="108"/>
                    <a:pt x="68" y="108"/>
                  </a:cubicBezTo>
                  <a:lnTo>
                    <a:pt x="66" y="99"/>
                  </a:lnTo>
                  <a:close/>
                  <a:moveTo>
                    <a:pt x="27" y="77"/>
                  </a:moveTo>
                  <a:cubicBezTo>
                    <a:pt x="27" y="84"/>
                    <a:pt x="31" y="90"/>
                    <a:pt x="39" y="90"/>
                  </a:cubicBezTo>
                  <a:cubicBezTo>
                    <a:pt x="48" y="90"/>
                    <a:pt x="57" y="87"/>
                    <a:pt x="65" y="79"/>
                  </a:cubicBezTo>
                  <a:cubicBezTo>
                    <a:pt x="65" y="54"/>
                    <a:pt x="65" y="54"/>
                    <a:pt x="65" y="54"/>
                  </a:cubicBezTo>
                  <a:cubicBezTo>
                    <a:pt x="39" y="57"/>
                    <a:pt x="27" y="64"/>
                    <a:pt x="27" y="77"/>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15" name="Google Shape;15;p11"/>
            <p:cNvSpPr/>
            <p:nvPr/>
          </p:nvSpPr>
          <p:spPr>
            <a:xfrm>
              <a:off x="592935" y="4708526"/>
              <a:ext cx="76200" cy="87313"/>
            </a:xfrm>
            <a:custGeom>
              <a:rect b="b" l="l" r="r" t="t"/>
              <a:pathLst>
                <a:path extrusionOk="0" h="108" w="94">
                  <a:moveTo>
                    <a:pt x="0" y="5"/>
                  </a:moveTo>
                  <a:cubicBezTo>
                    <a:pt x="23" y="2"/>
                    <a:pt x="23" y="2"/>
                    <a:pt x="23" y="2"/>
                  </a:cubicBezTo>
                  <a:cubicBezTo>
                    <a:pt x="25" y="15"/>
                    <a:pt x="25" y="15"/>
                    <a:pt x="25" y="15"/>
                  </a:cubicBezTo>
                  <a:cubicBezTo>
                    <a:pt x="38" y="5"/>
                    <a:pt x="48" y="0"/>
                    <a:pt x="61" y="0"/>
                  </a:cubicBezTo>
                  <a:cubicBezTo>
                    <a:pt x="83" y="0"/>
                    <a:pt x="94" y="12"/>
                    <a:pt x="94" y="34"/>
                  </a:cubicBezTo>
                  <a:cubicBezTo>
                    <a:pt x="94" y="108"/>
                    <a:pt x="94" y="108"/>
                    <a:pt x="94" y="108"/>
                  </a:cubicBezTo>
                  <a:cubicBezTo>
                    <a:pt x="66" y="108"/>
                    <a:pt x="66" y="108"/>
                    <a:pt x="66" y="108"/>
                  </a:cubicBezTo>
                  <a:cubicBezTo>
                    <a:pt x="66" y="39"/>
                    <a:pt x="66" y="39"/>
                    <a:pt x="66" y="39"/>
                  </a:cubicBezTo>
                  <a:cubicBezTo>
                    <a:pt x="66" y="26"/>
                    <a:pt x="63" y="21"/>
                    <a:pt x="53" y="21"/>
                  </a:cubicBezTo>
                  <a:cubicBezTo>
                    <a:pt x="45" y="21"/>
                    <a:pt x="36" y="24"/>
                    <a:pt x="27" y="32"/>
                  </a:cubicBezTo>
                  <a:cubicBezTo>
                    <a:pt x="27" y="108"/>
                    <a:pt x="27" y="108"/>
                    <a:pt x="27" y="108"/>
                  </a:cubicBezTo>
                  <a:cubicBezTo>
                    <a:pt x="0" y="108"/>
                    <a:pt x="0" y="108"/>
                    <a:pt x="0" y="108"/>
                  </a:cubicBezTo>
                  <a:lnTo>
                    <a:pt x="0" y="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16" name="Google Shape;16;p11"/>
            <p:cNvSpPr/>
            <p:nvPr/>
          </p:nvSpPr>
          <p:spPr>
            <a:xfrm>
              <a:off x="778673" y="4708526"/>
              <a:ext cx="79375" cy="88900"/>
            </a:xfrm>
            <a:custGeom>
              <a:rect b="b" l="l" r="r" t="t"/>
              <a:pathLst>
                <a:path extrusionOk="0" h="110" w="98">
                  <a:moveTo>
                    <a:pt x="50" y="110"/>
                  </a:moveTo>
                  <a:cubicBezTo>
                    <a:pt x="19" y="110"/>
                    <a:pt x="0" y="90"/>
                    <a:pt x="0" y="55"/>
                  </a:cubicBezTo>
                  <a:cubicBezTo>
                    <a:pt x="0" y="20"/>
                    <a:pt x="19" y="0"/>
                    <a:pt x="49" y="0"/>
                  </a:cubicBezTo>
                  <a:cubicBezTo>
                    <a:pt x="80" y="0"/>
                    <a:pt x="98" y="20"/>
                    <a:pt x="98" y="54"/>
                  </a:cubicBezTo>
                  <a:cubicBezTo>
                    <a:pt x="98" y="56"/>
                    <a:pt x="97" y="57"/>
                    <a:pt x="97" y="59"/>
                  </a:cubicBezTo>
                  <a:cubicBezTo>
                    <a:pt x="27" y="59"/>
                    <a:pt x="27" y="59"/>
                    <a:pt x="27" y="59"/>
                  </a:cubicBezTo>
                  <a:cubicBezTo>
                    <a:pt x="28" y="79"/>
                    <a:pt x="36" y="89"/>
                    <a:pt x="52" y="89"/>
                  </a:cubicBezTo>
                  <a:cubicBezTo>
                    <a:pt x="63" y="89"/>
                    <a:pt x="70" y="85"/>
                    <a:pt x="76" y="76"/>
                  </a:cubicBezTo>
                  <a:cubicBezTo>
                    <a:pt x="96" y="87"/>
                    <a:pt x="96" y="87"/>
                    <a:pt x="96" y="87"/>
                  </a:cubicBezTo>
                  <a:cubicBezTo>
                    <a:pt x="87" y="102"/>
                    <a:pt x="71" y="110"/>
                    <a:pt x="50" y="110"/>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17" name="Google Shape;17;p11"/>
            <p:cNvSpPr/>
            <p:nvPr/>
          </p:nvSpPr>
          <p:spPr>
            <a:xfrm>
              <a:off x="346873" y="4708526"/>
              <a:ext cx="84138" cy="88900"/>
            </a:xfrm>
            <a:custGeom>
              <a:rect b="b" l="l" r="r" t="t"/>
              <a:pathLst>
                <a:path extrusionOk="0" h="111" w="104">
                  <a:moveTo>
                    <a:pt x="52" y="111"/>
                  </a:moveTo>
                  <a:cubicBezTo>
                    <a:pt x="25" y="111"/>
                    <a:pt x="0" y="93"/>
                    <a:pt x="0" y="55"/>
                  </a:cubicBezTo>
                  <a:cubicBezTo>
                    <a:pt x="0" y="17"/>
                    <a:pt x="25" y="0"/>
                    <a:pt x="52" y="0"/>
                  </a:cubicBezTo>
                  <a:cubicBezTo>
                    <a:pt x="79" y="0"/>
                    <a:pt x="104" y="17"/>
                    <a:pt x="104" y="55"/>
                  </a:cubicBezTo>
                  <a:cubicBezTo>
                    <a:pt x="104" y="93"/>
                    <a:pt x="79" y="111"/>
                    <a:pt x="52" y="111"/>
                  </a:cubicBezTo>
                  <a:close/>
                  <a:moveTo>
                    <a:pt x="52" y="23"/>
                  </a:moveTo>
                  <a:cubicBezTo>
                    <a:pt x="31" y="23"/>
                    <a:pt x="28" y="42"/>
                    <a:pt x="28" y="55"/>
                  </a:cubicBezTo>
                  <a:cubicBezTo>
                    <a:pt x="28" y="69"/>
                    <a:pt x="31" y="87"/>
                    <a:pt x="52" y="87"/>
                  </a:cubicBezTo>
                  <a:cubicBezTo>
                    <a:pt x="73" y="87"/>
                    <a:pt x="77" y="69"/>
                    <a:pt x="77" y="55"/>
                  </a:cubicBezTo>
                  <a:cubicBezTo>
                    <a:pt x="77" y="42"/>
                    <a:pt x="73" y="23"/>
                    <a:pt x="52" y="23"/>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18" name="Google Shape;18;p11"/>
            <p:cNvSpPr/>
            <p:nvPr/>
          </p:nvSpPr>
          <p:spPr>
            <a:xfrm>
              <a:off x="446885" y="4708526"/>
              <a:ext cx="47625" cy="87313"/>
            </a:xfrm>
            <a:custGeom>
              <a:rect b="b" l="l" r="r" t="t"/>
              <a:pathLst>
                <a:path extrusionOk="0" h="108" w="59">
                  <a:moveTo>
                    <a:pt x="0" y="3"/>
                  </a:moveTo>
                  <a:cubicBezTo>
                    <a:pt x="26" y="3"/>
                    <a:pt x="26" y="3"/>
                    <a:pt x="26" y="3"/>
                  </a:cubicBezTo>
                  <a:cubicBezTo>
                    <a:pt x="26" y="15"/>
                    <a:pt x="26" y="15"/>
                    <a:pt x="26" y="15"/>
                  </a:cubicBezTo>
                  <a:cubicBezTo>
                    <a:pt x="31" y="8"/>
                    <a:pt x="44" y="0"/>
                    <a:pt x="55" y="0"/>
                  </a:cubicBezTo>
                  <a:cubicBezTo>
                    <a:pt x="57" y="0"/>
                    <a:pt x="58" y="0"/>
                    <a:pt x="59" y="1"/>
                  </a:cubicBezTo>
                  <a:cubicBezTo>
                    <a:pt x="59" y="27"/>
                    <a:pt x="59" y="27"/>
                    <a:pt x="59" y="27"/>
                  </a:cubicBezTo>
                  <a:cubicBezTo>
                    <a:pt x="59" y="27"/>
                    <a:pt x="58" y="27"/>
                    <a:pt x="58" y="27"/>
                  </a:cubicBezTo>
                  <a:cubicBezTo>
                    <a:pt x="46" y="27"/>
                    <a:pt x="32" y="28"/>
                    <a:pt x="28" y="38"/>
                  </a:cubicBezTo>
                  <a:cubicBezTo>
                    <a:pt x="28" y="108"/>
                    <a:pt x="28" y="108"/>
                    <a:pt x="28" y="108"/>
                  </a:cubicBezTo>
                  <a:cubicBezTo>
                    <a:pt x="0" y="108"/>
                    <a:pt x="0" y="108"/>
                    <a:pt x="0" y="108"/>
                  </a:cubicBezTo>
                  <a:lnTo>
                    <a:pt x="0" y="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19" name="Google Shape;19;p11"/>
            <p:cNvSpPr/>
            <p:nvPr/>
          </p:nvSpPr>
          <p:spPr>
            <a:xfrm>
              <a:off x="685010" y="4708526"/>
              <a:ext cx="79375" cy="120650"/>
            </a:xfrm>
            <a:custGeom>
              <a:rect b="b" l="l" r="r" t="t"/>
              <a:pathLst>
                <a:path extrusionOk="0" h="149" w="98">
                  <a:moveTo>
                    <a:pt x="49" y="85"/>
                  </a:moveTo>
                  <a:cubicBezTo>
                    <a:pt x="70" y="85"/>
                    <a:pt x="72" y="64"/>
                    <a:pt x="72" y="50"/>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9"/>
                  </a:cubicBezTo>
                  <a:cubicBezTo>
                    <a:pt x="26" y="149"/>
                    <a:pt x="7" y="141"/>
                    <a:pt x="3" y="123"/>
                  </a:cubicBezTo>
                  <a:cubicBezTo>
                    <a:pt x="30" y="118"/>
                    <a:pt x="30" y="118"/>
                    <a:pt x="30" y="118"/>
                  </a:cubicBezTo>
                  <a:cubicBezTo>
                    <a:pt x="32" y="123"/>
                    <a:pt x="35" y="128"/>
                    <a:pt x="50" y="128"/>
                  </a:cubicBezTo>
                  <a:cubicBezTo>
                    <a:pt x="65" y="128"/>
                    <a:pt x="72" y="122"/>
                    <a:pt x="72" y="105"/>
                  </a:cubicBezTo>
                  <a:cubicBezTo>
                    <a:pt x="72" y="93"/>
                    <a:pt x="72" y="93"/>
                    <a:pt x="72"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20" name="Google Shape;20;p11"/>
            <p:cNvSpPr/>
            <p:nvPr/>
          </p:nvSpPr>
          <p:spPr>
            <a:xfrm>
              <a:off x="843760" y="4678363"/>
              <a:ext cx="58738" cy="26988"/>
            </a:xfrm>
            <a:custGeom>
              <a:rect b="b" l="l" r="r" t="t"/>
              <a:pathLst>
                <a:path extrusionOk="0" h="17" w="37">
                  <a:moveTo>
                    <a:pt x="14" y="2"/>
                  </a:moveTo>
                  <a:lnTo>
                    <a:pt x="9" y="2"/>
                  </a:lnTo>
                  <a:lnTo>
                    <a:pt x="9" y="17"/>
                  </a:lnTo>
                  <a:lnTo>
                    <a:pt x="6" y="17"/>
                  </a:lnTo>
                  <a:lnTo>
                    <a:pt x="6" y="2"/>
                  </a:lnTo>
                  <a:lnTo>
                    <a:pt x="0" y="2"/>
                  </a:lnTo>
                  <a:lnTo>
                    <a:pt x="0" y="0"/>
                  </a:lnTo>
                  <a:lnTo>
                    <a:pt x="14" y="0"/>
                  </a:lnTo>
                  <a:lnTo>
                    <a:pt x="14" y="2"/>
                  </a:lnTo>
                  <a:close/>
                  <a:moveTo>
                    <a:pt x="37" y="17"/>
                  </a:moveTo>
                  <a:lnTo>
                    <a:pt x="34" y="17"/>
                  </a:lnTo>
                  <a:lnTo>
                    <a:pt x="34" y="2"/>
                  </a:lnTo>
                  <a:lnTo>
                    <a:pt x="34" y="2"/>
                  </a:lnTo>
                  <a:lnTo>
                    <a:pt x="29" y="17"/>
                  </a:lnTo>
                  <a:lnTo>
                    <a:pt x="27" y="17"/>
                  </a:lnTo>
                  <a:lnTo>
                    <a:pt x="21" y="2"/>
                  </a:lnTo>
                  <a:lnTo>
                    <a:pt x="20" y="2"/>
                  </a:lnTo>
                  <a:lnTo>
                    <a:pt x="20" y="17"/>
                  </a:lnTo>
                  <a:lnTo>
                    <a:pt x="18" y="17"/>
                  </a:lnTo>
                  <a:lnTo>
                    <a:pt x="18" y="0"/>
                  </a:lnTo>
                  <a:lnTo>
                    <a:pt x="22" y="0"/>
                  </a:lnTo>
                  <a:lnTo>
                    <a:pt x="28" y="13"/>
                  </a:lnTo>
                  <a:lnTo>
                    <a:pt x="33" y="0"/>
                  </a:lnTo>
                  <a:lnTo>
                    <a:pt x="37" y="0"/>
                  </a:lnTo>
                  <a:lnTo>
                    <a:pt x="37" y="1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grpSp>
      <p:sp>
        <p:nvSpPr>
          <p:cNvPr id="21" name="Google Shape;21;p11"/>
          <p:cNvSpPr txBox="1"/>
          <p:nvPr/>
        </p:nvSpPr>
        <p:spPr>
          <a:xfrm>
            <a:off x="385027" y="638775"/>
            <a:ext cx="2271991" cy="108734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7900"/>
              </a:buClr>
              <a:buSzPts val="3533"/>
              <a:buFont typeface="Helvetica Neue"/>
              <a:buNone/>
            </a:pPr>
            <a:r>
              <a:rPr b="1" i="0" lang="en-US" sz="3533" u="none" cap="none" strike="noStrike">
                <a:solidFill>
                  <a:srgbClr val="FF7900"/>
                </a:solidFill>
                <a:latin typeface="Helvetica Neue"/>
                <a:ea typeface="Helvetica Neue"/>
                <a:cs typeface="Helvetica Neue"/>
                <a:sym typeface="Helvetica Neue"/>
              </a:rPr>
              <a:t>Orange</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3533"/>
              <a:buFont typeface="Helvetica Neue"/>
              <a:buNone/>
            </a:pPr>
            <a:r>
              <a:rPr b="1" i="0" lang="en-US" sz="3533" u="none" cap="none" strike="noStrike">
                <a:solidFill>
                  <a:schemeClr val="dk1"/>
                </a:solidFill>
                <a:latin typeface="Helvetica Neue"/>
                <a:ea typeface="Helvetica Neue"/>
                <a:cs typeface="Helvetica Neue"/>
                <a:sym typeface="Helvetica Neue"/>
              </a:rPr>
              <a:t>Innovation</a:t>
            </a:r>
            <a:endParaRPr b="0" i="0" sz="2400" u="none" cap="none" strike="noStrike">
              <a:solidFill>
                <a:schemeClr val="dk1"/>
              </a:solidFill>
              <a:latin typeface="Arial"/>
              <a:ea typeface="Arial"/>
              <a:cs typeface="Arial"/>
              <a:sym typeface="Arial"/>
            </a:endParaRPr>
          </a:p>
        </p:txBody>
      </p:sp>
      <p:cxnSp>
        <p:nvCxnSpPr>
          <p:cNvPr id="22" name="Google Shape;22;p11"/>
          <p:cNvCxnSpPr/>
          <p:nvPr/>
        </p:nvCxnSpPr>
        <p:spPr>
          <a:xfrm>
            <a:off x="443507" y="164638"/>
            <a:ext cx="0" cy="369793"/>
          </a:xfrm>
          <a:prstGeom prst="straightConnector1">
            <a:avLst/>
          </a:prstGeom>
          <a:noFill/>
          <a:ln cap="flat" cmpd="sng" w="53975">
            <a:solidFill>
              <a:srgbClr val="FF7900"/>
            </a:solidFill>
            <a:prstDash val="solid"/>
            <a:round/>
            <a:headEnd len="sm" w="sm" type="none"/>
            <a:tailEnd len="sm" w="sm" type="none"/>
          </a:ln>
        </p:spPr>
      </p:cxnSp>
      <p:cxnSp>
        <p:nvCxnSpPr>
          <p:cNvPr id="23" name="Google Shape;23;p11"/>
          <p:cNvCxnSpPr/>
          <p:nvPr/>
        </p:nvCxnSpPr>
        <p:spPr>
          <a:xfrm>
            <a:off x="442579" y="1604797"/>
            <a:ext cx="928" cy="4897603"/>
          </a:xfrm>
          <a:prstGeom prst="straightConnector1">
            <a:avLst/>
          </a:prstGeom>
          <a:noFill/>
          <a:ln cap="flat" cmpd="sng" w="53975">
            <a:solidFill>
              <a:srgbClr val="FF7900"/>
            </a:solidFill>
            <a:prstDash val="solid"/>
            <a:round/>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24" name="Shape 24"/>
        <p:cNvGrpSpPr/>
        <p:nvPr/>
      </p:nvGrpSpPr>
      <p:grpSpPr>
        <a:xfrm>
          <a:off x="0" y="0"/>
          <a:ext cx="0" cy="0"/>
          <a:chOff x="0" y="0"/>
          <a:chExt cx="0" cy="0"/>
        </a:xfrm>
      </p:grpSpPr>
      <p:sp>
        <p:nvSpPr>
          <p:cNvPr id="25" name="Google Shape;25;p14"/>
          <p:cNvSpPr txBox="1"/>
          <p:nvPr>
            <p:ph idx="1" type="body"/>
          </p:nvPr>
        </p:nvSpPr>
        <p:spPr>
          <a:xfrm>
            <a:off x="419101" y="356660"/>
            <a:ext cx="11353799" cy="5711825"/>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750"/>
              <a:buNone/>
              <a:defRPr sz="4000"/>
            </a:lvl1pPr>
            <a:lvl2pPr indent="-419100" lvl="1" marL="914400" algn="l">
              <a:lnSpc>
                <a:spcPct val="90000"/>
              </a:lnSpc>
              <a:spcBef>
                <a:spcPts val="0"/>
              </a:spcBef>
              <a:spcAft>
                <a:spcPts val="0"/>
              </a:spcAft>
              <a:buClr>
                <a:schemeClr val="dk1"/>
              </a:buClr>
              <a:buSzPts val="3000"/>
              <a:buFont typeface="Helvetica Neue"/>
              <a:buAutoNum type="arabicPeriod"/>
              <a:defRPr sz="4000"/>
            </a:lvl2pPr>
            <a:lvl3pPr indent="-342900" lvl="2" marL="1371600" algn="l">
              <a:lnSpc>
                <a:spcPct val="90000"/>
              </a:lnSpc>
              <a:spcBef>
                <a:spcPts val="800"/>
              </a:spcBef>
              <a:spcAft>
                <a:spcPts val="0"/>
              </a:spcAft>
              <a:buSzPts val="1800"/>
              <a:buChar char="▪"/>
              <a:defRPr sz="2400"/>
            </a:lvl3pPr>
            <a:lvl4pPr indent="-342900" lvl="3" marL="1828800" algn="l">
              <a:lnSpc>
                <a:spcPct val="90000"/>
              </a:lnSpc>
              <a:spcBef>
                <a:spcPts val="480"/>
              </a:spcBef>
              <a:spcAft>
                <a:spcPts val="0"/>
              </a:spcAft>
              <a:buClr>
                <a:schemeClr val="dk1"/>
              </a:buClr>
              <a:buSzPts val="1800"/>
              <a:buChar char="–"/>
              <a:defRPr sz="2400"/>
            </a:lvl4pPr>
            <a:lvl5pPr indent="-342900" lvl="4" marL="2286000" algn="l">
              <a:lnSpc>
                <a:spcPct val="90000"/>
              </a:lnSpc>
              <a:spcBef>
                <a:spcPts val="480"/>
              </a:spcBef>
              <a:spcAft>
                <a:spcPts val="0"/>
              </a:spcAft>
              <a:buSzPts val="1800"/>
              <a:buChar char="–"/>
              <a:defRPr sz="2400"/>
            </a:lvl5pPr>
            <a:lvl6pPr indent="-342900" lvl="5" marL="2743200" algn="l">
              <a:lnSpc>
                <a:spcPct val="100000"/>
              </a:lnSpc>
              <a:spcBef>
                <a:spcPts val="480"/>
              </a:spcBef>
              <a:spcAft>
                <a:spcPts val="0"/>
              </a:spcAft>
              <a:buClr>
                <a:schemeClr val="dk1"/>
              </a:buClr>
              <a:buSzPts val="1800"/>
              <a:buChar char="–"/>
              <a:defRPr/>
            </a:lvl6pPr>
            <a:lvl7pPr indent="-342900" lvl="6" marL="3200400" algn="l">
              <a:lnSpc>
                <a:spcPct val="100000"/>
              </a:lnSpc>
              <a:spcBef>
                <a:spcPts val="480"/>
              </a:spcBef>
              <a:spcAft>
                <a:spcPts val="0"/>
              </a:spcAft>
              <a:buClr>
                <a:schemeClr val="dk1"/>
              </a:buClr>
              <a:buSzPts val="1800"/>
              <a:buChar char="•"/>
              <a:defRPr/>
            </a:lvl7pPr>
            <a:lvl8pPr indent="-342900" lvl="7" marL="3657600" algn="l">
              <a:lnSpc>
                <a:spcPct val="100000"/>
              </a:lnSpc>
              <a:spcBef>
                <a:spcPts val="480"/>
              </a:spcBef>
              <a:spcAft>
                <a:spcPts val="0"/>
              </a:spcAft>
              <a:buClr>
                <a:schemeClr val="dk1"/>
              </a:buClr>
              <a:buSzPts val="1800"/>
              <a:buChar char="•"/>
              <a:defRPr/>
            </a:lvl8pPr>
            <a:lvl9pPr indent="-342900" lvl="8" marL="4114800" algn="l">
              <a:lnSpc>
                <a:spcPct val="100000"/>
              </a:lnSpc>
              <a:spcBef>
                <a:spcPts val="480"/>
              </a:spcBef>
              <a:spcAft>
                <a:spcPts val="0"/>
              </a:spcAft>
              <a:buClr>
                <a:schemeClr val="dk1"/>
              </a:buClr>
              <a:buSzPts val="1800"/>
              <a:buChar char="•"/>
              <a:defRPr/>
            </a:lvl9pPr>
          </a:lstStyle>
          <a:p/>
        </p:txBody>
      </p:sp>
      <p:sp>
        <p:nvSpPr>
          <p:cNvPr id="26" name="Google Shape;26;p14"/>
          <p:cNvSpPr txBox="1"/>
          <p:nvPr/>
        </p:nvSpPr>
        <p:spPr>
          <a:xfrm>
            <a:off x="826060" y="6332196"/>
            <a:ext cx="1201184" cy="16421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chemeClr val="lt2"/>
              </a:buClr>
              <a:buSzPts val="1067"/>
              <a:buFont typeface="Helvetica Neue"/>
              <a:buNone/>
            </a:pPr>
            <a:r>
              <a:rPr b="1" i="0" lang="en-US" sz="1067" u="none" cap="none" strike="noStrike">
                <a:solidFill>
                  <a:schemeClr val="lt2"/>
                </a:solidFill>
                <a:latin typeface="Helvetica Neue"/>
                <a:ea typeface="Helvetica Neue"/>
                <a:cs typeface="Helvetica Neue"/>
                <a:sym typeface="Helvetica Neue"/>
              </a:rPr>
              <a:t>Orange Restricted</a:t>
            </a:r>
            <a:endParaRPr sz="24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p:cSld name="Titre de section">
    <p:spTree>
      <p:nvGrpSpPr>
        <p:cNvPr id="27" name="Shape 27"/>
        <p:cNvGrpSpPr/>
        <p:nvPr/>
      </p:nvGrpSpPr>
      <p:grpSpPr>
        <a:xfrm>
          <a:off x="0" y="0"/>
          <a:ext cx="0" cy="0"/>
          <a:chOff x="0" y="0"/>
          <a:chExt cx="0" cy="0"/>
        </a:xfrm>
      </p:grpSpPr>
      <p:sp>
        <p:nvSpPr>
          <p:cNvPr id="28" name="Google Shape;28;p15"/>
          <p:cNvSpPr txBox="1"/>
          <p:nvPr>
            <p:ph idx="1" type="body"/>
          </p:nvPr>
        </p:nvSpPr>
        <p:spPr>
          <a:xfrm>
            <a:off x="418359" y="357718"/>
            <a:ext cx="8129119" cy="5710767"/>
          </a:xfrm>
          <a:prstGeom prst="rect">
            <a:avLst/>
          </a:prstGeom>
          <a:noFill/>
          <a:ln>
            <a:noFill/>
          </a:ln>
        </p:spPr>
        <p:txBody>
          <a:bodyPr anchorCtr="0" anchor="t" bIns="0" lIns="0" spcFirstLastPara="1" rIns="0" wrap="square" tIns="0">
            <a:normAutofit/>
          </a:bodyPr>
          <a:lstStyle>
            <a:lvl1pPr indent="-228600" lvl="0" marL="457200" algn="l">
              <a:lnSpc>
                <a:spcPct val="85000"/>
              </a:lnSpc>
              <a:spcBef>
                <a:spcPts val="0"/>
              </a:spcBef>
              <a:spcAft>
                <a:spcPts val="0"/>
              </a:spcAft>
              <a:buSzPts val="1375"/>
              <a:buNone/>
              <a:defRPr sz="7333"/>
            </a:lvl1pPr>
            <a:lvl2pPr indent="-228600" lvl="1" marL="914400" algn="l">
              <a:lnSpc>
                <a:spcPct val="85000"/>
              </a:lnSpc>
              <a:spcBef>
                <a:spcPts val="0"/>
              </a:spcBef>
              <a:spcAft>
                <a:spcPts val="0"/>
              </a:spcAft>
              <a:buSzPts val="1375"/>
              <a:buNone/>
              <a:defRPr sz="7333"/>
            </a:lvl2pPr>
            <a:lvl3pPr indent="-577850" lvl="2" marL="1371600" algn="l">
              <a:lnSpc>
                <a:spcPct val="90000"/>
              </a:lnSpc>
              <a:spcBef>
                <a:spcPts val="800"/>
              </a:spcBef>
              <a:spcAft>
                <a:spcPts val="0"/>
              </a:spcAft>
              <a:buSzPts val="5500"/>
              <a:buChar char="▪"/>
              <a:defRPr sz="7333"/>
            </a:lvl3pPr>
            <a:lvl4pPr indent="-577850" lvl="3" marL="1828800" algn="l">
              <a:lnSpc>
                <a:spcPct val="90000"/>
              </a:lnSpc>
              <a:spcBef>
                <a:spcPts val="1467"/>
              </a:spcBef>
              <a:spcAft>
                <a:spcPts val="0"/>
              </a:spcAft>
              <a:buClr>
                <a:schemeClr val="dk1"/>
              </a:buClr>
              <a:buSzPts val="5500"/>
              <a:buChar char="–"/>
              <a:defRPr sz="7333"/>
            </a:lvl4pPr>
            <a:lvl5pPr indent="-577850" lvl="4" marL="2286000" algn="l">
              <a:lnSpc>
                <a:spcPct val="90000"/>
              </a:lnSpc>
              <a:spcBef>
                <a:spcPts val="1467"/>
              </a:spcBef>
              <a:spcAft>
                <a:spcPts val="0"/>
              </a:spcAft>
              <a:buSzPts val="5500"/>
              <a:buChar char="–"/>
              <a:defRPr sz="7333"/>
            </a:lvl5pPr>
            <a:lvl6pPr indent="-342900" lvl="5" marL="2743200" algn="l">
              <a:lnSpc>
                <a:spcPct val="100000"/>
              </a:lnSpc>
              <a:spcBef>
                <a:spcPts val="480"/>
              </a:spcBef>
              <a:spcAft>
                <a:spcPts val="0"/>
              </a:spcAft>
              <a:buClr>
                <a:schemeClr val="dk1"/>
              </a:buClr>
              <a:buSzPts val="1800"/>
              <a:buChar char="–"/>
              <a:defRPr/>
            </a:lvl6pPr>
            <a:lvl7pPr indent="-342900" lvl="6" marL="3200400" algn="l">
              <a:lnSpc>
                <a:spcPct val="100000"/>
              </a:lnSpc>
              <a:spcBef>
                <a:spcPts val="480"/>
              </a:spcBef>
              <a:spcAft>
                <a:spcPts val="0"/>
              </a:spcAft>
              <a:buClr>
                <a:schemeClr val="dk1"/>
              </a:buClr>
              <a:buSzPts val="1800"/>
              <a:buChar char="•"/>
              <a:defRPr/>
            </a:lvl7pPr>
            <a:lvl8pPr indent="-342900" lvl="7" marL="3657600" algn="l">
              <a:lnSpc>
                <a:spcPct val="100000"/>
              </a:lnSpc>
              <a:spcBef>
                <a:spcPts val="480"/>
              </a:spcBef>
              <a:spcAft>
                <a:spcPts val="0"/>
              </a:spcAft>
              <a:buClr>
                <a:schemeClr val="dk1"/>
              </a:buClr>
              <a:buSzPts val="1800"/>
              <a:buChar char="•"/>
              <a:defRPr/>
            </a:lvl8pPr>
            <a:lvl9pPr indent="-342900" lvl="8" marL="4114800" algn="l">
              <a:lnSpc>
                <a:spcPct val="100000"/>
              </a:lnSpc>
              <a:spcBef>
                <a:spcPts val="480"/>
              </a:spcBef>
              <a:spcAft>
                <a:spcPts val="0"/>
              </a:spcAft>
              <a:buClr>
                <a:schemeClr val="dk1"/>
              </a:buClr>
              <a:buSzPts val="1800"/>
              <a:buChar char="•"/>
              <a:defRPr/>
            </a:lvl9pPr>
          </a:lstStyle>
          <a:p/>
        </p:txBody>
      </p:sp>
      <p:sp>
        <p:nvSpPr>
          <p:cNvPr id="29" name="Google Shape;29;p15"/>
          <p:cNvSpPr txBox="1"/>
          <p:nvPr/>
        </p:nvSpPr>
        <p:spPr>
          <a:xfrm>
            <a:off x="826060" y="6332196"/>
            <a:ext cx="1201184" cy="16421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chemeClr val="lt2"/>
              </a:buClr>
              <a:buSzPts val="1067"/>
              <a:buFont typeface="Helvetica Neue"/>
              <a:buNone/>
            </a:pPr>
            <a:r>
              <a:rPr b="1" i="0" lang="en-US" sz="1067" u="none" cap="none" strike="noStrike">
                <a:solidFill>
                  <a:schemeClr val="lt2"/>
                </a:solidFill>
                <a:latin typeface="Helvetica Neue"/>
                <a:ea typeface="Helvetica Neue"/>
                <a:cs typeface="Helvetica Neue"/>
                <a:sym typeface="Helvetica Neue"/>
              </a:rPr>
              <a:t>Orange Restricted</a:t>
            </a:r>
            <a:endParaRPr sz="24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p:cSld name="Deux contenus">
    <p:spTree>
      <p:nvGrpSpPr>
        <p:cNvPr id="30" name="Shape 30"/>
        <p:cNvGrpSpPr/>
        <p:nvPr/>
      </p:nvGrpSpPr>
      <p:grpSpPr>
        <a:xfrm>
          <a:off x="0" y="0"/>
          <a:ext cx="0" cy="0"/>
          <a:chOff x="0" y="0"/>
          <a:chExt cx="0" cy="0"/>
        </a:xfrm>
      </p:grpSpPr>
      <p:sp>
        <p:nvSpPr>
          <p:cNvPr id="31" name="Google Shape;31;p16"/>
          <p:cNvSpPr txBox="1"/>
          <p:nvPr>
            <p:ph idx="1" type="body"/>
          </p:nvPr>
        </p:nvSpPr>
        <p:spPr>
          <a:xfrm>
            <a:off x="417601" y="1574800"/>
            <a:ext cx="5290740" cy="449368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SzPts val="350"/>
              <a:buNone/>
              <a:defRPr sz="1867"/>
            </a:lvl1pPr>
            <a:lvl2pPr indent="-228600" lvl="1" marL="914400" algn="l">
              <a:lnSpc>
                <a:spcPct val="90000"/>
              </a:lnSpc>
              <a:spcBef>
                <a:spcPts val="800"/>
              </a:spcBef>
              <a:spcAft>
                <a:spcPts val="0"/>
              </a:spcAft>
              <a:buSzPts val="350"/>
              <a:buNone/>
              <a:defRPr sz="1867">
                <a:solidFill>
                  <a:schemeClr val="dk1"/>
                </a:solidFill>
              </a:defRPr>
            </a:lvl2pPr>
            <a:lvl3pPr indent="-317500" lvl="2" marL="1371600" algn="l">
              <a:lnSpc>
                <a:spcPct val="90000"/>
              </a:lnSpc>
              <a:spcBef>
                <a:spcPts val="800"/>
              </a:spcBef>
              <a:spcAft>
                <a:spcPts val="0"/>
              </a:spcAft>
              <a:buSzPts val="1400"/>
              <a:buChar char="▪"/>
              <a:defRPr sz="1867">
                <a:solidFill>
                  <a:schemeClr val="dk1"/>
                </a:solidFill>
              </a:defRPr>
            </a:lvl3pPr>
            <a:lvl4pPr indent="-317500" lvl="3" marL="1828800" algn="l">
              <a:lnSpc>
                <a:spcPct val="90000"/>
              </a:lnSpc>
              <a:spcBef>
                <a:spcPts val="373"/>
              </a:spcBef>
              <a:spcAft>
                <a:spcPts val="0"/>
              </a:spcAft>
              <a:buClr>
                <a:schemeClr val="dk1"/>
              </a:buClr>
              <a:buSzPts val="1400"/>
              <a:buChar char="–"/>
              <a:defRPr sz="1867">
                <a:solidFill>
                  <a:schemeClr val="dk1"/>
                </a:solidFill>
              </a:defRPr>
            </a:lvl4pPr>
            <a:lvl5pPr indent="-317500" lvl="4" marL="2286000" algn="l">
              <a:lnSpc>
                <a:spcPct val="90000"/>
              </a:lnSpc>
              <a:spcBef>
                <a:spcPts val="373"/>
              </a:spcBef>
              <a:spcAft>
                <a:spcPts val="0"/>
              </a:spcAft>
              <a:buSzPts val="1400"/>
              <a:buChar char="–"/>
              <a:defRPr sz="1867">
                <a:solidFill>
                  <a:schemeClr val="dk1"/>
                </a:solidFill>
              </a:defRPr>
            </a:lvl5pPr>
            <a:lvl6pPr indent="-317500" lvl="5" marL="2743200" algn="l">
              <a:lnSpc>
                <a:spcPct val="100000"/>
              </a:lnSpc>
              <a:spcBef>
                <a:spcPts val="373"/>
              </a:spcBef>
              <a:spcAft>
                <a:spcPts val="0"/>
              </a:spcAft>
              <a:buClr>
                <a:schemeClr val="dk1"/>
              </a:buClr>
              <a:buSzPts val="1400"/>
              <a:buChar char="–"/>
              <a:defRPr sz="1867"/>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
        <p:nvSpPr>
          <p:cNvPr id="32" name="Google Shape;32;p16"/>
          <p:cNvSpPr txBox="1"/>
          <p:nvPr>
            <p:ph idx="2" type="body"/>
          </p:nvPr>
        </p:nvSpPr>
        <p:spPr>
          <a:xfrm>
            <a:off x="6486393" y="1574800"/>
            <a:ext cx="5286507" cy="449368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SzPts val="350"/>
              <a:buNone/>
              <a:defRPr sz="1867"/>
            </a:lvl1pPr>
            <a:lvl2pPr indent="-228600" lvl="1" marL="914400" algn="l">
              <a:lnSpc>
                <a:spcPct val="90000"/>
              </a:lnSpc>
              <a:spcBef>
                <a:spcPts val="800"/>
              </a:spcBef>
              <a:spcAft>
                <a:spcPts val="0"/>
              </a:spcAft>
              <a:buSzPts val="350"/>
              <a:buNone/>
              <a:defRPr sz="1867">
                <a:solidFill>
                  <a:schemeClr val="dk1"/>
                </a:solidFill>
              </a:defRPr>
            </a:lvl2pPr>
            <a:lvl3pPr indent="-317500" lvl="2" marL="1371600" algn="l">
              <a:lnSpc>
                <a:spcPct val="90000"/>
              </a:lnSpc>
              <a:spcBef>
                <a:spcPts val="800"/>
              </a:spcBef>
              <a:spcAft>
                <a:spcPts val="0"/>
              </a:spcAft>
              <a:buSzPts val="1400"/>
              <a:buChar char="▪"/>
              <a:defRPr sz="1867">
                <a:solidFill>
                  <a:schemeClr val="dk1"/>
                </a:solidFill>
              </a:defRPr>
            </a:lvl3pPr>
            <a:lvl4pPr indent="-317500" lvl="3" marL="1828800" algn="l">
              <a:lnSpc>
                <a:spcPct val="90000"/>
              </a:lnSpc>
              <a:spcBef>
                <a:spcPts val="373"/>
              </a:spcBef>
              <a:spcAft>
                <a:spcPts val="0"/>
              </a:spcAft>
              <a:buClr>
                <a:schemeClr val="dk1"/>
              </a:buClr>
              <a:buSzPts val="1400"/>
              <a:buChar char="–"/>
              <a:defRPr sz="1867">
                <a:solidFill>
                  <a:schemeClr val="dk1"/>
                </a:solidFill>
              </a:defRPr>
            </a:lvl4pPr>
            <a:lvl5pPr indent="-317500" lvl="4" marL="2286000" algn="l">
              <a:lnSpc>
                <a:spcPct val="90000"/>
              </a:lnSpc>
              <a:spcBef>
                <a:spcPts val="373"/>
              </a:spcBef>
              <a:spcAft>
                <a:spcPts val="0"/>
              </a:spcAft>
              <a:buSzPts val="1400"/>
              <a:buChar char="–"/>
              <a:defRPr sz="1867">
                <a:solidFill>
                  <a:schemeClr val="dk1"/>
                </a:solidFill>
              </a:defRPr>
            </a:lvl5pPr>
            <a:lvl6pPr indent="-317500" lvl="5" marL="2743200" algn="l">
              <a:lnSpc>
                <a:spcPct val="100000"/>
              </a:lnSpc>
              <a:spcBef>
                <a:spcPts val="373"/>
              </a:spcBef>
              <a:spcAft>
                <a:spcPts val="0"/>
              </a:spcAft>
              <a:buClr>
                <a:schemeClr val="dk1"/>
              </a:buClr>
              <a:buSzPts val="1400"/>
              <a:buChar char="–"/>
              <a:defRPr sz="1867"/>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
        <p:nvSpPr>
          <p:cNvPr id="33" name="Google Shape;33;p16"/>
          <p:cNvSpPr txBox="1"/>
          <p:nvPr>
            <p:ph type="title"/>
          </p:nvPr>
        </p:nvSpPr>
        <p:spPr>
          <a:xfrm>
            <a:off x="417599" y="357717"/>
            <a:ext cx="11355300" cy="988483"/>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000"/>
              <a:buFont typeface="Helvetica Neu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6"/>
          <p:cNvSpPr txBox="1"/>
          <p:nvPr/>
        </p:nvSpPr>
        <p:spPr>
          <a:xfrm>
            <a:off x="826060" y="6332196"/>
            <a:ext cx="1201184" cy="16421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chemeClr val="lt2"/>
              </a:buClr>
              <a:buSzPts val="1067"/>
              <a:buFont typeface="Helvetica Neue"/>
              <a:buNone/>
            </a:pPr>
            <a:r>
              <a:rPr b="1" i="0" lang="en-US" sz="1067" u="none" cap="none" strike="noStrike">
                <a:solidFill>
                  <a:schemeClr val="lt2"/>
                </a:solidFill>
                <a:latin typeface="Helvetica Neue"/>
                <a:ea typeface="Helvetica Neue"/>
                <a:cs typeface="Helvetica Neue"/>
                <a:sym typeface="Helvetica Neue"/>
              </a:rPr>
              <a:t>Orange Restricted</a:t>
            </a:r>
            <a:endParaRPr sz="24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us">
  <p:cSld name="4_contenus">
    <p:spTree>
      <p:nvGrpSpPr>
        <p:cNvPr id="35" name="Shape 35"/>
        <p:cNvGrpSpPr/>
        <p:nvPr/>
      </p:nvGrpSpPr>
      <p:grpSpPr>
        <a:xfrm>
          <a:off x="0" y="0"/>
          <a:ext cx="0" cy="0"/>
          <a:chOff x="0" y="0"/>
          <a:chExt cx="0" cy="0"/>
        </a:xfrm>
      </p:grpSpPr>
      <p:sp>
        <p:nvSpPr>
          <p:cNvPr id="36" name="Google Shape;36;p17"/>
          <p:cNvSpPr txBox="1"/>
          <p:nvPr>
            <p:ph idx="1" type="body"/>
          </p:nvPr>
        </p:nvSpPr>
        <p:spPr>
          <a:xfrm>
            <a:off x="417601" y="1574800"/>
            <a:ext cx="5290740" cy="223824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SzPts val="350"/>
              <a:buNone/>
              <a:defRPr sz="1867"/>
            </a:lvl1pPr>
            <a:lvl2pPr indent="-228600" lvl="1" marL="914400" algn="l">
              <a:lnSpc>
                <a:spcPct val="90000"/>
              </a:lnSpc>
              <a:spcBef>
                <a:spcPts val="800"/>
              </a:spcBef>
              <a:spcAft>
                <a:spcPts val="0"/>
              </a:spcAft>
              <a:buSzPts val="350"/>
              <a:buNone/>
              <a:defRPr sz="1867">
                <a:solidFill>
                  <a:schemeClr val="dk1"/>
                </a:solidFill>
              </a:defRPr>
            </a:lvl2pPr>
            <a:lvl3pPr indent="-317500" lvl="2" marL="1371600" algn="l">
              <a:lnSpc>
                <a:spcPct val="90000"/>
              </a:lnSpc>
              <a:spcBef>
                <a:spcPts val="800"/>
              </a:spcBef>
              <a:spcAft>
                <a:spcPts val="0"/>
              </a:spcAft>
              <a:buSzPts val="1400"/>
              <a:buChar char="▪"/>
              <a:defRPr sz="1867">
                <a:solidFill>
                  <a:schemeClr val="dk1"/>
                </a:solidFill>
              </a:defRPr>
            </a:lvl3pPr>
            <a:lvl4pPr indent="-317500" lvl="3" marL="1828800" algn="l">
              <a:lnSpc>
                <a:spcPct val="90000"/>
              </a:lnSpc>
              <a:spcBef>
                <a:spcPts val="373"/>
              </a:spcBef>
              <a:spcAft>
                <a:spcPts val="0"/>
              </a:spcAft>
              <a:buClr>
                <a:schemeClr val="dk1"/>
              </a:buClr>
              <a:buSzPts val="1400"/>
              <a:buChar char="–"/>
              <a:defRPr sz="1867">
                <a:solidFill>
                  <a:schemeClr val="dk1"/>
                </a:solidFill>
              </a:defRPr>
            </a:lvl4pPr>
            <a:lvl5pPr indent="-317500" lvl="4" marL="2286000" algn="l">
              <a:lnSpc>
                <a:spcPct val="90000"/>
              </a:lnSpc>
              <a:spcBef>
                <a:spcPts val="373"/>
              </a:spcBef>
              <a:spcAft>
                <a:spcPts val="0"/>
              </a:spcAft>
              <a:buSzPts val="1400"/>
              <a:buChar char="–"/>
              <a:defRPr sz="1867">
                <a:solidFill>
                  <a:schemeClr val="dk1"/>
                </a:solidFill>
              </a:defRPr>
            </a:lvl5pPr>
            <a:lvl6pPr indent="-317500" lvl="5" marL="2743200" algn="l">
              <a:lnSpc>
                <a:spcPct val="100000"/>
              </a:lnSpc>
              <a:spcBef>
                <a:spcPts val="373"/>
              </a:spcBef>
              <a:spcAft>
                <a:spcPts val="0"/>
              </a:spcAft>
              <a:buClr>
                <a:schemeClr val="dk1"/>
              </a:buClr>
              <a:buSzPts val="1400"/>
              <a:buChar char="–"/>
              <a:defRPr sz="1867"/>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
        <p:nvSpPr>
          <p:cNvPr id="37" name="Google Shape;37;p17"/>
          <p:cNvSpPr txBox="1"/>
          <p:nvPr>
            <p:ph idx="2" type="body"/>
          </p:nvPr>
        </p:nvSpPr>
        <p:spPr>
          <a:xfrm>
            <a:off x="6486393" y="1574800"/>
            <a:ext cx="5286507" cy="223824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SzPts val="350"/>
              <a:buNone/>
              <a:defRPr sz="1867"/>
            </a:lvl1pPr>
            <a:lvl2pPr indent="-228600" lvl="1" marL="914400" algn="l">
              <a:lnSpc>
                <a:spcPct val="90000"/>
              </a:lnSpc>
              <a:spcBef>
                <a:spcPts val="800"/>
              </a:spcBef>
              <a:spcAft>
                <a:spcPts val="0"/>
              </a:spcAft>
              <a:buSzPts val="350"/>
              <a:buNone/>
              <a:defRPr sz="1867">
                <a:solidFill>
                  <a:schemeClr val="dk1"/>
                </a:solidFill>
              </a:defRPr>
            </a:lvl2pPr>
            <a:lvl3pPr indent="-317500" lvl="2" marL="1371600" algn="l">
              <a:lnSpc>
                <a:spcPct val="90000"/>
              </a:lnSpc>
              <a:spcBef>
                <a:spcPts val="800"/>
              </a:spcBef>
              <a:spcAft>
                <a:spcPts val="0"/>
              </a:spcAft>
              <a:buSzPts val="1400"/>
              <a:buChar char="▪"/>
              <a:defRPr sz="1867">
                <a:solidFill>
                  <a:schemeClr val="dk1"/>
                </a:solidFill>
              </a:defRPr>
            </a:lvl3pPr>
            <a:lvl4pPr indent="-317500" lvl="3" marL="1828800" algn="l">
              <a:lnSpc>
                <a:spcPct val="90000"/>
              </a:lnSpc>
              <a:spcBef>
                <a:spcPts val="373"/>
              </a:spcBef>
              <a:spcAft>
                <a:spcPts val="0"/>
              </a:spcAft>
              <a:buClr>
                <a:schemeClr val="dk1"/>
              </a:buClr>
              <a:buSzPts val="1400"/>
              <a:buChar char="–"/>
              <a:defRPr sz="1867">
                <a:solidFill>
                  <a:schemeClr val="dk1"/>
                </a:solidFill>
              </a:defRPr>
            </a:lvl4pPr>
            <a:lvl5pPr indent="-317500" lvl="4" marL="2286000" algn="l">
              <a:lnSpc>
                <a:spcPct val="90000"/>
              </a:lnSpc>
              <a:spcBef>
                <a:spcPts val="373"/>
              </a:spcBef>
              <a:spcAft>
                <a:spcPts val="0"/>
              </a:spcAft>
              <a:buSzPts val="1400"/>
              <a:buChar char="–"/>
              <a:defRPr sz="1867">
                <a:solidFill>
                  <a:schemeClr val="dk1"/>
                </a:solidFill>
              </a:defRPr>
            </a:lvl5pPr>
            <a:lvl6pPr indent="-317500" lvl="5" marL="2743200" algn="l">
              <a:lnSpc>
                <a:spcPct val="100000"/>
              </a:lnSpc>
              <a:spcBef>
                <a:spcPts val="373"/>
              </a:spcBef>
              <a:spcAft>
                <a:spcPts val="0"/>
              </a:spcAft>
              <a:buClr>
                <a:schemeClr val="dk1"/>
              </a:buClr>
              <a:buSzPts val="1400"/>
              <a:buChar char="–"/>
              <a:defRPr sz="1867"/>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
        <p:nvSpPr>
          <p:cNvPr id="38" name="Google Shape;38;p17"/>
          <p:cNvSpPr txBox="1"/>
          <p:nvPr>
            <p:ph type="title"/>
          </p:nvPr>
        </p:nvSpPr>
        <p:spPr>
          <a:xfrm>
            <a:off x="417599" y="357717"/>
            <a:ext cx="11355300" cy="988483"/>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000"/>
              <a:buFont typeface="Helvetica Neu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nvSpPr>
        <p:spPr>
          <a:xfrm>
            <a:off x="826060" y="6332196"/>
            <a:ext cx="1201184" cy="16421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chemeClr val="lt2"/>
              </a:buClr>
              <a:buSzPts val="1067"/>
              <a:buFont typeface="Helvetica Neue"/>
              <a:buNone/>
            </a:pPr>
            <a:r>
              <a:rPr b="1" i="0" lang="en-US" sz="1067" u="none" cap="none" strike="noStrike">
                <a:solidFill>
                  <a:schemeClr val="lt2"/>
                </a:solidFill>
                <a:latin typeface="Helvetica Neue"/>
                <a:ea typeface="Helvetica Neue"/>
                <a:cs typeface="Helvetica Neue"/>
                <a:sym typeface="Helvetica Neue"/>
              </a:rPr>
              <a:t>Orange Restricted</a:t>
            </a:r>
            <a:endParaRPr sz="2400">
              <a:solidFill>
                <a:schemeClr val="dk1"/>
              </a:solidFill>
              <a:latin typeface="Arial"/>
              <a:ea typeface="Arial"/>
              <a:cs typeface="Arial"/>
              <a:sym typeface="Arial"/>
            </a:endParaRPr>
          </a:p>
        </p:txBody>
      </p:sp>
      <p:sp>
        <p:nvSpPr>
          <p:cNvPr id="40" name="Google Shape;40;p17"/>
          <p:cNvSpPr txBox="1"/>
          <p:nvPr>
            <p:ph idx="3" type="body"/>
          </p:nvPr>
        </p:nvSpPr>
        <p:spPr>
          <a:xfrm>
            <a:off x="405330" y="3975067"/>
            <a:ext cx="5290740" cy="223824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SzPts val="350"/>
              <a:buNone/>
              <a:defRPr sz="1867"/>
            </a:lvl1pPr>
            <a:lvl2pPr indent="-228600" lvl="1" marL="914400" algn="l">
              <a:lnSpc>
                <a:spcPct val="90000"/>
              </a:lnSpc>
              <a:spcBef>
                <a:spcPts val="800"/>
              </a:spcBef>
              <a:spcAft>
                <a:spcPts val="0"/>
              </a:spcAft>
              <a:buSzPts val="350"/>
              <a:buNone/>
              <a:defRPr sz="1867">
                <a:solidFill>
                  <a:schemeClr val="dk1"/>
                </a:solidFill>
              </a:defRPr>
            </a:lvl2pPr>
            <a:lvl3pPr indent="-317500" lvl="2" marL="1371600" algn="l">
              <a:lnSpc>
                <a:spcPct val="90000"/>
              </a:lnSpc>
              <a:spcBef>
                <a:spcPts val="800"/>
              </a:spcBef>
              <a:spcAft>
                <a:spcPts val="0"/>
              </a:spcAft>
              <a:buSzPts val="1400"/>
              <a:buChar char="▪"/>
              <a:defRPr sz="1867">
                <a:solidFill>
                  <a:schemeClr val="dk1"/>
                </a:solidFill>
              </a:defRPr>
            </a:lvl3pPr>
            <a:lvl4pPr indent="-317500" lvl="3" marL="1828800" algn="l">
              <a:lnSpc>
                <a:spcPct val="90000"/>
              </a:lnSpc>
              <a:spcBef>
                <a:spcPts val="373"/>
              </a:spcBef>
              <a:spcAft>
                <a:spcPts val="0"/>
              </a:spcAft>
              <a:buClr>
                <a:schemeClr val="dk1"/>
              </a:buClr>
              <a:buSzPts val="1400"/>
              <a:buChar char="–"/>
              <a:defRPr sz="1867">
                <a:solidFill>
                  <a:schemeClr val="dk1"/>
                </a:solidFill>
              </a:defRPr>
            </a:lvl4pPr>
            <a:lvl5pPr indent="-317500" lvl="4" marL="2286000" algn="l">
              <a:lnSpc>
                <a:spcPct val="90000"/>
              </a:lnSpc>
              <a:spcBef>
                <a:spcPts val="373"/>
              </a:spcBef>
              <a:spcAft>
                <a:spcPts val="0"/>
              </a:spcAft>
              <a:buSzPts val="1400"/>
              <a:buChar char="–"/>
              <a:defRPr sz="1867">
                <a:solidFill>
                  <a:schemeClr val="dk1"/>
                </a:solidFill>
              </a:defRPr>
            </a:lvl5pPr>
            <a:lvl6pPr indent="-317500" lvl="5" marL="2743200" algn="l">
              <a:lnSpc>
                <a:spcPct val="100000"/>
              </a:lnSpc>
              <a:spcBef>
                <a:spcPts val="373"/>
              </a:spcBef>
              <a:spcAft>
                <a:spcPts val="0"/>
              </a:spcAft>
              <a:buClr>
                <a:schemeClr val="dk1"/>
              </a:buClr>
              <a:buSzPts val="1400"/>
              <a:buChar char="–"/>
              <a:defRPr sz="1867"/>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
        <p:nvSpPr>
          <p:cNvPr id="41" name="Google Shape;41;p17"/>
          <p:cNvSpPr txBox="1"/>
          <p:nvPr>
            <p:ph idx="4" type="body"/>
          </p:nvPr>
        </p:nvSpPr>
        <p:spPr>
          <a:xfrm>
            <a:off x="6474123" y="3975067"/>
            <a:ext cx="5286507" cy="223824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SzPts val="350"/>
              <a:buNone/>
              <a:defRPr sz="1867"/>
            </a:lvl1pPr>
            <a:lvl2pPr indent="-228600" lvl="1" marL="914400" algn="l">
              <a:lnSpc>
                <a:spcPct val="90000"/>
              </a:lnSpc>
              <a:spcBef>
                <a:spcPts val="800"/>
              </a:spcBef>
              <a:spcAft>
                <a:spcPts val="0"/>
              </a:spcAft>
              <a:buSzPts val="350"/>
              <a:buNone/>
              <a:defRPr sz="1867">
                <a:solidFill>
                  <a:schemeClr val="dk1"/>
                </a:solidFill>
              </a:defRPr>
            </a:lvl2pPr>
            <a:lvl3pPr indent="-317500" lvl="2" marL="1371600" algn="l">
              <a:lnSpc>
                <a:spcPct val="90000"/>
              </a:lnSpc>
              <a:spcBef>
                <a:spcPts val="800"/>
              </a:spcBef>
              <a:spcAft>
                <a:spcPts val="0"/>
              </a:spcAft>
              <a:buSzPts val="1400"/>
              <a:buChar char="▪"/>
              <a:defRPr sz="1867">
                <a:solidFill>
                  <a:schemeClr val="dk1"/>
                </a:solidFill>
              </a:defRPr>
            </a:lvl3pPr>
            <a:lvl4pPr indent="-317500" lvl="3" marL="1828800" algn="l">
              <a:lnSpc>
                <a:spcPct val="90000"/>
              </a:lnSpc>
              <a:spcBef>
                <a:spcPts val="373"/>
              </a:spcBef>
              <a:spcAft>
                <a:spcPts val="0"/>
              </a:spcAft>
              <a:buClr>
                <a:schemeClr val="dk1"/>
              </a:buClr>
              <a:buSzPts val="1400"/>
              <a:buChar char="–"/>
              <a:defRPr sz="1867">
                <a:solidFill>
                  <a:schemeClr val="dk1"/>
                </a:solidFill>
              </a:defRPr>
            </a:lvl4pPr>
            <a:lvl5pPr indent="-317500" lvl="4" marL="2286000" algn="l">
              <a:lnSpc>
                <a:spcPct val="90000"/>
              </a:lnSpc>
              <a:spcBef>
                <a:spcPts val="373"/>
              </a:spcBef>
              <a:spcAft>
                <a:spcPts val="0"/>
              </a:spcAft>
              <a:buSzPts val="1400"/>
              <a:buChar char="–"/>
              <a:defRPr sz="1867">
                <a:solidFill>
                  <a:schemeClr val="dk1"/>
                </a:solidFill>
              </a:defRPr>
            </a:lvl5pPr>
            <a:lvl6pPr indent="-317500" lvl="5" marL="2743200" algn="l">
              <a:lnSpc>
                <a:spcPct val="100000"/>
              </a:lnSpc>
              <a:spcBef>
                <a:spcPts val="373"/>
              </a:spcBef>
              <a:spcAft>
                <a:spcPts val="0"/>
              </a:spcAft>
              <a:buClr>
                <a:schemeClr val="dk1"/>
              </a:buClr>
              <a:buSzPts val="1400"/>
              <a:buChar char="–"/>
              <a:defRPr sz="1867"/>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p:cSld name="Titre seul">
    <p:spTree>
      <p:nvGrpSpPr>
        <p:cNvPr id="42" name="Shape 42"/>
        <p:cNvGrpSpPr/>
        <p:nvPr/>
      </p:nvGrpSpPr>
      <p:grpSpPr>
        <a:xfrm>
          <a:off x="0" y="0"/>
          <a:ext cx="0" cy="0"/>
          <a:chOff x="0" y="0"/>
          <a:chExt cx="0" cy="0"/>
        </a:xfrm>
      </p:grpSpPr>
      <p:sp>
        <p:nvSpPr>
          <p:cNvPr id="43" name="Google Shape;43;p18"/>
          <p:cNvSpPr txBox="1"/>
          <p:nvPr>
            <p:ph type="title"/>
          </p:nvPr>
        </p:nvSpPr>
        <p:spPr>
          <a:xfrm>
            <a:off x="417601" y="357717"/>
            <a:ext cx="11355300" cy="988483"/>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000"/>
              <a:buFont typeface="Helvetica Neu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8"/>
          <p:cNvSpPr txBox="1"/>
          <p:nvPr/>
        </p:nvSpPr>
        <p:spPr>
          <a:xfrm>
            <a:off x="826060" y="6332196"/>
            <a:ext cx="1201184" cy="16421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chemeClr val="lt2"/>
              </a:buClr>
              <a:buSzPts val="1067"/>
              <a:buFont typeface="Helvetica Neue"/>
              <a:buNone/>
            </a:pPr>
            <a:r>
              <a:rPr b="1" i="0" lang="en-US" sz="1067" u="none" cap="none" strike="noStrike">
                <a:solidFill>
                  <a:schemeClr val="lt2"/>
                </a:solidFill>
                <a:latin typeface="Helvetica Neue"/>
                <a:ea typeface="Helvetica Neue"/>
                <a:cs typeface="Helvetica Neue"/>
                <a:sym typeface="Helvetica Neue"/>
              </a:rPr>
              <a:t>Orange Restricted</a:t>
            </a:r>
            <a:endParaRPr sz="24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Bleed Media" showMasterSp="0">
  <p:cSld name="Full Bleed Media">
    <p:bg>
      <p:bgPr>
        <a:solidFill>
          <a:schemeClr val="dk2"/>
        </a:solidFill>
      </p:bgPr>
    </p:bg>
    <p:spTree>
      <p:nvGrpSpPr>
        <p:cNvPr id="45" name="Shape 45"/>
        <p:cNvGrpSpPr/>
        <p:nvPr/>
      </p:nvGrpSpPr>
      <p:grpSpPr>
        <a:xfrm>
          <a:off x="0" y="0"/>
          <a:ext cx="0" cy="0"/>
          <a:chOff x="0" y="0"/>
          <a:chExt cx="0" cy="0"/>
        </a:xfrm>
      </p:grpSpPr>
      <p:sp>
        <p:nvSpPr>
          <p:cNvPr id="46" name="Google Shape;46;p19"/>
          <p:cNvSpPr/>
          <p:nvPr>
            <p:ph idx="2" type="pic"/>
          </p:nvPr>
        </p:nvSpPr>
        <p:spPr>
          <a:xfrm>
            <a:off x="0" y="0"/>
            <a:ext cx="12192000" cy="6858000"/>
          </a:xfrm>
          <a:prstGeom prst="rect">
            <a:avLst/>
          </a:prstGeom>
          <a:noFill/>
          <a:ln>
            <a:noFill/>
          </a:ln>
        </p:spPr>
      </p:sp>
      <p:sp>
        <p:nvSpPr>
          <p:cNvPr id="47" name="Google Shape;47;p19"/>
          <p:cNvSpPr txBox="1"/>
          <p:nvPr>
            <p:ph type="title"/>
          </p:nvPr>
        </p:nvSpPr>
        <p:spPr>
          <a:xfrm>
            <a:off x="417601" y="357717"/>
            <a:ext cx="11355300" cy="988483"/>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000000"/>
              </a:buClr>
              <a:buSzPts val="2000"/>
              <a:buFont typeface="Helvetica Neue"/>
              <a:buNone/>
              <a:defRPr>
                <a:solidFill>
                  <a:srgbClr val="0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p:cSld name="Vide">
    <p:spTree>
      <p:nvGrpSpPr>
        <p:cNvPr id="48" name="Shape 48"/>
        <p:cNvGrpSpPr/>
        <p:nvPr/>
      </p:nvGrpSpPr>
      <p:grpSpPr>
        <a:xfrm>
          <a:off x="0" y="0"/>
          <a:ext cx="0" cy="0"/>
          <a:chOff x="0" y="0"/>
          <a:chExt cx="0" cy="0"/>
        </a:xfrm>
      </p:grpSpPr>
      <p:sp>
        <p:nvSpPr>
          <p:cNvPr id="49" name="Google Shape;49;p20"/>
          <p:cNvSpPr txBox="1"/>
          <p:nvPr/>
        </p:nvSpPr>
        <p:spPr>
          <a:xfrm>
            <a:off x="826060" y="6332196"/>
            <a:ext cx="1201184" cy="16421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Clr>
                <a:schemeClr val="lt2"/>
              </a:buClr>
              <a:buSzPts val="1067"/>
              <a:buFont typeface="Helvetica Neue"/>
              <a:buNone/>
            </a:pPr>
            <a:r>
              <a:rPr b="1" i="0" lang="en-US" sz="1067" u="none" cap="none" strike="noStrike">
                <a:solidFill>
                  <a:schemeClr val="lt2"/>
                </a:solidFill>
                <a:latin typeface="Helvetica Neue"/>
                <a:ea typeface="Helvetica Neue"/>
                <a:cs typeface="Helvetica Neue"/>
                <a:sym typeface="Helvetica Neue"/>
              </a:rPr>
              <a:t>Orange Restricted</a:t>
            </a:r>
            <a:endParaRPr sz="24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00000"/>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showMasterSp="0">
  <p:cSld name="Diapositive de titre">
    <p:spTree>
      <p:nvGrpSpPr>
        <p:cNvPr id="56" name="Shape 56"/>
        <p:cNvGrpSpPr/>
        <p:nvPr/>
      </p:nvGrpSpPr>
      <p:grpSpPr>
        <a:xfrm>
          <a:off x="0" y="0"/>
          <a:ext cx="0" cy="0"/>
          <a:chOff x="0" y="0"/>
          <a:chExt cx="0" cy="0"/>
        </a:xfrm>
      </p:grpSpPr>
      <p:sp>
        <p:nvSpPr>
          <p:cNvPr id="57" name="Google Shape;57;h2dfb90ae07d12a84_2_4"/>
          <p:cNvSpPr txBox="1"/>
          <p:nvPr>
            <p:ph type="ctrTitle"/>
          </p:nvPr>
        </p:nvSpPr>
        <p:spPr>
          <a:xfrm>
            <a:off x="1291200" y="2256000"/>
            <a:ext cx="9681600" cy="30912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dk1"/>
              </a:buClr>
              <a:buSzPts val="5500"/>
              <a:buFont typeface="Helvetica Neue"/>
              <a:buNone/>
              <a:defRPr sz="7333">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h2dfb90ae07d12a84_2_4"/>
          <p:cNvSpPr txBox="1"/>
          <p:nvPr>
            <p:ph idx="1" type="subTitle"/>
          </p:nvPr>
        </p:nvSpPr>
        <p:spPr>
          <a:xfrm>
            <a:off x="1267461" y="5569792"/>
            <a:ext cx="5788647" cy="451496"/>
          </a:xfrm>
          <a:prstGeom prst="rect">
            <a:avLst/>
          </a:prstGeom>
          <a:noFill/>
          <a:ln>
            <a:noFill/>
          </a:ln>
        </p:spPr>
        <p:txBody>
          <a:bodyPr anchorCtr="0" anchor="t" bIns="0" lIns="0" spcFirstLastPara="1" rIns="0" wrap="square" tIns="0">
            <a:noAutofit/>
          </a:bodyPr>
          <a:lstStyle>
            <a:lvl1pPr lvl="0" algn="l">
              <a:lnSpc>
                <a:spcPct val="90000"/>
              </a:lnSpc>
              <a:spcBef>
                <a:spcPts val="800"/>
              </a:spcBef>
              <a:spcAft>
                <a:spcPts val="0"/>
              </a:spcAft>
              <a:buSzPts val="350"/>
              <a:buNone/>
              <a:defRPr>
                <a:solidFill>
                  <a:schemeClr val="dk1"/>
                </a:solidFill>
              </a:defRPr>
            </a:lvl1pPr>
            <a:lvl2pPr lvl="1" algn="l">
              <a:lnSpc>
                <a:spcPct val="90000"/>
              </a:lnSpc>
              <a:spcBef>
                <a:spcPts val="800"/>
              </a:spcBef>
              <a:spcAft>
                <a:spcPts val="0"/>
              </a:spcAft>
              <a:buClr>
                <a:schemeClr val="lt2"/>
              </a:buClr>
              <a:buSzPts val="1400"/>
              <a:buFont typeface="Noto Sans Symbols"/>
              <a:buChar char="▪"/>
              <a:defRPr>
                <a:solidFill>
                  <a:schemeClr val="dk1"/>
                </a:solidFill>
              </a:defRPr>
            </a:lvl2pPr>
            <a:lvl3pPr lvl="2" algn="l">
              <a:lnSpc>
                <a:spcPct val="90000"/>
              </a:lnSpc>
              <a:spcBef>
                <a:spcPts val="448"/>
              </a:spcBef>
              <a:spcAft>
                <a:spcPts val="0"/>
              </a:spcAft>
              <a:buClr>
                <a:schemeClr val="dk1"/>
              </a:buClr>
              <a:buSzPts val="1400"/>
              <a:buFont typeface="Helvetica Neue"/>
              <a:buChar char="–"/>
              <a:defRPr>
                <a:solidFill>
                  <a:schemeClr val="dk1"/>
                </a:solidFill>
                <a:latin typeface="Helvetica Neue"/>
                <a:ea typeface="Helvetica Neue"/>
                <a:cs typeface="Helvetica Neue"/>
                <a:sym typeface="Helvetica Neue"/>
              </a:defRPr>
            </a:lvl3pPr>
            <a:lvl4pPr lvl="3" algn="l">
              <a:lnSpc>
                <a:spcPct val="90000"/>
              </a:lnSpc>
              <a:spcBef>
                <a:spcPts val="32"/>
              </a:spcBef>
              <a:spcAft>
                <a:spcPts val="0"/>
              </a:spcAft>
              <a:buClr>
                <a:schemeClr val="dk1"/>
              </a:buClr>
              <a:buSzPts val="1400"/>
              <a:buFont typeface="Helvetica Neue"/>
              <a:buChar char="–"/>
              <a:defRPr>
                <a:solidFill>
                  <a:schemeClr val="dk1"/>
                </a:solidFill>
              </a:defRPr>
            </a:lvl4pPr>
            <a:lvl5pPr lvl="4" algn="l">
              <a:lnSpc>
                <a:spcPct val="90000"/>
              </a:lnSpc>
              <a:spcBef>
                <a:spcPts val="373"/>
              </a:spcBef>
              <a:spcAft>
                <a:spcPts val="0"/>
              </a:spcAft>
              <a:buSzPts val="1400"/>
              <a:buFont typeface="Helvetica Neue"/>
              <a:buChar char="–"/>
              <a:defRPr>
                <a:solidFill>
                  <a:schemeClr val="dk1"/>
                </a:solidFill>
              </a:defRPr>
            </a:lvl5pPr>
            <a:lvl6pPr lvl="5" algn="ctr">
              <a:lnSpc>
                <a:spcPct val="100000"/>
              </a:lnSpc>
              <a:spcBef>
                <a:spcPts val="373"/>
              </a:spcBef>
              <a:spcAft>
                <a:spcPts val="0"/>
              </a:spcAft>
              <a:buClr>
                <a:schemeClr val="dk1"/>
              </a:buClr>
              <a:buSzPts val="1400"/>
              <a:buNone/>
              <a:defRPr>
                <a:solidFill>
                  <a:schemeClr val="dk1"/>
                </a:solidFill>
              </a:defRPr>
            </a:lvl6pPr>
            <a:lvl7pPr lvl="6" algn="ctr">
              <a:lnSpc>
                <a:spcPct val="100000"/>
              </a:lnSpc>
              <a:spcBef>
                <a:spcPts val="533"/>
              </a:spcBef>
              <a:spcAft>
                <a:spcPts val="0"/>
              </a:spcAft>
              <a:buClr>
                <a:schemeClr val="dk1"/>
              </a:buClr>
              <a:buSzPts val="2000"/>
              <a:buNone/>
              <a:defRPr>
                <a:solidFill>
                  <a:schemeClr val="dk1"/>
                </a:solidFill>
              </a:defRPr>
            </a:lvl7pPr>
            <a:lvl8pPr lvl="7" algn="ctr">
              <a:lnSpc>
                <a:spcPct val="100000"/>
              </a:lnSpc>
              <a:spcBef>
                <a:spcPts val="533"/>
              </a:spcBef>
              <a:spcAft>
                <a:spcPts val="0"/>
              </a:spcAft>
              <a:buClr>
                <a:schemeClr val="dk1"/>
              </a:buClr>
              <a:buSzPts val="2000"/>
              <a:buNone/>
              <a:defRPr>
                <a:solidFill>
                  <a:schemeClr val="dk1"/>
                </a:solidFill>
              </a:defRPr>
            </a:lvl8pPr>
            <a:lvl9pPr lvl="8" algn="ctr">
              <a:lnSpc>
                <a:spcPct val="100000"/>
              </a:lnSpc>
              <a:spcBef>
                <a:spcPts val="533"/>
              </a:spcBef>
              <a:spcAft>
                <a:spcPts val="0"/>
              </a:spcAft>
              <a:buClr>
                <a:schemeClr val="dk1"/>
              </a:buClr>
              <a:buSzPts val="2000"/>
              <a:buNone/>
              <a:defRPr>
                <a:solidFill>
                  <a:schemeClr val="dk1"/>
                </a:solidFill>
              </a:defRPr>
            </a:lvl9pPr>
          </a:lstStyle>
          <a:p/>
        </p:txBody>
      </p:sp>
      <p:grpSp>
        <p:nvGrpSpPr>
          <p:cNvPr id="59" name="Google Shape;59;h2dfb90ae07d12a84_2_4"/>
          <p:cNvGrpSpPr/>
          <p:nvPr/>
        </p:nvGrpSpPr>
        <p:grpSpPr>
          <a:xfrm>
            <a:off x="10969537" y="5645152"/>
            <a:ext cx="817033" cy="817033"/>
            <a:chOff x="313535" y="4233863"/>
            <a:chExt cx="612775" cy="612775"/>
          </a:xfrm>
        </p:grpSpPr>
        <p:sp>
          <p:nvSpPr>
            <p:cNvPr id="60" name="Google Shape;60;h2dfb90ae07d12a84_2_4"/>
            <p:cNvSpPr/>
            <p:nvPr/>
          </p:nvSpPr>
          <p:spPr>
            <a:xfrm>
              <a:off x="313535" y="4233863"/>
              <a:ext cx="612775" cy="612775"/>
            </a:xfrm>
            <a:prstGeom prst="rect">
              <a:avLst/>
            </a:prstGeom>
            <a:solidFill>
              <a:srgbClr val="FF79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61" name="Google Shape;61;h2dfb90ae07d12a84_2_4"/>
            <p:cNvSpPr/>
            <p:nvPr/>
          </p:nvSpPr>
          <p:spPr>
            <a:xfrm>
              <a:off x="500860" y="4708526"/>
              <a:ext cx="74613" cy="87313"/>
            </a:xfrm>
            <a:custGeom>
              <a:rect b="b" l="l" r="r" t="t"/>
              <a:pathLst>
                <a:path extrusionOk="0" h="109" w="93">
                  <a:moveTo>
                    <a:pt x="66" y="99"/>
                  </a:moveTo>
                  <a:cubicBezTo>
                    <a:pt x="55" y="106"/>
                    <a:pt x="43" y="109"/>
                    <a:pt x="31" y="109"/>
                  </a:cubicBezTo>
                  <a:cubicBezTo>
                    <a:pt x="11" y="109"/>
                    <a:pt x="0" y="96"/>
                    <a:pt x="0" y="79"/>
                  </a:cubicBezTo>
                  <a:cubicBezTo>
                    <a:pt x="0" y="55"/>
                    <a:pt x="21" y="42"/>
                    <a:pt x="66" y="37"/>
                  </a:cubicBezTo>
                  <a:cubicBezTo>
                    <a:pt x="66" y="32"/>
                    <a:pt x="66" y="32"/>
                    <a:pt x="66" y="32"/>
                  </a:cubicBezTo>
                  <a:cubicBezTo>
                    <a:pt x="66" y="24"/>
                    <a:pt x="60" y="19"/>
                    <a:pt x="49" y="19"/>
                  </a:cubicBezTo>
                  <a:cubicBezTo>
                    <a:pt x="39" y="19"/>
                    <a:pt x="30" y="24"/>
                    <a:pt x="24" y="32"/>
                  </a:cubicBezTo>
                  <a:cubicBezTo>
                    <a:pt x="5" y="21"/>
                    <a:pt x="5" y="21"/>
                    <a:pt x="5" y="21"/>
                  </a:cubicBezTo>
                  <a:cubicBezTo>
                    <a:pt x="15" y="7"/>
                    <a:pt x="30" y="0"/>
                    <a:pt x="50" y="0"/>
                  </a:cubicBezTo>
                  <a:cubicBezTo>
                    <a:pt x="77" y="0"/>
                    <a:pt x="93" y="12"/>
                    <a:pt x="93" y="32"/>
                  </a:cubicBezTo>
                  <a:cubicBezTo>
                    <a:pt x="93" y="32"/>
                    <a:pt x="93" y="108"/>
                    <a:pt x="93" y="108"/>
                  </a:cubicBezTo>
                  <a:cubicBezTo>
                    <a:pt x="68" y="108"/>
                    <a:pt x="68" y="108"/>
                    <a:pt x="68" y="108"/>
                  </a:cubicBezTo>
                  <a:lnTo>
                    <a:pt x="66" y="99"/>
                  </a:lnTo>
                  <a:close/>
                  <a:moveTo>
                    <a:pt x="27" y="77"/>
                  </a:moveTo>
                  <a:cubicBezTo>
                    <a:pt x="27" y="84"/>
                    <a:pt x="31" y="90"/>
                    <a:pt x="39" y="90"/>
                  </a:cubicBezTo>
                  <a:cubicBezTo>
                    <a:pt x="48" y="90"/>
                    <a:pt x="57" y="87"/>
                    <a:pt x="65" y="79"/>
                  </a:cubicBezTo>
                  <a:cubicBezTo>
                    <a:pt x="65" y="54"/>
                    <a:pt x="65" y="54"/>
                    <a:pt x="65" y="54"/>
                  </a:cubicBezTo>
                  <a:cubicBezTo>
                    <a:pt x="39" y="57"/>
                    <a:pt x="27" y="64"/>
                    <a:pt x="27" y="77"/>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62" name="Google Shape;62;h2dfb90ae07d12a84_2_4"/>
            <p:cNvSpPr/>
            <p:nvPr/>
          </p:nvSpPr>
          <p:spPr>
            <a:xfrm>
              <a:off x="592935" y="4708526"/>
              <a:ext cx="76200" cy="87313"/>
            </a:xfrm>
            <a:custGeom>
              <a:rect b="b" l="l" r="r" t="t"/>
              <a:pathLst>
                <a:path extrusionOk="0" h="108" w="94">
                  <a:moveTo>
                    <a:pt x="0" y="5"/>
                  </a:moveTo>
                  <a:cubicBezTo>
                    <a:pt x="23" y="2"/>
                    <a:pt x="23" y="2"/>
                    <a:pt x="23" y="2"/>
                  </a:cubicBezTo>
                  <a:cubicBezTo>
                    <a:pt x="25" y="15"/>
                    <a:pt x="25" y="15"/>
                    <a:pt x="25" y="15"/>
                  </a:cubicBezTo>
                  <a:cubicBezTo>
                    <a:pt x="38" y="5"/>
                    <a:pt x="48" y="0"/>
                    <a:pt x="61" y="0"/>
                  </a:cubicBezTo>
                  <a:cubicBezTo>
                    <a:pt x="83" y="0"/>
                    <a:pt x="94" y="12"/>
                    <a:pt x="94" y="34"/>
                  </a:cubicBezTo>
                  <a:cubicBezTo>
                    <a:pt x="94" y="108"/>
                    <a:pt x="94" y="108"/>
                    <a:pt x="94" y="108"/>
                  </a:cubicBezTo>
                  <a:cubicBezTo>
                    <a:pt x="66" y="108"/>
                    <a:pt x="66" y="108"/>
                    <a:pt x="66" y="108"/>
                  </a:cubicBezTo>
                  <a:cubicBezTo>
                    <a:pt x="66" y="39"/>
                    <a:pt x="66" y="39"/>
                    <a:pt x="66" y="39"/>
                  </a:cubicBezTo>
                  <a:cubicBezTo>
                    <a:pt x="66" y="26"/>
                    <a:pt x="63" y="21"/>
                    <a:pt x="53" y="21"/>
                  </a:cubicBezTo>
                  <a:cubicBezTo>
                    <a:pt x="45" y="21"/>
                    <a:pt x="36" y="24"/>
                    <a:pt x="27" y="32"/>
                  </a:cubicBezTo>
                  <a:cubicBezTo>
                    <a:pt x="27" y="108"/>
                    <a:pt x="27" y="108"/>
                    <a:pt x="27" y="108"/>
                  </a:cubicBezTo>
                  <a:cubicBezTo>
                    <a:pt x="0" y="108"/>
                    <a:pt x="0" y="108"/>
                    <a:pt x="0" y="108"/>
                  </a:cubicBezTo>
                  <a:lnTo>
                    <a:pt x="0" y="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63" name="Google Shape;63;h2dfb90ae07d12a84_2_4"/>
            <p:cNvSpPr/>
            <p:nvPr/>
          </p:nvSpPr>
          <p:spPr>
            <a:xfrm>
              <a:off x="778673" y="4708526"/>
              <a:ext cx="79375" cy="88900"/>
            </a:xfrm>
            <a:custGeom>
              <a:rect b="b" l="l" r="r" t="t"/>
              <a:pathLst>
                <a:path extrusionOk="0" h="110" w="98">
                  <a:moveTo>
                    <a:pt x="50" y="110"/>
                  </a:moveTo>
                  <a:cubicBezTo>
                    <a:pt x="19" y="110"/>
                    <a:pt x="0" y="90"/>
                    <a:pt x="0" y="55"/>
                  </a:cubicBezTo>
                  <a:cubicBezTo>
                    <a:pt x="0" y="20"/>
                    <a:pt x="19" y="0"/>
                    <a:pt x="49" y="0"/>
                  </a:cubicBezTo>
                  <a:cubicBezTo>
                    <a:pt x="80" y="0"/>
                    <a:pt x="98" y="20"/>
                    <a:pt x="98" y="54"/>
                  </a:cubicBezTo>
                  <a:cubicBezTo>
                    <a:pt x="98" y="56"/>
                    <a:pt x="97" y="57"/>
                    <a:pt x="97" y="59"/>
                  </a:cubicBezTo>
                  <a:cubicBezTo>
                    <a:pt x="27" y="59"/>
                    <a:pt x="27" y="59"/>
                    <a:pt x="27" y="59"/>
                  </a:cubicBezTo>
                  <a:cubicBezTo>
                    <a:pt x="28" y="79"/>
                    <a:pt x="36" y="89"/>
                    <a:pt x="52" y="89"/>
                  </a:cubicBezTo>
                  <a:cubicBezTo>
                    <a:pt x="63" y="89"/>
                    <a:pt x="70" y="85"/>
                    <a:pt x="76" y="76"/>
                  </a:cubicBezTo>
                  <a:cubicBezTo>
                    <a:pt x="96" y="87"/>
                    <a:pt x="96" y="87"/>
                    <a:pt x="96" y="87"/>
                  </a:cubicBezTo>
                  <a:cubicBezTo>
                    <a:pt x="87" y="102"/>
                    <a:pt x="71" y="110"/>
                    <a:pt x="50" y="110"/>
                  </a:cubicBezTo>
                  <a:close/>
                  <a:moveTo>
                    <a:pt x="70" y="41"/>
                  </a:moveTo>
                  <a:cubicBezTo>
                    <a:pt x="70" y="27"/>
                    <a:pt x="62" y="19"/>
                    <a:pt x="49" y="19"/>
                  </a:cubicBezTo>
                  <a:cubicBezTo>
                    <a:pt x="37" y="19"/>
                    <a:pt x="29" y="27"/>
                    <a:pt x="28" y="41"/>
                  </a:cubicBezTo>
                  <a:lnTo>
                    <a:pt x="70" y="4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64" name="Google Shape;64;h2dfb90ae07d12a84_2_4"/>
            <p:cNvSpPr/>
            <p:nvPr/>
          </p:nvSpPr>
          <p:spPr>
            <a:xfrm>
              <a:off x="346873" y="4708526"/>
              <a:ext cx="84138" cy="88900"/>
            </a:xfrm>
            <a:custGeom>
              <a:rect b="b" l="l" r="r" t="t"/>
              <a:pathLst>
                <a:path extrusionOk="0" h="111" w="104">
                  <a:moveTo>
                    <a:pt x="52" y="111"/>
                  </a:moveTo>
                  <a:cubicBezTo>
                    <a:pt x="25" y="111"/>
                    <a:pt x="0" y="93"/>
                    <a:pt x="0" y="55"/>
                  </a:cubicBezTo>
                  <a:cubicBezTo>
                    <a:pt x="0" y="17"/>
                    <a:pt x="25" y="0"/>
                    <a:pt x="52" y="0"/>
                  </a:cubicBezTo>
                  <a:cubicBezTo>
                    <a:pt x="79" y="0"/>
                    <a:pt x="104" y="17"/>
                    <a:pt x="104" y="55"/>
                  </a:cubicBezTo>
                  <a:cubicBezTo>
                    <a:pt x="104" y="93"/>
                    <a:pt x="79" y="111"/>
                    <a:pt x="52" y="111"/>
                  </a:cubicBezTo>
                  <a:close/>
                  <a:moveTo>
                    <a:pt x="52" y="23"/>
                  </a:moveTo>
                  <a:cubicBezTo>
                    <a:pt x="31" y="23"/>
                    <a:pt x="28" y="42"/>
                    <a:pt x="28" y="55"/>
                  </a:cubicBezTo>
                  <a:cubicBezTo>
                    <a:pt x="28" y="69"/>
                    <a:pt x="31" y="87"/>
                    <a:pt x="52" y="87"/>
                  </a:cubicBezTo>
                  <a:cubicBezTo>
                    <a:pt x="73" y="87"/>
                    <a:pt x="77" y="69"/>
                    <a:pt x="77" y="55"/>
                  </a:cubicBezTo>
                  <a:cubicBezTo>
                    <a:pt x="77" y="42"/>
                    <a:pt x="73" y="23"/>
                    <a:pt x="52" y="23"/>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65" name="Google Shape;65;h2dfb90ae07d12a84_2_4"/>
            <p:cNvSpPr/>
            <p:nvPr/>
          </p:nvSpPr>
          <p:spPr>
            <a:xfrm>
              <a:off x="446885" y="4708526"/>
              <a:ext cx="47625" cy="87313"/>
            </a:xfrm>
            <a:custGeom>
              <a:rect b="b" l="l" r="r" t="t"/>
              <a:pathLst>
                <a:path extrusionOk="0" h="108" w="59">
                  <a:moveTo>
                    <a:pt x="0" y="3"/>
                  </a:moveTo>
                  <a:cubicBezTo>
                    <a:pt x="26" y="3"/>
                    <a:pt x="26" y="3"/>
                    <a:pt x="26" y="3"/>
                  </a:cubicBezTo>
                  <a:cubicBezTo>
                    <a:pt x="26" y="15"/>
                    <a:pt x="26" y="15"/>
                    <a:pt x="26" y="15"/>
                  </a:cubicBezTo>
                  <a:cubicBezTo>
                    <a:pt x="31" y="8"/>
                    <a:pt x="44" y="0"/>
                    <a:pt x="55" y="0"/>
                  </a:cubicBezTo>
                  <a:cubicBezTo>
                    <a:pt x="57" y="0"/>
                    <a:pt x="58" y="0"/>
                    <a:pt x="59" y="1"/>
                  </a:cubicBezTo>
                  <a:cubicBezTo>
                    <a:pt x="59" y="27"/>
                    <a:pt x="59" y="27"/>
                    <a:pt x="59" y="27"/>
                  </a:cubicBezTo>
                  <a:cubicBezTo>
                    <a:pt x="59" y="27"/>
                    <a:pt x="58" y="27"/>
                    <a:pt x="58" y="27"/>
                  </a:cubicBezTo>
                  <a:cubicBezTo>
                    <a:pt x="46" y="27"/>
                    <a:pt x="32" y="28"/>
                    <a:pt x="28" y="38"/>
                  </a:cubicBezTo>
                  <a:cubicBezTo>
                    <a:pt x="28" y="108"/>
                    <a:pt x="28" y="108"/>
                    <a:pt x="28" y="108"/>
                  </a:cubicBezTo>
                  <a:cubicBezTo>
                    <a:pt x="0" y="108"/>
                    <a:pt x="0" y="108"/>
                    <a:pt x="0" y="108"/>
                  </a:cubicBezTo>
                  <a:lnTo>
                    <a:pt x="0" y="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66" name="Google Shape;66;h2dfb90ae07d12a84_2_4"/>
            <p:cNvSpPr/>
            <p:nvPr/>
          </p:nvSpPr>
          <p:spPr>
            <a:xfrm>
              <a:off x="685010" y="4708526"/>
              <a:ext cx="79375" cy="120650"/>
            </a:xfrm>
            <a:custGeom>
              <a:rect b="b" l="l" r="r" t="t"/>
              <a:pathLst>
                <a:path extrusionOk="0" h="149" w="98">
                  <a:moveTo>
                    <a:pt x="49" y="85"/>
                  </a:moveTo>
                  <a:cubicBezTo>
                    <a:pt x="70" y="85"/>
                    <a:pt x="72" y="64"/>
                    <a:pt x="72" y="50"/>
                  </a:cubicBezTo>
                  <a:cubicBezTo>
                    <a:pt x="72" y="33"/>
                    <a:pt x="64" y="20"/>
                    <a:pt x="49" y="20"/>
                  </a:cubicBezTo>
                  <a:cubicBezTo>
                    <a:pt x="39" y="20"/>
                    <a:pt x="28" y="27"/>
                    <a:pt x="28" y="51"/>
                  </a:cubicBezTo>
                  <a:cubicBezTo>
                    <a:pt x="28" y="64"/>
                    <a:pt x="29" y="85"/>
                    <a:pt x="49" y="85"/>
                  </a:cubicBezTo>
                  <a:close/>
                  <a:moveTo>
                    <a:pt x="98" y="2"/>
                  </a:moveTo>
                  <a:cubicBezTo>
                    <a:pt x="98" y="102"/>
                    <a:pt x="98" y="102"/>
                    <a:pt x="98" y="102"/>
                  </a:cubicBezTo>
                  <a:cubicBezTo>
                    <a:pt x="98" y="119"/>
                    <a:pt x="97" y="148"/>
                    <a:pt x="47" y="149"/>
                  </a:cubicBezTo>
                  <a:cubicBezTo>
                    <a:pt x="26" y="149"/>
                    <a:pt x="7" y="141"/>
                    <a:pt x="3" y="123"/>
                  </a:cubicBezTo>
                  <a:cubicBezTo>
                    <a:pt x="30" y="118"/>
                    <a:pt x="30" y="118"/>
                    <a:pt x="30" y="118"/>
                  </a:cubicBezTo>
                  <a:cubicBezTo>
                    <a:pt x="32" y="123"/>
                    <a:pt x="35" y="128"/>
                    <a:pt x="50" y="128"/>
                  </a:cubicBezTo>
                  <a:cubicBezTo>
                    <a:pt x="65" y="128"/>
                    <a:pt x="72" y="122"/>
                    <a:pt x="72" y="105"/>
                  </a:cubicBezTo>
                  <a:cubicBezTo>
                    <a:pt x="72" y="93"/>
                    <a:pt x="72" y="93"/>
                    <a:pt x="72" y="93"/>
                  </a:cubicBezTo>
                  <a:cubicBezTo>
                    <a:pt x="71" y="92"/>
                    <a:pt x="71" y="92"/>
                    <a:pt x="71" y="92"/>
                  </a:cubicBezTo>
                  <a:cubicBezTo>
                    <a:pt x="67" y="100"/>
                    <a:pt x="60" y="108"/>
                    <a:pt x="44" y="108"/>
                  </a:cubicBezTo>
                  <a:cubicBezTo>
                    <a:pt x="19" y="108"/>
                    <a:pt x="0" y="91"/>
                    <a:pt x="0" y="55"/>
                  </a:cubicBezTo>
                  <a:cubicBezTo>
                    <a:pt x="0" y="20"/>
                    <a:pt x="20" y="0"/>
                    <a:pt x="42" y="0"/>
                  </a:cubicBezTo>
                  <a:cubicBezTo>
                    <a:pt x="63" y="0"/>
                    <a:pt x="71" y="10"/>
                    <a:pt x="73" y="15"/>
                  </a:cubicBezTo>
                  <a:cubicBezTo>
                    <a:pt x="73" y="15"/>
                    <a:pt x="73" y="15"/>
                    <a:pt x="73" y="15"/>
                  </a:cubicBezTo>
                  <a:cubicBezTo>
                    <a:pt x="75" y="2"/>
                    <a:pt x="75" y="2"/>
                    <a:pt x="75" y="2"/>
                  </a:cubicBezTo>
                  <a:lnTo>
                    <a:pt x="98" y="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sp>
          <p:nvSpPr>
            <p:cNvPr id="67" name="Google Shape;67;h2dfb90ae07d12a84_2_4"/>
            <p:cNvSpPr/>
            <p:nvPr/>
          </p:nvSpPr>
          <p:spPr>
            <a:xfrm>
              <a:off x="843760" y="4678363"/>
              <a:ext cx="58738" cy="26988"/>
            </a:xfrm>
            <a:custGeom>
              <a:rect b="b" l="l" r="r" t="t"/>
              <a:pathLst>
                <a:path extrusionOk="0" h="17" w="37">
                  <a:moveTo>
                    <a:pt x="14" y="2"/>
                  </a:moveTo>
                  <a:lnTo>
                    <a:pt x="9" y="2"/>
                  </a:lnTo>
                  <a:lnTo>
                    <a:pt x="9" y="17"/>
                  </a:lnTo>
                  <a:lnTo>
                    <a:pt x="6" y="17"/>
                  </a:lnTo>
                  <a:lnTo>
                    <a:pt x="6" y="2"/>
                  </a:lnTo>
                  <a:lnTo>
                    <a:pt x="0" y="2"/>
                  </a:lnTo>
                  <a:lnTo>
                    <a:pt x="0" y="0"/>
                  </a:lnTo>
                  <a:lnTo>
                    <a:pt x="14" y="0"/>
                  </a:lnTo>
                  <a:lnTo>
                    <a:pt x="14" y="2"/>
                  </a:lnTo>
                  <a:close/>
                  <a:moveTo>
                    <a:pt x="37" y="17"/>
                  </a:moveTo>
                  <a:lnTo>
                    <a:pt x="34" y="17"/>
                  </a:lnTo>
                  <a:lnTo>
                    <a:pt x="34" y="2"/>
                  </a:lnTo>
                  <a:lnTo>
                    <a:pt x="34" y="2"/>
                  </a:lnTo>
                  <a:lnTo>
                    <a:pt x="29" y="17"/>
                  </a:lnTo>
                  <a:lnTo>
                    <a:pt x="27" y="17"/>
                  </a:lnTo>
                  <a:lnTo>
                    <a:pt x="21" y="2"/>
                  </a:lnTo>
                  <a:lnTo>
                    <a:pt x="20" y="2"/>
                  </a:lnTo>
                  <a:lnTo>
                    <a:pt x="20" y="17"/>
                  </a:lnTo>
                  <a:lnTo>
                    <a:pt x="18" y="17"/>
                  </a:lnTo>
                  <a:lnTo>
                    <a:pt x="18" y="0"/>
                  </a:lnTo>
                  <a:lnTo>
                    <a:pt x="22" y="0"/>
                  </a:lnTo>
                  <a:lnTo>
                    <a:pt x="28" y="13"/>
                  </a:lnTo>
                  <a:lnTo>
                    <a:pt x="33" y="0"/>
                  </a:lnTo>
                  <a:lnTo>
                    <a:pt x="37" y="0"/>
                  </a:lnTo>
                  <a:lnTo>
                    <a:pt x="37" y="1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chemeClr val="dk1"/>
                </a:solidFill>
                <a:latin typeface="Helvetica Neue"/>
                <a:ea typeface="Helvetica Neue"/>
                <a:cs typeface="Helvetica Neue"/>
                <a:sym typeface="Helvetica Neue"/>
              </a:endParaRPr>
            </a:p>
          </p:txBody>
        </p:sp>
      </p:grpSp>
      <p:sp>
        <p:nvSpPr>
          <p:cNvPr id="68" name="Google Shape;68;h2dfb90ae07d12a84_2_4"/>
          <p:cNvSpPr txBox="1"/>
          <p:nvPr/>
        </p:nvSpPr>
        <p:spPr>
          <a:xfrm>
            <a:off x="385027" y="638775"/>
            <a:ext cx="2271991" cy="108734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7900"/>
              </a:buClr>
              <a:buSzPts val="3533"/>
              <a:buFont typeface="Helvetica Neue"/>
              <a:buNone/>
            </a:pPr>
            <a:r>
              <a:rPr b="1" i="0" lang="en-US" sz="3533" u="none" cap="none" strike="noStrike">
                <a:solidFill>
                  <a:srgbClr val="FF7900"/>
                </a:solidFill>
                <a:latin typeface="Helvetica Neue"/>
                <a:ea typeface="Helvetica Neue"/>
                <a:cs typeface="Helvetica Neue"/>
                <a:sym typeface="Helvetica Neue"/>
              </a:rPr>
              <a:t>Orange</a:t>
            </a:r>
            <a:endParaRPr b="0" i="0" sz="2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3533"/>
              <a:buFont typeface="Helvetica Neue"/>
              <a:buNone/>
            </a:pPr>
            <a:r>
              <a:rPr b="1" i="0" lang="en-US" sz="3533" u="none" cap="none" strike="noStrike">
                <a:solidFill>
                  <a:schemeClr val="dk1"/>
                </a:solidFill>
                <a:latin typeface="Helvetica Neue"/>
                <a:ea typeface="Helvetica Neue"/>
                <a:cs typeface="Helvetica Neue"/>
                <a:sym typeface="Helvetica Neue"/>
              </a:rPr>
              <a:t>Innovation</a:t>
            </a:r>
            <a:endParaRPr b="0" i="0" sz="2400" u="none" cap="none" strike="noStrike">
              <a:solidFill>
                <a:schemeClr val="dk1"/>
              </a:solidFill>
              <a:latin typeface="Arial"/>
              <a:ea typeface="Arial"/>
              <a:cs typeface="Arial"/>
              <a:sym typeface="Arial"/>
            </a:endParaRPr>
          </a:p>
        </p:txBody>
      </p:sp>
      <p:cxnSp>
        <p:nvCxnSpPr>
          <p:cNvPr id="69" name="Google Shape;69;h2dfb90ae07d12a84_2_4"/>
          <p:cNvCxnSpPr/>
          <p:nvPr/>
        </p:nvCxnSpPr>
        <p:spPr>
          <a:xfrm>
            <a:off x="443507" y="164638"/>
            <a:ext cx="0" cy="369793"/>
          </a:xfrm>
          <a:prstGeom prst="straightConnector1">
            <a:avLst/>
          </a:prstGeom>
          <a:noFill/>
          <a:ln cap="flat" cmpd="sng" w="53975">
            <a:solidFill>
              <a:srgbClr val="FF7900"/>
            </a:solidFill>
            <a:prstDash val="solid"/>
            <a:round/>
            <a:headEnd len="sm" w="sm" type="none"/>
            <a:tailEnd len="sm" w="sm" type="none"/>
          </a:ln>
        </p:spPr>
      </p:cxnSp>
      <p:cxnSp>
        <p:nvCxnSpPr>
          <p:cNvPr id="70" name="Google Shape;70;h2dfb90ae07d12a84_2_4"/>
          <p:cNvCxnSpPr/>
          <p:nvPr/>
        </p:nvCxnSpPr>
        <p:spPr>
          <a:xfrm>
            <a:off x="442579" y="1604797"/>
            <a:ext cx="928" cy="4897603"/>
          </a:xfrm>
          <a:prstGeom prst="straightConnector1">
            <a:avLst/>
          </a:prstGeom>
          <a:noFill/>
          <a:ln cap="flat" cmpd="sng" w="53975">
            <a:solidFill>
              <a:srgbClr val="FF7900"/>
            </a:solidFill>
            <a:prstDash val="solid"/>
            <a:round/>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1" name="Shape 7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ontents">
    <p:spTree>
      <p:nvGrpSpPr>
        <p:cNvPr id="72" name="Shape 72"/>
        <p:cNvGrpSpPr/>
        <p:nvPr/>
      </p:nvGrpSpPr>
      <p:grpSpPr>
        <a:xfrm>
          <a:off x="0" y="0"/>
          <a:ext cx="0" cy="0"/>
          <a:chOff x="0" y="0"/>
          <a:chExt cx="0" cy="0"/>
        </a:xfrm>
      </p:grpSpPr>
      <p:sp>
        <p:nvSpPr>
          <p:cNvPr id="73" name="Google Shape;73;h2dfb90ae07d12a84_2_20"/>
          <p:cNvSpPr txBox="1"/>
          <p:nvPr>
            <p:ph idx="1" type="body"/>
          </p:nvPr>
        </p:nvSpPr>
        <p:spPr>
          <a:xfrm>
            <a:off x="419101" y="356660"/>
            <a:ext cx="11353799" cy="5711825"/>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0"/>
              </a:spcBef>
              <a:spcAft>
                <a:spcPts val="0"/>
              </a:spcAft>
              <a:buSzPts val="750"/>
              <a:buNone/>
              <a:defRPr sz="4000"/>
            </a:lvl1pPr>
            <a:lvl2pPr indent="-419100" lvl="1" marL="914400" algn="l">
              <a:lnSpc>
                <a:spcPct val="90000"/>
              </a:lnSpc>
              <a:spcBef>
                <a:spcPts val="0"/>
              </a:spcBef>
              <a:spcAft>
                <a:spcPts val="0"/>
              </a:spcAft>
              <a:buClr>
                <a:schemeClr val="dk1"/>
              </a:buClr>
              <a:buSzPts val="3000"/>
              <a:buFont typeface="Helvetica Neue"/>
              <a:buAutoNum type="arabicPeriod"/>
              <a:defRPr sz="4000"/>
            </a:lvl2pPr>
            <a:lvl3pPr indent="-342900" lvl="2" marL="1371600" algn="l">
              <a:lnSpc>
                <a:spcPct val="90000"/>
              </a:lnSpc>
              <a:spcBef>
                <a:spcPts val="800"/>
              </a:spcBef>
              <a:spcAft>
                <a:spcPts val="0"/>
              </a:spcAft>
              <a:buSzPts val="1800"/>
              <a:buChar char="▪"/>
              <a:defRPr sz="2400"/>
            </a:lvl3pPr>
            <a:lvl4pPr indent="-342900" lvl="3" marL="1828800" algn="l">
              <a:lnSpc>
                <a:spcPct val="90000"/>
              </a:lnSpc>
              <a:spcBef>
                <a:spcPts val="480"/>
              </a:spcBef>
              <a:spcAft>
                <a:spcPts val="0"/>
              </a:spcAft>
              <a:buClr>
                <a:schemeClr val="dk1"/>
              </a:buClr>
              <a:buSzPts val="1800"/>
              <a:buChar char="–"/>
              <a:defRPr sz="2400"/>
            </a:lvl4pPr>
            <a:lvl5pPr indent="-342900" lvl="4" marL="2286000" algn="l">
              <a:lnSpc>
                <a:spcPct val="90000"/>
              </a:lnSpc>
              <a:spcBef>
                <a:spcPts val="480"/>
              </a:spcBef>
              <a:spcAft>
                <a:spcPts val="0"/>
              </a:spcAft>
              <a:buSzPts val="1800"/>
              <a:buChar char="–"/>
              <a:defRPr sz="2400"/>
            </a:lvl5pPr>
            <a:lvl6pPr indent="-342900" lvl="5" marL="2743200" algn="l">
              <a:lnSpc>
                <a:spcPct val="100000"/>
              </a:lnSpc>
              <a:spcBef>
                <a:spcPts val="480"/>
              </a:spcBef>
              <a:spcAft>
                <a:spcPts val="0"/>
              </a:spcAft>
              <a:buClr>
                <a:schemeClr val="dk1"/>
              </a:buClr>
              <a:buSzPts val="1800"/>
              <a:buChar char="–"/>
              <a:defRPr/>
            </a:lvl6pPr>
            <a:lvl7pPr indent="-342900" lvl="6" marL="3200400" algn="l">
              <a:lnSpc>
                <a:spcPct val="100000"/>
              </a:lnSpc>
              <a:spcBef>
                <a:spcPts val="480"/>
              </a:spcBef>
              <a:spcAft>
                <a:spcPts val="0"/>
              </a:spcAft>
              <a:buClr>
                <a:schemeClr val="dk1"/>
              </a:buClr>
              <a:buSzPts val="1800"/>
              <a:buChar char="•"/>
              <a:defRPr/>
            </a:lvl7pPr>
            <a:lvl8pPr indent="-342900" lvl="7" marL="3657600" algn="l">
              <a:lnSpc>
                <a:spcPct val="100000"/>
              </a:lnSpc>
              <a:spcBef>
                <a:spcPts val="480"/>
              </a:spcBef>
              <a:spcAft>
                <a:spcPts val="0"/>
              </a:spcAft>
              <a:buClr>
                <a:schemeClr val="dk1"/>
              </a:buClr>
              <a:buSzPts val="1800"/>
              <a:buChar char="•"/>
              <a:defRPr/>
            </a:lvl8pPr>
            <a:lvl9pPr indent="-342900" lvl="8" marL="4114800" algn="l">
              <a:lnSpc>
                <a:spcPct val="100000"/>
              </a:lnSpc>
              <a:spcBef>
                <a:spcPts val="480"/>
              </a:spcBef>
              <a:spcAft>
                <a:spcPts val="0"/>
              </a:spcAft>
              <a:buClr>
                <a:schemeClr val="dk1"/>
              </a:buClr>
              <a:buSzPts val="1800"/>
              <a:buChar char="•"/>
              <a:defRPr/>
            </a:lvl9pPr>
          </a:lstStyle>
          <a:p/>
        </p:txBody>
      </p:sp>
      <p:sp>
        <p:nvSpPr>
          <p:cNvPr id="74" name="Google Shape;74;h2dfb90ae07d12a84_2_20"/>
          <p:cNvSpPr txBox="1"/>
          <p:nvPr/>
        </p:nvSpPr>
        <p:spPr>
          <a:xfrm>
            <a:off x="826060" y="6332196"/>
            <a:ext cx="1201184" cy="1642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2"/>
              </a:buClr>
              <a:buSzPts val="1067"/>
              <a:buFont typeface="Helvetica Neue"/>
              <a:buNone/>
            </a:pPr>
            <a:r>
              <a:rPr b="1" i="0" lang="en-US" sz="1067" u="none" cap="none" strike="noStrike">
                <a:solidFill>
                  <a:schemeClr val="lt2"/>
                </a:solidFill>
                <a:latin typeface="Helvetica Neue"/>
                <a:ea typeface="Helvetica Neue"/>
                <a:cs typeface="Helvetica Neue"/>
                <a:sym typeface="Helvetica Neue"/>
              </a:rPr>
              <a:t>Orange Restricted</a:t>
            </a:r>
            <a:endParaRPr b="0" i="0" sz="24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p:cSld name="Titre de section">
    <p:spTree>
      <p:nvGrpSpPr>
        <p:cNvPr id="75" name="Shape 75"/>
        <p:cNvGrpSpPr/>
        <p:nvPr/>
      </p:nvGrpSpPr>
      <p:grpSpPr>
        <a:xfrm>
          <a:off x="0" y="0"/>
          <a:ext cx="0" cy="0"/>
          <a:chOff x="0" y="0"/>
          <a:chExt cx="0" cy="0"/>
        </a:xfrm>
      </p:grpSpPr>
      <p:sp>
        <p:nvSpPr>
          <p:cNvPr id="76" name="Google Shape;76;h2dfb90ae07d12a84_2_23"/>
          <p:cNvSpPr txBox="1"/>
          <p:nvPr>
            <p:ph idx="1" type="body"/>
          </p:nvPr>
        </p:nvSpPr>
        <p:spPr>
          <a:xfrm>
            <a:off x="418359" y="357718"/>
            <a:ext cx="8129119" cy="5710767"/>
          </a:xfrm>
          <a:prstGeom prst="rect">
            <a:avLst/>
          </a:prstGeom>
          <a:noFill/>
          <a:ln>
            <a:noFill/>
          </a:ln>
        </p:spPr>
        <p:txBody>
          <a:bodyPr anchorCtr="0" anchor="t" bIns="0" lIns="0" spcFirstLastPara="1" rIns="0" wrap="square" tIns="0">
            <a:normAutofit/>
          </a:bodyPr>
          <a:lstStyle>
            <a:lvl1pPr indent="-228600" lvl="0" marL="457200" algn="l">
              <a:lnSpc>
                <a:spcPct val="85000"/>
              </a:lnSpc>
              <a:spcBef>
                <a:spcPts val="0"/>
              </a:spcBef>
              <a:spcAft>
                <a:spcPts val="0"/>
              </a:spcAft>
              <a:buSzPts val="1375"/>
              <a:buNone/>
              <a:defRPr sz="7333"/>
            </a:lvl1pPr>
            <a:lvl2pPr indent="-228600" lvl="1" marL="914400" algn="l">
              <a:lnSpc>
                <a:spcPct val="85000"/>
              </a:lnSpc>
              <a:spcBef>
                <a:spcPts val="0"/>
              </a:spcBef>
              <a:spcAft>
                <a:spcPts val="0"/>
              </a:spcAft>
              <a:buSzPts val="1375"/>
              <a:buNone/>
              <a:defRPr sz="7333"/>
            </a:lvl2pPr>
            <a:lvl3pPr indent="-577850" lvl="2" marL="1371600" algn="l">
              <a:lnSpc>
                <a:spcPct val="90000"/>
              </a:lnSpc>
              <a:spcBef>
                <a:spcPts val="800"/>
              </a:spcBef>
              <a:spcAft>
                <a:spcPts val="0"/>
              </a:spcAft>
              <a:buSzPts val="5500"/>
              <a:buChar char="▪"/>
              <a:defRPr sz="7333"/>
            </a:lvl3pPr>
            <a:lvl4pPr indent="-577850" lvl="3" marL="1828800" algn="l">
              <a:lnSpc>
                <a:spcPct val="90000"/>
              </a:lnSpc>
              <a:spcBef>
                <a:spcPts val="1467"/>
              </a:spcBef>
              <a:spcAft>
                <a:spcPts val="0"/>
              </a:spcAft>
              <a:buClr>
                <a:schemeClr val="dk1"/>
              </a:buClr>
              <a:buSzPts val="5500"/>
              <a:buChar char="–"/>
              <a:defRPr sz="7333"/>
            </a:lvl4pPr>
            <a:lvl5pPr indent="-577850" lvl="4" marL="2286000" algn="l">
              <a:lnSpc>
                <a:spcPct val="90000"/>
              </a:lnSpc>
              <a:spcBef>
                <a:spcPts val="1467"/>
              </a:spcBef>
              <a:spcAft>
                <a:spcPts val="0"/>
              </a:spcAft>
              <a:buSzPts val="5500"/>
              <a:buChar char="–"/>
              <a:defRPr sz="7333"/>
            </a:lvl5pPr>
            <a:lvl6pPr indent="-342900" lvl="5" marL="2743200" algn="l">
              <a:lnSpc>
                <a:spcPct val="100000"/>
              </a:lnSpc>
              <a:spcBef>
                <a:spcPts val="480"/>
              </a:spcBef>
              <a:spcAft>
                <a:spcPts val="0"/>
              </a:spcAft>
              <a:buClr>
                <a:schemeClr val="dk1"/>
              </a:buClr>
              <a:buSzPts val="1800"/>
              <a:buChar char="–"/>
              <a:defRPr/>
            </a:lvl6pPr>
            <a:lvl7pPr indent="-342900" lvl="6" marL="3200400" algn="l">
              <a:lnSpc>
                <a:spcPct val="100000"/>
              </a:lnSpc>
              <a:spcBef>
                <a:spcPts val="480"/>
              </a:spcBef>
              <a:spcAft>
                <a:spcPts val="0"/>
              </a:spcAft>
              <a:buClr>
                <a:schemeClr val="dk1"/>
              </a:buClr>
              <a:buSzPts val="1800"/>
              <a:buChar char="•"/>
              <a:defRPr/>
            </a:lvl7pPr>
            <a:lvl8pPr indent="-342900" lvl="7" marL="3657600" algn="l">
              <a:lnSpc>
                <a:spcPct val="100000"/>
              </a:lnSpc>
              <a:spcBef>
                <a:spcPts val="480"/>
              </a:spcBef>
              <a:spcAft>
                <a:spcPts val="0"/>
              </a:spcAft>
              <a:buClr>
                <a:schemeClr val="dk1"/>
              </a:buClr>
              <a:buSzPts val="1800"/>
              <a:buChar char="•"/>
              <a:defRPr/>
            </a:lvl8pPr>
            <a:lvl9pPr indent="-342900" lvl="8" marL="4114800" algn="l">
              <a:lnSpc>
                <a:spcPct val="100000"/>
              </a:lnSpc>
              <a:spcBef>
                <a:spcPts val="480"/>
              </a:spcBef>
              <a:spcAft>
                <a:spcPts val="0"/>
              </a:spcAft>
              <a:buClr>
                <a:schemeClr val="dk1"/>
              </a:buClr>
              <a:buSzPts val="1800"/>
              <a:buChar char="•"/>
              <a:defRPr/>
            </a:lvl9pPr>
          </a:lstStyle>
          <a:p/>
        </p:txBody>
      </p:sp>
      <p:sp>
        <p:nvSpPr>
          <p:cNvPr id="77" name="Google Shape;77;h2dfb90ae07d12a84_2_23"/>
          <p:cNvSpPr txBox="1"/>
          <p:nvPr/>
        </p:nvSpPr>
        <p:spPr>
          <a:xfrm>
            <a:off x="826060" y="6332196"/>
            <a:ext cx="1201184" cy="1642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2"/>
              </a:buClr>
              <a:buSzPts val="1067"/>
              <a:buFont typeface="Helvetica Neue"/>
              <a:buNone/>
            </a:pPr>
            <a:r>
              <a:rPr b="1" i="0" lang="en-US" sz="1067" u="none" cap="none" strike="noStrike">
                <a:solidFill>
                  <a:schemeClr val="lt2"/>
                </a:solidFill>
                <a:latin typeface="Helvetica Neue"/>
                <a:ea typeface="Helvetica Neue"/>
                <a:cs typeface="Helvetica Neue"/>
                <a:sym typeface="Helvetica Neue"/>
              </a:rPr>
              <a:t>Orange Restricted</a:t>
            </a:r>
            <a:endParaRPr b="0" i="0" sz="24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p:cSld name="Deux contenus">
    <p:spTree>
      <p:nvGrpSpPr>
        <p:cNvPr id="78" name="Shape 78"/>
        <p:cNvGrpSpPr/>
        <p:nvPr/>
      </p:nvGrpSpPr>
      <p:grpSpPr>
        <a:xfrm>
          <a:off x="0" y="0"/>
          <a:ext cx="0" cy="0"/>
          <a:chOff x="0" y="0"/>
          <a:chExt cx="0" cy="0"/>
        </a:xfrm>
      </p:grpSpPr>
      <p:sp>
        <p:nvSpPr>
          <p:cNvPr id="79" name="Google Shape;79;h2dfb90ae07d12a84_2_26"/>
          <p:cNvSpPr txBox="1"/>
          <p:nvPr>
            <p:ph idx="1" type="body"/>
          </p:nvPr>
        </p:nvSpPr>
        <p:spPr>
          <a:xfrm>
            <a:off x="417601" y="1574800"/>
            <a:ext cx="5290740" cy="449368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SzPts val="350"/>
              <a:buNone/>
              <a:defRPr sz="1867"/>
            </a:lvl1pPr>
            <a:lvl2pPr indent="-228600" lvl="1" marL="914400" algn="l">
              <a:lnSpc>
                <a:spcPct val="90000"/>
              </a:lnSpc>
              <a:spcBef>
                <a:spcPts val="800"/>
              </a:spcBef>
              <a:spcAft>
                <a:spcPts val="0"/>
              </a:spcAft>
              <a:buSzPts val="350"/>
              <a:buNone/>
              <a:defRPr sz="1867">
                <a:solidFill>
                  <a:schemeClr val="dk1"/>
                </a:solidFill>
              </a:defRPr>
            </a:lvl2pPr>
            <a:lvl3pPr indent="-317500" lvl="2" marL="1371600" algn="l">
              <a:lnSpc>
                <a:spcPct val="90000"/>
              </a:lnSpc>
              <a:spcBef>
                <a:spcPts val="800"/>
              </a:spcBef>
              <a:spcAft>
                <a:spcPts val="0"/>
              </a:spcAft>
              <a:buSzPts val="1400"/>
              <a:buChar char="▪"/>
              <a:defRPr sz="1867">
                <a:solidFill>
                  <a:schemeClr val="dk1"/>
                </a:solidFill>
              </a:defRPr>
            </a:lvl3pPr>
            <a:lvl4pPr indent="-317500" lvl="3" marL="1828800" algn="l">
              <a:lnSpc>
                <a:spcPct val="90000"/>
              </a:lnSpc>
              <a:spcBef>
                <a:spcPts val="373"/>
              </a:spcBef>
              <a:spcAft>
                <a:spcPts val="0"/>
              </a:spcAft>
              <a:buClr>
                <a:schemeClr val="dk1"/>
              </a:buClr>
              <a:buSzPts val="1400"/>
              <a:buChar char="–"/>
              <a:defRPr sz="1867">
                <a:solidFill>
                  <a:schemeClr val="dk1"/>
                </a:solidFill>
              </a:defRPr>
            </a:lvl4pPr>
            <a:lvl5pPr indent="-317500" lvl="4" marL="2286000" algn="l">
              <a:lnSpc>
                <a:spcPct val="90000"/>
              </a:lnSpc>
              <a:spcBef>
                <a:spcPts val="373"/>
              </a:spcBef>
              <a:spcAft>
                <a:spcPts val="0"/>
              </a:spcAft>
              <a:buSzPts val="1400"/>
              <a:buChar char="–"/>
              <a:defRPr sz="1867">
                <a:solidFill>
                  <a:schemeClr val="dk1"/>
                </a:solidFill>
              </a:defRPr>
            </a:lvl5pPr>
            <a:lvl6pPr indent="-317500" lvl="5" marL="2743200" algn="l">
              <a:lnSpc>
                <a:spcPct val="100000"/>
              </a:lnSpc>
              <a:spcBef>
                <a:spcPts val="373"/>
              </a:spcBef>
              <a:spcAft>
                <a:spcPts val="0"/>
              </a:spcAft>
              <a:buClr>
                <a:schemeClr val="dk1"/>
              </a:buClr>
              <a:buSzPts val="1400"/>
              <a:buChar char="–"/>
              <a:defRPr sz="1867"/>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
        <p:nvSpPr>
          <p:cNvPr id="80" name="Google Shape;80;h2dfb90ae07d12a84_2_26"/>
          <p:cNvSpPr txBox="1"/>
          <p:nvPr>
            <p:ph idx="2" type="body"/>
          </p:nvPr>
        </p:nvSpPr>
        <p:spPr>
          <a:xfrm>
            <a:off x="6486393" y="1574800"/>
            <a:ext cx="5286507" cy="449368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SzPts val="350"/>
              <a:buNone/>
              <a:defRPr sz="1867"/>
            </a:lvl1pPr>
            <a:lvl2pPr indent="-228600" lvl="1" marL="914400" algn="l">
              <a:lnSpc>
                <a:spcPct val="90000"/>
              </a:lnSpc>
              <a:spcBef>
                <a:spcPts val="800"/>
              </a:spcBef>
              <a:spcAft>
                <a:spcPts val="0"/>
              </a:spcAft>
              <a:buSzPts val="350"/>
              <a:buNone/>
              <a:defRPr sz="1867">
                <a:solidFill>
                  <a:schemeClr val="dk1"/>
                </a:solidFill>
              </a:defRPr>
            </a:lvl2pPr>
            <a:lvl3pPr indent="-317500" lvl="2" marL="1371600" algn="l">
              <a:lnSpc>
                <a:spcPct val="90000"/>
              </a:lnSpc>
              <a:spcBef>
                <a:spcPts val="800"/>
              </a:spcBef>
              <a:spcAft>
                <a:spcPts val="0"/>
              </a:spcAft>
              <a:buSzPts val="1400"/>
              <a:buChar char="▪"/>
              <a:defRPr sz="1867">
                <a:solidFill>
                  <a:schemeClr val="dk1"/>
                </a:solidFill>
              </a:defRPr>
            </a:lvl3pPr>
            <a:lvl4pPr indent="-317500" lvl="3" marL="1828800" algn="l">
              <a:lnSpc>
                <a:spcPct val="90000"/>
              </a:lnSpc>
              <a:spcBef>
                <a:spcPts val="373"/>
              </a:spcBef>
              <a:spcAft>
                <a:spcPts val="0"/>
              </a:spcAft>
              <a:buClr>
                <a:schemeClr val="dk1"/>
              </a:buClr>
              <a:buSzPts val="1400"/>
              <a:buChar char="–"/>
              <a:defRPr sz="1867">
                <a:solidFill>
                  <a:schemeClr val="dk1"/>
                </a:solidFill>
              </a:defRPr>
            </a:lvl4pPr>
            <a:lvl5pPr indent="-317500" lvl="4" marL="2286000" algn="l">
              <a:lnSpc>
                <a:spcPct val="90000"/>
              </a:lnSpc>
              <a:spcBef>
                <a:spcPts val="373"/>
              </a:spcBef>
              <a:spcAft>
                <a:spcPts val="0"/>
              </a:spcAft>
              <a:buSzPts val="1400"/>
              <a:buChar char="–"/>
              <a:defRPr sz="1867">
                <a:solidFill>
                  <a:schemeClr val="dk1"/>
                </a:solidFill>
              </a:defRPr>
            </a:lvl5pPr>
            <a:lvl6pPr indent="-317500" lvl="5" marL="2743200" algn="l">
              <a:lnSpc>
                <a:spcPct val="100000"/>
              </a:lnSpc>
              <a:spcBef>
                <a:spcPts val="373"/>
              </a:spcBef>
              <a:spcAft>
                <a:spcPts val="0"/>
              </a:spcAft>
              <a:buClr>
                <a:schemeClr val="dk1"/>
              </a:buClr>
              <a:buSzPts val="1400"/>
              <a:buChar char="–"/>
              <a:defRPr sz="1867"/>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
        <p:nvSpPr>
          <p:cNvPr id="81" name="Google Shape;81;h2dfb90ae07d12a84_2_26"/>
          <p:cNvSpPr txBox="1"/>
          <p:nvPr>
            <p:ph type="title"/>
          </p:nvPr>
        </p:nvSpPr>
        <p:spPr>
          <a:xfrm>
            <a:off x="417599" y="357717"/>
            <a:ext cx="11355300" cy="988483"/>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000"/>
              <a:buFont typeface="Helvetica Neu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h2dfb90ae07d12a84_2_26"/>
          <p:cNvSpPr txBox="1"/>
          <p:nvPr/>
        </p:nvSpPr>
        <p:spPr>
          <a:xfrm>
            <a:off x="826060" y="6332196"/>
            <a:ext cx="1201184" cy="1642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2"/>
              </a:buClr>
              <a:buSzPts val="1067"/>
              <a:buFont typeface="Helvetica Neue"/>
              <a:buNone/>
            </a:pPr>
            <a:r>
              <a:rPr b="1" i="0" lang="en-US" sz="1067" u="none" cap="none" strike="noStrike">
                <a:solidFill>
                  <a:schemeClr val="lt2"/>
                </a:solidFill>
                <a:latin typeface="Helvetica Neue"/>
                <a:ea typeface="Helvetica Neue"/>
                <a:cs typeface="Helvetica Neue"/>
                <a:sym typeface="Helvetica Neue"/>
              </a:rPr>
              <a:t>Orange Restricted</a:t>
            </a:r>
            <a:endParaRPr b="0" i="0" sz="24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us">
  <p:cSld name="4_contenus">
    <p:spTree>
      <p:nvGrpSpPr>
        <p:cNvPr id="83" name="Shape 83"/>
        <p:cNvGrpSpPr/>
        <p:nvPr/>
      </p:nvGrpSpPr>
      <p:grpSpPr>
        <a:xfrm>
          <a:off x="0" y="0"/>
          <a:ext cx="0" cy="0"/>
          <a:chOff x="0" y="0"/>
          <a:chExt cx="0" cy="0"/>
        </a:xfrm>
      </p:grpSpPr>
      <p:sp>
        <p:nvSpPr>
          <p:cNvPr id="84" name="Google Shape;84;h2dfb90ae07d12a84_2_31"/>
          <p:cNvSpPr txBox="1"/>
          <p:nvPr>
            <p:ph idx="1" type="body"/>
          </p:nvPr>
        </p:nvSpPr>
        <p:spPr>
          <a:xfrm>
            <a:off x="417601" y="1574800"/>
            <a:ext cx="5290740" cy="223824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SzPts val="350"/>
              <a:buNone/>
              <a:defRPr sz="1867"/>
            </a:lvl1pPr>
            <a:lvl2pPr indent="-228600" lvl="1" marL="914400" algn="l">
              <a:lnSpc>
                <a:spcPct val="90000"/>
              </a:lnSpc>
              <a:spcBef>
                <a:spcPts val="800"/>
              </a:spcBef>
              <a:spcAft>
                <a:spcPts val="0"/>
              </a:spcAft>
              <a:buSzPts val="350"/>
              <a:buNone/>
              <a:defRPr sz="1867">
                <a:solidFill>
                  <a:schemeClr val="dk1"/>
                </a:solidFill>
              </a:defRPr>
            </a:lvl2pPr>
            <a:lvl3pPr indent="-317500" lvl="2" marL="1371600" algn="l">
              <a:lnSpc>
                <a:spcPct val="90000"/>
              </a:lnSpc>
              <a:spcBef>
                <a:spcPts val="800"/>
              </a:spcBef>
              <a:spcAft>
                <a:spcPts val="0"/>
              </a:spcAft>
              <a:buSzPts val="1400"/>
              <a:buChar char="▪"/>
              <a:defRPr sz="1867">
                <a:solidFill>
                  <a:schemeClr val="dk1"/>
                </a:solidFill>
              </a:defRPr>
            </a:lvl3pPr>
            <a:lvl4pPr indent="-317500" lvl="3" marL="1828800" algn="l">
              <a:lnSpc>
                <a:spcPct val="90000"/>
              </a:lnSpc>
              <a:spcBef>
                <a:spcPts val="373"/>
              </a:spcBef>
              <a:spcAft>
                <a:spcPts val="0"/>
              </a:spcAft>
              <a:buClr>
                <a:schemeClr val="dk1"/>
              </a:buClr>
              <a:buSzPts val="1400"/>
              <a:buChar char="–"/>
              <a:defRPr sz="1867">
                <a:solidFill>
                  <a:schemeClr val="dk1"/>
                </a:solidFill>
              </a:defRPr>
            </a:lvl4pPr>
            <a:lvl5pPr indent="-317500" lvl="4" marL="2286000" algn="l">
              <a:lnSpc>
                <a:spcPct val="90000"/>
              </a:lnSpc>
              <a:spcBef>
                <a:spcPts val="373"/>
              </a:spcBef>
              <a:spcAft>
                <a:spcPts val="0"/>
              </a:spcAft>
              <a:buSzPts val="1400"/>
              <a:buChar char="–"/>
              <a:defRPr sz="1867">
                <a:solidFill>
                  <a:schemeClr val="dk1"/>
                </a:solidFill>
              </a:defRPr>
            </a:lvl5pPr>
            <a:lvl6pPr indent="-317500" lvl="5" marL="2743200" algn="l">
              <a:lnSpc>
                <a:spcPct val="100000"/>
              </a:lnSpc>
              <a:spcBef>
                <a:spcPts val="373"/>
              </a:spcBef>
              <a:spcAft>
                <a:spcPts val="0"/>
              </a:spcAft>
              <a:buClr>
                <a:schemeClr val="dk1"/>
              </a:buClr>
              <a:buSzPts val="1400"/>
              <a:buChar char="–"/>
              <a:defRPr sz="1867"/>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
        <p:nvSpPr>
          <p:cNvPr id="85" name="Google Shape;85;h2dfb90ae07d12a84_2_31"/>
          <p:cNvSpPr txBox="1"/>
          <p:nvPr>
            <p:ph idx="2" type="body"/>
          </p:nvPr>
        </p:nvSpPr>
        <p:spPr>
          <a:xfrm>
            <a:off x="6486393" y="1574800"/>
            <a:ext cx="5286507" cy="223824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SzPts val="350"/>
              <a:buNone/>
              <a:defRPr sz="1867"/>
            </a:lvl1pPr>
            <a:lvl2pPr indent="-228600" lvl="1" marL="914400" algn="l">
              <a:lnSpc>
                <a:spcPct val="90000"/>
              </a:lnSpc>
              <a:spcBef>
                <a:spcPts val="800"/>
              </a:spcBef>
              <a:spcAft>
                <a:spcPts val="0"/>
              </a:spcAft>
              <a:buSzPts val="350"/>
              <a:buNone/>
              <a:defRPr sz="1867">
                <a:solidFill>
                  <a:schemeClr val="dk1"/>
                </a:solidFill>
              </a:defRPr>
            </a:lvl2pPr>
            <a:lvl3pPr indent="-317500" lvl="2" marL="1371600" algn="l">
              <a:lnSpc>
                <a:spcPct val="90000"/>
              </a:lnSpc>
              <a:spcBef>
                <a:spcPts val="800"/>
              </a:spcBef>
              <a:spcAft>
                <a:spcPts val="0"/>
              </a:spcAft>
              <a:buSzPts val="1400"/>
              <a:buChar char="▪"/>
              <a:defRPr sz="1867">
                <a:solidFill>
                  <a:schemeClr val="dk1"/>
                </a:solidFill>
              </a:defRPr>
            </a:lvl3pPr>
            <a:lvl4pPr indent="-317500" lvl="3" marL="1828800" algn="l">
              <a:lnSpc>
                <a:spcPct val="90000"/>
              </a:lnSpc>
              <a:spcBef>
                <a:spcPts val="373"/>
              </a:spcBef>
              <a:spcAft>
                <a:spcPts val="0"/>
              </a:spcAft>
              <a:buClr>
                <a:schemeClr val="dk1"/>
              </a:buClr>
              <a:buSzPts val="1400"/>
              <a:buChar char="–"/>
              <a:defRPr sz="1867">
                <a:solidFill>
                  <a:schemeClr val="dk1"/>
                </a:solidFill>
              </a:defRPr>
            </a:lvl4pPr>
            <a:lvl5pPr indent="-317500" lvl="4" marL="2286000" algn="l">
              <a:lnSpc>
                <a:spcPct val="90000"/>
              </a:lnSpc>
              <a:spcBef>
                <a:spcPts val="373"/>
              </a:spcBef>
              <a:spcAft>
                <a:spcPts val="0"/>
              </a:spcAft>
              <a:buSzPts val="1400"/>
              <a:buChar char="–"/>
              <a:defRPr sz="1867">
                <a:solidFill>
                  <a:schemeClr val="dk1"/>
                </a:solidFill>
              </a:defRPr>
            </a:lvl5pPr>
            <a:lvl6pPr indent="-317500" lvl="5" marL="2743200" algn="l">
              <a:lnSpc>
                <a:spcPct val="100000"/>
              </a:lnSpc>
              <a:spcBef>
                <a:spcPts val="373"/>
              </a:spcBef>
              <a:spcAft>
                <a:spcPts val="0"/>
              </a:spcAft>
              <a:buClr>
                <a:schemeClr val="dk1"/>
              </a:buClr>
              <a:buSzPts val="1400"/>
              <a:buChar char="–"/>
              <a:defRPr sz="1867"/>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
        <p:nvSpPr>
          <p:cNvPr id="86" name="Google Shape;86;h2dfb90ae07d12a84_2_31"/>
          <p:cNvSpPr txBox="1"/>
          <p:nvPr>
            <p:ph type="title"/>
          </p:nvPr>
        </p:nvSpPr>
        <p:spPr>
          <a:xfrm>
            <a:off x="417599" y="357717"/>
            <a:ext cx="11355300" cy="988483"/>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000"/>
              <a:buFont typeface="Helvetica Neu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h2dfb90ae07d12a84_2_31"/>
          <p:cNvSpPr txBox="1"/>
          <p:nvPr/>
        </p:nvSpPr>
        <p:spPr>
          <a:xfrm>
            <a:off x="826060" y="6332196"/>
            <a:ext cx="1201184" cy="1642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2"/>
              </a:buClr>
              <a:buSzPts val="1067"/>
              <a:buFont typeface="Helvetica Neue"/>
              <a:buNone/>
            </a:pPr>
            <a:r>
              <a:rPr b="1" i="0" lang="en-US" sz="1067" u="none" cap="none" strike="noStrike">
                <a:solidFill>
                  <a:schemeClr val="lt2"/>
                </a:solidFill>
                <a:latin typeface="Helvetica Neue"/>
                <a:ea typeface="Helvetica Neue"/>
                <a:cs typeface="Helvetica Neue"/>
                <a:sym typeface="Helvetica Neue"/>
              </a:rPr>
              <a:t>Orange Restricted</a:t>
            </a:r>
            <a:endParaRPr b="0" i="0" sz="2400" u="none" cap="none" strike="noStrike">
              <a:solidFill>
                <a:schemeClr val="dk1"/>
              </a:solidFill>
              <a:latin typeface="Arial"/>
              <a:ea typeface="Arial"/>
              <a:cs typeface="Arial"/>
              <a:sym typeface="Arial"/>
            </a:endParaRPr>
          </a:p>
        </p:txBody>
      </p:sp>
      <p:sp>
        <p:nvSpPr>
          <p:cNvPr id="88" name="Google Shape;88;h2dfb90ae07d12a84_2_31"/>
          <p:cNvSpPr txBox="1"/>
          <p:nvPr>
            <p:ph idx="3" type="body"/>
          </p:nvPr>
        </p:nvSpPr>
        <p:spPr>
          <a:xfrm>
            <a:off x="405330" y="3975067"/>
            <a:ext cx="5290740" cy="223824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SzPts val="350"/>
              <a:buNone/>
              <a:defRPr sz="1867"/>
            </a:lvl1pPr>
            <a:lvl2pPr indent="-228600" lvl="1" marL="914400" algn="l">
              <a:lnSpc>
                <a:spcPct val="90000"/>
              </a:lnSpc>
              <a:spcBef>
                <a:spcPts val="800"/>
              </a:spcBef>
              <a:spcAft>
                <a:spcPts val="0"/>
              </a:spcAft>
              <a:buSzPts val="350"/>
              <a:buNone/>
              <a:defRPr sz="1867">
                <a:solidFill>
                  <a:schemeClr val="dk1"/>
                </a:solidFill>
              </a:defRPr>
            </a:lvl2pPr>
            <a:lvl3pPr indent="-317500" lvl="2" marL="1371600" algn="l">
              <a:lnSpc>
                <a:spcPct val="90000"/>
              </a:lnSpc>
              <a:spcBef>
                <a:spcPts val="800"/>
              </a:spcBef>
              <a:spcAft>
                <a:spcPts val="0"/>
              </a:spcAft>
              <a:buSzPts val="1400"/>
              <a:buChar char="▪"/>
              <a:defRPr sz="1867">
                <a:solidFill>
                  <a:schemeClr val="dk1"/>
                </a:solidFill>
              </a:defRPr>
            </a:lvl3pPr>
            <a:lvl4pPr indent="-317500" lvl="3" marL="1828800" algn="l">
              <a:lnSpc>
                <a:spcPct val="90000"/>
              </a:lnSpc>
              <a:spcBef>
                <a:spcPts val="373"/>
              </a:spcBef>
              <a:spcAft>
                <a:spcPts val="0"/>
              </a:spcAft>
              <a:buClr>
                <a:schemeClr val="dk1"/>
              </a:buClr>
              <a:buSzPts val="1400"/>
              <a:buChar char="–"/>
              <a:defRPr sz="1867">
                <a:solidFill>
                  <a:schemeClr val="dk1"/>
                </a:solidFill>
              </a:defRPr>
            </a:lvl4pPr>
            <a:lvl5pPr indent="-317500" lvl="4" marL="2286000" algn="l">
              <a:lnSpc>
                <a:spcPct val="90000"/>
              </a:lnSpc>
              <a:spcBef>
                <a:spcPts val="373"/>
              </a:spcBef>
              <a:spcAft>
                <a:spcPts val="0"/>
              </a:spcAft>
              <a:buSzPts val="1400"/>
              <a:buChar char="–"/>
              <a:defRPr sz="1867">
                <a:solidFill>
                  <a:schemeClr val="dk1"/>
                </a:solidFill>
              </a:defRPr>
            </a:lvl5pPr>
            <a:lvl6pPr indent="-317500" lvl="5" marL="2743200" algn="l">
              <a:lnSpc>
                <a:spcPct val="100000"/>
              </a:lnSpc>
              <a:spcBef>
                <a:spcPts val="373"/>
              </a:spcBef>
              <a:spcAft>
                <a:spcPts val="0"/>
              </a:spcAft>
              <a:buClr>
                <a:schemeClr val="dk1"/>
              </a:buClr>
              <a:buSzPts val="1400"/>
              <a:buChar char="–"/>
              <a:defRPr sz="1867"/>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
        <p:nvSpPr>
          <p:cNvPr id="89" name="Google Shape;89;h2dfb90ae07d12a84_2_31"/>
          <p:cNvSpPr txBox="1"/>
          <p:nvPr>
            <p:ph idx="4" type="body"/>
          </p:nvPr>
        </p:nvSpPr>
        <p:spPr>
          <a:xfrm>
            <a:off x="6474123" y="3975067"/>
            <a:ext cx="5286507" cy="2238243"/>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800"/>
              </a:spcBef>
              <a:spcAft>
                <a:spcPts val="0"/>
              </a:spcAft>
              <a:buSzPts val="350"/>
              <a:buNone/>
              <a:defRPr sz="1867"/>
            </a:lvl1pPr>
            <a:lvl2pPr indent="-228600" lvl="1" marL="914400" algn="l">
              <a:lnSpc>
                <a:spcPct val="90000"/>
              </a:lnSpc>
              <a:spcBef>
                <a:spcPts val="800"/>
              </a:spcBef>
              <a:spcAft>
                <a:spcPts val="0"/>
              </a:spcAft>
              <a:buSzPts val="350"/>
              <a:buNone/>
              <a:defRPr sz="1867">
                <a:solidFill>
                  <a:schemeClr val="dk1"/>
                </a:solidFill>
              </a:defRPr>
            </a:lvl2pPr>
            <a:lvl3pPr indent="-317500" lvl="2" marL="1371600" algn="l">
              <a:lnSpc>
                <a:spcPct val="90000"/>
              </a:lnSpc>
              <a:spcBef>
                <a:spcPts val="800"/>
              </a:spcBef>
              <a:spcAft>
                <a:spcPts val="0"/>
              </a:spcAft>
              <a:buSzPts val="1400"/>
              <a:buChar char="▪"/>
              <a:defRPr sz="1867">
                <a:solidFill>
                  <a:schemeClr val="dk1"/>
                </a:solidFill>
              </a:defRPr>
            </a:lvl3pPr>
            <a:lvl4pPr indent="-317500" lvl="3" marL="1828800" algn="l">
              <a:lnSpc>
                <a:spcPct val="90000"/>
              </a:lnSpc>
              <a:spcBef>
                <a:spcPts val="373"/>
              </a:spcBef>
              <a:spcAft>
                <a:spcPts val="0"/>
              </a:spcAft>
              <a:buClr>
                <a:schemeClr val="dk1"/>
              </a:buClr>
              <a:buSzPts val="1400"/>
              <a:buChar char="–"/>
              <a:defRPr sz="1867">
                <a:solidFill>
                  <a:schemeClr val="dk1"/>
                </a:solidFill>
              </a:defRPr>
            </a:lvl4pPr>
            <a:lvl5pPr indent="-317500" lvl="4" marL="2286000" algn="l">
              <a:lnSpc>
                <a:spcPct val="90000"/>
              </a:lnSpc>
              <a:spcBef>
                <a:spcPts val="373"/>
              </a:spcBef>
              <a:spcAft>
                <a:spcPts val="0"/>
              </a:spcAft>
              <a:buSzPts val="1400"/>
              <a:buChar char="–"/>
              <a:defRPr sz="1867">
                <a:solidFill>
                  <a:schemeClr val="dk1"/>
                </a:solidFill>
              </a:defRPr>
            </a:lvl5pPr>
            <a:lvl6pPr indent="-317500" lvl="5" marL="2743200" algn="l">
              <a:lnSpc>
                <a:spcPct val="100000"/>
              </a:lnSpc>
              <a:spcBef>
                <a:spcPts val="373"/>
              </a:spcBef>
              <a:spcAft>
                <a:spcPts val="0"/>
              </a:spcAft>
              <a:buClr>
                <a:schemeClr val="dk1"/>
              </a:buClr>
              <a:buSzPts val="1400"/>
              <a:buChar char="–"/>
              <a:defRPr sz="1867"/>
            </a:lvl6pPr>
            <a:lvl7pPr indent="-342900" lvl="6" marL="3200400" algn="l">
              <a:lnSpc>
                <a:spcPct val="100000"/>
              </a:lnSpc>
              <a:spcBef>
                <a:spcPts val="480"/>
              </a:spcBef>
              <a:spcAft>
                <a:spcPts val="0"/>
              </a:spcAft>
              <a:buClr>
                <a:schemeClr val="dk1"/>
              </a:buClr>
              <a:buSzPts val="1800"/>
              <a:buChar char="•"/>
              <a:defRPr sz="2400"/>
            </a:lvl7pPr>
            <a:lvl8pPr indent="-342900" lvl="7" marL="3657600" algn="l">
              <a:lnSpc>
                <a:spcPct val="100000"/>
              </a:lnSpc>
              <a:spcBef>
                <a:spcPts val="480"/>
              </a:spcBef>
              <a:spcAft>
                <a:spcPts val="0"/>
              </a:spcAft>
              <a:buClr>
                <a:schemeClr val="dk1"/>
              </a:buClr>
              <a:buSzPts val="1800"/>
              <a:buChar char="•"/>
              <a:defRPr sz="2400"/>
            </a:lvl8pPr>
            <a:lvl9pPr indent="-342900" lvl="8" marL="4114800" algn="l">
              <a:lnSpc>
                <a:spcPct val="100000"/>
              </a:lnSpc>
              <a:spcBef>
                <a:spcPts val="480"/>
              </a:spcBef>
              <a:spcAft>
                <a:spcPts val="0"/>
              </a:spcAft>
              <a:buClr>
                <a:schemeClr val="dk1"/>
              </a:buClr>
              <a:buSzPts val="1800"/>
              <a:buChar char="•"/>
              <a:defRPr sz="24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p:cSld name="Titre seul">
    <p:spTree>
      <p:nvGrpSpPr>
        <p:cNvPr id="90" name="Shape 90"/>
        <p:cNvGrpSpPr/>
        <p:nvPr/>
      </p:nvGrpSpPr>
      <p:grpSpPr>
        <a:xfrm>
          <a:off x="0" y="0"/>
          <a:ext cx="0" cy="0"/>
          <a:chOff x="0" y="0"/>
          <a:chExt cx="0" cy="0"/>
        </a:xfrm>
      </p:grpSpPr>
      <p:sp>
        <p:nvSpPr>
          <p:cNvPr id="91" name="Google Shape;91;h2dfb90ae07d12a84_2_38"/>
          <p:cNvSpPr txBox="1"/>
          <p:nvPr>
            <p:ph type="title"/>
          </p:nvPr>
        </p:nvSpPr>
        <p:spPr>
          <a:xfrm>
            <a:off x="417601" y="357717"/>
            <a:ext cx="11355300" cy="988483"/>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000"/>
              <a:buFont typeface="Helvetica Neu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h2dfb90ae07d12a84_2_38"/>
          <p:cNvSpPr txBox="1"/>
          <p:nvPr/>
        </p:nvSpPr>
        <p:spPr>
          <a:xfrm>
            <a:off x="826060" y="6332196"/>
            <a:ext cx="1201184" cy="1642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2"/>
              </a:buClr>
              <a:buSzPts val="1067"/>
              <a:buFont typeface="Helvetica Neue"/>
              <a:buNone/>
            </a:pPr>
            <a:r>
              <a:rPr b="1" i="0" lang="en-US" sz="1067" u="none" cap="none" strike="noStrike">
                <a:solidFill>
                  <a:schemeClr val="lt2"/>
                </a:solidFill>
                <a:latin typeface="Helvetica Neue"/>
                <a:ea typeface="Helvetica Neue"/>
                <a:cs typeface="Helvetica Neue"/>
                <a:sym typeface="Helvetica Neue"/>
              </a:rPr>
              <a:t>Orange Restricted</a:t>
            </a:r>
            <a:endParaRPr b="0" i="0" sz="24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Bleed Media" showMasterSp="0">
  <p:cSld name="Full Bleed Media">
    <p:bg>
      <p:bgPr>
        <a:solidFill>
          <a:schemeClr val="dk2"/>
        </a:solidFill>
      </p:bgPr>
    </p:bg>
    <p:spTree>
      <p:nvGrpSpPr>
        <p:cNvPr id="93" name="Shape 93"/>
        <p:cNvGrpSpPr/>
        <p:nvPr/>
      </p:nvGrpSpPr>
      <p:grpSpPr>
        <a:xfrm>
          <a:off x="0" y="0"/>
          <a:ext cx="0" cy="0"/>
          <a:chOff x="0" y="0"/>
          <a:chExt cx="0" cy="0"/>
        </a:xfrm>
      </p:grpSpPr>
      <p:sp>
        <p:nvSpPr>
          <p:cNvPr id="94" name="Google Shape;94;h2dfb90ae07d12a84_2_41"/>
          <p:cNvSpPr/>
          <p:nvPr>
            <p:ph idx="2" type="pic"/>
          </p:nvPr>
        </p:nvSpPr>
        <p:spPr>
          <a:xfrm>
            <a:off x="0" y="0"/>
            <a:ext cx="12192000" cy="6858000"/>
          </a:xfrm>
          <a:prstGeom prst="rect">
            <a:avLst/>
          </a:prstGeom>
          <a:noFill/>
          <a:ln>
            <a:noFill/>
          </a:ln>
        </p:spPr>
      </p:sp>
      <p:sp>
        <p:nvSpPr>
          <p:cNvPr id="95" name="Google Shape;95;h2dfb90ae07d12a84_2_41"/>
          <p:cNvSpPr txBox="1"/>
          <p:nvPr>
            <p:ph type="title"/>
          </p:nvPr>
        </p:nvSpPr>
        <p:spPr>
          <a:xfrm>
            <a:off x="417601" y="357717"/>
            <a:ext cx="11355300" cy="988483"/>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000000"/>
              </a:buClr>
              <a:buSzPts val="2000"/>
              <a:buFont typeface="Helvetica Neue"/>
              <a:buNone/>
              <a:defRPr>
                <a:solidFill>
                  <a:srgbClr val="0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p:cSld name="Vide">
    <p:spTree>
      <p:nvGrpSpPr>
        <p:cNvPr id="96" name="Shape 96"/>
        <p:cNvGrpSpPr/>
        <p:nvPr/>
      </p:nvGrpSpPr>
      <p:grpSpPr>
        <a:xfrm>
          <a:off x="0" y="0"/>
          <a:ext cx="0" cy="0"/>
          <a:chOff x="0" y="0"/>
          <a:chExt cx="0" cy="0"/>
        </a:xfrm>
      </p:grpSpPr>
      <p:sp>
        <p:nvSpPr>
          <p:cNvPr id="97" name="Google Shape;97;h2dfb90ae07d12a84_2_44"/>
          <p:cNvSpPr txBox="1"/>
          <p:nvPr/>
        </p:nvSpPr>
        <p:spPr>
          <a:xfrm>
            <a:off x="826060" y="6332196"/>
            <a:ext cx="1201184" cy="1642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2"/>
              </a:buClr>
              <a:buSzPts val="1067"/>
              <a:buFont typeface="Helvetica Neue"/>
              <a:buNone/>
            </a:pPr>
            <a:r>
              <a:rPr b="1" i="0" lang="en-US" sz="1067" u="none" cap="none" strike="noStrike">
                <a:solidFill>
                  <a:schemeClr val="lt2"/>
                </a:solidFill>
                <a:latin typeface="Helvetica Neue"/>
                <a:ea typeface="Helvetica Neue"/>
                <a:cs typeface="Helvetica Neue"/>
                <a:sym typeface="Helvetica Neue"/>
              </a:rPr>
              <a:t>Orange Restricted</a:t>
            </a:r>
            <a:endParaRPr b="0" i="0" sz="24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00000"/>
        </a:solidFill>
      </p:bgPr>
    </p:bg>
    <p:spTree>
      <p:nvGrpSpPr>
        <p:cNvPr id="98" name="Shape 9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3.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theme" Target="../theme/theme1.xml"/><Relationship Id="rId10" Type="http://schemas.openxmlformats.org/officeDocument/2006/relationships/slideLayout" Target="../slideLayouts/slideLayout20.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17601" y="357717"/>
            <a:ext cx="11355300" cy="988483"/>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2"/>
              </a:buClr>
              <a:buSzPts val="2000"/>
              <a:buFont typeface="Helvetica Neue"/>
              <a:buNone/>
              <a:defRPr b="1" i="0" sz="2000" u="none" cap="none" strike="noStrike">
                <a:solidFill>
                  <a:schemeClr val="lt2"/>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17601" y="1574801"/>
            <a:ext cx="11355300" cy="4493684"/>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600"/>
              </a:spcBef>
              <a:spcAft>
                <a:spcPts val="0"/>
              </a:spcAft>
              <a:buClr>
                <a:schemeClr val="lt1"/>
              </a:buClr>
              <a:buSzPts val="350"/>
              <a:buFont typeface="Calibri"/>
              <a:buNone/>
              <a:defRPr b="1" i="0" sz="1400" u="none" cap="none" strike="noStrike">
                <a:solidFill>
                  <a:schemeClr val="lt2"/>
                </a:solidFill>
                <a:latin typeface="Helvetica Neue"/>
                <a:ea typeface="Helvetica Neue"/>
                <a:cs typeface="Helvetica Neue"/>
                <a:sym typeface="Helvetica Neue"/>
              </a:defRPr>
            </a:lvl1pPr>
            <a:lvl2pPr indent="-228600" lvl="1" marL="914400" marR="0" rtl="0" algn="l">
              <a:lnSpc>
                <a:spcPct val="90000"/>
              </a:lnSpc>
              <a:spcBef>
                <a:spcPts val="600"/>
              </a:spcBef>
              <a:spcAft>
                <a:spcPts val="0"/>
              </a:spcAft>
              <a:buClr>
                <a:schemeClr val="lt1"/>
              </a:buClr>
              <a:buSzPts val="350"/>
              <a:buFont typeface="Calibri"/>
              <a:buNone/>
              <a:defRPr b="1" i="0" sz="1400" u="none" cap="none" strike="noStrike">
                <a:solidFill>
                  <a:schemeClr val="dk1"/>
                </a:solidFill>
                <a:latin typeface="Helvetica Neue"/>
                <a:ea typeface="Helvetica Neue"/>
                <a:cs typeface="Helvetica Neue"/>
                <a:sym typeface="Helvetica Neue"/>
              </a:defRPr>
            </a:lvl2pPr>
            <a:lvl3pPr indent="-317500" lvl="2" marL="1371600" marR="0" rtl="0" algn="l">
              <a:lnSpc>
                <a:spcPct val="90000"/>
              </a:lnSpc>
              <a:spcBef>
                <a:spcPts val="600"/>
              </a:spcBef>
              <a:spcAft>
                <a:spcPts val="0"/>
              </a:spcAft>
              <a:buClr>
                <a:schemeClr val="lt2"/>
              </a:buClr>
              <a:buSzPts val="1400"/>
              <a:buFont typeface="Noto Sans Symbols"/>
              <a:buChar char="▪"/>
              <a:defRPr b="1" i="0" sz="1400" u="none" cap="none" strike="noStrike">
                <a:solidFill>
                  <a:schemeClr val="dk1"/>
                </a:solidFill>
                <a:latin typeface="Helvetica Neue"/>
                <a:ea typeface="Helvetica Neue"/>
                <a:cs typeface="Helvetica Neue"/>
                <a:sym typeface="Helvetica Neue"/>
              </a:defRPr>
            </a:lvl3pPr>
            <a:lvl4pPr indent="-317500" lvl="3" marL="1828800" marR="0" rtl="0" algn="l">
              <a:lnSpc>
                <a:spcPct val="90000"/>
              </a:lnSpc>
              <a:spcBef>
                <a:spcPts val="280"/>
              </a:spcBef>
              <a:spcAft>
                <a:spcPts val="0"/>
              </a:spcAft>
              <a:buClr>
                <a:schemeClr val="dk1"/>
              </a:buClr>
              <a:buSzPts val="1400"/>
              <a:buFont typeface="Arial"/>
              <a:buChar char="–"/>
              <a:defRPr b="0" i="0" sz="1400" u="none" cap="none" strike="noStrike">
                <a:solidFill>
                  <a:schemeClr val="dk1"/>
                </a:solidFill>
                <a:latin typeface="Helvetica Neue"/>
                <a:ea typeface="Helvetica Neue"/>
                <a:cs typeface="Helvetica Neue"/>
                <a:sym typeface="Helvetica Neue"/>
              </a:defRPr>
            </a:lvl4pPr>
            <a:lvl5pPr indent="-317500" lvl="4" marL="2286000" marR="0" rtl="0" algn="l">
              <a:lnSpc>
                <a:spcPct val="90000"/>
              </a:lnSpc>
              <a:spcBef>
                <a:spcPts val="280"/>
              </a:spcBef>
              <a:spcAft>
                <a:spcPts val="0"/>
              </a:spcAft>
              <a:buClr>
                <a:schemeClr val="dk1"/>
              </a:buClr>
              <a:buSzPts val="1400"/>
              <a:buFont typeface="Arial"/>
              <a:buChar char="–"/>
              <a:defRPr b="0" i="0" sz="1400" u="none" cap="none" strike="noStrike">
                <a:solidFill>
                  <a:schemeClr val="dk1"/>
                </a:solidFill>
                <a:latin typeface="Helvetica Neue"/>
                <a:ea typeface="Helvetica Neue"/>
                <a:cs typeface="Helvetica Neue"/>
                <a:sym typeface="Helvetica Neue"/>
              </a:defRPr>
            </a:lvl5pPr>
            <a:lvl6pPr indent="-317500" lvl="5" marL="2743200" marR="0" rtl="0" algn="l">
              <a:lnSpc>
                <a:spcPct val="100000"/>
              </a:lnSpc>
              <a:spcBef>
                <a:spcPts val="280"/>
              </a:spcBef>
              <a:spcAft>
                <a:spcPts val="0"/>
              </a:spcAft>
              <a:buClr>
                <a:schemeClr val="dk1"/>
              </a:buClr>
              <a:buSzPts val="1400"/>
              <a:buFont typeface="Arial"/>
              <a:buChar char="–"/>
              <a:defRPr b="0" i="0" sz="1400" u="none" cap="none" strike="noStrike">
                <a:solidFill>
                  <a:schemeClr val="dk1"/>
                </a:solidFill>
                <a:latin typeface="Helvetica Neue"/>
                <a:ea typeface="Helvetica Neue"/>
                <a:cs typeface="Helvetica Neue"/>
                <a:sym typeface="Helvetica Neue"/>
              </a:defRPr>
            </a:lvl6pPr>
            <a:lvl7pPr indent="-355600" lvl="6" marL="3200400" marR="0" rtl="0" algn="l">
              <a:lnSpc>
                <a:spcPct val="100000"/>
              </a:lnSpc>
              <a:spcBef>
                <a:spcPts val="400"/>
              </a:spcBef>
              <a:spcAft>
                <a:spcPts val="0"/>
              </a:spcAft>
              <a:buClr>
                <a:schemeClr val="dk1"/>
              </a:buClr>
              <a:buSzPts val="2000"/>
              <a:buFont typeface="Arial"/>
              <a:buChar char="•"/>
              <a:defRPr b="1" i="0" sz="2000" u="none" cap="none" strike="noStrike">
                <a:solidFill>
                  <a:schemeClr val="dk1"/>
                </a:solidFill>
                <a:latin typeface="Helvetica Neue"/>
                <a:ea typeface="Helvetica Neue"/>
                <a:cs typeface="Helvetica Neue"/>
                <a:sym typeface="Helvetica Neue"/>
              </a:defRPr>
            </a:lvl7pPr>
            <a:lvl8pPr indent="-355600" lvl="7" marL="3657600" marR="0" rtl="0" algn="l">
              <a:lnSpc>
                <a:spcPct val="100000"/>
              </a:lnSpc>
              <a:spcBef>
                <a:spcPts val="400"/>
              </a:spcBef>
              <a:spcAft>
                <a:spcPts val="0"/>
              </a:spcAft>
              <a:buClr>
                <a:schemeClr val="dk1"/>
              </a:buClr>
              <a:buSzPts val="2000"/>
              <a:buFont typeface="Arial"/>
              <a:buChar char="•"/>
              <a:defRPr b="1" i="0" sz="2000" u="none" cap="none" strike="noStrike">
                <a:solidFill>
                  <a:schemeClr val="dk1"/>
                </a:solidFill>
                <a:latin typeface="Helvetica Neue"/>
                <a:ea typeface="Helvetica Neue"/>
                <a:cs typeface="Helvetica Neue"/>
                <a:sym typeface="Helvetica Neue"/>
              </a:defRPr>
            </a:lvl8pPr>
            <a:lvl9pPr indent="-355600" lvl="8" marL="4114800" marR="0" rtl="0" algn="l">
              <a:lnSpc>
                <a:spcPct val="100000"/>
              </a:lnSpc>
              <a:spcBef>
                <a:spcPts val="400"/>
              </a:spcBef>
              <a:spcAft>
                <a:spcPts val="0"/>
              </a:spcAft>
              <a:buClr>
                <a:schemeClr val="dk1"/>
              </a:buClr>
              <a:buSzPts val="2000"/>
              <a:buFont typeface="Arial"/>
              <a:buChar char="•"/>
              <a:defRPr b="1" i="0" sz="2000" u="none" cap="none" strike="noStrike">
                <a:solidFill>
                  <a:schemeClr val="dk1"/>
                </a:solidFill>
                <a:latin typeface="Helvetica Neue"/>
                <a:ea typeface="Helvetica Neue"/>
                <a:cs typeface="Helvetica Neue"/>
                <a:sym typeface="Helvetica Neue"/>
              </a:defRPr>
            </a:lvl9pPr>
          </a:lstStyle>
          <a:p/>
        </p:txBody>
      </p:sp>
      <p:sp>
        <p:nvSpPr>
          <p:cNvPr id="8" name="Google Shape;8;p10"/>
          <p:cNvSpPr txBox="1"/>
          <p:nvPr/>
        </p:nvSpPr>
        <p:spPr>
          <a:xfrm>
            <a:off x="419100" y="6047314"/>
            <a:ext cx="366680" cy="446615"/>
          </a:xfrm>
          <a:prstGeom prst="rect">
            <a:avLst/>
          </a:prstGeom>
          <a:noFill/>
          <a:ln>
            <a:noFill/>
          </a:ln>
        </p:spPr>
        <p:txBody>
          <a:bodyPr anchorCtr="0" anchor="b" bIns="0" lIns="9600" spcFirstLastPara="1" rIns="0" wrap="square" tIns="0">
            <a:normAutofit/>
          </a:bodyPr>
          <a:lstStyle/>
          <a:p>
            <a:pPr indent="0" lvl="0" marL="0" marR="0" rtl="0" algn="l">
              <a:lnSpc>
                <a:spcPct val="85000"/>
              </a:lnSpc>
              <a:spcBef>
                <a:spcPts val="0"/>
              </a:spcBef>
              <a:spcAft>
                <a:spcPts val="0"/>
              </a:spcAft>
              <a:buClr>
                <a:srgbClr val="FFFFFF"/>
              </a:buClr>
              <a:buSzPts val="800"/>
              <a:buFont typeface="Helvetica Neue"/>
              <a:buNone/>
            </a:pPr>
            <a:fld id="{00000000-1234-1234-1234-123412341234}" type="slidenum">
              <a:rPr b="1" i="0" lang="en-US" sz="1067" u="none" cap="none" strike="noStrike">
                <a:solidFill>
                  <a:schemeClr val="dk1"/>
                </a:solidFill>
                <a:latin typeface="Helvetica Neue"/>
                <a:ea typeface="Helvetica Neue"/>
                <a:cs typeface="Helvetica Neue"/>
                <a:sym typeface="Helvetica Neue"/>
              </a:rPr>
              <a:t>‹#›</a:t>
            </a:fld>
            <a:endParaRPr b="1" i="0" sz="1067" u="none" cap="none" strike="noStrike">
              <a:solidFill>
                <a:schemeClr val="dk1"/>
              </a:solidFill>
              <a:latin typeface="Helvetica Neue"/>
              <a:ea typeface="Helvetica Neue"/>
              <a:cs typeface="Helvetica Neue"/>
              <a:sym typeface="Helvetica Neue"/>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 name="Shape 52"/>
        <p:cNvGrpSpPr/>
        <p:nvPr/>
      </p:nvGrpSpPr>
      <p:grpSpPr>
        <a:xfrm>
          <a:off x="0" y="0"/>
          <a:ext cx="0" cy="0"/>
          <a:chOff x="0" y="0"/>
          <a:chExt cx="0" cy="0"/>
        </a:xfrm>
      </p:grpSpPr>
      <p:sp>
        <p:nvSpPr>
          <p:cNvPr id="53" name="Google Shape;53;h2dfb90ae07d12a84_2_0"/>
          <p:cNvSpPr txBox="1"/>
          <p:nvPr>
            <p:ph type="title"/>
          </p:nvPr>
        </p:nvSpPr>
        <p:spPr>
          <a:xfrm>
            <a:off x="417601" y="357717"/>
            <a:ext cx="11355300" cy="988483"/>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2"/>
              </a:buClr>
              <a:buSzPts val="2000"/>
              <a:buFont typeface="Helvetica Neue"/>
              <a:buNone/>
              <a:defRPr b="1" i="0" sz="2000" u="none" cap="none" strike="noStrike">
                <a:solidFill>
                  <a:schemeClr val="lt2"/>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4" name="Google Shape;54;h2dfb90ae07d12a84_2_0"/>
          <p:cNvSpPr txBox="1"/>
          <p:nvPr>
            <p:ph idx="1" type="body"/>
          </p:nvPr>
        </p:nvSpPr>
        <p:spPr>
          <a:xfrm>
            <a:off x="417601" y="1574801"/>
            <a:ext cx="11355300" cy="4493684"/>
          </a:xfrm>
          <a:prstGeom prst="rect">
            <a:avLst/>
          </a:prstGeom>
          <a:noFill/>
          <a:ln>
            <a:noFill/>
          </a:ln>
        </p:spPr>
        <p:txBody>
          <a:bodyPr anchorCtr="0" anchor="t" bIns="0" lIns="0" spcFirstLastPara="1" rIns="0" wrap="square" tIns="0">
            <a:noAutofit/>
          </a:bodyPr>
          <a:lstStyle>
            <a:lvl1pPr indent="-228600" lvl="0" marL="457200" marR="0" rtl="0" algn="l">
              <a:lnSpc>
                <a:spcPct val="90000"/>
              </a:lnSpc>
              <a:spcBef>
                <a:spcPts val="600"/>
              </a:spcBef>
              <a:spcAft>
                <a:spcPts val="0"/>
              </a:spcAft>
              <a:buClr>
                <a:schemeClr val="lt1"/>
              </a:buClr>
              <a:buSzPts val="350"/>
              <a:buFont typeface="Calibri"/>
              <a:buNone/>
              <a:defRPr b="1" i="0" sz="1400" u="none" cap="none" strike="noStrike">
                <a:solidFill>
                  <a:schemeClr val="lt2"/>
                </a:solidFill>
                <a:latin typeface="Helvetica Neue"/>
                <a:ea typeface="Helvetica Neue"/>
                <a:cs typeface="Helvetica Neue"/>
                <a:sym typeface="Helvetica Neue"/>
              </a:defRPr>
            </a:lvl1pPr>
            <a:lvl2pPr indent="-228600" lvl="1" marL="914400" marR="0" rtl="0" algn="l">
              <a:lnSpc>
                <a:spcPct val="90000"/>
              </a:lnSpc>
              <a:spcBef>
                <a:spcPts val="600"/>
              </a:spcBef>
              <a:spcAft>
                <a:spcPts val="0"/>
              </a:spcAft>
              <a:buClr>
                <a:schemeClr val="lt1"/>
              </a:buClr>
              <a:buSzPts val="350"/>
              <a:buFont typeface="Calibri"/>
              <a:buNone/>
              <a:defRPr b="1" i="0" sz="1400" u="none" cap="none" strike="noStrike">
                <a:solidFill>
                  <a:schemeClr val="dk1"/>
                </a:solidFill>
                <a:latin typeface="Helvetica Neue"/>
                <a:ea typeface="Helvetica Neue"/>
                <a:cs typeface="Helvetica Neue"/>
                <a:sym typeface="Helvetica Neue"/>
              </a:defRPr>
            </a:lvl2pPr>
            <a:lvl3pPr indent="-317500" lvl="2" marL="1371600" marR="0" rtl="0" algn="l">
              <a:lnSpc>
                <a:spcPct val="90000"/>
              </a:lnSpc>
              <a:spcBef>
                <a:spcPts val="600"/>
              </a:spcBef>
              <a:spcAft>
                <a:spcPts val="0"/>
              </a:spcAft>
              <a:buClr>
                <a:schemeClr val="lt2"/>
              </a:buClr>
              <a:buSzPts val="1400"/>
              <a:buFont typeface="Noto Sans Symbols"/>
              <a:buChar char="▪"/>
              <a:defRPr b="1" i="0" sz="1400" u="none" cap="none" strike="noStrike">
                <a:solidFill>
                  <a:schemeClr val="dk1"/>
                </a:solidFill>
                <a:latin typeface="Helvetica Neue"/>
                <a:ea typeface="Helvetica Neue"/>
                <a:cs typeface="Helvetica Neue"/>
                <a:sym typeface="Helvetica Neue"/>
              </a:defRPr>
            </a:lvl3pPr>
            <a:lvl4pPr indent="-317500" lvl="3" marL="1828800" marR="0" rtl="0" algn="l">
              <a:lnSpc>
                <a:spcPct val="90000"/>
              </a:lnSpc>
              <a:spcBef>
                <a:spcPts val="280"/>
              </a:spcBef>
              <a:spcAft>
                <a:spcPts val="0"/>
              </a:spcAft>
              <a:buClr>
                <a:schemeClr val="dk1"/>
              </a:buClr>
              <a:buSzPts val="1400"/>
              <a:buFont typeface="Arial"/>
              <a:buChar char="–"/>
              <a:defRPr b="0" i="0" sz="1400" u="none" cap="none" strike="noStrike">
                <a:solidFill>
                  <a:schemeClr val="dk1"/>
                </a:solidFill>
                <a:latin typeface="Helvetica Neue"/>
                <a:ea typeface="Helvetica Neue"/>
                <a:cs typeface="Helvetica Neue"/>
                <a:sym typeface="Helvetica Neue"/>
              </a:defRPr>
            </a:lvl4pPr>
            <a:lvl5pPr indent="-317500" lvl="4" marL="2286000" marR="0" rtl="0" algn="l">
              <a:lnSpc>
                <a:spcPct val="90000"/>
              </a:lnSpc>
              <a:spcBef>
                <a:spcPts val="280"/>
              </a:spcBef>
              <a:spcAft>
                <a:spcPts val="0"/>
              </a:spcAft>
              <a:buClr>
                <a:schemeClr val="dk1"/>
              </a:buClr>
              <a:buSzPts val="1400"/>
              <a:buFont typeface="Arial"/>
              <a:buChar char="–"/>
              <a:defRPr b="0" i="0" sz="1400" u="none" cap="none" strike="noStrike">
                <a:solidFill>
                  <a:schemeClr val="dk1"/>
                </a:solidFill>
                <a:latin typeface="Helvetica Neue"/>
                <a:ea typeface="Helvetica Neue"/>
                <a:cs typeface="Helvetica Neue"/>
                <a:sym typeface="Helvetica Neue"/>
              </a:defRPr>
            </a:lvl5pPr>
            <a:lvl6pPr indent="-317500" lvl="5" marL="2743200" marR="0" rtl="0" algn="l">
              <a:lnSpc>
                <a:spcPct val="100000"/>
              </a:lnSpc>
              <a:spcBef>
                <a:spcPts val="280"/>
              </a:spcBef>
              <a:spcAft>
                <a:spcPts val="0"/>
              </a:spcAft>
              <a:buClr>
                <a:schemeClr val="dk1"/>
              </a:buClr>
              <a:buSzPts val="1400"/>
              <a:buFont typeface="Arial"/>
              <a:buChar char="–"/>
              <a:defRPr b="0" i="0" sz="1400" u="none" cap="none" strike="noStrike">
                <a:solidFill>
                  <a:schemeClr val="dk1"/>
                </a:solidFill>
                <a:latin typeface="Helvetica Neue"/>
                <a:ea typeface="Helvetica Neue"/>
                <a:cs typeface="Helvetica Neue"/>
                <a:sym typeface="Helvetica Neue"/>
              </a:defRPr>
            </a:lvl6pPr>
            <a:lvl7pPr indent="-355600" lvl="6" marL="3200400" marR="0" rtl="0" algn="l">
              <a:lnSpc>
                <a:spcPct val="100000"/>
              </a:lnSpc>
              <a:spcBef>
                <a:spcPts val="400"/>
              </a:spcBef>
              <a:spcAft>
                <a:spcPts val="0"/>
              </a:spcAft>
              <a:buClr>
                <a:schemeClr val="dk1"/>
              </a:buClr>
              <a:buSzPts val="2000"/>
              <a:buFont typeface="Arial"/>
              <a:buChar char="•"/>
              <a:defRPr b="1" i="0" sz="2000" u="none" cap="none" strike="noStrike">
                <a:solidFill>
                  <a:schemeClr val="dk1"/>
                </a:solidFill>
                <a:latin typeface="Helvetica Neue"/>
                <a:ea typeface="Helvetica Neue"/>
                <a:cs typeface="Helvetica Neue"/>
                <a:sym typeface="Helvetica Neue"/>
              </a:defRPr>
            </a:lvl7pPr>
            <a:lvl8pPr indent="-355600" lvl="7" marL="3657600" marR="0" rtl="0" algn="l">
              <a:lnSpc>
                <a:spcPct val="100000"/>
              </a:lnSpc>
              <a:spcBef>
                <a:spcPts val="400"/>
              </a:spcBef>
              <a:spcAft>
                <a:spcPts val="0"/>
              </a:spcAft>
              <a:buClr>
                <a:schemeClr val="dk1"/>
              </a:buClr>
              <a:buSzPts val="2000"/>
              <a:buFont typeface="Arial"/>
              <a:buChar char="•"/>
              <a:defRPr b="1" i="0" sz="2000" u="none" cap="none" strike="noStrike">
                <a:solidFill>
                  <a:schemeClr val="dk1"/>
                </a:solidFill>
                <a:latin typeface="Helvetica Neue"/>
                <a:ea typeface="Helvetica Neue"/>
                <a:cs typeface="Helvetica Neue"/>
                <a:sym typeface="Helvetica Neue"/>
              </a:defRPr>
            </a:lvl8pPr>
            <a:lvl9pPr indent="-355600" lvl="8" marL="4114800" marR="0" rtl="0" algn="l">
              <a:lnSpc>
                <a:spcPct val="100000"/>
              </a:lnSpc>
              <a:spcBef>
                <a:spcPts val="400"/>
              </a:spcBef>
              <a:spcAft>
                <a:spcPts val="0"/>
              </a:spcAft>
              <a:buClr>
                <a:schemeClr val="dk1"/>
              </a:buClr>
              <a:buSzPts val="2000"/>
              <a:buFont typeface="Arial"/>
              <a:buChar char="•"/>
              <a:defRPr b="1" i="0" sz="2000" u="none" cap="none" strike="noStrike">
                <a:solidFill>
                  <a:schemeClr val="dk1"/>
                </a:solidFill>
                <a:latin typeface="Helvetica Neue"/>
                <a:ea typeface="Helvetica Neue"/>
                <a:cs typeface="Helvetica Neue"/>
                <a:sym typeface="Helvetica Neue"/>
              </a:defRPr>
            </a:lvl9pPr>
          </a:lstStyle>
          <a:p/>
        </p:txBody>
      </p:sp>
      <p:sp>
        <p:nvSpPr>
          <p:cNvPr id="55" name="Google Shape;55;h2dfb90ae07d12a84_2_0"/>
          <p:cNvSpPr txBox="1"/>
          <p:nvPr/>
        </p:nvSpPr>
        <p:spPr>
          <a:xfrm>
            <a:off x="419100" y="6047314"/>
            <a:ext cx="366680" cy="446615"/>
          </a:xfrm>
          <a:prstGeom prst="rect">
            <a:avLst/>
          </a:prstGeom>
          <a:noFill/>
          <a:ln>
            <a:noFill/>
          </a:ln>
        </p:spPr>
        <p:txBody>
          <a:bodyPr anchorCtr="0" anchor="b" bIns="0" lIns="9600" spcFirstLastPara="1" rIns="0" wrap="square" tIns="0">
            <a:normAutofit/>
          </a:bodyPr>
          <a:lstStyle/>
          <a:p>
            <a:pPr indent="0" lvl="0" marL="0" marR="0" rtl="0" algn="l">
              <a:lnSpc>
                <a:spcPct val="85000"/>
              </a:lnSpc>
              <a:spcBef>
                <a:spcPts val="0"/>
              </a:spcBef>
              <a:spcAft>
                <a:spcPts val="0"/>
              </a:spcAft>
              <a:buClr>
                <a:srgbClr val="FFFFFF"/>
              </a:buClr>
              <a:buSzPts val="800"/>
              <a:buFont typeface="Helvetica Neue"/>
              <a:buNone/>
            </a:pPr>
            <a:fld id="{00000000-1234-1234-1234-123412341234}" type="slidenum">
              <a:rPr b="1" i="0" lang="en-US" sz="1067" u="none" cap="none" strike="noStrike">
                <a:solidFill>
                  <a:schemeClr val="dk1"/>
                </a:solidFill>
                <a:latin typeface="Helvetica Neue"/>
                <a:ea typeface="Helvetica Neue"/>
                <a:cs typeface="Helvetica Neue"/>
                <a:sym typeface="Helvetica Neue"/>
              </a:rPr>
              <a:t>‹#›</a:t>
            </a:fld>
            <a:endParaRPr b="1" i="0" sz="1067" u="none" cap="none" strike="noStrike">
              <a:solidFill>
                <a:schemeClr val="dk1"/>
              </a:solidFill>
              <a:latin typeface="Helvetica Neue"/>
              <a:ea typeface="Helvetica Neue"/>
              <a:cs typeface="Helvetica Neue"/>
              <a:sym typeface="Helvetica Neue"/>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s://www.alphaxiv.org/pdf/2504.15895" TargetMode="External"/><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hyperlink" Target="https://arxiv.org/pdf/2602.03814" TargetMode="Externa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hyperlink" Target="https://www.alphaxiv.org/pdf/2501.19393" TargetMode="Externa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hyperlink" Target="https://www.alphaxiv.org/pdf/2510.19669v1" TargetMode="Externa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hyperlink" Target="https://www.alphaxiv.org/pdf/2410.04707" TargetMode="Externa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hyperlink" Target="https://www.alphaxiv.org/pdf/2502.18080" TargetMode="Externa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14.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
          <p:cNvSpPr txBox="1"/>
          <p:nvPr>
            <p:ph type="ctrTitle"/>
          </p:nvPr>
        </p:nvSpPr>
        <p:spPr>
          <a:xfrm>
            <a:off x="1291200" y="2256000"/>
            <a:ext cx="9681600" cy="3091200"/>
          </a:xfrm>
          <a:prstGeom prst="rect">
            <a:avLst/>
          </a:prstGeom>
          <a:noFill/>
          <a:ln>
            <a:noFill/>
          </a:ln>
        </p:spPr>
        <p:txBody>
          <a:bodyPr anchorCtr="0" anchor="t" bIns="0" lIns="0" spcFirstLastPara="1" rIns="0" wrap="square" tIns="0">
            <a:noAutofit/>
          </a:bodyPr>
          <a:lstStyle/>
          <a:p>
            <a:pPr indent="0" lvl="0" marL="0" rtl="0" algn="l">
              <a:lnSpc>
                <a:spcPct val="105000"/>
              </a:lnSpc>
              <a:spcBef>
                <a:spcPts val="0"/>
              </a:spcBef>
              <a:spcAft>
                <a:spcPts val="0"/>
              </a:spcAft>
              <a:buSzPts val="5500"/>
              <a:buNone/>
            </a:pPr>
            <a:r>
              <a:rPr lang="en-US" sz="5333">
                <a:solidFill>
                  <a:srgbClr val="FFFFFF"/>
                </a:solidFill>
              </a:rPr>
              <a:t>Dynamic Test-Time Compute Allocation</a:t>
            </a:r>
            <a:r>
              <a:rPr lang="en-US" sz="5333"/>
              <a:t> </a:t>
            </a:r>
            <a:r>
              <a:rPr lang="en-US" sz="5333">
                <a:solidFill>
                  <a:srgbClr val="FFFFFF"/>
                </a:solidFill>
              </a:rPr>
              <a:t>for LLM Reasoning</a:t>
            </a:r>
            <a:endParaRPr sz="5333"/>
          </a:p>
        </p:txBody>
      </p:sp>
      <p:sp>
        <p:nvSpPr>
          <p:cNvPr id="104" name="Google Shape;104;p1"/>
          <p:cNvSpPr txBox="1"/>
          <p:nvPr>
            <p:ph idx="1" type="subTitle"/>
          </p:nvPr>
        </p:nvSpPr>
        <p:spPr>
          <a:xfrm>
            <a:off x="1267461" y="5569792"/>
            <a:ext cx="5788500" cy="4515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SzPts val="350"/>
              <a:buNone/>
            </a:pPr>
            <a:r>
              <a:rPr lang="en-US"/>
              <a:t>Data Science Team</a:t>
            </a:r>
            <a:endParaRPr/>
          </a:p>
        </p:txBody>
      </p:sp>
      <p:sp>
        <p:nvSpPr>
          <p:cNvPr id="105" name="Google Shape;105;p1"/>
          <p:cNvSpPr txBox="1"/>
          <p:nvPr/>
        </p:nvSpPr>
        <p:spPr>
          <a:xfrm>
            <a:off x="1224527" y="1868325"/>
            <a:ext cx="2861700" cy="359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733" u="none" cap="none" strike="noStrike">
                <a:solidFill>
                  <a:srgbClr val="FF7900"/>
                </a:solidFill>
                <a:latin typeface="Helvetica Neue"/>
                <a:ea typeface="Helvetica Neue"/>
                <a:cs typeface="Helvetica Neue"/>
                <a:sym typeface="Helvetica Neue"/>
              </a:rPr>
              <a:t>RESEARCH PROPOSAL</a:t>
            </a:r>
            <a:endParaRPr b="1" i="0" sz="1733" u="none" cap="none" strike="noStrike">
              <a:solidFill>
                <a:srgbClr val="000000"/>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9" name="Shape 109"/>
        <p:cNvGrpSpPr/>
        <p:nvPr/>
      </p:nvGrpSpPr>
      <p:grpSpPr>
        <a:xfrm>
          <a:off x="0" y="0"/>
          <a:ext cx="0" cy="0"/>
          <a:chOff x="0" y="0"/>
          <a:chExt cx="0" cy="0"/>
        </a:xfrm>
      </p:grpSpPr>
      <p:sp>
        <p:nvSpPr>
          <p:cNvPr id="110" name="Google Shape;110;h2dfb90ae07d12a84_2_54"/>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11" name="Google Shape;111;h2dfb90ae07d12a84_2_54"/>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112" name="Google Shape;112;h2dfb90ae07d12a84_2_54"/>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113" name="Google Shape;113;h2dfb90ae07d12a84_2_54"/>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EXECUTIVE SUMMARY</a:t>
            </a:r>
            <a:endParaRPr b="0" i="0" sz="1500" u="none" cap="none" strike="noStrike">
              <a:solidFill>
                <a:schemeClr val="dk1"/>
              </a:solidFill>
              <a:latin typeface="Helvetica Neue"/>
              <a:ea typeface="Helvetica Neue"/>
              <a:cs typeface="Helvetica Neue"/>
              <a:sym typeface="Helvetica Neue"/>
            </a:endParaRPr>
          </a:p>
        </p:txBody>
      </p:sp>
      <p:sp>
        <p:nvSpPr>
          <p:cNvPr id="114" name="Google Shape;114;h2dfb90ae07d12a84_2_54"/>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The case for adaptive compute</a:t>
            </a:r>
            <a:endParaRPr b="0" i="0" sz="2000" u="none" cap="none" strike="noStrike">
              <a:solidFill>
                <a:schemeClr val="dk1"/>
              </a:solidFill>
              <a:latin typeface="Helvetica Neue"/>
              <a:ea typeface="Helvetica Neue"/>
              <a:cs typeface="Helvetica Neue"/>
              <a:sym typeface="Helvetica Neue"/>
            </a:endParaRPr>
          </a:p>
        </p:txBody>
      </p:sp>
      <p:sp>
        <p:nvSpPr>
          <p:cNvPr id="115" name="Google Shape;115;h2dfb90ae07d12a84_2_54"/>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116" name="Google Shape;116;h2dfb90ae07d12a84_2_54"/>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02</a:t>
            </a:r>
            <a:endParaRPr b="0" i="0" sz="1000" u="none" cap="none" strike="noStrike">
              <a:solidFill>
                <a:schemeClr val="dk1"/>
              </a:solidFill>
              <a:latin typeface="Helvetica Neue"/>
              <a:ea typeface="Helvetica Neue"/>
              <a:cs typeface="Helvetica Neue"/>
              <a:sym typeface="Helvetica Neue"/>
            </a:endParaRPr>
          </a:p>
        </p:txBody>
      </p:sp>
      <p:sp>
        <p:nvSpPr>
          <p:cNvPr id="117" name="Google Shape;117;h2dfb90ae07d12a84_2_54"/>
          <p:cNvSpPr/>
          <p:nvPr/>
        </p:nvSpPr>
        <p:spPr>
          <a:xfrm>
            <a:off x="376117" y="1750370"/>
            <a:ext cx="11155800" cy="462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95"/>
              <a:buFont typeface="Arial"/>
              <a:buNone/>
            </a:pPr>
            <a:r>
              <a:rPr b="1" i="0" lang="en-US" sz="1595" u="none" cap="none" strike="noStrike">
                <a:solidFill>
                  <a:srgbClr val="FF7900"/>
                </a:solidFill>
                <a:latin typeface="Helvetica Neue"/>
                <a:ea typeface="Helvetica Neue"/>
                <a:cs typeface="Helvetica Neue"/>
                <a:sym typeface="Helvetica Neue"/>
              </a:rPr>
              <a:t>PROBLEM. </a:t>
            </a:r>
            <a:r>
              <a:rPr b="0" i="0" lang="en-US" sz="1595" u="none" cap="none" strike="noStrike">
                <a:solidFill>
                  <a:srgbClr val="D6D6D6"/>
                </a:solidFill>
                <a:latin typeface="Helvetica Neue"/>
                <a:ea typeface="Helvetica Neue"/>
                <a:cs typeface="Helvetica Neue"/>
                <a:sym typeface="Helvetica Neue"/>
              </a:rPr>
              <a:t>Reasoning LLMs gain accuracy from more test-time compute, but most deployments apply a single fixed budget to every input.</a:t>
            </a:r>
            <a:endParaRPr sz="1500"/>
          </a:p>
          <a:p>
            <a:pPr indent="-184150" lvl="1" marL="812800" marR="0" rtl="0" algn="l">
              <a:lnSpc>
                <a:spcPct val="100000"/>
              </a:lnSpc>
              <a:spcBef>
                <a:spcPts val="138"/>
              </a:spcBef>
              <a:spcAft>
                <a:spcPts val="0"/>
              </a:spcAft>
              <a:buClr>
                <a:srgbClr val="D6D6D6"/>
              </a:buClr>
              <a:buSzPts val="1350"/>
              <a:buFont typeface="Helvetica Neue"/>
              <a:buChar char="–"/>
            </a:pPr>
            <a:r>
              <a:rPr b="0" i="0" lang="en-US" sz="1538" u="none" cap="none" strike="noStrike">
                <a:solidFill>
                  <a:srgbClr val="D6D6D6"/>
                </a:solidFill>
                <a:latin typeface="Helvetica Neue"/>
                <a:ea typeface="Helvetica Neue"/>
                <a:cs typeface="Helvetica Neue"/>
                <a:sym typeface="Helvetica Neue"/>
              </a:rPr>
              <a:t>Underthinking hard problems and overthinking easy ones, sometimes with flat or negative returns</a:t>
            </a:r>
            <a:endParaRPr sz="1500"/>
          </a:p>
          <a:p>
            <a:pPr indent="-184150" lvl="1" marL="812800" marR="0" rtl="0" algn="l">
              <a:lnSpc>
                <a:spcPct val="100000"/>
              </a:lnSpc>
              <a:spcBef>
                <a:spcPts val="138"/>
              </a:spcBef>
              <a:spcAft>
                <a:spcPts val="0"/>
              </a:spcAft>
              <a:buClr>
                <a:srgbClr val="D6D6D6"/>
              </a:buClr>
              <a:buSzPts val="1350"/>
              <a:buFont typeface="Helvetica Neue"/>
              <a:buChar char="–"/>
            </a:pPr>
            <a:r>
              <a:rPr b="0" i="0" lang="en-US" sz="1538" u="none" cap="none" strike="noStrike">
                <a:solidFill>
                  <a:srgbClr val="D6D6D6"/>
                </a:solidFill>
                <a:latin typeface="Helvetica Neue"/>
                <a:ea typeface="Helvetica Neue"/>
                <a:cs typeface="Helvetica Neue"/>
                <a:sym typeface="Helvetica Neue"/>
              </a:rPr>
              <a:t>Includes correct-to-incorrect “flips” — cases where extra compute actively hurts accuracy</a:t>
            </a:r>
            <a:endParaRPr sz="1500"/>
          </a:p>
          <a:p>
            <a:pPr indent="0" lvl="0" marL="0" marR="0" rtl="0" algn="l">
              <a:lnSpc>
                <a:spcPct val="100000"/>
              </a:lnSpc>
              <a:spcBef>
                <a:spcPts val="330"/>
              </a:spcBef>
              <a:spcAft>
                <a:spcPts val="0"/>
              </a:spcAft>
              <a:buClr>
                <a:srgbClr val="000000"/>
              </a:buClr>
              <a:buSzPts val="1495"/>
              <a:buFont typeface="Arial"/>
              <a:buNone/>
            </a:pPr>
            <a:r>
              <a:t/>
            </a:r>
            <a:endParaRPr b="1" sz="1595">
              <a:solidFill>
                <a:srgbClr val="FF7900"/>
              </a:solidFill>
              <a:latin typeface="Helvetica Neue"/>
              <a:ea typeface="Helvetica Neue"/>
              <a:cs typeface="Helvetica Neue"/>
              <a:sym typeface="Helvetica Neue"/>
            </a:endParaRPr>
          </a:p>
          <a:p>
            <a:pPr indent="0" lvl="0" marL="0" marR="0" rtl="0" algn="l">
              <a:lnSpc>
                <a:spcPct val="100000"/>
              </a:lnSpc>
              <a:spcBef>
                <a:spcPts val="330"/>
              </a:spcBef>
              <a:spcAft>
                <a:spcPts val="0"/>
              </a:spcAft>
              <a:buClr>
                <a:srgbClr val="000000"/>
              </a:buClr>
              <a:buSzPts val="1495"/>
              <a:buFont typeface="Arial"/>
              <a:buNone/>
            </a:pPr>
            <a:r>
              <a:rPr b="1" i="0" lang="en-US" sz="1595" u="none" cap="none" strike="noStrike">
                <a:solidFill>
                  <a:srgbClr val="FF7900"/>
                </a:solidFill>
                <a:latin typeface="Helvetica Neue"/>
                <a:ea typeface="Helvetica Neue"/>
                <a:cs typeface="Helvetica Neue"/>
                <a:sym typeface="Helvetica Neue"/>
              </a:rPr>
              <a:t>CURRENT SOLUTIONS. </a:t>
            </a:r>
            <a:r>
              <a:rPr b="0" i="0" lang="en-US" sz="1595" u="none" cap="none" strike="noStrike">
                <a:solidFill>
                  <a:srgbClr val="D6D6D6"/>
                </a:solidFill>
                <a:latin typeface="Helvetica Neue"/>
                <a:ea typeface="Helvetica Neue"/>
                <a:cs typeface="Helvetica Neue"/>
                <a:sym typeface="Helvetica Neue"/>
              </a:rPr>
              <a:t>Two families of dynamic allocation methods exist:</a:t>
            </a:r>
            <a:endParaRPr sz="1500"/>
          </a:p>
          <a:p>
            <a:pPr indent="-228600" lvl="0" marL="6858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Reactive — </a:t>
            </a:r>
            <a:r>
              <a:rPr b="0" i="0" lang="en-US" sz="1480" u="none" cap="none" strike="noStrike">
                <a:solidFill>
                  <a:srgbClr val="D6D6D6"/>
                </a:solidFill>
                <a:latin typeface="Helvetica Neue"/>
                <a:ea typeface="Helvetica Neue"/>
                <a:cs typeface="Helvetica Neue"/>
                <a:sym typeface="Helvetica Neue"/>
              </a:rPr>
              <a:t>decide during generation, by monitoring a signal such as confidence or entropy and stopping once a threshold is crossed (e.g., entropy-triggered stopping, DEER).</a:t>
            </a:r>
            <a:endParaRPr sz="1500"/>
          </a:p>
          <a:p>
            <a:pPr indent="-228600" lvl="0" marL="6858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Predictive — </a:t>
            </a:r>
            <a:r>
              <a:rPr b="0" i="0" lang="en-US" sz="1480" u="none" cap="none" strike="noStrike">
                <a:solidFill>
                  <a:srgbClr val="D6D6D6"/>
                </a:solidFill>
                <a:latin typeface="Helvetica Neue"/>
                <a:ea typeface="Helvetica Neue"/>
                <a:cs typeface="Helvetica Neue"/>
                <a:sym typeface="Helvetica Neue"/>
              </a:rPr>
              <a:t>decide before generation, by reading a difficulty signal from the model or query and choosing a strategy up front (e.g., DiffAdapt’s hidden-state probe, learned routers).</a:t>
            </a:r>
            <a:endParaRPr sz="1500"/>
          </a:p>
          <a:p>
            <a:pPr indent="0" lvl="0" marL="0" marR="0" rtl="0" algn="l">
              <a:lnSpc>
                <a:spcPct val="100000"/>
              </a:lnSpc>
              <a:spcBef>
                <a:spcPts val="330"/>
              </a:spcBef>
              <a:spcAft>
                <a:spcPts val="0"/>
              </a:spcAft>
              <a:buClr>
                <a:srgbClr val="000000"/>
              </a:buClr>
              <a:buSzPts val="1495"/>
              <a:buFont typeface="Arial"/>
              <a:buNone/>
            </a:pPr>
            <a:r>
              <a:t/>
            </a:r>
            <a:endParaRPr b="1" sz="1595">
              <a:solidFill>
                <a:srgbClr val="FF7900"/>
              </a:solidFill>
              <a:latin typeface="Helvetica Neue"/>
              <a:ea typeface="Helvetica Neue"/>
              <a:cs typeface="Helvetica Neue"/>
              <a:sym typeface="Helvetica Neue"/>
            </a:endParaRPr>
          </a:p>
          <a:p>
            <a:pPr indent="0" lvl="0" marL="0" marR="0" rtl="0" algn="l">
              <a:lnSpc>
                <a:spcPct val="100000"/>
              </a:lnSpc>
              <a:spcBef>
                <a:spcPts val="330"/>
              </a:spcBef>
              <a:spcAft>
                <a:spcPts val="0"/>
              </a:spcAft>
              <a:buClr>
                <a:srgbClr val="000000"/>
              </a:buClr>
              <a:buSzPts val="1495"/>
              <a:buFont typeface="Arial"/>
              <a:buNone/>
            </a:pPr>
            <a:r>
              <a:rPr b="1" i="0" lang="en-US" sz="1595" u="none" cap="none" strike="noStrike">
                <a:solidFill>
                  <a:srgbClr val="FF7900"/>
                </a:solidFill>
                <a:latin typeface="Helvetica Neue"/>
                <a:ea typeface="Helvetica Neue"/>
                <a:cs typeface="Helvetica Neue"/>
                <a:sym typeface="Helvetica Neue"/>
              </a:rPr>
              <a:t>Why it’s suboptimal. </a:t>
            </a:r>
            <a:r>
              <a:rPr b="0" i="0" lang="en-US" sz="1595" u="none" cap="none" strike="noStrike">
                <a:solidFill>
                  <a:srgbClr val="D6D6D6"/>
                </a:solidFill>
                <a:latin typeface="Helvetica Neue"/>
                <a:ea typeface="Helvetica Neue"/>
                <a:cs typeface="Helvetica Neue"/>
                <a:sym typeface="Helvetica Neue"/>
              </a:rPr>
              <a:t>Each family has its own limitations:</a:t>
            </a:r>
            <a:endParaRPr sz="1500"/>
          </a:p>
          <a:p>
            <a:pPr indent="-228600" lvl="0" marL="6858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Reactive — </a:t>
            </a:r>
            <a:r>
              <a:rPr b="0" i="0" lang="en-US" sz="1480" u="none" cap="none" strike="noStrike">
                <a:solidFill>
                  <a:srgbClr val="D6D6D6"/>
                </a:solidFill>
                <a:latin typeface="Helvetica Neue"/>
                <a:ea typeface="Helvetica Neue"/>
                <a:cs typeface="Helvetica Neue"/>
                <a:sym typeface="Helvetica Neue"/>
              </a:rPr>
              <a:t>methods are trained or calibrated per model, several operate at coarse granularity, and cross-model generalization of the predictor itself is untested.</a:t>
            </a:r>
            <a:endParaRPr sz="1500"/>
          </a:p>
          <a:p>
            <a:pPr indent="-228600" lvl="0" marL="6858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Predictive — </a:t>
            </a:r>
            <a:r>
              <a:rPr b="0" i="0" lang="en-US" sz="1480" u="none" cap="none" strike="noStrike">
                <a:solidFill>
                  <a:srgbClr val="D6D6D6"/>
                </a:solidFill>
                <a:latin typeface="Helvetica Neue"/>
                <a:ea typeface="Helvetica Neue"/>
                <a:cs typeface="Helvetica Neue"/>
                <a:sym typeface="Helvetica Neue"/>
              </a:rPr>
              <a:t>methods rely on signals — confidence, entropy — that can be false positives (a model can be confidently wrong), and their thresholds are hand-tuned per model and temperature rather than transferring.</a:t>
            </a:r>
            <a:endParaRPr sz="1500"/>
          </a:p>
          <a:p>
            <a:pPr indent="-234950" lvl="0" marL="685800" marR="0" rtl="0" algn="l">
              <a:lnSpc>
                <a:spcPct val="100000"/>
              </a:lnSpc>
              <a:spcBef>
                <a:spcPts val="165"/>
              </a:spcBef>
              <a:spcAft>
                <a:spcPts val="0"/>
              </a:spcAft>
              <a:buClr>
                <a:srgbClr val="FF7900"/>
              </a:buClr>
              <a:buSzPts val="1350"/>
              <a:buFont typeface="Arial"/>
              <a:buChar char="■"/>
            </a:pPr>
            <a:r>
              <a:rPr b="0" i="0" lang="en-US" sz="1480" u="none" cap="none" strike="noStrike">
                <a:solidFill>
                  <a:srgbClr val="D6D6D6"/>
                </a:solidFill>
                <a:latin typeface="Helvetica Neue"/>
                <a:ea typeface="Helvetica Neue"/>
                <a:cs typeface="Helvetica Neue"/>
                <a:sym typeface="Helvetica Neue"/>
              </a:rPr>
              <a:t>No study has compared a reactive and a predictive method head-to-head under one shared protocol that jointly reports accuracy, compute, and interpretability.</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1" name="Shape 121"/>
        <p:cNvGrpSpPr/>
        <p:nvPr/>
      </p:nvGrpSpPr>
      <p:grpSpPr>
        <a:xfrm>
          <a:off x="0" y="0"/>
          <a:ext cx="0" cy="0"/>
          <a:chOff x="0" y="0"/>
          <a:chExt cx="0" cy="0"/>
        </a:xfrm>
      </p:grpSpPr>
      <p:sp>
        <p:nvSpPr>
          <p:cNvPr id="122" name="Google Shape;122;h2dfb90ae07d12a84_2_65"/>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23" name="Google Shape;123;h2dfb90ae07d12a84_2_65"/>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124" name="Google Shape;124;h2dfb90ae07d12a84_2_65"/>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125" name="Google Shape;125;h2dfb90ae07d12a84_2_65"/>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EXECUTIVE SUMMARY</a:t>
            </a:r>
            <a:endParaRPr b="0" i="0" sz="1500" u="none" cap="none" strike="noStrike">
              <a:solidFill>
                <a:schemeClr val="dk1"/>
              </a:solidFill>
              <a:latin typeface="Helvetica Neue"/>
              <a:ea typeface="Helvetica Neue"/>
              <a:cs typeface="Helvetica Neue"/>
              <a:sym typeface="Helvetica Neue"/>
            </a:endParaRPr>
          </a:p>
        </p:txBody>
      </p:sp>
      <p:sp>
        <p:nvSpPr>
          <p:cNvPr id="126" name="Google Shape;126;h2dfb90ae07d12a84_2_65"/>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Core hypothesis &amp; contribution</a:t>
            </a:r>
            <a:endParaRPr b="0" i="0" sz="2000" u="none" cap="none" strike="noStrike">
              <a:solidFill>
                <a:schemeClr val="dk1"/>
              </a:solidFill>
              <a:latin typeface="Helvetica Neue"/>
              <a:ea typeface="Helvetica Neue"/>
              <a:cs typeface="Helvetica Neue"/>
              <a:sym typeface="Helvetica Neue"/>
            </a:endParaRPr>
          </a:p>
        </p:txBody>
      </p:sp>
      <p:sp>
        <p:nvSpPr>
          <p:cNvPr id="127" name="Google Shape;127;h2dfb90ae07d12a84_2_65"/>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128" name="Google Shape;128;h2dfb90ae07d12a84_2_65"/>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03</a:t>
            </a:r>
            <a:endParaRPr b="0" i="0" sz="1000" u="none" cap="none" strike="noStrike">
              <a:solidFill>
                <a:schemeClr val="dk1"/>
              </a:solidFill>
              <a:latin typeface="Helvetica Neue"/>
              <a:ea typeface="Helvetica Neue"/>
              <a:cs typeface="Helvetica Neue"/>
              <a:sym typeface="Helvetica Neue"/>
            </a:endParaRPr>
          </a:p>
        </p:txBody>
      </p:sp>
      <p:sp>
        <p:nvSpPr>
          <p:cNvPr id="129" name="Google Shape;129;h2dfb90ae07d12a84_2_65"/>
          <p:cNvSpPr/>
          <p:nvPr/>
        </p:nvSpPr>
        <p:spPr>
          <a:xfrm>
            <a:off x="381950" y="1671185"/>
            <a:ext cx="11583600" cy="222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95"/>
              <a:buFont typeface="Arial"/>
              <a:buNone/>
            </a:pPr>
            <a:r>
              <a:rPr b="1" i="0" lang="en-US" sz="1595" u="none" cap="none" strike="noStrike">
                <a:solidFill>
                  <a:srgbClr val="FF7900"/>
                </a:solidFill>
                <a:latin typeface="Helvetica Neue"/>
                <a:ea typeface="Helvetica Neue"/>
                <a:cs typeface="Helvetica Neue"/>
                <a:sym typeface="Helvetica Neue"/>
              </a:rPr>
              <a:t>CORE HYPOTHESIS. </a:t>
            </a:r>
            <a:r>
              <a:rPr b="0" i="0" lang="en-US" sz="1595" u="none" cap="none" strike="noStrike">
                <a:solidFill>
                  <a:srgbClr val="D6D6D6"/>
                </a:solidFill>
                <a:latin typeface="Helvetica Neue"/>
                <a:ea typeface="Helvetica Neue"/>
                <a:cs typeface="Helvetica Neue"/>
                <a:sym typeface="Helvetica Neue"/>
              </a:rPr>
              <a:t>Allocation of compute can be improved through two complementary directions:</a:t>
            </a:r>
            <a:endParaRPr sz="1500"/>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Reactive — </a:t>
            </a:r>
            <a:r>
              <a:rPr b="0" i="0" lang="en-US" sz="1480" u="none" cap="none" strike="noStrike">
                <a:solidFill>
                  <a:srgbClr val="D6D6D6"/>
                </a:solidFill>
                <a:latin typeface="Helvetica Neue"/>
                <a:ea typeface="Helvetica Neue"/>
                <a:cs typeface="Helvetica Neue"/>
                <a:sym typeface="Helvetica Neue"/>
              </a:rPr>
              <a:t>refining the signal used to detect when reasoning has actually converged — moving beyond surface-level confidence or entropy toward an internal, model-derived indicator that more accurately determines when thinking should stop.</a:t>
            </a:r>
            <a:endParaRPr sz="1500"/>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Predictive — </a:t>
            </a:r>
            <a:r>
              <a:rPr b="0" i="0" lang="en-US" sz="1480" u="none" cap="none" strike="noStrike">
                <a:solidFill>
                  <a:srgbClr val="D6D6D6"/>
                </a:solidFill>
                <a:latin typeface="Helvetica Neue"/>
                <a:ea typeface="Helvetica Neue"/>
                <a:cs typeface="Helvetica Neue"/>
                <a:sym typeface="Helvetica Neue"/>
              </a:rPr>
              <a:t>required compute may be predictable from task difficulty beyond a difficulty-only baseline. The open question is whether this relationship holds generally or only in specific settings.</a:t>
            </a:r>
            <a:endParaRPr sz="1500"/>
          </a:p>
          <a:p>
            <a:pPr indent="0" lvl="0" marL="0" marR="0" rtl="0" algn="l">
              <a:lnSpc>
                <a:spcPct val="100000"/>
              </a:lnSpc>
              <a:spcBef>
                <a:spcPts val="385"/>
              </a:spcBef>
              <a:spcAft>
                <a:spcPts val="0"/>
              </a:spcAft>
              <a:buClr>
                <a:srgbClr val="000000"/>
              </a:buClr>
              <a:buSzPts val="1495"/>
              <a:buFont typeface="Arial"/>
              <a:buNone/>
            </a:pPr>
            <a:r>
              <a:rPr b="1" i="0" lang="en-US" sz="1595" u="none" cap="none" strike="noStrike">
                <a:solidFill>
                  <a:srgbClr val="FF7900"/>
                </a:solidFill>
                <a:latin typeface="Helvetica Neue"/>
                <a:ea typeface="Helvetica Neue"/>
                <a:cs typeface="Helvetica Neue"/>
                <a:sym typeface="Helvetica Neue"/>
              </a:rPr>
              <a:t>POSSIBLE CONTRIBUTION. </a:t>
            </a:r>
            <a:endParaRPr sz="1500"/>
          </a:p>
          <a:p>
            <a:pPr indent="-228600" lvl="0" marL="6858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Hypothesis validation — </a:t>
            </a:r>
            <a:r>
              <a:rPr b="0" i="0" lang="en-US" sz="1480" u="none" cap="none" strike="noStrike">
                <a:solidFill>
                  <a:srgbClr val="D6D6D6"/>
                </a:solidFill>
                <a:latin typeface="Helvetica Neue"/>
                <a:ea typeface="Helvetica Neue"/>
                <a:cs typeface="Helvetica Neue"/>
                <a:sym typeface="Helvetica Neue"/>
              </a:rPr>
              <a:t>test our hypotheses empirically and determine whether the proposed assumptions hold.</a:t>
            </a:r>
            <a:endParaRPr sz="1500"/>
          </a:p>
          <a:p>
            <a:pPr indent="-228600" lvl="0" marL="6858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Direction selection — </a:t>
            </a:r>
            <a:r>
              <a:rPr b="0" i="0" lang="en-US" sz="1480" u="none" cap="none" strike="noStrike">
                <a:solidFill>
                  <a:srgbClr val="D6D6D6"/>
                </a:solidFill>
                <a:latin typeface="Helvetica Neue"/>
                <a:ea typeface="Helvetica Neue"/>
                <a:cs typeface="Helvetica Neue"/>
                <a:sym typeface="Helvetica Neue"/>
              </a:rPr>
              <a:t>based on the test results, determine which approach to pursue further; the final direction will be determined later according to the findings.</a:t>
            </a:r>
            <a:endParaRPr sz="1500"/>
          </a:p>
        </p:txBody>
      </p:sp>
      <p:sp>
        <p:nvSpPr>
          <p:cNvPr id="130" name="Google Shape;130;h2dfb90ae07d12a84_2_65"/>
          <p:cNvSpPr/>
          <p:nvPr/>
        </p:nvSpPr>
        <p:spPr>
          <a:xfrm>
            <a:off x="4667876" y="3994150"/>
            <a:ext cx="31947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chemeClr val="dk2"/>
                </a:solidFill>
                <a:latin typeface="Helvetica Neue"/>
                <a:ea typeface="Helvetica Neue"/>
                <a:cs typeface="Helvetica Neue"/>
                <a:sym typeface="Helvetica Neue"/>
              </a:rPr>
              <a:t>Fixed </a:t>
            </a:r>
            <a:r>
              <a:rPr b="1" lang="en-US">
                <a:solidFill>
                  <a:schemeClr val="dk2"/>
                </a:solidFill>
                <a:latin typeface="Helvetica Neue"/>
                <a:ea typeface="Helvetica Neue"/>
                <a:cs typeface="Helvetica Neue"/>
                <a:sym typeface="Helvetica Neue"/>
              </a:rPr>
              <a:t>Budget</a:t>
            </a:r>
            <a:r>
              <a:rPr b="1" i="0" lang="en-US" sz="1400" u="none" cap="none" strike="noStrike">
                <a:solidFill>
                  <a:schemeClr val="lt2"/>
                </a:solidFill>
                <a:latin typeface="Helvetica Neue"/>
                <a:ea typeface="Helvetica Neue"/>
                <a:cs typeface="Helvetica Neue"/>
                <a:sym typeface="Helvetica Neue"/>
              </a:rPr>
              <a:t> </a:t>
            </a:r>
            <a:r>
              <a:rPr b="1" i="0" lang="en-US" sz="1400" u="none" cap="none" strike="noStrike">
                <a:solidFill>
                  <a:schemeClr val="dk1"/>
                </a:solidFill>
                <a:latin typeface="Helvetica Neue"/>
                <a:ea typeface="Helvetica Neue"/>
                <a:cs typeface="Helvetica Neue"/>
                <a:sym typeface="Helvetica Neue"/>
              </a:rPr>
              <a:t>vs.</a:t>
            </a:r>
            <a:r>
              <a:rPr b="1" i="0" lang="en-US" sz="1400" u="none" cap="none" strike="noStrike">
                <a:solidFill>
                  <a:schemeClr val="lt2"/>
                </a:solidFill>
                <a:latin typeface="Helvetica Neue"/>
                <a:ea typeface="Helvetica Neue"/>
                <a:cs typeface="Helvetica Neue"/>
                <a:sym typeface="Helvetica Neue"/>
              </a:rPr>
              <a:t> Adaptive Budget</a:t>
            </a:r>
            <a:endParaRPr b="0" i="0" sz="1400" u="none" cap="none" strike="noStrike">
              <a:solidFill>
                <a:schemeClr val="lt2"/>
              </a:solidFill>
              <a:latin typeface="Helvetica Neue"/>
              <a:ea typeface="Helvetica Neue"/>
              <a:cs typeface="Helvetica Neue"/>
              <a:sym typeface="Helvetica Neue"/>
            </a:endParaRPr>
          </a:p>
        </p:txBody>
      </p:sp>
      <p:sp>
        <p:nvSpPr>
          <p:cNvPr id="131" name="Google Shape;131;h2dfb90ae07d12a84_2_65"/>
          <p:cNvSpPr/>
          <p:nvPr/>
        </p:nvSpPr>
        <p:spPr>
          <a:xfrm>
            <a:off x="502920" y="4370832"/>
            <a:ext cx="5468112" cy="1938528"/>
          </a:xfrm>
          <a:prstGeom prst="roundRect">
            <a:avLst>
              <a:gd fmla="val 2830" name="adj"/>
            </a:avLst>
          </a:prstGeom>
          <a:solidFill>
            <a:srgbClr val="141414"/>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32" name="Google Shape;132;h2dfb90ae07d12a84_2_65"/>
          <p:cNvSpPr/>
          <p:nvPr/>
        </p:nvSpPr>
        <p:spPr>
          <a:xfrm>
            <a:off x="704088" y="4517136"/>
            <a:ext cx="506577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200"/>
              <a:buFont typeface="Arial"/>
              <a:buNone/>
            </a:pPr>
            <a:r>
              <a:rPr b="1" i="0" lang="en-US" sz="1200" u="none" cap="none" strike="noStrike">
                <a:solidFill>
                  <a:srgbClr val="9A9A9A"/>
                </a:solidFill>
                <a:latin typeface="Helvetica Neue"/>
                <a:ea typeface="Helvetica Neue"/>
                <a:cs typeface="Helvetica Neue"/>
                <a:sym typeface="Helvetica Neue"/>
              </a:rPr>
              <a:t>FIXED BUDGET — SAME REASONING BUDGET FOR EVERY INPUT</a:t>
            </a:r>
            <a:endParaRPr b="0" i="0" sz="1200" u="none" cap="none" strike="noStrike">
              <a:solidFill>
                <a:schemeClr val="dk1"/>
              </a:solidFill>
              <a:latin typeface="Helvetica Neue"/>
              <a:ea typeface="Helvetica Neue"/>
              <a:cs typeface="Helvetica Neue"/>
              <a:sym typeface="Helvetica Neue"/>
            </a:endParaRPr>
          </a:p>
        </p:txBody>
      </p:sp>
      <p:sp>
        <p:nvSpPr>
          <p:cNvPr id="133" name="Google Shape;133;h2dfb90ae07d12a84_2_65"/>
          <p:cNvSpPr/>
          <p:nvPr/>
        </p:nvSpPr>
        <p:spPr>
          <a:xfrm>
            <a:off x="704088" y="4901184"/>
            <a:ext cx="18288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Arial"/>
              <a:buNone/>
            </a:pPr>
            <a:r>
              <a:rPr b="1" i="0" lang="en-US" sz="1150" u="none" cap="none" strike="noStrike">
                <a:solidFill>
                  <a:srgbClr val="FFFFFF"/>
                </a:solidFill>
                <a:latin typeface="Helvetica Neue"/>
                <a:ea typeface="Helvetica Neue"/>
                <a:cs typeface="Helvetica Neue"/>
                <a:sym typeface="Helvetica Neue"/>
              </a:rPr>
              <a:t>Easy problem</a:t>
            </a:r>
            <a:endParaRPr b="0" i="0" sz="1150" u="none" cap="none" strike="noStrike">
              <a:solidFill>
                <a:schemeClr val="dk1"/>
              </a:solidFill>
              <a:latin typeface="Helvetica Neue"/>
              <a:ea typeface="Helvetica Neue"/>
              <a:cs typeface="Helvetica Neue"/>
              <a:sym typeface="Helvetica Neue"/>
            </a:endParaRPr>
          </a:p>
        </p:txBody>
      </p:sp>
      <p:sp>
        <p:nvSpPr>
          <p:cNvPr id="134" name="Google Shape;134;h2dfb90ae07d12a84_2_65"/>
          <p:cNvSpPr/>
          <p:nvPr/>
        </p:nvSpPr>
        <p:spPr>
          <a:xfrm>
            <a:off x="2606040" y="4919472"/>
            <a:ext cx="3090672" cy="219456"/>
          </a:xfrm>
          <a:prstGeom prst="roundRect">
            <a:avLst>
              <a:gd fmla="val 16667" name="adj"/>
            </a:avLst>
          </a:prstGeom>
          <a:no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35" name="Google Shape;135;h2dfb90ae07d12a84_2_65"/>
          <p:cNvSpPr/>
          <p:nvPr/>
        </p:nvSpPr>
        <p:spPr>
          <a:xfrm>
            <a:off x="2606041" y="4919472"/>
            <a:ext cx="1719470" cy="201168"/>
          </a:xfrm>
          <a:prstGeom prst="roundRect">
            <a:avLst>
              <a:gd fmla="val 16667" name="adj"/>
            </a:avLst>
          </a:prstGeom>
          <a:solidFill>
            <a:srgbClr val="9A9A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36" name="Google Shape;136;h2dfb90ae07d12a84_2_65"/>
          <p:cNvSpPr/>
          <p:nvPr/>
        </p:nvSpPr>
        <p:spPr>
          <a:xfrm>
            <a:off x="704088" y="5212080"/>
            <a:ext cx="506577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Arial"/>
              <a:buNone/>
            </a:pPr>
            <a:r>
              <a:rPr b="1" i="1" lang="en-US" sz="950" u="none" cap="none" strike="noStrike">
                <a:solidFill>
                  <a:srgbClr val="9A9A9A"/>
                </a:solidFill>
                <a:latin typeface="Helvetica Neue"/>
                <a:ea typeface="Helvetica Neue"/>
                <a:cs typeface="Helvetica Neue"/>
                <a:sym typeface="Helvetica Neue"/>
              </a:rPr>
              <a:t>overthinks — wasted tokens, flat/negative return</a:t>
            </a:r>
            <a:endParaRPr b="1" i="0" sz="950" u="none" cap="none" strike="noStrike">
              <a:solidFill>
                <a:schemeClr val="dk1"/>
              </a:solidFill>
              <a:latin typeface="Helvetica Neue"/>
              <a:ea typeface="Helvetica Neue"/>
              <a:cs typeface="Helvetica Neue"/>
              <a:sym typeface="Helvetica Neue"/>
            </a:endParaRPr>
          </a:p>
        </p:txBody>
      </p:sp>
      <p:sp>
        <p:nvSpPr>
          <p:cNvPr id="137" name="Google Shape;137;h2dfb90ae07d12a84_2_65"/>
          <p:cNvSpPr/>
          <p:nvPr/>
        </p:nvSpPr>
        <p:spPr>
          <a:xfrm>
            <a:off x="704088" y="5614416"/>
            <a:ext cx="18288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Arial"/>
              <a:buNone/>
            </a:pPr>
            <a:r>
              <a:rPr b="1" i="0" lang="en-US" sz="1150" u="none" cap="none" strike="noStrike">
                <a:solidFill>
                  <a:srgbClr val="FFFFFF"/>
                </a:solidFill>
                <a:latin typeface="Helvetica Neue"/>
                <a:ea typeface="Helvetica Neue"/>
                <a:cs typeface="Helvetica Neue"/>
                <a:sym typeface="Helvetica Neue"/>
              </a:rPr>
              <a:t>Hard problem</a:t>
            </a:r>
            <a:endParaRPr b="0" i="0" sz="1150" u="none" cap="none" strike="noStrike">
              <a:solidFill>
                <a:schemeClr val="dk1"/>
              </a:solidFill>
              <a:latin typeface="Helvetica Neue"/>
              <a:ea typeface="Helvetica Neue"/>
              <a:cs typeface="Helvetica Neue"/>
              <a:sym typeface="Helvetica Neue"/>
            </a:endParaRPr>
          </a:p>
        </p:txBody>
      </p:sp>
      <p:sp>
        <p:nvSpPr>
          <p:cNvPr id="138" name="Google Shape;138;h2dfb90ae07d12a84_2_65"/>
          <p:cNvSpPr/>
          <p:nvPr/>
        </p:nvSpPr>
        <p:spPr>
          <a:xfrm>
            <a:off x="2606040" y="5632704"/>
            <a:ext cx="3090672" cy="219456"/>
          </a:xfrm>
          <a:prstGeom prst="roundRect">
            <a:avLst>
              <a:gd fmla="val 16667" name="adj"/>
            </a:avLst>
          </a:prstGeom>
          <a:no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39" name="Google Shape;139;h2dfb90ae07d12a84_2_65"/>
          <p:cNvSpPr/>
          <p:nvPr/>
        </p:nvSpPr>
        <p:spPr>
          <a:xfrm>
            <a:off x="2606040" y="5632704"/>
            <a:ext cx="1719471" cy="219456"/>
          </a:xfrm>
          <a:prstGeom prst="roundRect">
            <a:avLst>
              <a:gd fmla="val 16667" name="adj"/>
            </a:avLst>
          </a:prstGeom>
          <a:solidFill>
            <a:srgbClr val="9A9A9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40" name="Google Shape;140;h2dfb90ae07d12a84_2_65"/>
          <p:cNvSpPr/>
          <p:nvPr/>
        </p:nvSpPr>
        <p:spPr>
          <a:xfrm>
            <a:off x="704088" y="5925312"/>
            <a:ext cx="506577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Arial"/>
              <a:buNone/>
            </a:pPr>
            <a:r>
              <a:rPr b="1" i="1" lang="en-US" sz="950" u="none" cap="none" strike="noStrike">
                <a:solidFill>
                  <a:srgbClr val="9A9A9A"/>
                </a:solidFill>
                <a:latin typeface="Helvetica Neue"/>
                <a:ea typeface="Helvetica Neue"/>
                <a:cs typeface="Helvetica Neue"/>
                <a:sym typeface="Helvetica Neue"/>
              </a:rPr>
              <a:t>underthinks — abandons promising reasoning</a:t>
            </a:r>
            <a:endParaRPr b="1" i="0" sz="950" u="none" cap="none" strike="noStrike">
              <a:solidFill>
                <a:schemeClr val="dk1"/>
              </a:solidFill>
              <a:latin typeface="Helvetica Neue"/>
              <a:ea typeface="Helvetica Neue"/>
              <a:cs typeface="Helvetica Neue"/>
              <a:sym typeface="Helvetica Neue"/>
            </a:endParaRPr>
          </a:p>
        </p:txBody>
      </p:sp>
      <p:sp>
        <p:nvSpPr>
          <p:cNvPr id="141" name="Google Shape;141;h2dfb90ae07d12a84_2_65"/>
          <p:cNvSpPr/>
          <p:nvPr/>
        </p:nvSpPr>
        <p:spPr>
          <a:xfrm>
            <a:off x="6236208" y="4370832"/>
            <a:ext cx="5468112" cy="1938528"/>
          </a:xfrm>
          <a:prstGeom prst="roundRect">
            <a:avLst>
              <a:gd fmla="val 2830" name="adj"/>
            </a:avLst>
          </a:prstGeom>
          <a:solidFill>
            <a:srgbClr val="141414"/>
          </a:solidFill>
          <a:ln cap="flat" cmpd="sng" w="12700">
            <a:solidFill>
              <a:srgbClr val="FF7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42" name="Google Shape;142;h2dfb90ae07d12a84_2_65"/>
          <p:cNvSpPr/>
          <p:nvPr/>
        </p:nvSpPr>
        <p:spPr>
          <a:xfrm>
            <a:off x="6437376" y="4517136"/>
            <a:ext cx="506577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200"/>
              <a:buFont typeface="Arial"/>
              <a:buNone/>
            </a:pPr>
            <a:r>
              <a:rPr b="1" i="0" lang="en-US" sz="1200" u="none" cap="none" strike="noStrike">
                <a:solidFill>
                  <a:srgbClr val="FF7900"/>
                </a:solidFill>
                <a:latin typeface="Helvetica Neue"/>
                <a:ea typeface="Helvetica Neue"/>
                <a:cs typeface="Helvetica Neue"/>
                <a:sym typeface="Helvetica Neue"/>
              </a:rPr>
              <a:t>PROPOSED — BUDGET MATCHED TO DIFFICULTY</a:t>
            </a:r>
            <a:endParaRPr b="0" i="0" sz="1200" u="none" cap="none" strike="noStrike">
              <a:solidFill>
                <a:schemeClr val="dk1"/>
              </a:solidFill>
              <a:latin typeface="Helvetica Neue"/>
              <a:ea typeface="Helvetica Neue"/>
              <a:cs typeface="Helvetica Neue"/>
              <a:sym typeface="Helvetica Neue"/>
            </a:endParaRPr>
          </a:p>
        </p:txBody>
      </p:sp>
      <p:sp>
        <p:nvSpPr>
          <p:cNvPr id="143" name="Google Shape;143;h2dfb90ae07d12a84_2_65"/>
          <p:cNvSpPr/>
          <p:nvPr/>
        </p:nvSpPr>
        <p:spPr>
          <a:xfrm>
            <a:off x="6437376" y="4901184"/>
            <a:ext cx="18288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Arial"/>
              <a:buNone/>
            </a:pPr>
            <a:r>
              <a:rPr b="1" i="0" lang="en-US" sz="1150" u="none" cap="none" strike="noStrike">
                <a:solidFill>
                  <a:srgbClr val="FFFFFF"/>
                </a:solidFill>
                <a:latin typeface="Helvetica Neue"/>
                <a:ea typeface="Helvetica Neue"/>
                <a:cs typeface="Helvetica Neue"/>
                <a:sym typeface="Helvetica Neue"/>
              </a:rPr>
              <a:t>Easy problem</a:t>
            </a:r>
            <a:endParaRPr b="0" i="0" sz="1150" u="none" cap="none" strike="noStrike">
              <a:solidFill>
                <a:schemeClr val="dk1"/>
              </a:solidFill>
              <a:latin typeface="Helvetica Neue"/>
              <a:ea typeface="Helvetica Neue"/>
              <a:cs typeface="Helvetica Neue"/>
              <a:sym typeface="Helvetica Neue"/>
            </a:endParaRPr>
          </a:p>
        </p:txBody>
      </p:sp>
      <p:sp>
        <p:nvSpPr>
          <p:cNvPr id="144" name="Google Shape;144;h2dfb90ae07d12a84_2_65"/>
          <p:cNvSpPr/>
          <p:nvPr/>
        </p:nvSpPr>
        <p:spPr>
          <a:xfrm>
            <a:off x="8339328" y="4919472"/>
            <a:ext cx="3090672" cy="219456"/>
          </a:xfrm>
          <a:prstGeom prst="roundRect">
            <a:avLst>
              <a:gd fmla="val 16667" name="adj"/>
            </a:avLst>
          </a:prstGeom>
          <a:no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45" name="Google Shape;145;h2dfb90ae07d12a84_2_65"/>
          <p:cNvSpPr/>
          <p:nvPr/>
        </p:nvSpPr>
        <p:spPr>
          <a:xfrm>
            <a:off x="8339328" y="4919472"/>
            <a:ext cx="645646" cy="219456"/>
          </a:xfrm>
          <a:prstGeom prst="roundRect">
            <a:avLst>
              <a:gd fmla="val 16667" name="adj"/>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46" name="Google Shape;146;h2dfb90ae07d12a84_2_65"/>
          <p:cNvSpPr/>
          <p:nvPr/>
        </p:nvSpPr>
        <p:spPr>
          <a:xfrm>
            <a:off x="6437376" y="5212080"/>
            <a:ext cx="506577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Arial"/>
              <a:buNone/>
            </a:pPr>
            <a:r>
              <a:rPr b="1" i="1" lang="en-US" sz="950" u="none" cap="none" strike="noStrike">
                <a:solidFill>
                  <a:srgbClr val="9A9A9A"/>
                </a:solidFill>
                <a:latin typeface="Helvetica Neue"/>
                <a:ea typeface="Helvetica Neue"/>
                <a:cs typeface="Helvetica Neue"/>
                <a:sym typeface="Helvetica Neue"/>
              </a:rPr>
              <a:t>stops once accuracy saturates</a:t>
            </a:r>
            <a:endParaRPr b="1" i="0" sz="950" u="none" cap="none" strike="noStrike">
              <a:solidFill>
                <a:schemeClr val="dk1"/>
              </a:solidFill>
              <a:latin typeface="Helvetica Neue"/>
              <a:ea typeface="Helvetica Neue"/>
              <a:cs typeface="Helvetica Neue"/>
              <a:sym typeface="Helvetica Neue"/>
            </a:endParaRPr>
          </a:p>
        </p:txBody>
      </p:sp>
      <p:sp>
        <p:nvSpPr>
          <p:cNvPr id="147" name="Google Shape;147;h2dfb90ae07d12a84_2_65"/>
          <p:cNvSpPr/>
          <p:nvPr/>
        </p:nvSpPr>
        <p:spPr>
          <a:xfrm>
            <a:off x="6437376" y="5614416"/>
            <a:ext cx="18288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Arial"/>
              <a:buNone/>
            </a:pPr>
            <a:r>
              <a:rPr b="1" i="0" lang="en-US" sz="1150" u="none" cap="none" strike="noStrike">
                <a:solidFill>
                  <a:srgbClr val="FFFFFF"/>
                </a:solidFill>
                <a:latin typeface="Helvetica Neue"/>
                <a:ea typeface="Helvetica Neue"/>
                <a:cs typeface="Helvetica Neue"/>
                <a:sym typeface="Helvetica Neue"/>
              </a:rPr>
              <a:t>Hard problem</a:t>
            </a:r>
            <a:endParaRPr b="0" i="0" sz="1150" u="none" cap="none" strike="noStrike">
              <a:solidFill>
                <a:schemeClr val="dk1"/>
              </a:solidFill>
              <a:latin typeface="Helvetica Neue"/>
              <a:ea typeface="Helvetica Neue"/>
              <a:cs typeface="Helvetica Neue"/>
              <a:sym typeface="Helvetica Neue"/>
            </a:endParaRPr>
          </a:p>
        </p:txBody>
      </p:sp>
      <p:sp>
        <p:nvSpPr>
          <p:cNvPr id="148" name="Google Shape;148;h2dfb90ae07d12a84_2_65"/>
          <p:cNvSpPr/>
          <p:nvPr/>
        </p:nvSpPr>
        <p:spPr>
          <a:xfrm>
            <a:off x="8339328" y="5632704"/>
            <a:ext cx="3090672" cy="219456"/>
          </a:xfrm>
          <a:prstGeom prst="roundRect">
            <a:avLst>
              <a:gd fmla="val 16667" name="adj"/>
            </a:avLst>
          </a:prstGeom>
          <a:no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49" name="Google Shape;149;h2dfb90ae07d12a84_2_65"/>
          <p:cNvSpPr/>
          <p:nvPr/>
        </p:nvSpPr>
        <p:spPr>
          <a:xfrm>
            <a:off x="8339328" y="5632704"/>
            <a:ext cx="2719791" cy="219456"/>
          </a:xfrm>
          <a:prstGeom prst="roundRect">
            <a:avLst>
              <a:gd fmla="val 16667" name="adj"/>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50" name="Google Shape;150;h2dfb90ae07d12a84_2_65"/>
          <p:cNvSpPr/>
          <p:nvPr/>
        </p:nvSpPr>
        <p:spPr>
          <a:xfrm>
            <a:off x="6437376" y="5925312"/>
            <a:ext cx="5065776"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950"/>
              <a:buFont typeface="Arial"/>
              <a:buNone/>
            </a:pPr>
            <a:r>
              <a:rPr b="1" i="1" lang="en-US" sz="950" u="none" cap="none" strike="noStrike">
                <a:solidFill>
                  <a:srgbClr val="9A9A9A"/>
                </a:solidFill>
                <a:latin typeface="Helvetica Neue"/>
                <a:ea typeface="Helvetica Neue"/>
                <a:cs typeface="Helvetica Neue"/>
                <a:sym typeface="Helvetica Neue"/>
              </a:rPr>
              <a:t>spends compute where it pays off</a:t>
            </a:r>
            <a:endParaRPr b="1" i="0" sz="950" u="none" cap="none" strike="noStrike">
              <a:solidFill>
                <a:schemeClr val="dk1"/>
              </a:solidFill>
              <a:latin typeface="Helvetica Neue"/>
              <a:ea typeface="Helvetica Neue"/>
              <a:cs typeface="Helvetica Neue"/>
              <a:sym typeface="Helvetica Neue"/>
            </a:endParaRPr>
          </a:p>
        </p:txBody>
      </p:sp>
      <p:sp>
        <p:nvSpPr>
          <p:cNvPr id="151" name="Google Shape;151;h2dfb90ae07d12a84_2_65"/>
          <p:cNvSpPr/>
          <p:nvPr/>
        </p:nvSpPr>
        <p:spPr>
          <a:xfrm flipH="1">
            <a:off x="3132813" y="4919472"/>
            <a:ext cx="45719" cy="219456"/>
          </a:xfrm>
          <a:prstGeom prst="roundRect">
            <a:avLst>
              <a:gd fmla="val 16667" name="adj"/>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52" name="Google Shape;152;h2dfb90ae07d12a84_2_65"/>
          <p:cNvSpPr/>
          <p:nvPr/>
        </p:nvSpPr>
        <p:spPr>
          <a:xfrm flipH="1">
            <a:off x="5121964" y="5623560"/>
            <a:ext cx="45719" cy="219456"/>
          </a:xfrm>
          <a:prstGeom prst="roundRect">
            <a:avLst>
              <a:gd fmla="val 16667" name="adj"/>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53" name="Google Shape;153;h2dfb90ae07d12a84_2_65"/>
          <p:cNvSpPr txBox="1"/>
          <p:nvPr/>
        </p:nvSpPr>
        <p:spPr>
          <a:xfrm>
            <a:off x="2861672" y="5103679"/>
            <a:ext cx="733705"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000"/>
              <a:buFont typeface="Arial"/>
              <a:buNone/>
            </a:pPr>
            <a:r>
              <a:rPr b="1" i="1" lang="en-US" sz="1000" u="none" cap="none" strike="noStrike">
                <a:solidFill>
                  <a:schemeClr val="lt1"/>
                </a:solidFill>
                <a:latin typeface="Helvetica Neue"/>
                <a:ea typeface="Helvetica Neue"/>
                <a:cs typeface="Helvetica Neue"/>
                <a:sym typeface="Helvetica Neue"/>
              </a:rPr>
              <a:t>optimal</a:t>
            </a:r>
            <a:endParaRPr b="1" i="0" sz="1000" u="none" cap="none" strike="noStrike">
              <a:solidFill>
                <a:schemeClr val="lt1"/>
              </a:solidFill>
              <a:latin typeface="Helvetica Neue"/>
              <a:ea typeface="Helvetica Neue"/>
              <a:cs typeface="Helvetica Neue"/>
              <a:sym typeface="Helvetica Neue"/>
            </a:endParaRPr>
          </a:p>
        </p:txBody>
      </p:sp>
      <p:sp>
        <p:nvSpPr>
          <p:cNvPr id="154" name="Google Shape;154;h2dfb90ae07d12a84_2_65"/>
          <p:cNvSpPr txBox="1"/>
          <p:nvPr/>
        </p:nvSpPr>
        <p:spPr>
          <a:xfrm>
            <a:off x="4855277" y="5821549"/>
            <a:ext cx="733705"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000"/>
              <a:buFont typeface="Arial"/>
              <a:buNone/>
            </a:pPr>
            <a:r>
              <a:rPr b="1" i="1" lang="en-US" sz="1000" u="none" cap="none" strike="noStrike">
                <a:solidFill>
                  <a:schemeClr val="lt1"/>
                </a:solidFill>
                <a:latin typeface="Helvetica Neue"/>
                <a:ea typeface="Helvetica Neue"/>
                <a:cs typeface="Helvetica Neue"/>
                <a:sym typeface="Helvetica Neue"/>
              </a:rPr>
              <a:t>optimal</a:t>
            </a:r>
            <a:endParaRPr b="1" i="0" sz="1000" u="none" cap="none" strike="noStrike">
              <a:solidFill>
                <a:schemeClr val="lt1"/>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8" name="Shape 158"/>
        <p:cNvGrpSpPr/>
        <p:nvPr/>
      </p:nvGrpSpPr>
      <p:grpSpPr>
        <a:xfrm>
          <a:off x="0" y="0"/>
          <a:ext cx="0" cy="0"/>
          <a:chOff x="0" y="0"/>
          <a:chExt cx="0" cy="0"/>
        </a:xfrm>
      </p:grpSpPr>
      <p:sp>
        <p:nvSpPr>
          <p:cNvPr id="159" name="Google Shape;159;h2dfb90ae07d12a84_2_101"/>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60" name="Google Shape;160;h2dfb90ae07d12a84_2_101"/>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161" name="Google Shape;161;h2dfb90ae07d12a84_2_101"/>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162" name="Google Shape;162;h2dfb90ae07d12a84_2_101"/>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1. BACKGROUND &amp; RESEARCH GAP</a:t>
            </a:r>
            <a:endParaRPr b="0" i="0" sz="1500" u="none" cap="none" strike="noStrike">
              <a:solidFill>
                <a:schemeClr val="dk1"/>
              </a:solidFill>
              <a:latin typeface="Helvetica Neue"/>
              <a:ea typeface="Helvetica Neue"/>
              <a:cs typeface="Helvetica Neue"/>
              <a:sym typeface="Helvetica Neue"/>
            </a:endParaRPr>
          </a:p>
        </p:txBody>
      </p:sp>
      <p:sp>
        <p:nvSpPr>
          <p:cNvPr id="163" name="Google Shape;163;h2dfb90ae07d12a84_2_101"/>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Two documented failure modes — not yet reconciled</a:t>
            </a:r>
            <a:endParaRPr b="0" i="0" sz="2000" u="none" cap="none" strike="noStrike">
              <a:solidFill>
                <a:schemeClr val="dk1"/>
              </a:solidFill>
              <a:latin typeface="Helvetica Neue"/>
              <a:ea typeface="Helvetica Neue"/>
              <a:cs typeface="Helvetica Neue"/>
              <a:sym typeface="Helvetica Neue"/>
            </a:endParaRPr>
          </a:p>
        </p:txBody>
      </p:sp>
      <p:sp>
        <p:nvSpPr>
          <p:cNvPr id="164" name="Google Shape;164;h2dfb90ae07d12a84_2_101"/>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165" name="Google Shape;165;h2dfb90ae07d12a84_2_101"/>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04</a:t>
            </a:r>
            <a:endParaRPr b="0" i="0" sz="1000" u="none" cap="none" strike="noStrike">
              <a:solidFill>
                <a:schemeClr val="dk1"/>
              </a:solidFill>
              <a:latin typeface="Helvetica Neue"/>
              <a:ea typeface="Helvetica Neue"/>
              <a:cs typeface="Helvetica Neue"/>
              <a:sym typeface="Helvetica Neue"/>
            </a:endParaRPr>
          </a:p>
        </p:txBody>
      </p:sp>
      <p:sp>
        <p:nvSpPr>
          <p:cNvPr id="166" name="Google Shape;166;h2dfb90ae07d12a84_2_101"/>
          <p:cNvSpPr/>
          <p:nvPr/>
        </p:nvSpPr>
        <p:spPr>
          <a:xfrm>
            <a:off x="403384" y="1690000"/>
            <a:ext cx="11155800" cy="462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80"/>
              <a:buFont typeface="Arial"/>
              <a:buNone/>
            </a:pPr>
            <a:r>
              <a:rPr b="0" i="0" lang="en-US" sz="1480" u="none" cap="none" strike="noStrike">
                <a:solidFill>
                  <a:srgbClr val="D6D6D6"/>
                </a:solidFill>
                <a:latin typeface="Helvetica Neue"/>
                <a:ea typeface="Helvetica Neue"/>
                <a:cs typeface="Helvetica Neue"/>
                <a:sym typeface="Helvetica Neue"/>
              </a:rPr>
              <a:t>The two failure modes. Test-time scaling improves accuracy by allocating more inference compute through longer reasoning, sampling, or search. However, fixed budgets for all inputs can lead to two opposite failure modes.</a:t>
            </a:r>
            <a:endParaRPr sz="1500"/>
          </a:p>
          <a:p>
            <a:pPr indent="0" lvl="0" marL="0" marR="0" rtl="0" algn="l">
              <a:lnSpc>
                <a:spcPct val="100000"/>
              </a:lnSpc>
              <a:spcBef>
                <a:spcPts val="330"/>
              </a:spcBef>
              <a:spcAft>
                <a:spcPts val="0"/>
              </a:spcAft>
              <a:buClr>
                <a:srgbClr val="000000"/>
              </a:buClr>
              <a:buSzPts val="1438"/>
              <a:buFont typeface="Arial"/>
              <a:buNone/>
            </a:pPr>
            <a:r>
              <a:t/>
            </a:r>
            <a:endParaRPr b="1" sz="1538">
              <a:solidFill>
                <a:srgbClr val="FF7900"/>
              </a:solidFill>
              <a:latin typeface="Helvetica Neue"/>
              <a:ea typeface="Helvetica Neue"/>
              <a:cs typeface="Helvetica Neue"/>
              <a:sym typeface="Helvetica Neue"/>
            </a:endParaRPr>
          </a:p>
          <a:p>
            <a:pPr indent="0" lvl="0" marL="0" marR="0" rtl="0" algn="l">
              <a:lnSpc>
                <a:spcPct val="100000"/>
              </a:lnSpc>
              <a:spcBef>
                <a:spcPts val="330"/>
              </a:spcBef>
              <a:spcAft>
                <a:spcPts val="0"/>
              </a:spcAft>
              <a:buClr>
                <a:srgbClr val="000000"/>
              </a:buClr>
              <a:buSzPts val="1438"/>
              <a:buFont typeface="Arial"/>
              <a:buNone/>
            </a:pPr>
            <a:r>
              <a:rPr b="1" i="0" lang="en-US" sz="1538" u="none" cap="none" strike="noStrike">
                <a:solidFill>
                  <a:srgbClr val="FF7900"/>
                </a:solidFill>
                <a:latin typeface="Helvetica Neue"/>
                <a:ea typeface="Helvetica Neue"/>
                <a:cs typeface="Helvetica Neue"/>
                <a:sym typeface="Helvetica Neue"/>
              </a:rPr>
              <a:t>Underthinking — Wang et al., “Thoughts Are All Over the Place” (NeurIPS 2025): </a:t>
            </a:r>
            <a:r>
              <a:rPr b="0" i="0" lang="en-US" sz="1538" u="none" cap="none" strike="noStrike">
                <a:solidFill>
                  <a:srgbClr val="D6D6D6"/>
                </a:solidFill>
                <a:latin typeface="Helvetica Neue"/>
                <a:ea typeface="Helvetica Neue"/>
                <a:cs typeface="Helvetica Neue"/>
                <a:sym typeface="Helvetica Neue"/>
              </a:rPr>
              <a:t>can arise from two distinct compute-allocation failures: the model may either receive too little compute for the problem, or have sufficient compute but allocate it inefficiently.</a:t>
            </a:r>
            <a:endParaRPr sz="1500"/>
          </a:p>
          <a:p>
            <a:pPr indent="0" lvl="0" marL="0" marR="0" rtl="0" algn="l">
              <a:lnSpc>
                <a:spcPct val="100000"/>
              </a:lnSpc>
              <a:spcBef>
                <a:spcPts val="275"/>
              </a:spcBef>
              <a:spcAft>
                <a:spcPts val="0"/>
              </a:spcAft>
              <a:buClr>
                <a:srgbClr val="000000"/>
              </a:buClr>
              <a:buSzPts val="1438"/>
              <a:buFont typeface="Arial"/>
              <a:buNone/>
            </a:pPr>
            <a:r>
              <a:t/>
            </a:r>
            <a:endParaRPr b="1" sz="1538">
              <a:solidFill>
                <a:srgbClr val="FF7900"/>
              </a:solidFill>
              <a:latin typeface="Helvetica Neue"/>
              <a:ea typeface="Helvetica Neue"/>
              <a:cs typeface="Helvetica Neue"/>
              <a:sym typeface="Helvetica Neue"/>
            </a:endParaRPr>
          </a:p>
          <a:p>
            <a:pPr indent="0" lvl="0" marL="0" marR="0" rtl="0" algn="l">
              <a:lnSpc>
                <a:spcPct val="100000"/>
              </a:lnSpc>
              <a:spcBef>
                <a:spcPts val="275"/>
              </a:spcBef>
              <a:spcAft>
                <a:spcPts val="0"/>
              </a:spcAft>
              <a:buClr>
                <a:srgbClr val="000000"/>
              </a:buClr>
              <a:buSzPts val="1438"/>
              <a:buFont typeface="Arial"/>
              <a:buNone/>
            </a:pPr>
            <a:r>
              <a:rPr b="1" i="0" lang="en-US" sz="1538" u="none" cap="none" strike="noStrike">
                <a:solidFill>
                  <a:srgbClr val="FF7900"/>
                </a:solidFill>
                <a:latin typeface="Helvetica Neue"/>
                <a:ea typeface="Helvetica Neue"/>
                <a:cs typeface="Helvetica Neue"/>
                <a:sym typeface="Helvetica Neue"/>
              </a:rPr>
              <a:t>Insufficient Compute</a:t>
            </a:r>
            <a:endParaRPr sz="1500"/>
          </a:p>
          <a:p>
            <a:pPr indent="-228600" lvl="0" marL="685800" marR="0" rtl="0" algn="l">
              <a:lnSpc>
                <a:spcPct val="100000"/>
              </a:lnSpc>
              <a:spcBef>
                <a:spcPts val="193"/>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Evidence: </a:t>
            </a:r>
            <a:r>
              <a:rPr b="0" i="0" lang="en-US" sz="1480" u="none" cap="none" strike="noStrike">
                <a:solidFill>
                  <a:srgbClr val="D6D6D6"/>
                </a:solidFill>
                <a:latin typeface="Helvetica Neue"/>
                <a:ea typeface="Helvetica Neue"/>
                <a:cs typeface="Helvetica Neue"/>
                <a:sym typeface="Helvetica Neue"/>
              </a:rPr>
              <a:t>on hard problems, incorrect responses may stop before reaching a reliable solution because the allocated budget is insufficient.</a:t>
            </a:r>
            <a:endParaRPr sz="1500"/>
          </a:p>
          <a:p>
            <a:pPr indent="-228600" lvl="0" marL="685800" marR="0" rtl="0" algn="l">
              <a:lnSpc>
                <a:spcPct val="100000"/>
              </a:lnSpc>
              <a:spcBef>
                <a:spcPts val="193"/>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Research direction: </a:t>
            </a:r>
            <a:r>
              <a:rPr b="0" i="0" lang="en-US" sz="1480" u="none" cap="none" strike="noStrike">
                <a:solidFill>
                  <a:srgbClr val="D6D6D6"/>
                </a:solidFill>
                <a:latin typeface="Helvetica Neue"/>
                <a:ea typeface="Helvetica Neue"/>
                <a:cs typeface="Helvetica Neue"/>
                <a:sym typeface="Helvetica Neue"/>
              </a:rPr>
              <a:t>identify queries that require more reasoning and allocate additional compute rather than using a fixed budget.</a:t>
            </a:r>
            <a:endParaRPr b="1" sz="1538">
              <a:solidFill>
                <a:srgbClr val="FF7900"/>
              </a:solidFill>
              <a:latin typeface="Helvetica Neue"/>
              <a:ea typeface="Helvetica Neue"/>
              <a:cs typeface="Helvetica Neue"/>
              <a:sym typeface="Helvetica Neue"/>
            </a:endParaRPr>
          </a:p>
          <a:p>
            <a:pPr indent="0" lvl="0" marL="0" marR="0" rtl="0" algn="l">
              <a:lnSpc>
                <a:spcPct val="100000"/>
              </a:lnSpc>
              <a:spcBef>
                <a:spcPts val="275"/>
              </a:spcBef>
              <a:spcAft>
                <a:spcPts val="0"/>
              </a:spcAft>
              <a:buClr>
                <a:srgbClr val="000000"/>
              </a:buClr>
              <a:buSzPts val="1438"/>
              <a:buFont typeface="Arial"/>
              <a:buNone/>
            </a:pPr>
            <a:r>
              <a:rPr b="1" i="0" lang="en-US" sz="1538" u="none" cap="none" strike="noStrike">
                <a:solidFill>
                  <a:srgbClr val="FF7900"/>
                </a:solidFill>
                <a:latin typeface="Helvetica Neue"/>
                <a:ea typeface="Helvetica Neue"/>
                <a:cs typeface="Helvetica Neue"/>
                <a:sym typeface="Helvetica Neue"/>
              </a:rPr>
              <a:t>Inefficient Compute — partially out of scope</a:t>
            </a:r>
            <a:endParaRPr sz="1500"/>
          </a:p>
          <a:p>
            <a:pPr indent="-228600" lvl="0" marL="685800" marR="0" rtl="0" algn="l">
              <a:lnSpc>
                <a:spcPct val="100000"/>
              </a:lnSpc>
              <a:spcBef>
                <a:spcPts val="193"/>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Evidence: </a:t>
            </a:r>
            <a:r>
              <a:rPr b="0" i="0" lang="en-US" sz="1480" u="none" cap="none" strike="noStrike">
                <a:solidFill>
                  <a:srgbClr val="D6D6D6"/>
                </a:solidFill>
                <a:latin typeface="Helvetica Neue"/>
                <a:ea typeface="Helvetica Neue"/>
                <a:cs typeface="Helvetica Neue"/>
                <a:sym typeface="Helvetica Neue"/>
              </a:rPr>
              <a:t>incorrect responses show far more thought switches despite often being longer: QwQ-32B-Preview 26.4 vs. 7.0 and DeepSeek-R1-671B 59.3 vs. 12.6 switches on AIME2024. This suggests compute is being spent restarting thoughts rather than reasoning deeper.</a:t>
            </a:r>
            <a:endParaRPr sz="1500"/>
          </a:p>
          <a:p>
            <a:pPr indent="-228600" lvl="0" marL="685800" marR="0" rtl="0" algn="l">
              <a:lnSpc>
                <a:spcPct val="100000"/>
              </a:lnSpc>
              <a:spcBef>
                <a:spcPts val="193"/>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Research direction: </a:t>
            </a:r>
            <a:r>
              <a:rPr b="0" i="0" lang="en-US" sz="1480" u="none" cap="none" strike="noStrike">
                <a:solidFill>
                  <a:srgbClr val="D6D6D6"/>
                </a:solidFill>
                <a:latin typeface="Helvetica Neue"/>
                <a:ea typeface="Helvetica Neue"/>
                <a:cs typeface="Helvetica Neue"/>
                <a:sym typeface="Helvetica Neue"/>
              </a:rPr>
              <a:t>refine the convergence signal to distinguish genuine reasoning progress from inefficient thought switching and decide when to continue or stop.</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70" name="Shape 170"/>
        <p:cNvGrpSpPr/>
        <p:nvPr/>
      </p:nvGrpSpPr>
      <p:grpSpPr>
        <a:xfrm>
          <a:off x="0" y="0"/>
          <a:ext cx="0" cy="0"/>
          <a:chOff x="0" y="0"/>
          <a:chExt cx="0" cy="0"/>
        </a:xfrm>
      </p:grpSpPr>
      <p:sp>
        <p:nvSpPr>
          <p:cNvPr id="171" name="Google Shape;171;h2dfb90ae07d12a84_2_112"/>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72" name="Google Shape;172;h2dfb90ae07d12a84_2_112"/>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173" name="Google Shape;173;h2dfb90ae07d12a84_2_112"/>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174" name="Google Shape;174;h2dfb90ae07d12a84_2_112"/>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1. BACKGROUND &amp; RESEARCH GAP</a:t>
            </a:r>
            <a:endParaRPr b="0" i="0" sz="1500" u="none" cap="none" strike="noStrike">
              <a:solidFill>
                <a:schemeClr val="dk1"/>
              </a:solidFill>
              <a:latin typeface="Helvetica Neue"/>
              <a:ea typeface="Helvetica Neue"/>
              <a:cs typeface="Helvetica Neue"/>
              <a:sym typeface="Helvetica Neue"/>
            </a:endParaRPr>
          </a:p>
        </p:txBody>
      </p:sp>
      <p:sp>
        <p:nvSpPr>
          <p:cNvPr id="175" name="Google Shape;175;h2dfb90ae07d12a84_2_112"/>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Two documented failure modes — not yet reconciled</a:t>
            </a:r>
            <a:endParaRPr b="0" i="0" sz="2000" u="none" cap="none" strike="noStrike">
              <a:solidFill>
                <a:schemeClr val="dk1"/>
              </a:solidFill>
              <a:latin typeface="Helvetica Neue"/>
              <a:ea typeface="Helvetica Neue"/>
              <a:cs typeface="Helvetica Neue"/>
              <a:sym typeface="Helvetica Neue"/>
            </a:endParaRPr>
          </a:p>
        </p:txBody>
      </p:sp>
      <p:sp>
        <p:nvSpPr>
          <p:cNvPr id="176" name="Google Shape;176;h2dfb90ae07d12a84_2_112"/>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177" name="Google Shape;177;h2dfb90ae07d12a84_2_112"/>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05</a:t>
            </a:r>
            <a:endParaRPr b="0" i="0" sz="1000" u="none" cap="none" strike="noStrike">
              <a:solidFill>
                <a:schemeClr val="dk1"/>
              </a:solidFill>
              <a:latin typeface="Helvetica Neue"/>
              <a:ea typeface="Helvetica Neue"/>
              <a:cs typeface="Helvetica Neue"/>
              <a:sym typeface="Helvetica Neue"/>
            </a:endParaRPr>
          </a:p>
        </p:txBody>
      </p:sp>
      <p:sp>
        <p:nvSpPr>
          <p:cNvPr id="178" name="Google Shape;178;h2dfb90ae07d12a84_2_112"/>
          <p:cNvSpPr/>
          <p:nvPr/>
        </p:nvSpPr>
        <p:spPr>
          <a:xfrm>
            <a:off x="413338" y="1690000"/>
            <a:ext cx="11155800" cy="24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80"/>
              <a:buFont typeface="Arial"/>
              <a:buNone/>
            </a:pPr>
            <a:r>
              <a:rPr b="0" i="0" lang="en-US" sz="1480" u="none" cap="none" strike="noStrike">
                <a:solidFill>
                  <a:srgbClr val="D6D6D6"/>
                </a:solidFill>
                <a:latin typeface="Helvetica Neue"/>
                <a:ea typeface="Helvetica Neue"/>
                <a:cs typeface="Helvetica Neue"/>
                <a:sym typeface="Helvetica Neue"/>
              </a:rPr>
              <a:t>Overthinking can also arise from two distinct compute-allocation failures: the model may either spend unnecessary compute on easy problems, or allocate compute inefficiently across different domains.</a:t>
            </a:r>
            <a:endParaRPr sz="1500"/>
          </a:p>
          <a:p>
            <a:pPr indent="0" lvl="0" marL="0" marR="0" rtl="0" algn="l">
              <a:lnSpc>
                <a:spcPct val="100000"/>
              </a:lnSpc>
              <a:spcBef>
                <a:spcPts val="165"/>
              </a:spcBef>
              <a:spcAft>
                <a:spcPts val="0"/>
              </a:spcAft>
              <a:buClr>
                <a:srgbClr val="000000"/>
              </a:buClr>
              <a:buSzPts val="1438"/>
              <a:buFont typeface="Arial"/>
              <a:buNone/>
            </a:pPr>
            <a:r>
              <a:t/>
            </a:r>
            <a:endParaRPr b="1" sz="1538">
              <a:solidFill>
                <a:srgbClr val="FF7900"/>
              </a:solidFill>
              <a:latin typeface="Helvetica Neue"/>
              <a:ea typeface="Helvetica Neue"/>
              <a:cs typeface="Helvetica Neue"/>
              <a:sym typeface="Helvetica Neue"/>
            </a:endParaRPr>
          </a:p>
          <a:p>
            <a:pPr indent="0" lvl="0" marL="0" marR="0" rtl="0" algn="l">
              <a:lnSpc>
                <a:spcPct val="100000"/>
              </a:lnSpc>
              <a:spcBef>
                <a:spcPts val="165"/>
              </a:spcBef>
              <a:spcAft>
                <a:spcPts val="0"/>
              </a:spcAft>
              <a:buClr>
                <a:srgbClr val="000000"/>
              </a:buClr>
              <a:buSzPts val="1438"/>
              <a:buFont typeface="Arial"/>
              <a:buNone/>
            </a:pPr>
            <a:r>
              <a:rPr b="1" i="0" lang="en-US" sz="1538" u="none" cap="none" strike="noStrike">
                <a:solidFill>
                  <a:srgbClr val="FF7900"/>
                </a:solidFill>
                <a:latin typeface="Helvetica Neue"/>
                <a:ea typeface="Helvetica Neue"/>
                <a:cs typeface="Helvetica Neue"/>
                <a:sym typeface="Helvetica Neue"/>
              </a:rPr>
              <a:t>Unnecessary Compute</a:t>
            </a:r>
            <a:endParaRPr sz="1500"/>
          </a:p>
          <a:p>
            <a:pPr indent="-228600" lvl="0" marL="6858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Evidence: </a:t>
            </a:r>
            <a:r>
              <a:rPr b="0" i="0" lang="en-US" sz="1480" u="none" cap="none" strike="noStrike">
                <a:solidFill>
                  <a:srgbClr val="D6D6D6"/>
                </a:solidFill>
                <a:latin typeface="Helvetica Neue"/>
                <a:ea typeface="Helvetica Neue"/>
                <a:cs typeface="Helvetica Neue"/>
                <a:sym typeface="Helvetica Neue"/>
              </a:rPr>
              <a:t>DiffAdapt finds a U-shaped entropy–difficulty relationship: entropy is high on easy problems despite high accuracy, drops by 22–25% at medium difficulty, then rises again on hard problems. This suggests that easy-problem entropy reflects wasted exploration rather than genuine uncertainty.</a:t>
            </a:r>
            <a:endParaRPr sz="1500"/>
          </a:p>
          <a:p>
            <a:pPr indent="-228600" lvl="0" marL="6858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Research direction: </a:t>
            </a:r>
            <a:r>
              <a:rPr b="0" i="0" lang="en-US" sz="1480" u="none" cap="none" strike="noStrike">
                <a:solidFill>
                  <a:srgbClr val="D6D6D6"/>
                </a:solidFill>
                <a:latin typeface="Helvetica Neue"/>
                <a:ea typeface="Helvetica Neue"/>
                <a:cs typeface="Helvetica Neue"/>
                <a:sym typeface="Helvetica Neue"/>
              </a:rPr>
              <a:t>identify easy queries and allocate less compute instead of applying a fixed budget.</a:t>
            </a:r>
            <a:endParaRPr b="1" sz="1538">
              <a:solidFill>
                <a:srgbClr val="FF7900"/>
              </a:solidFill>
              <a:latin typeface="Helvetica Neue"/>
              <a:ea typeface="Helvetica Neue"/>
              <a:cs typeface="Helvetica Neue"/>
              <a:sym typeface="Helvetica Neue"/>
            </a:endParaRPr>
          </a:p>
          <a:p>
            <a:pPr indent="0" lvl="0" marL="0" marR="0" rtl="0" algn="l">
              <a:lnSpc>
                <a:spcPct val="100000"/>
              </a:lnSpc>
              <a:spcBef>
                <a:spcPts val="275"/>
              </a:spcBef>
              <a:spcAft>
                <a:spcPts val="0"/>
              </a:spcAft>
              <a:buClr>
                <a:srgbClr val="000000"/>
              </a:buClr>
              <a:buSzPts val="1438"/>
              <a:buFont typeface="Arial"/>
              <a:buNone/>
            </a:pPr>
            <a:r>
              <a:rPr b="1" i="0" lang="en-US" sz="1538" u="none" cap="none" strike="noStrike">
                <a:solidFill>
                  <a:srgbClr val="FF7900"/>
                </a:solidFill>
                <a:latin typeface="Helvetica Neue"/>
                <a:ea typeface="Helvetica Neue"/>
                <a:cs typeface="Helvetica Neue"/>
                <a:sym typeface="Helvetica Neue"/>
              </a:rPr>
              <a:t>Domain-Mismatched Compute</a:t>
            </a:r>
            <a:endParaRPr sz="1500"/>
          </a:p>
          <a:p>
            <a:pPr indent="-228600" lvl="0" marL="6858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Evidence: </a:t>
            </a:r>
            <a:r>
              <a:rPr b="0" i="0" lang="en-US" sz="1480" u="none" cap="none" strike="noStrike">
                <a:solidFill>
                  <a:srgbClr val="D6D6D6"/>
                </a:solidFill>
                <a:latin typeface="Helvetica Neue"/>
                <a:ea typeface="Helvetica Neue"/>
                <a:cs typeface="Helvetica Neue"/>
                <a:sym typeface="Helvetica Neue"/>
              </a:rPr>
              <a:t>Yang et al. show that increasing CoT length has domain-dependent returns: it helps some problem sets but can harm others, and the optimal length distribution differs by domain rather than depending only on difficulty.</a:t>
            </a:r>
            <a:endParaRPr sz="1500"/>
          </a:p>
          <a:p>
            <a:pPr indent="-228600" lvl="0" marL="6858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Research direction: </a:t>
            </a:r>
            <a:r>
              <a:rPr b="0" i="0" lang="en-US" sz="1480" u="none" cap="none" strike="noStrike">
                <a:solidFill>
                  <a:srgbClr val="D6D6D6"/>
                </a:solidFill>
                <a:latin typeface="Helvetica Neue"/>
                <a:ea typeface="Helvetica Neue"/>
                <a:cs typeface="Helvetica Neue"/>
                <a:sym typeface="Helvetica Neue"/>
              </a:rPr>
              <a:t>refine the allocation signal to account for domain-specific reasoning behavior rather than relying solely on a difficulty-based estimate.</a:t>
            </a:r>
            <a:endParaRPr sz="1500"/>
          </a:p>
        </p:txBody>
      </p:sp>
      <p:sp>
        <p:nvSpPr>
          <p:cNvPr id="179" name="Google Shape;179;h2dfb90ae07d12a84_2_112"/>
          <p:cNvSpPr/>
          <p:nvPr/>
        </p:nvSpPr>
        <p:spPr>
          <a:xfrm>
            <a:off x="567000" y="5113900"/>
            <a:ext cx="11058000" cy="1177200"/>
          </a:xfrm>
          <a:prstGeom prst="roundRect">
            <a:avLst>
              <a:gd fmla="val 8333" name="adj"/>
            </a:avLst>
          </a:prstGeom>
          <a:solidFill>
            <a:srgbClr val="1F1409"/>
          </a:solidFill>
          <a:ln cap="flat" cmpd="sng" w="12700">
            <a:solidFill>
              <a:srgbClr val="FF79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h2dfb90ae07d12a84_2_112"/>
          <p:cNvSpPr/>
          <p:nvPr/>
        </p:nvSpPr>
        <p:spPr>
          <a:xfrm>
            <a:off x="653832" y="5226164"/>
            <a:ext cx="10854000" cy="1032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380"/>
              <a:buFont typeface="Arial"/>
              <a:buNone/>
            </a:pPr>
            <a:r>
              <a:rPr b="1" i="0" lang="en-US" sz="1380" u="none" cap="none" strike="noStrike">
                <a:solidFill>
                  <a:srgbClr val="FF7900"/>
                </a:solidFill>
                <a:latin typeface="Helvetica Neue"/>
                <a:ea typeface="Helvetica Neue"/>
                <a:cs typeface="Helvetica Neue"/>
                <a:sym typeface="Helvetica Neue"/>
              </a:rPr>
              <a:t>Open question: </a:t>
            </a:r>
            <a:r>
              <a:rPr b="0" i="0" lang="en-US" sz="1380" u="none" cap="none" strike="noStrike">
                <a:solidFill>
                  <a:srgbClr val="D6D6D6"/>
                </a:solidFill>
                <a:latin typeface="Helvetica Neue"/>
                <a:ea typeface="Helvetica Neue"/>
                <a:cs typeface="Helvetica Neue"/>
                <a:sym typeface="Helvetica Neue"/>
              </a:rPr>
              <a:t>the literature does not disagree on whether overthinking exists — DiffAdapt, TOPS, and Sui et al. all document it. What is unresolved is whether it is a true inverted-U (net accuracy loss) or pure saturation (flat accuracy, wasted compute only), and whether this differs by task type. This proposal treats net accuracy loss from overthinking as an open empirical question, verified per model/benchmark rather than assumed.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4" name="Shape 184"/>
        <p:cNvGrpSpPr/>
        <p:nvPr/>
      </p:nvGrpSpPr>
      <p:grpSpPr>
        <a:xfrm>
          <a:off x="0" y="0"/>
          <a:ext cx="0" cy="0"/>
          <a:chOff x="0" y="0"/>
          <a:chExt cx="0" cy="0"/>
        </a:xfrm>
      </p:grpSpPr>
      <p:sp>
        <p:nvSpPr>
          <p:cNvPr id="185" name="Google Shape;185;h2dfb90ae07d12a84_2_125"/>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86" name="Google Shape;186;h2dfb90ae07d12a84_2_125"/>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187" name="Google Shape;187;h2dfb90ae07d12a84_2_125"/>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188" name="Google Shape;188;h2dfb90ae07d12a84_2_125"/>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2. CURRENT SOLUTIONS</a:t>
            </a:r>
            <a:endParaRPr b="0" i="0" sz="1500" u="none" cap="none" strike="noStrike">
              <a:solidFill>
                <a:schemeClr val="dk1"/>
              </a:solidFill>
              <a:latin typeface="Helvetica Neue"/>
              <a:ea typeface="Helvetica Neue"/>
              <a:cs typeface="Helvetica Neue"/>
              <a:sym typeface="Helvetica Neue"/>
            </a:endParaRPr>
          </a:p>
        </p:txBody>
      </p:sp>
      <p:sp>
        <p:nvSpPr>
          <p:cNvPr id="189" name="Google Shape;189;h2dfb90ae07d12a84_2_125"/>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2.1 Reactive — Confidence/Entropy Early Exit (DEER)</a:t>
            </a:r>
            <a:endParaRPr b="0" i="0" sz="2000" u="none" cap="none" strike="noStrike">
              <a:solidFill>
                <a:schemeClr val="dk1"/>
              </a:solidFill>
              <a:latin typeface="Helvetica Neue"/>
              <a:ea typeface="Helvetica Neue"/>
              <a:cs typeface="Helvetica Neue"/>
              <a:sym typeface="Helvetica Neue"/>
            </a:endParaRPr>
          </a:p>
        </p:txBody>
      </p:sp>
      <p:sp>
        <p:nvSpPr>
          <p:cNvPr id="190" name="Google Shape;190;h2dfb90ae07d12a84_2_125"/>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191" name="Google Shape;191;h2dfb90ae07d12a84_2_125"/>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06</a:t>
            </a:r>
            <a:endParaRPr b="0" i="0" sz="1000" u="none" cap="none" strike="noStrike">
              <a:solidFill>
                <a:schemeClr val="dk1"/>
              </a:solidFill>
              <a:latin typeface="Helvetica Neue"/>
              <a:ea typeface="Helvetica Neue"/>
              <a:cs typeface="Helvetica Neue"/>
              <a:sym typeface="Helvetica Neue"/>
            </a:endParaRPr>
          </a:p>
        </p:txBody>
      </p:sp>
      <p:sp>
        <p:nvSpPr>
          <p:cNvPr id="192" name="Google Shape;192;h2dfb90ae07d12a84_2_125"/>
          <p:cNvSpPr/>
          <p:nvPr/>
        </p:nvSpPr>
        <p:spPr>
          <a:xfrm>
            <a:off x="328633" y="1819943"/>
            <a:ext cx="11627400" cy="3871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38"/>
              <a:buFont typeface="Arial"/>
              <a:buNone/>
            </a:pPr>
            <a:r>
              <a:rPr b="1" i="0" lang="en-US" sz="1538" u="none" cap="none" strike="noStrike">
                <a:solidFill>
                  <a:srgbClr val="FF7900"/>
                </a:solidFill>
                <a:latin typeface="Helvetica Neue"/>
                <a:ea typeface="Helvetica Neue"/>
                <a:cs typeface="Helvetica Neue"/>
                <a:sym typeface="Helvetica Neue"/>
              </a:rPr>
              <a:t>2.1 REACTIVE METHODS (decide during generation)</a:t>
            </a:r>
            <a:endParaRPr sz="1500"/>
          </a:p>
          <a:p>
            <a:pPr indent="0" lvl="0" marL="0" marR="0" rtl="0" algn="l">
              <a:lnSpc>
                <a:spcPct val="100000"/>
              </a:lnSpc>
              <a:spcBef>
                <a:spcPts val="0"/>
              </a:spcBef>
              <a:spcAft>
                <a:spcPts val="0"/>
              </a:spcAft>
              <a:buClr>
                <a:srgbClr val="000000"/>
              </a:buClr>
              <a:buSzPts val="1380"/>
              <a:buFont typeface="Arial"/>
              <a:buNone/>
            </a:pPr>
            <a:r>
              <a:rPr b="0" i="0" lang="en-US" sz="1480" u="none" cap="none" strike="noStrike">
                <a:solidFill>
                  <a:srgbClr val="FFFFFF"/>
                </a:solidFill>
                <a:latin typeface="Helvetica Neue"/>
                <a:ea typeface="Helvetica Neue"/>
                <a:cs typeface="Helvetica Neue"/>
                <a:sym typeface="Helvetica Neue"/>
              </a:rPr>
              <a:t>Confidence / Entropy-Based Early Exit. </a:t>
            </a:r>
            <a:endParaRPr b="0" i="0" sz="1480" u="none" cap="none" strike="noStrike">
              <a:solidFill>
                <a:srgbClr val="FFFFFF"/>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380"/>
              <a:buFont typeface="Arial"/>
              <a:buNone/>
            </a:pPr>
            <a:r>
              <a:rPr b="0" i="0" lang="en-US" sz="1480" u="none" cap="none" strike="noStrike">
                <a:solidFill>
                  <a:srgbClr val="FFFFFF"/>
                </a:solidFill>
                <a:latin typeface="Helvetica Neue"/>
                <a:ea typeface="Helvetica Neue"/>
                <a:cs typeface="Helvetica Neue"/>
                <a:sym typeface="Helvetica Neue"/>
              </a:rPr>
              <a:t>(Yang et al., “Dynamic Early Exit in Reasoning Models,” 2025 — DEER; general confidence/entropy early-exit class)</a:t>
            </a:r>
            <a:endParaRPr sz="1500"/>
          </a:p>
          <a:p>
            <a:pPr indent="0" lvl="0" marL="4572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Mechanism: </a:t>
            </a:r>
            <a:r>
              <a:rPr b="0" i="0" lang="en-US" sz="1480" u="none" cap="none" strike="noStrike">
                <a:solidFill>
                  <a:srgbClr val="D6D6D6"/>
                </a:solidFill>
                <a:latin typeface="Helvetica Neue"/>
                <a:ea typeface="Helvetica Neue"/>
                <a:cs typeface="Helvetica Neue"/>
                <a:sym typeface="Helvetica Neue"/>
              </a:rPr>
              <a:t>monitor a per-step scalar token entropy as a signal, self-consistency across sampled continuations, or logit-derived confidence — and stop once it crosses a threshold. DEER specifically detects “reasoning transition points” (e.g., the token “Wait”), injects a forced trial-answer prompt at that point, and reads the model’s confidence in that trial answer; if confidence is high, it stops, otherwise it discards the trial and continues.</a:t>
            </a:r>
            <a:endParaRPr sz="1500"/>
          </a:p>
          <a:p>
            <a:pPr indent="0" lvl="0" marL="4572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Reported results: </a:t>
            </a:r>
            <a:r>
              <a:rPr b="0" i="0" lang="en-US" sz="1480" u="none" cap="none" strike="noStrike">
                <a:solidFill>
                  <a:srgbClr val="D6D6D6"/>
                </a:solidFill>
                <a:latin typeface="Helvetica Neue"/>
                <a:ea typeface="Helvetica Neue"/>
                <a:cs typeface="Helvetica Neue"/>
                <a:sym typeface="Helvetica Neue"/>
              </a:rPr>
              <a:t>DEER achieves 19–80% CoT length reduction with +0.3–5.0% accuracy across 11 models and 10 benchmarks.</a:t>
            </a:r>
            <a:endParaRPr b="1" sz="1538">
              <a:solidFill>
                <a:srgbClr val="FF7900"/>
              </a:solidFill>
              <a:latin typeface="Helvetica Neue"/>
              <a:ea typeface="Helvetica Neue"/>
              <a:cs typeface="Helvetica Neue"/>
              <a:sym typeface="Helvetica Neue"/>
            </a:endParaRPr>
          </a:p>
          <a:p>
            <a:pPr indent="-234950" lvl="0" marL="685800" marR="0" rtl="0" algn="l">
              <a:lnSpc>
                <a:spcPct val="100000"/>
              </a:lnSpc>
              <a:spcBef>
                <a:spcPts val="220"/>
              </a:spcBef>
              <a:spcAft>
                <a:spcPts val="0"/>
              </a:spcAft>
              <a:buClr>
                <a:srgbClr val="FF7900"/>
              </a:buClr>
              <a:buSzPts val="1350"/>
              <a:buFont typeface="Arial"/>
              <a:buChar char="■"/>
            </a:pPr>
            <a:r>
              <a:rPr b="1" i="0" lang="en-US" sz="1538" u="none" cap="none" strike="noStrike">
                <a:solidFill>
                  <a:srgbClr val="FF7900"/>
                </a:solidFill>
                <a:latin typeface="Helvetica Neue"/>
                <a:ea typeface="Helvetica Neue"/>
                <a:cs typeface="Helvetica Neue"/>
                <a:sym typeface="Helvetica Neue"/>
              </a:rPr>
              <a:t>Limitations: </a:t>
            </a:r>
            <a:endParaRPr sz="1500"/>
          </a:p>
          <a:p>
            <a:pPr indent="-184150" lvl="1" marL="812800" marR="0" rtl="0" algn="l">
              <a:lnSpc>
                <a:spcPct val="100000"/>
              </a:lnSpc>
              <a:spcBef>
                <a:spcPts val="138"/>
              </a:spcBef>
              <a:spcAft>
                <a:spcPts val="0"/>
              </a:spcAft>
              <a:buClr>
                <a:srgbClr val="D6D6D6"/>
              </a:buClr>
              <a:buSzPts val="1300"/>
              <a:buFont typeface="Helvetica Neue"/>
              <a:buChar char="–"/>
            </a:pPr>
            <a:r>
              <a:rPr b="0" i="0" lang="en-US" sz="1480" u="none" cap="none" strike="noStrike">
                <a:solidFill>
                  <a:srgbClr val="D6D6D6"/>
                </a:solidFill>
                <a:latin typeface="Helvetica Neue"/>
                <a:ea typeface="Helvetica Neue"/>
                <a:cs typeface="Helvetica Neue"/>
                <a:sym typeface="Helvetica Neue"/>
              </a:rPr>
              <a:t>False positives: the signal can be misleading — a model may be highly confident while still being wrong, especially after RLHF/RLVR where confidence and correctness can become decoupled.</a:t>
            </a:r>
            <a:endParaRPr sz="1500"/>
          </a:p>
          <a:p>
            <a:pPr indent="-184150" lvl="1" marL="812800" marR="0" rtl="0" algn="l">
              <a:lnSpc>
                <a:spcPct val="100000"/>
              </a:lnSpc>
              <a:spcBef>
                <a:spcPts val="138"/>
              </a:spcBef>
              <a:spcAft>
                <a:spcPts val="0"/>
              </a:spcAft>
              <a:buClr>
                <a:srgbClr val="D6D6D6"/>
              </a:buClr>
              <a:buSzPts val="1300"/>
              <a:buFont typeface="Helvetica Neue"/>
              <a:buChar char="–"/>
            </a:pPr>
            <a:r>
              <a:rPr b="0" i="0" lang="en-US" sz="1480" u="none" cap="none" strike="noStrike">
                <a:solidFill>
                  <a:srgbClr val="D6D6D6"/>
                </a:solidFill>
                <a:latin typeface="Helvetica Neue"/>
                <a:ea typeface="Helvetica Neue"/>
                <a:cs typeface="Helvetica Neue"/>
                <a:sym typeface="Helvetica Neue"/>
              </a:rPr>
              <a:t>Poor transferability: thresholds are typically hand-tuned for each model and temperature, limiting their ability to generalize across settings.</a:t>
            </a:r>
            <a:endParaRPr sz="1500"/>
          </a:p>
          <a:p>
            <a:pPr indent="-184150" lvl="1" marL="812800" marR="0" rtl="0" algn="l">
              <a:lnSpc>
                <a:spcPct val="100000"/>
              </a:lnSpc>
              <a:spcBef>
                <a:spcPts val="138"/>
              </a:spcBef>
              <a:spcAft>
                <a:spcPts val="0"/>
              </a:spcAft>
              <a:buClr>
                <a:srgbClr val="D6D6D6"/>
              </a:buClr>
              <a:buSzPts val="1300"/>
              <a:buFont typeface="Helvetica Neue"/>
              <a:buChar char="–"/>
            </a:pPr>
            <a:r>
              <a:rPr b="0" i="0" lang="en-US" sz="1480" u="none" cap="none" strike="noStrike">
                <a:solidFill>
                  <a:srgbClr val="D6D6D6"/>
                </a:solidFill>
                <a:latin typeface="Helvetica Neue"/>
                <a:ea typeface="Helvetica Neue"/>
                <a:cs typeface="Helvetica Neue"/>
                <a:sym typeface="Helvetica Neue"/>
              </a:rPr>
              <a:t>Blind spot: DEER only stops when confidence is high; it cannot identify queries that remain uncertain and are likely to be wrong.</a:t>
            </a:r>
            <a:endParaRPr sz="1500"/>
          </a:p>
        </p:txBody>
      </p:sp>
      <p:pic>
        <p:nvPicPr>
          <p:cNvPr id="193" name="Google Shape;193;h2dfb90ae07d12a84_2_125">
            <a:hlinkClick r:id="rId3"/>
          </p:cNvPr>
          <p:cNvPicPr preferRelativeResize="0"/>
          <p:nvPr/>
        </p:nvPicPr>
        <p:blipFill>
          <a:blip r:embed="rId4">
            <a:alphaModFix/>
          </a:blip>
          <a:stretch>
            <a:fillRect/>
          </a:stretch>
        </p:blipFill>
        <p:spPr>
          <a:xfrm>
            <a:off x="7089975" y="176500"/>
            <a:ext cx="4280050" cy="2040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7" name="Shape 197"/>
        <p:cNvGrpSpPr/>
        <p:nvPr/>
      </p:nvGrpSpPr>
      <p:grpSpPr>
        <a:xfrm>
          <a:off x="0" y="0"/>
          <a:ext cx="0" cy="0"/>
          <a:chOff x="0" y="0"/>
          <a:chExt cx="0" cy="0"/>
        </a:xfrm>
      </p:grpSpPr>
      <p:sp>
        <p:nvSpPr>
          <p:cNvPr id="198" name="Google Shape;198;h2dfb90ae07d12a84_2_136"/>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199" name="Google Shape;199;h2dfb90ae07d12a84_2_136"/>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200" name="Google Shape;200;h2dfb90ae07d12a84_2_136"/>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201" name="Google Shape;201;h2dfb90ae07d12a84_2_136"/>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2. CURRENT SOLUTIONS</a:t>
            </a:r>
            <a:endParaRPr b="0" i="0" sz="1500" u="none" cap="none" strike="noStrike">
              <a:solidFill>
                <a:schemeClr val="dk1"/>
              </a:solidFill>
              <a:latin typeface="Helvetica Neue"/>
              <a:ea typeface="Helvetica Neue"/>
              <a:cs typeface="Helvetica Neue"/>
              <a:sym typeface="Helvetica Neue"/>
            </a:endParaRPr>
          </a:p>
        </p:txBody>
      </p:sp>
      <p:sp>
        <p:nvSpPr>
          <p:cNvPr id="202" name="Google Shape;202;h2dfb90ae07d12a84_2_136"/>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2.1 Reactive — Conformal / Risk-Controlled Stopping</a:t>
            </a:r>
            <a:endParaRPr b="0" i="0" sz="2000" u="none" cap="none" strike="noStrike">
              <a:solidFill>
                <a:schemeClr val="dk1"/>
              </a:solidFill>
              <a:latin typeface="Helvetica Neue"/>
              <a:ea typeface="Helvetica Neue"/>
              <a:cs typeface="Helvetica Neue"/>
              <a:sym typeface="Helvetica Neue"/>
            </a:endParaRPr>
          </a:p>
        </p:txBody>
      </p:sp>
      <p:sp>
        <p:nvSpPr>
          <p:cNvPr id="203" name="Google Shape;203;h2dfb90ae07d12a84_2_136"/>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204" name="Google Shape;204;h2dfb90ae07d12a84_2_136"/>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07</a:t>
            </a:r>
            <a:endParaRPr b="0" i="0" sz="1000" u="none" cap="none" strike="noStrike">
              <a:solidFill>
                <a:schemeClr val="dk1"/>
              </a:solidFill>
              <a:latin typeface="Helvetica Neue"/>
              <a:ea typeface="Helvetica Neue"/>
              <a:cs typeface="Helvetica Neue"/>
              <a:sym typeface="Helvetica Neue"/>
            </a:endParaRPr>
          </a:p>
        </p:txBody>
      </p:sp>
      <p:sp>
        <p:nvSpPr>
          <p:cNvPr id="205" name="Google Shape;205;h2dfb90ae07d12a84_2_136"/>
          <p:cNvSpPr/>
          <p:nvPr/>
        </p:nvSpPr>
        <p:spPr>
          <a:xfrm>
            <a:off x="383468" y="1809451"/>
            <a:ext cx="11155800" cy="3652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38"/>
              <a:buFont typeface="Arial"/>
              <a:buNone/>
            </a:pPr>
            <a:r>
              <a:rPr b="1" i="0" lang="en-US" sz="1438" u="none" cap="none" strike="noStrike">
                <a:solidFill>
                  <a:srgbClr val="FF7900"/>
                </a:solidFill>
                <a:latin typeface="Helvetica Neue"/>
                <a:ea typeface="Helvetica Neue"/>
                <a:cs typeface="Helvetica Neue"/>
                <a:sym typeface="Helvetica Neue"/>
              </a:rPr>
              <a:t>2.1 REACTIVE METHODS (decide during generation)</a:t>
            </a:r>
            <a:endParaRPr/>
          </a:p>
          <a:p>
            <a:pPr indent="0" lvl="0" marL="0" marR="0" rtl="0" algn="l">
              <a:lnSpc>
                <a:spcPct val="100000"/>
              </a:lnSpc>
              <a:spcBef>
                <a:spcPts val="0"/>
              </a:spcBef>
              <a:spcAft>
                <a:spcPts val="0"/>
              </a:spcAft>
              <a:buClr>
                <a:srgbClr val="000000"/>
              </a:buClr>
              <a:buSzPts val="1380"/>
              <a:buFont typeface="Arial"/>
              <a:buNone/>
            </a:pPr>
            <a:r>
              <a:rPr b="0" i="0" lang="en-US" sz="1380" u="none" cap="none" strike="noStrike">
                <a:solidFill>
                  <a:srgbClr val="FFFFFF"/>
                </a:solidFill>
                <a:latin typeface="Helvetica Neue"/>
                <a:ea typeface="Helvetica Neue"/>
                <a:cs typeface="Helvetica Neue"/>
                <a:sym typeface="Helvetica Neue"/>
              </a:rPr>
              <a:t>Conformal / Risk-Controlled Stopping. (Conformal Thinking, Apple, 2026; Thought Calibration, 2025)</a:t>
            </a:r>
            <a:endParaRPr/>
          </a:p>
          <a:p>
            <a:pPr indent="0" lvl="0" marL="457200" marR="0" rtl="0" algn="l">
              <a:lnSpc>
                <a:spcPct val="100000"/>
              </a:lnSpc>
              <a:spcBef>
                <a:spcPts val="220"/>
              </a:spcBef>
              <a:spcAft>
                <a:spcPts val="0"/>
              </a:spcAft>
              <a:buNone/>
            </a:pPr>
            <a:r>
              <a:t/>
            </a:r>
            <a:endParaRPr b="1" sz="14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438" u="none" cap="none" strike="noStrike">
                <a:solidFill>
                  <a:srgbClr val="FF7900"/>
                </a:solidFill>
                <a:latin typeface="Helvetica Neue"/>
                <a:ea typeface="Helvetica Neue"/>
                <a:cs typeface="Helvetica Neue"/>
                <a:sym typeface="Helvetica Neue"/>
              </a:rPr>
              <a:t>Mechanism: </a:t>
            </a:r>
            <a:r>
              <a:rPr b="0" i="0" lang="en-US" sz="1380" u="none" cap="none" strike="noStrike">
                <a:solidFill>
                  <a:srgbClr val="D6D6D6"/>
                </a:solidFill>
                <a:latin typeface="Helvetica Neue"/>
                <a:ea typeface="Helvetica Neue"/>
                <a:cs typeface="Helvetica Neue"/>
                <a:sym typeface="Helvetica Neue"/>
              </a:rPr>
              <a:t>reframe budget-setting as distribution-free risk control (Learn-Then-Test): given a target error rate α and a calibration set, derive a stopping threshold with a finite-sample statistical guarantee that stopping error stays below α. Conformal Thinking adds a second, lower threshold that pre-emptively halts instances flagged as likely-unsolvable, directly addressing the blind spot in confidence-only early exit.</a:t>
            </a:r>
            <a:endParaRPr/>
          </a:p>
          <a:p>
            <a:pPr indent="0" lvl="0" marL="457200" marR="0" rtl="0" algn="l">
              <a:lnSpc>
                <a:spcPct val="100000"/>
              </a:lnSpc>
              <a:spcBef>
                <a:spcPts val="220"/>
              </a:spcBef>
              <a:spcAft>
                <a:spcPts val="0"/>
              </a:spcAft>
              <a:buNone/>
            </a:pPr>
            <a:r>
              <a:t/>
            </a:r>
            <a:endParaRPr b="1" sz="14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438" u="none" cap="none" strike="noStrike">
                <a:solidFill>
                  <a:srgbClr val="FF7900"/>
                </a:solidFill>
                <a:latin typeface="Helvetica Neue"/>
                <a:ea typeface="Helvetica Neue"/>
                <a:cs typeface="Helvetica Neue"/>
                <a:sym typeface="Helvetica Neue"/>
              </a:rPr>
              <a:t>Limitations: </a:t>
            </a:r>
            <a:endParaRPr/>
          </a:p>
          <a:p>
            <a:pPr indent="-177800" lvl="1" marL="812800" marR="0" rtl="0" algn="l">
              <a:lnSpc>
                <a:spcPct val="100000"/>
              </a:lnSpc>
              <a:spcBef>
                <a:spcPts val="138"/>
              </a:spcBef>
              <a:spcAft>
                <a:spcPts val="0"/>
              </a:spcAft>
              <a:buClr>
                <a:srgbClr val="D6D6D6"/>
              </a:buClr>
              <a:buSzPts val="1200"/>
              <a:buFont typeface="Helvetica Neue"/>
              <a:buChar char="–"/>
            </a:pPr>
            <a:r>
              <a:rPr b="0" i="0" lang="en-US" sz="1380" u="none" cap="none" strike="noStrike">
                <a:solidFill>
                  <a:srgbClr val="D6D6D6"/>
                </a:solidFill>
                <a:latin typeface="Helvetica Neue"/>
                <a:ea typeface="Helvetica Neue"/>
                <a:cs typeface="Helvetica Neue"/>
                <a:sym typeface="Helvetica Neue"/>
              </a:rPr>
              <a:t>Calibration required: requires a held-out calibration set for each model/task pair.</a:t>
            </a:r>
            <a:endParaRPr/>
          </a:p>
          <a:p>
            <a:pPr indent="-177800" lvl="1" marL="812800" marR="0" rtl="0" algn="l">
              <a:lnSpc>
                <a:spcPct val="100000"/>
              </a:lnSpc>
              <a:spcBef>
                <a:spcPts val="138"/>
              </a:spcBef>
              <a:spcAft>
                <a:spcPts val="0"/>
              </a:spcAft>
              <a:buClr>
                <a:srgbClr val="D6D6D6"/>
              </a:buClr>
              <a:buSzPts val="1200"/>
              <a:buFont typeface="Helvetica Neue"/>
              <a:buChar char="–"/>
            </a:pPr>
            <a:r>
              <a:rPr b="0" i="0" lang="en-US" sz="1380" u="none" cap="none" strike="noStrike">
                <a:solidFill>
                  <a:srgbClr val="D6D6D6"/>
                </a:solidFill>
                <a:latin typeface="Helvetica Neue"/>
                <a:ea typeface="Helvetica Neue"/>
                <a:cs typeface="Helvetica Neue"/>
                <a:sym typeface="Helvetica Neue"/>
              </a:rPr>
              <a:t>Marginal guarantee: the guarantee holds on average over the calibration distribution, not for each individual instance.</a:t>
            </a:r>
            <a:endParaRPr/>
          </a:p>
          <a:p>
            <a:pPr indent="-177800" lvl="1" marL="812800" marR="0" rtl="0" algn="l">
              <a:lnSpc>
                <a:spcPct val="100000"/>
              </a:lnSpc>
              <a:spcBef>
                <a:spcPts val="138"/>
              </a:spcBef>
              <a:spcAft>
                <a:spcPts val="0"/>
              </a:spcAft>
              <a:buClr>
                <a:srgbClr val="D6D6D6"/>
              </a:buClr>
              <a:buSzPts val="1200"/>
              <a:buFont typeface="Helvetica Neue"/>
              <a:buChar char="–"/>
            </a:pPr>
            <a:r>
              <a:rPr b="0" i="0" lang="en-US" sz="1380" u="none" cap="none" strike="noStrike">
                <a:solidFill>
                  <a:srgbClr val="D6D6D6"/>
                </a:solidFill>
                <a:latin typeface="Helvetica Neue"/>
                <a:ea typeface="Helvetica Neue"/>
                <a:cs typeface="Helvetica Neue"/>
                <a:sym typeface="Helvetica Neue"/>
              </a:rPr>
              <a:t>Monotonicity assumption: assumes the risk function is monotonic with respect to the threshold, which is only reliably verifiable in the large-sample regime.</a:t>
            </a:r>
            <a:endParaRPr/>
          </a:p>
          <a:p>
            <a:pPr indent="0" lvl="0" marL="457200" marR="0" rtl="0" algn="l">
              <a:lnSpc>
                <a:spcPct val="100000"/>
              </a:lnSpc>
              <a:spcBef>
                <a:spcPts val="220"/>
              </a:spcBef>
              <a:spcAft>
                <a:spcPts val="0"/>
              </a:spcAft>
              <a:buNone/>
            </a:pPr>
            <a:r>
              <a:t/>
            </a:r>
            <a:endParaRPr b="1" sz="14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438" u="none" cap="none" strike="noStrike">
                <a:solidFill>
                  <a:srgbClr val="FF7900"/>
                </a:solidFill>
                <a:latin typeface="Helvetica Neue"/>
                <a:ea typeface="Helvetica Neue"/>
                <a:cs typeface="Helvetica Neue"/>
                <a:sym typeface="Helvetica Neue"/>
              </a:rPr>
              <a:t>Our use of this method: </a:t>
            </a:r>
            <a:r>
              <a:rPr b="0" i="0" lang="en-US" sz="1380" u="none" cap="none" strike="noStrike">
                <a:solidFill>
                  <a:srgbClr val="D6D6D6"/>
                </a:solidFill>
                <a:latin typeface="Helvetica Neue"/>
                <a:ea typeface="Helvetica Neue"/>
                <a:cs typeface="Helvetica Neue"/>
                <a:sym typeface="Helvetica Neue"/>
              </a:rPr>
              <a:t>it can serve directly as the statistical-validation layer for any adaptive method this proposal produces.</a:t>
            </a:r>
            <a:endParaRPr/>
          </a:p>
        </p:txBody>
      </p:sp>
      <p:pic>
        <p:nvPicPr>
          <p:cNvPr id="206" name="Google Shape;206;h2dfb90ae07d12a84_2_136">
            <a:hlinkClick r:id="rId3"/>
          </p:cNvPr>
          <p:cNvPicPr preferRelativeResize="0"/>
          <p:nvPr/>
        </p:nvPicPr>
        <p:blipFill>
          <a:blip r:embed="rId4">
            <a:alphaModFix/>
          </a:blip>
          <a:stretch>
            <a:fillRect/>
          </a:stretch>
        </p:blipFill>
        <p:spPr>
          <a:xfrm>
            <a:off x="8463253" y="209088"/>
            <a:ext cx="3530125" cy="2243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10" name="Shape 210"/>
        <p:cNvGrpSpPr/>
        <p:nvPr/>
      </p:nvGrpSpPr>
      <p:grpSpPr>
        <a:xfrm>
          <a:off x="0" y="0"/>
          <a:ext cx="0" cy="0"/>
          <a:chOff x="0" y="0"/>
          <a:chExt cx="0" cy="0"/>
        </a:xfrm>
      </p:grpSpPr>
      <p:sp>
        <p:nvSpPr>
          <p:cNvPr id="211" name="Google Shape;211;h2dfb90ae07d12a84_2_147"/>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12" name="Google Shape;212;h2dfb90ae07d12a84_2_147"/>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213" name="Google Shape;213;h2dfb90ae07d12a84_2_147"/>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214" name="Google Shape;214;h2dfb90ae07d12a84_2_147"/>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2. CURRENT SOLUTIONS</a:t>
            </a:r>
            <a:endParaRPr b="0" i="0" sz="1500" u="none" cap="none" strike="noStrike">
              <a:solidFill>
                <a:schemeClr val="dk1"/>
              </a:solidFill>
              <a:latin typeface="Helvetica Neue"/>
              <a:ea typeface="Helvetica Neue"/>
              <a:cs typeface="Helvetica Neue"/>
              <a:sym typeface="Helvetica Neue"/>
            </a:endParaRPr>
          </a:p>
        </p:txBody>
      </p:sp>
      <p:sp>
        <p:nvSpPr>
          <p:cNvPr id="215" name="Google Shape;215;h2dfb90ae07d12a84_2_147"/>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2.2 Predictive — Budget Forcing (s1)</a:t>
            </a:r>
            <a:endParaRPr b="0" i="0" sz="2000" u="none" cap="none" strike="noStrike">
              <a:solidFill>
                <a:schemeClr val="dk1"/>
              </a:solidFill>
              <a:latin typeface="Helvetica Neue"/>
              <a:ea typeface="Helvetica Neue"/>
              <a:cs typeface="Helvetica Neue"/>
              <a:sym typeface="Helvetica Neue"/>
            </a:endParaRPr>
          </a:p>
        </p:txBody>
      </p:sp>
      <p:sp>
        <p:nvSpPr>
          <p:cNvPr id="216" name="Google Shape;216;h2dfb90ae07d12a84_2_147"/>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217" name="Google Shape;217;h2dfb90ae07d12a84_2_147"/>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08</a:t>
            </a:r>
            <a:endParaRPr b="0" i="0" sz="1000" u="none" cap="none" strike="noStrike">
              <a:solidFill>
                <a:schemeClr val="dk1"/>
              </a:solidFill>
              <a:latin typeface="Helvetica Neue"/>
              <a:ea typeface="Helvetica Neue"/>
              <a:cs typeface="Helvetica Neue"/>
              <a:sym typeface="Helvetica Neue"/>
            </a:endParaRPr>
          </a:p>
        </p:txBody>
      </p:sp>
      <p:sp>
        <p:nvSpPr>
          <p:cNvPr id="218" name="Google Shape;218;h2dfb90ae07d12a84_2_147"/>
          <p:cNvSpPr/>
          <p:nvPr/>
        </p:nvSpPr>
        <p:spPr>
          <a:xfrm>
            <a:off x="345304" y="2185193"/>
            <a:ext cx="11155800" cy="462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38"/>
              <a:buFont typeface="Arial"/>
              <a:buNone/>
            </a:pPr>
            <a:r>
              <a:rPr b="1" i="0" lang="en-US" sz="1538" u="none" cap="none" strike="noStrike">
                <a:solidFill>
                  <a:srgbClr val="FF7900"/>
                </a:solidFill>
                <a:latin typeface="Helvetica Neue"/>
                <a:ea typeface="Helvetica Neue"/>
                <a:cs typeface="Helvetica Neue"/>
                <a:sym typeface="Helvetica Neue"/>
              </a:rPr>
              <a:t>2.2 PREDICTIVE METHODS (decide before generation)</a:t>
            </a:r>
            <a:endParaRPr sz="1500"/>
          </a:p>
          <a:p>
            <a:pPr indent="0" lvl="0" marL="0" marR="0" rtl="0" algn="l">
              <a:lnSpc>
                <a:spcPct val="100000"/>
              </a:lnSpc>
              <a:spcBef>
                <a:spcPts val="0"/>
              </a:spcBef>
              <a:spcAft>
                <a:spcPts val="0"/>
              </a:spcAft>
              <a:buClr>
                <a:srgbClr val="000000"/>
              </a:buClr>
              <a:buSzPts val="1380"/>
              <a:buFont typeface="Arial"/>
              <a:buNone/>
            </a:pPr>
            <a:r>
              <a:rPr b="0" i="0" lang="en-US" sz="1480" u="none" cap="none" strike="noStrike">
                <a:solidFill>
                  <a:srgbClr val="FFFFFF"/>
                </a:solidFill>
                <a:latin typeface="Helvetica Neue"/>
                <a:ea typeface="Helvetica Neue"/>
                <a:cs typeface="Helvetica Neue"/>
                <a:sym typeface="Helvetica Neue"/>
              </a:rPr>
              <a:t>Budget Forcing. (Muennighoff et al., “s1: Simple Test-Time Scaling,” EMNLP 2025)</a:t>
            </a:r>
            <a:endParaRPr sz="1500"/>
          </a:p>
          <a:p>
            <a:pPr indent="0" lvl="0" marL="4572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Mechanism: </a:t>
            </a:r>
            <a:r>
              <a:rPr b="0" i="0" lang="en-US" sz="1480" u="none" cap="none" strike="noStrike">
                <a:solidFill>
                  <a:srgbClr val="D6D6D6"/>
                </a:solidFill>
                <a:latin typeface="Helvetica Neue"/>
                <a:ea typeface="Helvetica Neue"/>
                <a:cs typeface="Helvetica Neue"/>
                <a:sym typeface="Helvetica Neue"/>
              </a:rPr>
              <a:t>a fixed, global token cap; if the model tries to stop early, suppress the end-of-thinking token and append “Wait” to force continuation; if it exceeds the cap, force termination.</a:t>
            </a:r>
            <a:endParaRPr sz="1500"/>
          </a:p>
          <a:p>
            <a:pPr indent="0" lvl="0" marL="4572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Limitation: </a:t>
            </a:r>
            <a:r>
              <a:rPr b="0" i="0" lang="en-US" sz="1480" u="none" cap="none" strike="noStrike">
                <a:solidFill>
                  <a:srgbClr val="D6D6D6"/>
                </a:solidFill>
                <a:latin typeface="Helvetica Neue"/>
                <a:ea typeface="Helvetica Neue"/>
                <a:cs typeface="Helvetica Neue"/>
                <a:sym typeface="Helvetica Neue"/>
              </a:rPr>
              <a:t>the cap is a single hand-set number for all inputs — it is control, not adaptation; later work (L1) shows this crude intervention degrades performance relative to a length-conditioned policy.</a:t>
            </a:r>
            <a:endParaRPr sz="1500"/>
          </a:p>
          <a:p>
            <a:pPr indent="0" lvl="0" marL="4572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Our use of this method: </a:t>
            </a:r>
            <a:r>
              <a:rPr b="0" i="0" lang="en-US" sz="1480" u="none" cap="none" strike="noStrike">
                <a:solidFill>
                  <a:srgbClr val="D6D6D6"/>
                </a:solidFill>
                <a:latin typeface="Helvetica Neue"/>
                <a:ea typeface="Helvetica Neue"/>
                <a:cs typeface="Helvetica Neue"/>
                <a:sym typeface="Helvetica Neue"/>
              </a:rPr>
              <a:t>it serves as the right lower-bound ablation baseline — any adaptive method here must beat naive budget forcing at matched average token count.</a:t>
            </a:r>
            <a:endParaRPr sz="1500"/>
          </a:p>
        </p:txBody>
      </p:sp>
      <p:pic>
        <p:nvPicPr>
          <p:cNvPr id="219" name="Google Shape;219;h2dfb90ae07d12a84_2_147">
            <a:hlinkClick r:id="rId3"/>
          </p:cNvPr>
          <p:cNvPicPr preferRelativeResize="0"/>
          <p:nvPr/>
        </p:nvPicPr>
        <p:blipFill>
          <a:blip r:embed="rId4">
            <a:alphaModFix/>
          </a:blip>
          <a:stretch>
            <a:fillRect/>
          </a:stretch>
        </p:blipFill>
        <p:spPr>
          <a:xfrm>
            <a:off x="7205700" y="158950"/>
            <a:ext cx="4060651" cy="23159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23" name="Shape 223"/>
        <p:cNvGrpSpPr/>
        <p:nvPr/>
      </p:nvGrpSpPr>
      <p:grpSpPr>
        <a:xfrm>
          <a:off x="0" y="0"/>
          <a:ext cx="0" cy="0"/>
          <a:chOff x="0" y="0"/>
          <a:chExt cx="0" cy="0"/>
        </a:xfrm>
      </p:grpSpPr>
      <p:sp>
        <p:nvSpPr>
          <p:cNvPr id="224" name="Google Shape;224;h2dfb90ae07d12a84_2_158"/>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25" name="Google Shape;225;h2dfb90ae07d12a84_2_158"/>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226" name="Google Shape;226;h2dfb90ae07d12a84_2_158"/>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227" name="Google Shape;227;h2dfb90ae07d12a84_2_158"/>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2. CURRENT SOLUTIONS</a:t>
            </a:r>
            <a:endParaRPr b="0" i="0" sz="1500" u="none" cap="none" strike="noStrike">
              <a:solidFill>
                <a:schemeClr val="dk1"/>
              </a:solidFill>
              <a:latin typeface="Helvetica Neue"/>
              <a:ea typeface="Helvetica Neue"/>
              <a:cs typeface="Helvetica Neue"/>
              <a:sym typeface="Helvetica Neue"/>
            </a:endParaRPr>
          </a:p>
        </p:txBody>
      </p:sp>
      <p:sp>
        <p:nvSpPr>
          <p:cNvPr id="228" name="Google Shape;228;h2dfb90ae07d12a84_2_158"/>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2.2 Predictive — DiffAdapt</a:t>
            </a:r>
            <a:endParaRPr b="0" i="0" sz="2000" u="none" cap="none" strike="noStrike">
              <a:solidFill>
                <a:schemeClr val="dk1"/>
              </a:solidFill>
              <a:latin typeface="Helvetica Neue"/>
              <a:ea typeface="Helvetica Neue"/>
              <a:cs typeface="Helvetica Neue"/>
              <a:sym typeface="Helvetica Neue"/>
            </a:endParaRPr>
          </a:p>
        </p:txBody>
      </p:sp>
      <p:sp>
        <p:nvSpPr>
          <p:cNvPr id="229" name="Google Shape;229;h2dfb90ae07d12a84_2_158"/>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230" name="Google Shape;230;h2dfb90ae07d12a84_2_158"/>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09</a:t>
            </a:r>
            <a:endParaRPr b="0" i="0" sz="1000" u="none" cap="none" strike="noStrike">
              <a:solidFill>
                <a:schemeClr val="dk1"/>
              </a:solidFill>
              <a:latin typeface="Helvetica Neue"/>
              <a:ea typeface="Helvetica Neue"/>
              <a:cs typeface="Helvetica Neue"/>
              <a:sym typeface="Helvetica Neue"/>
            </a:endParaRPr>
          </a:p>
        </p:txBody>
      </p:sp>
      <p:sp>
        <p:nvSpPr>
          <p:cNvPr id="231" name="Google Shape;231;h2dfb90ae07d12a84_2_158"/>
          <p:cNvSpPr/>
          <p:nvPr/>
        </p:nvSpPr>
        <p:spPr>
          <a:xfrm>
            <a:off x="373524" y="1913470"/>
            <a:ext cx="11155800" cy="462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38"/>
              <a:buFont typeface="Arial"/>
              <a:buNone/>
            </a:pPr>
            <a:r>
              <a:rPr b="1" i="0" lang="en-US" sz="1538" u="none" cap="none" strike="noStrike">
                <a:solidFill>
                  <a:srgbClr val="FF7900"/>
                </a:solidFill>
                <a:latin typeface="Helvetica Neue"/>
                <a:ea typeface="Helvetica Neue"/>
                <a:cs typeface="Helvetica Neue"/>
                <a:sym typeface="Helvetica Neue"/>
              </a:rPr>
              <a:t>2.2 PREDICTIVE METHODS (decide before generation)</a:t>
            </a:r>
            <a:endParaRPr sz="1500"/>
          </a:p>
          <a:p>
            <a:pPr indent="0" lvl="0" marL="0" marR="0" rtl="0" algn="l">
              <a:lnSpc>
                <a:spcPct val="100000"/>
              </a:lnSpc>
              <a:spcBef>
                <a:spcPts val="0"/>
              </a:spcBef>
              <a:spcAft>
                <a:spcPts val="0"/>
              </a:spcAft>
              <a:buClr>
                <a:srgbClr val="000000"/>
              </a:buClr>
              <a:buSzPts val="1380"/>
              <a:buFont typeface="Arial"/>
              <a:buNone/>
            </a:pPr>
            <a:r>
              <a:rPr b="0" i="0" lang="en-US" sz="1480" u="none" cap="none" strike="noStrike">
                <a:solidFill>
                  <a:srgbClr val="FFFFFF"/>
                </a:solidFill>
                <a:latin typeface="Helvetica Neue"/>
                <a:ea typeface="Helvetica Neue"/>
                <a:cs typeface="Helvetica Neue"/>
                <a:sym typeface="Helvetica Neue"/>
              </a:rPr>
              <a:t>DiffAdapt. (Liu, Hu, Chu &amp; Choi, “DiffAdapt: Difficulty-Adaptive Reasoning for Token-Efficient LLM Inference,” 2025)</a:t>
            </a:r>
            <a:endParaRPr sz="1500"/>
          </a:p>
          <a:p>
            <a:pPr indent="0" lvl="0" marL="9144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Mechanism: </a:t>
            </a:r>
            <a:r>
              <a:rPr b="0" i="0" lang="en-US" sz="1480" u="none" cap="none" strike="noStrike">
                <a:solidFill>
                  <a:srgbClr val="D6D6D6"/>
                </a:solidFill>
                <a:latin typeface="Helvetica Neue"/>
                <a:ea typeface="Helvetica Neue"/>
                <a:cs typeface="Helvetica Neue"/>
                <a:sym typeface="Helvetica Neue"/>
              </a:rPr>
              <a:t>a three-stage framework — (1) sample a proxy model’s responses to heuristically label each training query Easy/Normal/Hard from observed entropy and correctness; (2) train a lightweight probe on the base model’s final hidden state to predict that label; (3) at inference, the probe selects one of three fixed (prompt, temperature, max-length) configurations. No base-model fine-tuning.</a:t>
            </a:r>
            <a:endParaRPr sz="1500"/>
          </a:p>
          <a:p>
            <a:pPr indent="0" lvl="0" marL="9144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Reported results: </a:t>
            </a:r>
            <a:r>
              <a:rPr b="0" i="0" lang="en-US" sz="1480" u="none" cap="none" strike="noStrike">
                <a:solidFill>
                  <a:srgbClr val="D6D6D6"/>
                </a:solidFill>
                <a:latin typeface="Helvetica Neue"/>
                <a:ea typeface="Helvetica Neue"/>
                <a:cs typeface="Helvetica Neue"/>
                <a:sym typeface="Helvetica Neue"/>
              </a:rPr>
              <a:t>up to 22.4% token reduction with comparable or improved accuracy, across 5 models and 8 benchmarks.</a:t>
            </a:r>
            <a:endParaRPr sz="1500"/>
          </a:p>
          <a:p>
            <a:pPr indent="0" lvl="0" marL="9144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34950" lvl="0" marL="685800" marR="0" rtl="0" algn="l">
              <a:lnSpc>
                <a:spcPct val="100000"/>
              </a:lnSpc>
              <a:spcBef>
                <a:spcPts val="220"/>
              </a:spcBef>
              <a:spcAft>
                <a:spcPts val="0"/>
              </a:spcAft>
              <a:buClr>
                <a:srgbClr val="FF7900"/>
              </a:buClr>
              <a:buSzPts val="1350"/>
              <a:buFont typeface="Arial"/>
              <a:buChar char="■"/>
            </a:pPr>
            <a:r>
              <a:rPr b="1" i="0" lang="en-US" sz="1538" u="none" cap="none" strike="noStrike">
                <a:solidFill>
                  <a:srgbClr val="FF7900"/>
                </a:solidFill>
                <a:latin typeface="Helvetica Neue"/>
                <a:ea typeface="Helvetica Neue"/>
                <a:cs typeface="Helvetica Neue"/>
                <a:sym typeface="Helvetica Neue"/>
              </a:rPr>
              <a:t>Limitation: </a:t>
            </a:r>
            <a:endParaRPr sz="1500"/>
          </a:p>
          <a:p>
            <a:pPr indent="-184150" lvl="1" marL="812800" marR="0" rtl="0" algn="l">
              <a:lnSpc>
                <a:spcPct val="100000"/>
              </a:lnSpc>
              <a:spcBef>
                <a:spcPts val="138"/>
              </a:spcBef>
              <a:spcAft>
                <a:spcPts val="0"/>
              </a:spcAft>
              <a:buClr>
                <a:srgbClr val="D6D6D6"/>
              </a:buClr>
              <a:buSzPts val="1300"/>
              <a:buFont typeface="Helvetica Neue"/>
              <a:buChar char="–"/>
            </a:pPr>
            <a:r>
              <a:rPr b="0" i="0" lang="en-US" sz="1480" u="none" cap="none" strike="noStrike">
                <a:solidFill>
                  <a:srgbClr val="D6D6D6"/>
                </a:solidFill>
                <a:latin typeface="Helvetica Neue"/>
                <a:ea typeface="Helvetica Neue"/>
                <a:cs typeface="Helvetica Neue"/>
                <a:sym typeface="Helvetica Neue"/>
              </a:rPr>
              <a:t>only three discrete strategies (coarse granularity, not a continuous budget);</a:t>
            </a:r>
            <a:endParaRPr sz="1500"/>
          </a:p>
          <a:p>
            <a:pPr indent="-184150" lvl="1" marL="812800" marR="0" rtl="0" algn="l">
              <a:lnSpc>
                <a:spcPct val="100000"/>
              </a:lnSpc>
              <a:spcBef>
                <a:spcPts val="138"/>
              </a:spcBef>
              <a:spcAft>
                <a:spcPts val="0"/>
              </a:spcAft>
              <a:buClr>
                <a:srgbClr val="D6D6D6"/>
              </a:buClr>
              <a:buSzPts val="1300"/>
              <a:buFont typeface="Helvetica Neue"/>
              <a:buChar char="–"/>
            </a:pPr>
            <a:r>
              <a:rPr b="0" i="0" lang="en-US" sz="1480" u="none" cap="none" strike="noStrike">
                <a:solidFill>
                  <a:srgbClr val="D6D6D6"/>
                </a:solidFill>
                <a:latin typeface="Helvetica Neue"/>
                <a:ea typeface="Helvetica Neue"/>
                <a:cs typeface="Helvetica Neue"/>
                <a:sym typeface="Helvetica Neue"/>
              </a:rPr>
              <a:t>the probe is trained per base model, since hidden-state geometry is model-specific.</a:t>
            </a:r>
            <a:endParaRPr sz="1500"/>
          </a:p>
        </p:txBody>
      </p:sp>
      <p:pic>
        <p:nvPicPr>
          <p:cNvPr id="232" name="Google Shape;232;h2dfb90ae07d12a84_2_158">
            <a:hlinkClick r:id="rId3"/>
          </p:cNvPr>
          <p:cNvPicPr preferRelativeResize="0"/>
          <p:nvPr/>
        </p:nvPicPr>
        <p:blipFill>
          <a:blip r:embed="rId4">
            <a:alphaModFix/>
          </a:blip>
          <a:stretch>
            <a:fillRect/>
          </a:stretch>
        </p:blipFill>
        <p:spPr>
          <a:xfrm>
            <a:off x="7384875" y="75125"/>
            <a:ext cx="4027174" cy="18930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6" name="Shape 236"/>
        <p:cNvGrpSpPr/>
        <p:nvPr/>
      </p:nvGrpSpPr>
      <p:grpSpPr>
        <a:xfrm>
          <a:off x="0" y="0"/>
          <a:ext cx="0" cy="0"/>
          <a:chOff x="0" y="0"/>
          <a:chExt cx="0" cy="0"/>
        </a:xfrm>
      </p:grpSpPr>
      <p:sp>
        <p:nvSpPr>
          <p:cNvPr id="237" name="Google Shape;237;h2dfb90ae07d12a84_2_169"/>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38" name="Google Shape;238;h2dfb90ae07d12a84_2_169"/>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239" name="Google Shape;239;h2dfb90ae07d12a84_2_169"/>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240" name="Google Shape;240;h2dfb90ae07d12a84_2_169"/>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2. CURRENT SOLUTIONS</a:t>
            </a:r>
            <a:endParaRPr b="0" i="0" sz="1500" u="none" cap="none" strike="noStrike">
              <a:solidFill>
                <a:schemeClr val="dk1"/>
              </a:solidFill>
              <a:latin typeface="Helvetica Neue"/>
              <a:ea typeface="Helvetica Neue"/>
              <a:cs typeface="Helvetica Neue"/>
              <a:sym typeface="Helvetica Neue"/>
            </a:endParaRPr>
          </a:p>
        </p:txBody>
      </p:sp>
      <p:sp>
        <p:nvSpPr>
          <p:cNvPr id="241" name="Google Shape;241;h2dfb90ae07d12a84_2_169"/>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2.2 Predictive — Learned Routers</a:t>
            </a:r>
            <a:endParaRPr b="0" i="0" sz="2000" u="none" cap="none" strike="noStrike">
              <a:solidFill>
                <a:schemeClr val="dk1"/>
              </a:solidFill>
              <a:latin typeface="Helvetica Neue"/>
              <a:ea typeface="Helvetica Neue"/>
              <a:cs typeface="Helvetica Neue"/>
              <a:sym typeface="Helvetica Neue"/>
            </a:endParaRPr>
          </a:p>
        </p:txBody>
      </p:sp>
      <p:sp>
        <p:nvSpPr>
          <p:cNvPr id="242" name="Google Shape;242;h2dfb90ae07d12a84_2_169"/>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243" name="Google Shape;243;h2dfb90ae07d12a84_2_169"/>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10</a:t>
            </a:r>
            <a:endParaRPr b="0" i="0" sz="1000" u="none" cap="none" strike="noStrike">
              <a:solidFill>
                <a:schemeClr val="dk1"/>
              </a:solidFill>
              <a:latin typeface="Helvetica Neue"/>
              <a:ea typeface="Helvetica Neue"/>
              <a:cs typeface="Helvetica Neue"/>
              <a:sym typeface="Helvetica Neue"/>
            </a:endParaRPr>
          </a:p>
        </p:txBody>
      </p:sp>
      <p:sp>
        <p:nvSpPr>
          <p:cNvPr id="244" name="Google Shape;244;h2dfb90ae07d12a84_2_169"/>
          <p:cNvSpPr/>
          <p:nvPr/>
        </p:nvSpPr>
        <p:spPr>
          <a:xfrm>
            <a:off x="387525" y="2128756"/>
            <a:ext cx="11155800" cy="339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38"/>
              <a:buFont typeface="Arial"/>
              <a:buNone/>
            </a:pPr>
            <a:r>
              <a:rPr b="1" i="0" lang="en-US" sz="1538" u="none" cap="none" strike="noStrike">
                <a:solidFill>
                  <a:srgbClr val="FF7900"/>
                </a:solidFill>
                <a:latin typeface="Helvetica Neue"/>
                <a:ea typeface="Helvetica Neue"/>
                <a:cs typeface="Helvetica Neue"/>
                <a:sym typeface="Helvetica Neue"/>
              </a:rPr>
              <a:t>2.2 PREDICTIVE METHODS (decide before generation)</a:t>
            </a:r>
            <a:endParaRPr sz="1500"/>
          </a:p>
          <a:p>
            <a:pPr indent="0" lvl="0" marL="0" marR="0" rtl="0" algn="l">
              <a:lnSpc>
                <a:spcPct val="100000"/>
              </a:lnSpc>
              <a:spcBef>
                <a:spcPts val="0"/>
              </a:spcBef>
              <a:spcAft>
                <a:spcPts val="0"/>
              </a:spcAft>
              <a:buClr>
                <a:srgbClr val="000000"/>
              </a:buClr>
              <a:buSzPts val="1380"/>
              <a:buFont typeface="Arial"/>
              <a:buNone/>
            </a:pPr>
            <a:r>
              <a:rPr b="0" i="0" lang="en-US" sz="1480" u="none" cap="none" strike="noStrike">
                <a:solidFill>
                  <a:srgbClr val="FFFFFF"/>
                </a:solidFill>
                <a:latin typeface="Helvetica Neue"/>
                <a:ea typeface="Helvetica Neue"/>
                <a:cs typeface="Helvetica Neue"/>
                <a:sym typeface="Helvetica Neue"/>
              </a:rPr>
              <a:t>Learned Routers. (Damani, Shenfeld, Peng, Bobu, and Andreas, “Learning How Hard to Think: Input-Adaptive Allocation of LM Computation,” ICLR 2025)</a:t>
            </a:r>
            <a:endParaRPr sz="1500"/>
          </a:p>
          <a:p>
            <a:pPr indent="0" lvl="0" marL="9144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Mechanism: </a:t>
            </a:r>
            <a:r>
              <a:rPr b="0" i="0" lang="en-US" sz="1480" u="none" cap="none" strike="noStrike">
                <a:solidFill>
                  <a:srgbClr val="D6D6D6"/>
                </a:solidFill>
                <a:latin typeface="Helvetica Neue"/>
                <a:ea typeface="Helvetica Neue"/>
                <a:cs typeface="Helvetica Neue"/>
                <a:sym typeface="Helvetica Neue"/>
              </a:rPr>
              <a:t>trains a marginal reward predictor — the expected accuracy gain from allocating one more unit of compute (e.g., one more best-of-N sample) to a given query — and allocates compute where the predicted marginal value is highest.</a:t>
            </a:r>
            <a:endParaRPr sz="1500"/>
          </a:p>
          <a:p>
            <a:pPr indent="0" lvl="0" marL="9144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Limitation: </a:t>
            </a:r>
            <a:r>
              <a:rPr b="0" i="0" lang="en-US" sz="1480" u="none" cap="none" strike="noStrike">
                <a:solidFill>
                  <a:srgbClr val="D6D6D6"/>
                </a:solidFill>
                <a:latin typeface="Helvetica Neue"/>
                <a:ea typeface="Helvetica Neue"/>
                <a:cs typeface="Helvetica Neue"/>
                <a:sym typeface="Helvetica Neue"/>
              </a:rPr>
              <a:t>the predictor is trained per model/task, cross-model transfer is not reported, and the best-of-N framing does not directly cover single-chain CoT length control.</a:t>
            </a:r>
            <a:endParaRPr sz="1500"/>
          </a:p>
          <a:p>
            <a:pPr indent="0" lvl="0" marL="9144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Our use of this method: </a:t>
            </a:r>
            <a:r>
              <a:rPr b="0" i="0" lang="en-US" sz="1480" u="none" cap="none" strike="noStrike">
                <a:solidFill>
                  <a:srgbClr val="D6D6D6"/>
                </a:solidFill>
                <a:latin typeface="Helvetica Neue"/>
                <a:ea typeface="Helvetica Neue"/>
                <a:cs typeface="Helvetica Neue"/>
                <a:sym typeface="Helvetica Neue"/>
              </a:rPr>
              <a:t>reuse the marginal-value framing — “allocate compute where its predicted value is highest” — as the guiding principle for a compute-allocation equation grounded in prior work rather than assumed from scratch.</a:t>
            </a:r>
            <a:endParaRPr sz="1500"/>
          </a:p>
        </p:txBody>
      </p:sp>
      <p:pic>
        <p:nvPicPr>
          <p:cNvPr id="245" name="Google Shape;245;h2dfb90ae07d12a84_2_169">
            <a:hlinkClick r:id="rId3"/>
          </p:cNvPr>
          <p:cNvPicPr preferRelativeResize="0"/>
          <p:nvPr/>
        </p:nvPicPr>
        <p:blipFill>
          <a:blip r:embed="rId4">
            <a:alphaModFix/>
          </a:blip>
          <a:stretch>
            <a:fillRect/>
          </a:stretch>
        </p:blipFill>
        <p:spPr>
          <a:xfrm>
            <a:off x="7394850" y="116800"/>
            <a:ext cx="4092200" cy="18413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49" name="Shape 249"/>
        <p:cNvGrpSpPr/>
        <p:nvPr/>
      </p:nvGrpSpPr>
      <p:grpSpPr>
        <a:xfrm>
          <a:off x="0" y="0"/>
          <a:ext cx="0" cy="0"/>
          <a:chOff x="0" y="0"/>
          <a:chExt cx="0" cy="0"/>
        </a:xfrm>
      </p:grpSpPr>
      <p:sp>
        <p:nvSpPr>
          <p:cNvPr id="250" name="Google Shape;250;h2dfb90ae07d12a84_2_180"/>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51" name="Google Shape;251;h2dfb90ae07d12a84_2_180"/>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252" name="Google Shape;252;h2dfb90ae07d12a84_2_180"/>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253" name="Google Shape;253;h2dfb90ae07d12a84_2_180"/>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2. CURRENT SOLUTIONS</a:t>
            </a:r>
            <a:endParaRPr b="0" i="0" sz="1500" u="none" cap="none" strike="noStrike">
              <a:solidFill>
                <a:schemeClr val="dk1"/>
              </a:solidFill>
              <a:latin typeface="Helvetica Neue"/>
              <a:ea typeface="Helvetica Neue"/>
              <a:cs typeface="Helvetica Neue"/>
              <a:sym typeface="Helvetica Neue"/>
            </a:endParaRPr>
          </a:p>
        </p:txBody>
      </p:sp>
      <p:sp>
        <p:nvSpPr>
          <p:cNvPr id="254" name="Google Shape;254;h2dfb90ae07d12a84_2_180"/>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2.2 Predictive — Thinking-Optimal Scaling (TOPS)</a:t>
            </a:r>
            <a:endParaRPr b="0" i="0" sz="2000" u="none" cap="none" strike="noStrike">
              <a:solidFill>
                <a:schemeClr val="dk1"/>
              </a:solidFill>
              <a:latin typeface="Helvetica Neue"/>
              <a:ea typeface="Helvetica Neue"/>
              <a:cs typeface="Helvetica Neue"/>
              <a:sym typeface="Helvetica Neue"/>
            </a:endParaRPr>
          </a:p>
        </p:txBody>
      </p:sp>
      <p:sp>
        <p:nvSpPr>
          <p:cNvPr id="255" name="Google Shape;255;h2dfb90ae07d12a84_2_180"/>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256" name="Google Shape;256;h2dfb90ae07d12a84_2_180"/>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11</a:t>
            </a:r>
            <a:endParaRPr b="0" i="0" sz="1000" u="none" cap="none" strike="noStrike">
              <a:solidFill>
                <a:schemeClr val="dk1"/>
              </a:solidFill>
              <a:latin typeface="Helvetica Neue"/>
              <a:ea typeface="Helvetica Neue"/>
              <a:cs typeface="Helvetica Neue"/>
              <a:sym typeface="Helvetica Neue"/>
            </a:endParaRPr>
          </a:p>
        </p:txBody>
      </p:sp>
      <p:sp>
        <p:nvSpPr>
          <p:cNvPr id="257" name="Google Shape;257;h2dfb90ae07d12a84_2_180"/>
          <p:cNvSpPr/>
          <p:nvPr/>
        </p:nvSpPr>
        <p:spPr>
          <a:xfrm>
            <a:off x="393425" y="2057864"/>
            <a:ext cx="11155800" cy="351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38"/>
              <a:buFont typeface="Arial"/>
              <a:buNone/>
            </a:pPr>
            <a:r>
              <a:rPr b="1" i="0" lang="en-US" sz="1538" u="none" cap="none" strike="noStrike">
                <a:solidFill>
                  <a:srgbClr val="FF7900"/>
                </a:solidFill>
                <a:latin typeface="Helvetica Neue"/>
                <a:ea typeface="Helvetica Neue"/>
                <a:cs typeface="Helvetica Neue"/>
                <a:sym typeface="Helvetica Neue"/>
              </a:rPr>
              <a:t>2.2 PREDICTIVE METHODS (decide before generation)</a:t>
            </a:r>
            <a:endParaRPr sz="1500"/>
          </a:p>
          <a:p>
            <a:pPr indent="0" lvl="0" marL="0" marR="0" rtl="0" algn="l">
              <a:lnSpc>
                <a:spcPct val="100000"/>
              </a:lnSpc>
              <a:spcBef>
                <a:spcPts val="0"/>
              </a:spcBef>
              <a:spcAft>
                <a:spcPts val="0"/>
              </a:spcAft>
              <a:buClr>
                <a:srgbClr val="000000"/>
              </a:buClr>
              <a:buSzPts val="1380"/>
              <a:buFont typeface="Arial"/>
              <a:buNone/>
            </a:pPr>
            <a:r>
              <a:rPr b="0" i="0" lang="en-US" sz="1480" u="none" cap="none" strike="noStrike">
                <a:solidFill>
                  <a:srgbClr val="FFFFFF"/>
                </a:solidFill>
                <a:latin typeface="Helvetica Neue"/>
                <a:ea typeface="Helvetica Neue"/>
                <a:cs typeface="Helvetica Neue"/>
                <a:sym typeface="Helvetica Neue"/>
              </a:rPr>
              <a:t>Thinking-Optimal Scaling (TOPS). (Yang et al., “Towards Thinking-Optimal Scaling of Test-Time Compute for LLM Reasoning,” NeurIPS 2025)</a:t>
            </a:r>
            <a:endParaRPr sz="1500"/>
          </a:p>
          <a:p>
            <a:pPr indent="0" lvl="0" marL="9144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Mechanism: </a:t>
            </a:r>
            <a:r>
              <a:rPr b="0" i="0" lang="en-US" sz="1480" u="none" cap="none" strike="noStrike">
                <a:solidFill>
                  <a:srgbClr val="D6D6D6"/>
                </a:solidFill>
                <a:latin typeface="Helvetica Neue"/>
                <a:ea typeface="Helvetica Neue"/>
                <a:cs typeface="Helvetica Neue"/>
                <a:sym typeface="Helvetica Neue"/>
              </a:rPr>
              <a:t>supervised fine-tuning on a small seed set spanning several reasoning-effort levels (“format imitation”), then self-improvement by sampling multiple efforts per training query and keeping the shortest correct response as the preferred target — baking a domain-conditioned length policy into the weights.</a:t>
            </a:r>
            <a:endParaRPr sz="1500"/>
          </a:p>
          <a:p>
            <a:pPr indent="0" lvl="0" marL="9144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Limitation: </a:t>
            </a:r>
            <a:r>
              <a:rPr b="0" i="0" lang="en-US" sz="1480" u="none" cap="none" strike="noStrike">
                <a:solidFill>
                  <a:srgbClr val="D6D6D6"/>
                </a:solidFill>
                <a:latin typeface="Helvetica Neue"/>
                <a:ea typeface="Helvetica Neue"/>
                <a:cs typeface="Helvetica Neue"/>
                <a:sym typeface="Helvetica Neue"/>
              </a:rPr>
              <a:t>granularity is domain-level, not instance-level — a domain gets one length distribution, not each query its own budget — and building the training set requires generating multiple full responses per example.</a:t>
            </a:r>
            <a:endParaRPr sz="1500"/>
          </a:p>
          <a:p>
            <a:pPr indent="0" lvl="0" marL="914400" marR="0" rtl="0" algn="l">
              <a:lnSpc>
                <a:spcPct val="100000"/>
              </a:lnSpc>
              <a:spcBef>
                <a:spcPts val="220"/>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685800" marR="0" rtl="0" algn="l">
              <a:lnSpc>
                <a:spcPct val="100000"/>
              </a:lnSpc>
              <a:spcBef>
                <a:spcPts val="220"/>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Our use of this method: </a:t>
            </a:r>
            <a:r>
              <a:rPr b="0" i="0" lang="en-US" sz="1480" u="none" cap="none" strike="noStrike">
                <a:solidFill>
                  <a:srgbClr val="D6D6D6"/>
                </a:solidFill>
                <a:latin typeface="Helvetica Neue"/>
                <a:ea typeface="Helvetica Neue"/>
                <a:cs typeface="Helvetica Neue"/>
                <a:sym typeface="Helvetica Neue"/>
              </a:rPr>
              <a:t>TOPS’s finding that the optimal length distribution differs by domain is direct prior evidence for a task-type hypothesis, and an instance-level predictor can be tested against TOPS’s domain-level one at matched compute.</a:t>
            </a:r>
            <a:endParaRPr sz="1500"/>
          </a:p>
        </p:txBody>
      </p:sp>
      <p:pic>
        <p:nvPicPr>
          <p:cNvPr id="258" name="Google Shape;258;h2dfb90ae07d12a84_2_180">
            <a:hlinkClick r:id="rId3"/>
          </p:cNvPr>
          <p:cNvPicPr preferRelativeResize="0"/>
          <p:nvPr/>
        </p:nvPicPr>
        <p:blipFill>
          <a:blip r:embed="rId4">
            <a:alphaModFix/>
          </a:blip>
          <a:stretch>
            <a:fillRect/>
          </a:stretch>
        </p:blipFill>
        <p:spPr>
          <a:xfrm>
            <a:off x="6956875" y="186475"/>
            <a:ext cx="4270076" cy="18812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2" name="Shape 262"/>
        <p:cNvGrpSpPr/>
        <p:nvPr/>
      </p:nvGrpSpPr>
      <p:grpSpPr>
        <a:xfrm>
          <a:off x="0" y="0"/>
          <a:ext cx="0" cy="0"/>
          <a:chOff x="0" y="0"/>
          <a:chExt cx="0" cy="0"/>
        </a:xfrm>
      </p:grpSpPr>
      <p:sp>
        <p:nvSpPr>
          <p:cNvPr id="263" name="Google Shape;263;h2dfb90ae07d12a84_2_191"/>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64" name="Google Shape;264;h2dfb90ae07d12a84_2_191"/>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265" name="Google Shape;265;h2dfb90ae07d12a84_2_191"/>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266" name="Google Shape;266;h2dfb90ae07d12a84_2_191"/>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2. CURRENT SOLUTIONS</a:t>
            </a:r>
            <a:endParaRPr b="0" i="0" sz="1500" u="none" cap="none" strike="noStrike">
              <a:solidFill>
                <a:schemeClr val="dk1"/>
              </a:solidFill>
              <a:latin typeface="Helvetica Neue"/>
              <a:ea typeface="Helvetica Neue"/>
              <a:cs typeface="Helvetica Neue"/>
              <a:sym typeface="Helvetica Neue"/>
            </a:endParaRPr>
          </a:p>
        </p:txBody>
      </p:sp>
      <p:sp>
        <p:nvSpPr>
          <p:cNvPr id="267" name="Google Shape;267;h2dfb90ae07d12a84_2_191"/>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Summary — gap in one table</a:t>
            </a:r>
            <a:endParaRPr b="0" i="0" sz="2000" u="none" cap="none" strike="noStrike">
              <a:solidFill>
                <a:schemeClr val="dk1"/>
              </a:solidFill>
              <a:latin typeface="Helvetica Neue"/>
              <a:ea typeface="Helvetica Neue"/>
              <a:cs typeface="Helvetica Neue"/>
              <a:sym typeface="Helvetica Neue"/>
            </a:endParaRPr>
          </a:p>
        </p:txBody>
      </p:sp>
      <p:sp>
        <p:nvSpPr>
          <p:cNvPr id="268" name="Google Shape;268;h2dfb90ae07d12a84_2_191"/>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269" name="Google Shape;269;h2dfb90ae07d12a84_2_191"/>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12</a:t>
            </a:r>
            <a:endParaRPr b="0" i="0" sz="1000" u="none" cap="none" strike="noStrike">
              <a:solidFill>
                <a:schemeClr val="dk1"/>
              </a:solidFill>
              <a:latin typeface="Helvetica Neue"/>
              <a:ea typeface="Helvetica Neue"/>
              <a:cs typeface="Helvetica Neue"/>
              <a:sym typeface="Helvetica Neue"/>
            </a:endParaRPr>
          </a:p>
        </p:txBody>
      </p:sp>
      <p:sp>
        <p:nvSpPr>
          <p:cNvPr id="270" name="Google Shape;270;h2dfb90ae07d12a84_2_191"/>
          <p:cNvSpPr/>
          <p:nvPr/>
        </p:nvSpPr>
        <p:spPr>
          <a:xfrm>
            <a:off x="458436" y="4974437"/>
            <a:ext cx="11155800" cy="80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38"/>
              <a:buFont typeface="Arial"/>
              <a:buNone/>
            </a:pPr>
            <a:r>
              <a:rPr b="1" i="0" lang="en-US" sz="1438" u="none" cap="none" strike="noStrike">
                <a:solidFill>
                  <a:srgbClr val="FF7900"/>
                </a:solidFill>
                <a:latin typeface="Helvetica Neue"/>
                <a:ea typeface="Helvetica Neue"/>
                <a:cs typeface="Helvetica Neue"/>
                <a:sym typeface="Helvetica Neue"/>
              </a:rPr>
              <a:t>Conclusion: </a:t>
            </a:r>
            <a:r>
              <a:rPr b="0" i="0" lang="en-US" sz="1438" u="none" cap="none" strike="noStrike">
                <a:solidFill>
                  <a:srgbClr val="D6D6D6"/>
                </a:solidFill>
                <a:latin typeface="Helvetica Neue"/>
                <a:ea typeface="Helvetica Neue"/>
                <a:cs typeface="Helvetica Neue"/>
                <a:sym typeface="Helvetica Neue"/>
              </a:rPr>
              <a:t>existing methods address different aspects of adaptive compute allocation, but none simultaneously provides instance-level allocation, cross-model generalization, and statistical calibration. This work targets their intersection and evaluates it under a unified experimental protocol.</a:t>
            </a:r>
            <a:endParaRPr/>
          </a:p>
        </p:txBody>
      </p:sp>
      <p:sp>
        <p:nvSpPr>
          <p:cNvPr id="271" name="Google Shape;271;h2dfb90ae07d12a84_2_191"/>
          <p:cNvSpPr/>
          <p:nvPr/>
        </p:nvSpPr>
        <p:spPr>
          <a:xfrm>
            <a:off x="502920" y="1933669"/>
            <a:ext cx="2743200" cy="330000"/>
          </a:xfrm>
          <a:prstGeom prst="rect">
            <a:avLst/>
          </a:prstGeom>
          <a:solidFill>
            <a:srgbClr val="FF79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72" name="Google Shape;272;h2dfb90ae07d12a84_2_191"/>
          <p:cNvSpPr/>
          <p:nvPr/>
        </p:nvSpPr>
        <p:spPr>
          <a:xfrm>
            <a:off x="594360" y="1933669"/>
            <a:ext cx="2651700" cy="3300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322"/>
              <a:buFont typeface="Arial"/>
              <a:buNone/>
            </a:pPr>
            <a:r>
              <a:rPr b="1" i="0" lang="en-US" sz="1322" u="none" cap="none" strike="noStrike">
                <a:solidFill>
                  <a:srgbClr val="000000"/>
                </a:solidFill>
                <a:latin typeface="Helvetica Neue"/>
                <a:ea typeface="Helvetica Neue"/>
                <a:cs typeface="Helvetica Neue"/>
                <a:sym typeface="Helvetica Neue"/>
              </a:rPr>
              <a:t>Method</a:t>
            </a:r>
            <a:endParaRPr/>
          </a:p>
        </p:txBody>
      </p:sp>
      <p:sp>
        <p:nvSpPr>
          <p:cNvPr id="273" name="Google Shape;273;h2dfb90ae07d12a84_2_191"/>
          <p:cNvSpPr/>
          <p:nvPr/>
        </p:nvSpPr>
        <p:spPr>
          <a:xfrm>
            <a:off x="3246120" y="1933669"/>
            <a:ext cx="2606100" cy="330000"/>
          </a:xfrm>
          <a:prstGeom prst="rect">
            <a:avLst/>
          </a:prstGeom>
          <a:solidFill>
            <a:srgbClr val="FF79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74" name="Google Shape;274;h2dfb90ae07d12a84_2_191"/>
          <p:cNvSpPr/>
          <p:nvPr/>
        </p:nvSpPr>
        <p:spPr>
          <a:xfrm>
            <a:off x="3337560" y="1933669"/>
            <a:ext cx="2514600" cy="3300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1" i="0" lang="en-US" sz="1208" u="none" cap="none" strike="noStrike">
                <a:solidFill>
                  <a:srgbClr val="000000"/>
                </a:solidFill>
                <a:latin typeface="Helvetica Neue"/>
                <a:ea typeface="Helvetica Neue"/>
                <a:cs typeface="Helvetica Neue"/>
                <a:sym typeface="Helvetica Neue"/>
              </a:rPr>
              <a:t>Compute control</a:t>
            </a:r>
            <a:endParaRPr/>
          </a:p>
        </p:txBody>
      </p:sp>
      <p:sp>
        <p:nvSpPr>
          <p:cNvPr id="275" name="Google Shape;275;h2dfb90ae07d12a84_2_191"/>
          <p:cNvSpPr/>
          <p:nvPr/>
        </p:nvSpPr>
        <p:spPr>
          <a:xfrm>
            <a:off x="5852160" y="1933669"/>
            <a:ext cx="1828800" cy="330000"/>
          </a:xfrm>
          <a:prstGeom prst="rect">
            <a:avLst/>
          </a:prstGeom>
          <a:solidFill>
            <a:srgbClr val="FF79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76" name="Google Shape;276;h2dfb90ae07d12a84_2_191"/>
          <p:cNvSpPr/>
          <p:nvPr/>
        </p:nvSpPr>
        <p:spPr>
          <a:xfrm>
            <a:off x="5943600" y="1933669"/>
            <a:ext cx="1737300" cy="3300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1" i="0" lang="en-US" sz="1208" u="none" cap="none" strike="noStrike">
                <a:solidFill>
                  <a:srgbClr val="000000"/>
                </a:solidFill>
                <a:latin typeface="Helvetica Neue"/>
                <a:ea typeface="Helvetica Neue"/>
                <a:cs typeface="Helvetica Neue"/>
                <a:sym typeface="Helvetica Neue"/>
              </a:rPr>
              <a:t>Per-model training?</a:t>
            </a:r>
            <a:endParaRPr/>
          </a:p>
        </p:txBody>
      </p:sp>
      <p:sp>
        <p:nvSpPr>
          <p:cNvPr id="277" name="Google Shape;277;h2dfb90ae07d12a84_2_191"/>
          <p:cNvSpPr/>
          <p:nvPr/>
        </p:nvSpPr>
        <p:spPr>
          <a:xfrm>
            <a:off x="7680960" y="1933669"/>
            <a:ext cx="4023300" cy="330000"/>
          </a:xfrm>
          <a:prstGeom prst="rect">
            <a:avLst/>
          </a:prstGeom>
          <a:solidFill>
            <a:srgbClr val="FF79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78" name="Google Shape;278;h2dfb90ae07d12a84_2_191"/>
          <p:cNvSpPr/>
          <p:nvPr/>
        </p:nvSpPr>
        <p:spPr>
          <a:xfrm>
            <a:off x="7772400" y="1933669"/>
            <a:ext cx="3931800" cy="3300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1" i="0" lang="en-US" sz="1208" u="none" cap="none" strike="noStrike">
                <a:solidFill>
                  <a:srgbClr val="000000"/>
                </a:solidFill>
                <a:latin typeface="Helvetica Neue"/>
                <a:ea typeface="Helvetica Neue"/>
                <a:cs typeface="Helvetica Neue"/>
                <a:sym typeface="Helvetica Neue"/>
              </a:rPr>
              <a:t>Key limitation</a:t>
            </a:r>
            <a:endParaRPr/>
          </a:p>
        </p:txBody>
      </p:sp>
      <p:sp>
        <p:nvSpPr>
          <p:cNvPr id="279" name="Google Shape;279;h2dfb90ae07d12a84_2_191"/>
          <p:cNvSpPr/>
          <p:nvPr/>
        </p:nvSpPr>
        <p:spPr>
          <a:xfrm>
            <a:off x="502920" y="2263669"/>
            <a:ext cx="27432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80" name="Google Shape;280;h2dfb90ae07d12a84_2_191"/>
          <p:cNvSpPr/>
          <p:nvPr/>
        </p:nvSpPr>
        <p:spPr>
          <a:xfrm>
            <a:off x="594360" y="2263669"/>
            <a:ext cx="26517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1" i="0" lang="en-US" sz="1208" u="none" cap="none" strike="noStrike">
                <a:solidFill>
                  <a:srgbClr val="141414"/>
                </a:solidFill>
                <a:latin typeface="Helvetica Neue"/>
                <a:ea typeface="Helvetica Neue"/>
                <a:cs typeface="Helvetica Neue"/>
                <a:sym typeface="Helvetica Neue"/>
              </a:rPr>
              <a:t>DEER</a:t>
            </a:r>
            <a:endParaRPr/>
          </a:p>
        </p:txBody>
      </p:sp>
      <p:sp>
        <p:nvSpPr>
          <p:cNvPr id="281" name="Google Shape;281;h2dfb90ae07d12a84_2_191"/>
          <p:cNvSpPr/>
          <p:nvPr/>
        </p:nvSpPr>
        <p:spPr>
          <a:xfrm>
            <a:off x="3246120" y="2263669"/>
            <a:ext cx="26061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82" name="Google Shape;282;h2dfb90ae07d12a84_2_191"/>
          <p:cNvSpPr/>
          <p:nvPr/>
        </p:nvSpPr>
        <p:spPr>
          <a:xfrm>
            <a:off x="3337560" y="2263669"/>
            <a:ext cx="25146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Confidence-threshold triggered</a:t>
            </a:r>
            <a:endParaRPr/>
          </a:p>
        </p:txBody>
      </p:sp>
      <p:sp>
        <p:nvSpPr>
          <p:cNvPr id="283" name="Google Shape;283;h2dfb90ae07d12a84_2_191"/>
          <p:cNvSpPr/>
          <p:nvPr/>
        </p:nvSpPr>
        <p:spPr>
          <a:xfrm>
            <a:off x="5852160" y="2263669"/>
            <a:ext cx="18288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84" name="Google Shape;284;h2dfb90ae07d12a84_2_191"/>
          <p:cNvSpPr/>
          <p:nvPr/>
        </p:nvSpPr>
        <p:spPr>
          <a:xfrm>
            <a:off x="5943600" y="2263669"/>
            <a:ext cx="17373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Threshold tuned</a:t>
            </a:r>
            <a:endParaRPr/>
          </a:p>
        </p:txBody>
      </p:sp>
      <p:sp>
        <p:nvSpPr>
          <p:cNvPr id="285" name="Google Shape;285;h2dfb90ae07d12a84_2_191"/>
          <p:cNvSpPr/>
          <p:nvPr/>
        </p:nvSpPr>
        <p:spPr>
          <a:xfrm>
            <a:off x="7680960" y="2263669"/>
            <a:ext cx="40233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86" name="Google Shape;286;h2dfb90ae07d12a84_2_191"/>
          <p:cNvSpPr/>
          <p:nvPr/>
        </p:nvSpPr>
        <p:spPr>
          <a:xfrm>
            <a:off x="7772400" y="2263669"/>
            <a:ext cx="39318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Threshold tuning; calibration-sensitive</a:t>
            </a:r>
            <a:endParaRPr/>
          </a:p>
        </p:txBody>
      </p:sp>
      <p:sp>
        <p:nvSpPr>
          <p:cNvPr id="287" name="Google Shape;287;h2dfb90ae07d12a84_2_191"/>
          <p:cNvSpPr/>
          <p:nvPr/>
        </p:nvSpPr>
        <p:spPr>
          <a:xfrm>
            <a:off x="502920" y="2643669"/>
            <a:ext cx="27432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88" name="Google Shape;288;h2dfb90ae07d12a84_2_191"/>
          <p:cNvSpPr/>
          <p:nvPr/>
        </p:nvSpPr>
        <p:spPr>
          <a:xfrm>
            <a:off x="594360" y="2643669"/>
            <a:ext cx="26517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1" i="0" lang="en-US" sz="1208" u="none" cap="none" strike="noStrike">
                <a:solidFill>
                  <a:srgbClr val="141414"/>
                </a:solidFill>
                <a:latin typeface="Helvetica Neue"/>
                <a:ea typeface="Helvetica Neue"/>
                <a:cs typeface="Helvetica Neue"/>
                <a:sym typeface="Helvetica Neue"/>
              </a:rPr>
              <a:t>Conformal Thinking</a:t>
            </a:r>
            <a:endParaRPr/>
          </a:p>
        </p:txBody>
      </p:sp>
      <p:sp>
        <p:nvSpPr>
          <p:cNvPr id="289" name="Google Shape;289;h2dfb90ae07d12a84_2_191"/>
          <p:cNvSpPr/>
          <p:nvPr/>
        </p:nvSpPr>
        <p:spPr>
          <a:xfrm>
            <a:off x="3246120" y="2643669"/>
            <a:ext cx="26061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90" name="Google Shape;290;h2dfb90ae07d12a84_2_191"/>
          <p:cNvSpPr/>
          <p:nvPr/>
        </p:nvSpPr>
        <p:spPr>
          <a:xfrm>
            <a:off x="3337560" y="2643669"/>
            <a:ext cx="25146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Trained length-conditioning</a:t>
            </a:r>
            <a:endParaRPr/>
          </a:p>
        </p:txBody>
      </p:sp>
      <p:sp>
        <p:nvSpPr>
          <p:cNvPr id="291" name="Google Shape;291;h2dfb90ae07d12a84_2_191"/>
          <p:cNvSpPr/>
          <p:nvPr/>
        </p:nvSpPr>
        <p:spPr>
          <a:xfrm>
            <a:off x="5852160" y="2643669"/>
            <a:ext cx="18288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92" name="Google Shape;292;h2dfb90ae07d12a84_2_191"/>
          <p:cNvSpPr/>
          <p:nvPr/>
        </p:nvSpPr>
        <p:spPr>
          <a:xfrm>
            <a:off x="5943600" y="2643669"/>
            <a:ext cx="17373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Calibration set</a:t>
            </a:r>
            <a:endParaRPr/>
          </a:p>
        </p:txBody>
      </p:sp>
      <p:sp>
        <p:nvSpPr>
          <p:cNvPr id="293" name="Google Shape;293;h2dfb90ae07d12a84_2_191"/>
          <p:cNvSpPr/>
          <p:nvPr/>
        </p:nvSpPr>
        <p:spPr>
          <a:xfrm>
            <a:off x="7680960" y="2643669"/>
            <a:ext cx="40233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94" name="Google Shape;294;h2dfb90ae07d12a84_2_191"/>
          <p:cNvSpPr/>
          <p:nvPr/>
        </p:nvSpPr>
        <p:spPr>
          <a:xfrm>
            <a:off x="7772400" y="2643669"/>
            <a:ext cx="39318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Needs calibration data; marginal guarantee</a:t>
            </a:r>
            <a:endParaRPr/>
          </a:p>
        </p:txBody>
      </p:sp>
      <p:sp>
        <p:nvSpPr>
          <p:cNvPr id="295" name="Google Shape;295;h2dfb90ae07d12a84_2_191"/>
          <p:cNvSpPr/>
          <p:nvPr/>
        </p:nvSpPr>
        <p:spPr>
          <a:xfrm>
            <a:off x="502920" y="3023669"/>
            <a:ext cx="27432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96" name="Google Shape;296;h2dfb90ae07d12a84_2_191"/>
          <p:cNvSpPr/>
          <p:nvPr/>
        </p:nvSpPr>
        <p:spPr>
          <a:xfrm>
            <a:off x="594360" y="3023669"/>
            <a:ext cx="26517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1" i="0" lang="en-US" sz="1208" u="none" cap="none" strike="noStrike">
                <a:solidFill>
                  <a:srgbClr val="141414"/>
                </a:solidFill>
                <a:latin typeface="Helvetica Neue"/>
                <a:ea typeface="Helvetica Neue"/>
                <a:cs typeface="Helvetica Neue"/>
                <a:sym typeface="Helvetica Neue"/>
              </a:rPr>
              <a:t>Budget Forcing (s1)</a:t>
            </a:r>
            <a:endParaRPr/>
          </a:p>
        </p:txBody>
      </p:sp>
      <p:sp>
        <p:nvSpPr>
          <p:cNvPr id="297" name="Google Shape;297;h2dfb90ae07d12a84_2_191"/>
          <p:cNvSpPr/>
          <p:nvPr/>
        </p:nvSpPr>
        <p:spPr>
          <a:xfrm>
            <a:off x="3246120" y="3023669"/>
            <a:ext cx="26061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298" name="Google Shape;298;h2dfb90ae07d12a84_2_191"/>
          <p:cNvSpPr/>
          <p:nvPr/>
        </p:nvSpPr>
        <p:spPr>
          <a:xfrm>
            <a:off x="3337560" y="3023669"/>
            <a:ext cx="25146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Confidence-threshold triggered</a:t>
            </a:r>
            <a:endParaRPr/>
          </a:p>
        </p:txBody>
      </p:sp>
      <p:sp>
        <p:nvSpPr>
          <p:cNvPr id="299" name="Google Shape;299;h2dfb90ae07d12a84_2_191"/>
          <p:cNvSpPr/>
          <p:nvPr/>
        </p:nvSpPr>
        <p:spPr>
          <a:xfrm>
            <a:off x="5852160" y="3023669"/>
            <a:ext cx="18288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00" name="Google Shape;300;h2dfb90ae07d12a84_2_191"/>
          <p:cNvSpPr/>
          <p:nvPr/>
        </p:nvSpPr>
        <p:spPr>
          <a:xfrm>
            <a:off x="5943600" y="3023669"/>
            <a:ext cx="17373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NO (fixed cap)</a:t>
            </a:r>
            <a:endParaRPr/>
          </a:p>
        </p:txBody>
      </p:sp>
      <p:sp>
        <p:nvSpPr>
          <p:cNvPr id="301" name="Google Shape;301;h2dfb90ae07d12a84_2_191"/>
          <p:cNvSpPr/>
          <p:nvPr/>
        </p:nvSpPr>
        <p:spPr>
          <a:xfrm>
            <a:off x="7680960" y="3023669"/>
            <a:ext cx="40233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02" name="Google Shape;302;h2dfb90ae07d12a84_2_191"/>
          <p:cNvSpPr/>
          <p:nvPr/>
        </p:nvSpPr>
        <p:spPr>
          <a:xfrm>
            <a:off x="7772400" y="3023669"/>
            <a:ext cx="39318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Fixed</a:t>
            </a:r>
            <a:endParaRPr/>
          </a:p>
        </p:txBody>
      </p:sp>
      <p:sp>
        <p:nvSpPr>
          <p:cNvPr id="303" name="Google Shape;303;h2dfb90ae07d12a84_2_191"/>
          <p:cNvSpPr/>
          <p:nvPr/>
        </p:nvSpPr>
        <p:spPr>
          <a:xfrm>
            <a:off x="502920" y="3403669"/>
            <a:ext cx="27432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04" name="Google Shape;304;h2dfb90ae07d12a84_2_191"/>
          <p:cNvSpPr/>
          <p:nvPr/>
        </p:nvSpPr>
        <p:spPr>
          <a:xfrm>
            <a:off x="594360" y="3403669"/>
            <a:ext cx="26517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1" i="0" lang="en-US" sz="1208" u="none" cap="none" strike="noStrike">
                <a:solidFill>
                  <a:srgbClr val="141414"/>
                </a:solidFill>
                <a:latin typeface="Helvetica Neue"/>
                <a:ea typeface="Helvetica Neue"/>
                <a:cs typeface="Helvetica Neue"/>
                <a:sym typeface="Helvetica Neue"/>
              </a:rPr>
              <a:t>DiffAdapt (difficulty classifier)</a:t>
            </a:r>
            <a:endParaRPr/>
          </a:p>
        </p:txBody>
      </p:sp>
      <p:sp>
        <p:nvSpPr>
          <p:cNvPr id="305" name="Google Shape;305;h2dfb90ae07d12a84_2_191"/>
          <p:cNvSpPr/>
          <p:nvPr/>
        </p:nvSpPr>
        <p:spPr>
          <a:xfrm>
            <a:off x="3246120" y="3403669"/>
            <a:ext cx="26061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06" name="Google Shape;306;h2dfb90ae07d12a84_2_191"/>
          <p:cNvSpPr/>
          <p:nvPr/>
        </p:nvSpPr>
        <p:spPr>
          <a:xfrm>
            <a:off x="3337560" y="3403669"/>
            <a:ext cx="25146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Reactive, per-step</a:t>
            </a:r>
            <a:endParaRPr/>
          </a:p>
        </p:txBody>
      </p:sp>
      <p:sp>
        <p:nvSpPr>
          <p:cNvPr id="307" name="Google Shape;307;h2dfb90ae07d12a84_2_191"/>
          <p:cNvSpPr/>
          <p:nvPr/>
        </p:nvSpPr>
        <p:spPr>
          <a:xfrm>
            <a:off x="5852160" y="3403669"/>
            <a:ext cx="18288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08" name="Google Shape;308;h2dfb90ae07d12a84_2_191"/>
          <p:cNvSpPr/>
          <p:nvPr/>
        </p:nvSpPr>
        <p:spPr>
          <a:xfrm>
            <a:off x="5943600" y="3403669"/>
            <a:ext cx="17373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Probe per model</a:t>
            </a:r>
            <a:endParaRPr/>
          </a:p>
        </p:txBody>
      </p:sp>
      <p:sp>
        <p:nvSpPr>
          <p:cNvPr id="309" name="Google Shape;309;h2dfb90ae07d12a84_2_191"/>
          <p:cNvSpPr/>
          <p:nvPr/>
        </p:nvSpPr>
        <p:spPr>
          <a:xfrm>
            <a:off x="7680960" y="3403669"/>
            <a:ext cx="40233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10" name="Google Shape;310;h2dfb90ae07d12a84_2_191"/>
          <p:cNvSpPr/>
          <p:nvPr/>
        </p:nvSpPr>
        <p:spPr>
          <a:xfrm>
            <a:off x="7772400" y="3403669"/>
            <a:ext cx="39318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Per-model classifier training required, discrete</a:t>
            </a:r>
            <a:endParaRPr/>
          </a:p>
        </p:txBody>
      </p:sp>
      <p:sp>
        <p:nvSpPr>
          <p:cNvPr id="311" name="Google Shape;311;h2dfb90ae07d12a84_2_191"/>
          <p:cNvSpPr/>
          <p:nvPr/>
        </p:nvSpPr>
        <p:spPr>
          <a:xfrm>
            <a:off x="502920" y="3783669"/>
            <a:ext cx="27432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12" name="Google Shape;312;h2dfb90ae07d12a84_2_191"/>
          <p:cNvSpPr/>
          <p:nvPr/>
        </p:nvSpPr>
        <p:spPr>
          <a:xfrm>
            <a:off x="594360" y="3783669"/>
            <a:ext cx="26517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1" i="0" lang="en-US" sz="1208" u="none" cap="none" strike="noStrike">
                <a:solidFill>
                  <a:srgbClr val="141414"/>
                </a:solidFill>
                <a:latin typeface="Helvetica Neue"/>
                <a:ea typeface="Helvetica Neue"/>
                <a:cs typeface="Helvetica Neue"/>
                <a:sym typeface="Helvetica Neue"/>
              </a:rPr>
              <a:t>Learned Routers</a:t>
            </a:r>
            <a:endParaRPr/>
          </a:p>
        </p:txBody>
      </p:sp>
      <p:sp>
        <p:nvSpPr>
          <p:cNvPr id="313" name="Google Shape;313;h2dfb90ae07d12a84_2_191"/>
          <p:cNvSpPr/>
          <p:nvPr/>
        </p:nvSpPr>
        <p:spPr>
          <a:xfrm>
            <a:off x="3246120" y="3783669"/>
            <a:ext cx="26061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14" name="Google Shape;314;h2dfb90ae07d12a84_2_191"/>
          <p:cNvSpPr/>
          <p:nvPr/>
        </p:nvSpPr>
        <p:spPr>
          <a:xfrm>
            <a:off x="3337560" y="3783669"/>
            <a:ext cx="25146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Predictive, trained</a:t>
            </a:r>
            <a:endParaRPr/>
          </a:p>
        </p:txBody>
      </p:sp>
      <p:sp>
        <p:nvSpPr>
          <p:cNvPr id="315" name="Google Shape;315;h2dfb90ae07d12a84_2_191"/>
          <p:cNvSpPr/>
          <p:nvPr/>
        </p:nvSpPr>
        <p:spPr>
          <a:xfrm>
            <a:off x="5852160" y="3783669"/>
            <a:ext cx="18288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16" name="Google Shape;316;h2dfb90ae07d12a84_2_191"/>
          <p:cNvSpPr/>
          <p:nvPr/>
        </p:nvSpPr>
        <p:spPr>
          <a:xfrm>
            <a:off x="5943600" y="3783669"/>
            <a:ext cx="17373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Per model/task</a:t>
            </a:r>
            <a:endParaRPr/>
          </a:p>
        </p:txBody>
      </p:sp>
      <p:sp>
        <p:nvSpPr>
          <p:cNvPr id="317" name="Google Shape;317;h2dfb90ae07d12a84_2_191"/>
          <p:cNvSpPr/>
          <p:nvPr/>
        </p:nvSpPr>
        <p:spPr>
          <a:xfrm>
            <a:off x="7680960" y="3783669"/>
            <a:ext cx="40233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18" name="Google Shape;318;h2dfb90ae07d12a84_2_191"/>
          <p:cNvSpPr/>
          <p:nvPr/>
        </p:nvSpPr>
        <p:spPr>
          <a:xfrm>
            <a:off x="7772400" y="3783669"/>
            <a:ext cx="39318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Untested generalization</a:t>
            </a:r>
            <a:endParaRPr/>
          </a:p>
        </p:txBody>
      </p:sp>
      <p:sp>
        <p:nvSpPr>
          <p:cNvPr id="319" name="Google Shape;319;h2dfb90ae07d12a84_2_191"/>
          <p:cNvSpPr/>
          <p:nvPr/>
        </p:nvSpPr>
        <p:spPr>
          <a:xfrm>
            <a:off x="502920" y="4163669"/>
            <a:ext cx="27432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20" name="Google Shape;320;h2dfb90ae07d12a84_2_191"/>
          <p:cNvSpPr/>
          <p:nvPr/>
        </p:nvSpPr>
        <p:spPr>
          <a:xfrm>
            <a:off x="594360" y="4163669"/>
            <a:ext cx="26517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1" i="0" lang="en-US" sz="1208" u="none" cap="none" strike="noStrike">
                <a:solidFill>
                  <a:srgbClr val="141414"/>
                </a:solidFill>
                <a:latin typeface="Helvetica Neue"/>
                <a:ea typeface="Helvetica Neue"/>
                <a:cs typeface="Helvetica Neue"/>
                <a:sym typeface="Helvetica Neue"/>
              </a:rPr>
              <a:t>TOPS</a:t>
            </a:r>
            <a:endParaRPr/>
          </a:p>
        </p:txBody>
      </p:sp>
      <p:sp>
        <p:nvSpPr>
          <p:cNvPr id="321" name="Google Shape;321;h2dfb90ae07d12a84_2_191"/>
          <p:cNvSpPr/>
          <p:nvPr/>
        </p:nvSpPr>
        <p:spPr>
          <a:xfrm>
            <a:off x="3246120" y="4163669"/>
            <a:ext cx="26061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22" name="Google Shape;322;h2dfb90ae07d12a84_2_191"/>
          <p:cNvSpPr/>
          <p:nvPr/>
        </p:nvSpPr>
        <p:spPr>
          <a:xfrm>
            <a:off x="3337560" y="4163669"/>
            <a:ext cx="25146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Predictive, difficulty-driven</a:t>
            </a:r>
            <a:endParaRPr/>
          </a:p>
        </p:txBody>
      </p:sp>
      <p:sp>
        <p:nvSpPr>
          <p:cNvPr id="323" name="Google Shape;323;h2dfb90ae07d12a84_2_191"/>
          <p:cNvSpPr/>
          <p:nvPr/>
        </p:nvSpPr>
        <p:spPr>
          <a:xfrm>
            <a:off x="5852160" y="4163669"/>
            <a:ext cx="18288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24" name="Google Shape;324;h2dfb90ae07d12a84_2_191"/>
          <p:cNvSpPr/>
          <p:nvPr/>
        </p:nvSpPr>
        <p:spPr>
          <a:xfrm>
            <a:off x="5943600" y="4163669"/>
            <a:ext cx="17373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SFT per model</a:t>
            </a:r>
            <a:endParaRPr/>
          </a:p>
        </p:txBody>
      </p:sp>
      <p:sp>
        <p:nvSpPr>
          <p:cNvPr id="325" name="Google Shape;325;h2dfb90ae07d12a84_2_191"/>
          <p:cNvSpPr/>
          <p:nvPr/>
        </p:nvSpPr>
        <p:spPr>
          <a:xfrm>
            <a:off x="7680960" y="4163669"/>
            <a:ext cx="4023300" cy="3801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26" name="Google Shape;326;h2dfb90ae07d12a84_2_191"/>
          <p:cNvSpPr/>
          <p:nvPr/>
        </p:nvSpPr>
        <p:spPr>
          <a:xfrm>
            <a:off x="7772400" y="4163669"/>
            <a:ext cx="3931800" cy="3801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141414"/>
                </a:solidFill>
                <a:latin typeface="Helvetica Neue"/>
                <a:ea typeface="Helvetica Neue"/>
                <a:cs typeface="Helvetica Neue"/>
                <a:sym typeface="Helvetica Neue"/>
              </a:rPr>
              <a:t>Coarse granularity (domain, not instance)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30" name="Shape 330"/>
        <p:cNvGrpSpPr/>
        <p:nvPr/>
      </p:nvGrpSpPr>
      <p:grpSpPr>
        <a:xfrm>
          <a:off x="0" y="0"/>
          <a:ext cx="0" cy="0"/>
          <a:chOff x="0" y="0"/>
          <a:chExt cx="0" cy="0"/>
        </a:xfrm>
      </p:grpSpPr>
      <p:sp>
        <p:nvSpPr>
          <p:cNvPr id="331" name="Google Shape;331;h2dfb90ae07d12a84_2_258"/>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32" name="Google Shape;332;h2dfb90ae07d12a84_2_258"/>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333" name="Google Shape;333;h2dfb90ae07d12a84_2_258"/>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334" name="Google Shape;334;h2dfb90ae07d12a84_2_258"/>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3. METHODOLOGY</a:t>
            </a:r>
            <a:endParaRPr b="0" i="0" sz="1500" u="none" cap="none" strike="noStrike">
              <a:solidFill>
                <a:schemeClr val="dk1"/>
              </a:solidFill>
              <a:latin typeface="Helvetica Neue"/>
              <a:ea typeface="Helvetica Neue"/>
              <a:cs typeface="Helvetica Neue"/>
              <a:sym typeface="Helvetica Neue"/>
            </a:endParaRPr>
          </a:p>
        </p:txBody>
      </p:sp>
      <p:sp>
        <p:nvSpPr>
          <p:cNvPr id="335" name="Google Shape;335;h2dfb90ae07d12a84_2_258"/>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A. Investigation — four falsifiable hypotheses</a:t>
            </a:r>
            <a:endParaRPr b="0" i="0" sz="2000" u="none" cap="none" strike="noStrike">
              <a:solidFill>
                <a:schemeClr val="dk1"/>
              </a:solidFill>
              <a:latin typeface="Helvetica Neue"/>
              <a:ea typeface="Helvetica Neue"/>
              <a:cs typeface="Helvetica Neue"/>
              <a:sym typeface="Helvetica Neue"/>
            </a:endParaRPr>
          </a:p>
        </p:txBody>
      </p:sp>
      <p:sp>
        <p:nvSpPr>
          <p:cNvPr id="336" name="Google Shape;336;h2dfb90ae07d12a84_2_258"/>
          <p:cNvSpPr/>
          <p:nvPr/>
        </p:nvSpPr>
        <p:spPr>
          <a:xfrm>
            <a:off x="457200" y="6473950"/>
            <a:ext cx="23775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337" name="Google Shape;337;h2dfb90ae07d12a84_2_258"/>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13</a:t>
            </a:r>
            <a:endParaRPr b="0" i="0" sz="1000" u="none" cap="none" strike="noStrike">
              <a:solidFill>
                <a:schemeClr val="dk1"/>
              </a:solidFill>
              <a:latin typeface="Helvetica Neue"/>
              <a:ea typeface="Helvetica Neue"/>
              <a:cs typeface="Helvetica Neue"/>
              <a:sym typeface="Helvetica Neue"/>
            </a:endParaRPr>
          </a:p>
        </p:txBody>
      </p:sp>
      <p:sp>
        <p:nvSpPr>
          <p:cNvPr id="338" name="Google Shape;338;h2dfb90ae07d12a84_2_258"/>
          <p:cNvSpPr/>
          <p:nvPr/>
        </p:nvSpPr>
        <p:spPr>
          <a:xfrm>
            <a:off x="876631" y="2039899"/>
            <a:ext cx="10299900" cy="24999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H1. </a:t>
            </a:r>
            <a:r>
              <a:rPr b="0" i="0" lang="en-US" sz="1480" u="none" cap="none" strike="noStrike">
                <a:solidFill>
                  <a:srgbClr val="D6D6D6"/>
                </a:solidFill>
                <a:latin typeface="Helvetica Neue"/>
                <a:ea typeface="Helvetica Neue"/>
                <a:cs typeface="Helvetica Neue"/>
                <a:sym typeface="Helvetica Neue"/>
              </a:rPr>
              <a:t>poor test-time compute allocation harms performance — underthinking on hard problems, overthinking on easy ones. Tested via statistically controlled compute–accuracy curves (≥5 samples per compute level), checking for saturation or an inverted-U pattern.</a:t>
            </a:r>
            <a:endParaRPr sz="1500"/>
          </a:p>
          <a:p>
            <a:pPr indent="0" lvl="0" marL="457200" marR="0" rtl="0" algn="l">
              <a:lnSpc>
                <a:spcPct val="100000"/>
              </a:lnSpc>
              <a:spcBef>
                <a:spcPts val="165"/>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2286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H2. </a:t>
            </a:r>
            <a:r>
              <a:rPr b="0" i="0" lang="en-US" sz="1480" u="none" cap="none" strike="noStrike">
                <a:solidFill>
                  <a:srgbClr val="D6D6D6"/>
                </a:solidFill>
                <a:latin typeface="Helvetica Neue"/>
                <a:ea typeface="Helvetica Neue"/>
                <a:cs typeface="Helvetica Neue"/>
                <a:sym typeface="Helvetica Neue"/>
              </a:rPr>
              <a:t>this holds across model families rather than being model-specific. Tested for whether curve shape — saturating, inverted-U, or monotonic — is consistent across at least three model families.</a:t>
            </a:r>
            <a:endParaRPr sz="1500"/>
          </a:p>
          <a:p>
            <a:pPr indent="0" lvl="0" marL="457200" marR="0" rtl="0" algn="l">
              <a:lnSpc>
                <a:spcPct val="100000"/>
              </a:lnSpc>
              <a:spcBef>
                <a:spcPts val="165"/>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2286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H3. </a:t>
            </a:r>
            <a:r>
              <a:rPr b="0" i="0" lang="en-US" sz="1480" u="none" cap="none" strike="noStrike">
                <a:solidFill>
                  <a:srgbClr val="D6D6D6"/>
                </a:solidFill>
                <a:latin typeface="Helvetica Neue"/>
                <a:ea typeface="Helvetica Neue"/>
                <a:cs typeface="Helvetica Neue"/>
                <a:sym typeface="Helvetica Neue"/>
              </a:rPr>
              <a:t>this varies by task type — open-ended generation (proof writing, code synthesis) vs. selection among a fixed set of options (multiple-choice, verification): does the generation-vs-selection distinction, not just difficulty, shape the optimal budget curve?</a:t>
            </a:r>
            <a:endParaRPr sz="1500"/>
          </a:p>
          <a:p>
            <a:pPr indent="0" lvl="0" marL="457200" marR="0" rtl="0" algn="l">
              <a:lnSpc>
                <a:spcPct val="100000"/>
              </a:lnSpc>
              <a:spcBef>
                <a:spcPts val="165"/>
              </a:spcBef>
              <a:spcAft>
                <a:spcPts val="0"/>
              </a:spcAft>
              <a:buNone/>
            </a:pPr>
            <a:r>
              <a:t/>
            </a:r>
            <a:endParaRPr b="1" sz="1538">
              <a:solidFill>
                <a:srgbClr val="FF7900"/>
              </a:solidFill>
              <a:latin typeface="Helvetica Neue"/>
              <a:ea typeface="Helvetica Neue"/>
              <a:cs typeface="Helvetica Neue"/>
              <a:sym typeface="Helvetica Neue"/>
            </a:endParaRPr>
          </a:p>
          <a:p>
            <a:pPr indent="-228600" lvl="0" marL="228600" marR="0" rtl="0" algn="l">
              <a:lnSpc>
                <a:spcPct val="100000"/>
              </a:lnSpc>
              <a:spcBef>
                <a:spcPts val="165"/>
              </a:spcBef>
              <a:spcAft>
                <a:spcPts val="0"/>
              </a:spcAft>
              <a:buClr>
                <a:srgbClr val="FF7900"/>
              </a:buClr>
              <a:buSzPts val="1250"/>
              <a:buFont typeface="Arial"/>
              <a:buChar char="■"/>
            </a:pPr>
            <a:r>
              <a:rPr b="1" i="0" lang="en-US" sz="1538" u="none" cap="none" strike="noStrike">
                <a:solidFill>
                  <a:srgbClr val="FF7900"/>
                </a:solidFill>
                <a:latin typeface="Helvetica Neue"/>
                <a:ea typeface="Helvetica Neue"/>
                <a:cs typeface="Helvetica Neue"/>
                <a:sym typeface="Helvetica Neue"/>
              </a:rPr>
              <a:t>H4. </a:t>
            </a:r>
            <a:r>
              <a:rPr b="0" i="0" lang="en-US" sz="1480" u="none" cap="none" strike="noStrike">
                <a:solidFill>
                  <a:srgbClr val="D6D6D6"/>
                </a:solidFill>
                <a:latin typeface="Helvetica Neue"/>
                <a:ea typeface="Helvetica Neue"/>
                <a:cs typeface="Helvetica Neue"/>
                <a:sym typeface="Helvetica Neue"/>
              </a:rPr>
              <a:t>a difficulty-only baseline explains only part of the variance in the compute a query actually needs — measuring the residual variance that remains sets the bar the next hypothesis must clear.</a:t>
            </a:r>
            <a:endParaRPr sz="1500"/>
          </a:p>
        </p:txBody>
      </p:sp>
      <p:sp>
        <p:nvSpPr>
          <p:cNvPr id="339" name="Google Shape;339;h2dfb90ae07d12a84_2_258"/>
          <p:cNvSpPr/>
          <p:nvPr/>
        </p:nvSpPr>
        <p:spPr>
          <a:xfrm>
            <a:off x="502920" y="1634419"/>
            <a:ext cx="11155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9A9A"/>
              </a:buClr>
              <a:buSzPts val="1250"/>
              <a:buFont typeface="Arial"/>
              <a:buNone/>
            </a:pPr>
            <a:r>
              <a:rPr i="1" lang="en-US" sz="1450">
                <a:solidFill>
                  <a:srgbClr val="9A9A9A"/>
                </a:solidFill>
                <a:latin typeface="Helvetica Neue"/>
                <a:ea typeface="Helvetica Neue"/>
                <a:cs typeface="Helvetica Neue"/>
                <a:sym typeface="Helvetica Neue"/>
              </a:rPr>
              <a:t>Building in stages — each hypothesis widens the scope of the previous, from a single model/task up to the central predictive claim.</a:t>
            </a:r>
            <a:endParaRPr sz="1450">
              <a:solidFill>
                <a:schemeClr val="dk1"/>
              </a:solidFill>
              <a:latin typeface="Helvetica Neue"/>
              <a:ea typeface="Helvetica Neue"/>
              <a:cs typeface="Helvetica Neue"/>
              <a:sym typeface="Helvetica Neue"/>
            </a:endParaRPr>
          </a:p>
        </p:txBody>
      </p:sp>
      <p:sp>
        <p:nvSpPr>
          <p:cNvPr id="340" name="Google Shape;340;h2dfb90ae07d12a84_2_258"/>
          <p:cNvSpPr/>
          <p:nvPr/>
        </p:nvSpPr>
        <p:spPr>
          <a:xfrm>
            <a:off x="5891128" y="5281268"/>
            <a:ext cx="1252200" cy="381900"/>
          </a:xfrm>
          <a:prstGeom prst="roundRect">
            <a:avLst>
              <a:gd fmla="val 10909" name="adj"/>
            </a:avLst>
          </a:prstGeom>
          <a:solidFill>
            <a:srgbClr val="FFD6CA"/>
          </a:solidFill>
          <a:ln cap="flat" cmpd="sng" w="15875">
            <a:solidFill>
              <a:srgbClr val="FF6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Helvetica Neue"/>
                <a:ea typeface="Helvetica Neue"/>
                <a:cs typeface="Helvetica Neue"/>
                <a:sym typeface="Helvetica Neue"/>
              </a:rPr>
              <a:t>Reactive</a:t>
            </a:r>
            <a:endParaRPr b="1">
              <a:latin typeface="Helvetica Neue"/>
              <a:ea typeface="Helvetica Neue"/>
              <a:cs typeface="Helvetica Neue"/>
              <a:sym typeface="Helvetica Neue"/>
            </a:endParaRPr>
          </a:p>
        </p:txBody>
      </p:sp>
      <p:sp>
        <p:nvSpPr>
          <p:cNvPr id="341" name="Google Shape;341;h2dfb90ae07d12a84_2_258"/>
          <p:cNvSpPr/>
          <p:nvPr/>
        </p:nvSpPr>
        <p:spPr>
          <a:xfrm>
            <a:off x="1730779" y="5663284"/>
            <a:ext cx="680700" cy="381900"/>
          </a:xfrm>
          <a:prstGeom prst="roundRect">
            <a:avLst>
              <a:gd fmla="val 10909" name="adj"/>
            </a:avLst>
          </a:prstGeom>
          <a:solidFill>
            <a:srgbClr val="FFD6CA"/>
          </a:solidFill>
          <a:ln cap="flat" cmpd="sng" w="15875">
            <a:solidFill>
              <a:srgbClr val="FF6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Helvetica Neue"/>
                <a:ea typeface="Helvetica Neue"/>
                <a:cs typeface="Helvetica Neue"/>
                <a:sym typeface="Helvetica Neue"/>
              </a:rPr>
              <a:t>H1</a:t>
            </a:r>
            <a:endParaRPr b="1">
              <a:latin typeface="Helvetica Neue"/>
              <a:ea typeface="Helvetica Neue"/>
              <a:cs typeface="Helvetica Neue"/>
              <a:sym typeface="Helvetica Neue"/>
            </a:endParaRPr>
          </a:p>
        </p:txBody>
      </p:sp>
      <p:cxnSp>
        <p:nvCxnSpPr>
          <p:cNvPr id="342" name="Google Shape;342;h2dfb90ae07d12a84_2_258"/>
          <p:cNvCxnSpPr/>
          <p:nvPr/>
        </p:nvCxnSpPr>
        <p:spPr>
          <a:xfrm>
            <a:off x="2411585" y="5854292"/>
            <a:ext cx="200700" cy="0"/>
          </a:xfrm>
          <a:prstGeom prst="straightConnector1">
            <a:avLst/>
          </a:prstGeom>
          <a:noFill/>
          <a:ln cap="flat" cmpd="sng" w="19050">
            <a:solidFill>
              <a:srgbClr val="FF6600"/>
            </a:solidFill>
            <a:prstDash val="solid"/>
            <a:round/>
            <a:headEnd len="sm" w="sm" type="none"/>
            <a:tailEnd len="med" w="med" type="triangle"/>
          </a:ln>
        </p:spPr>
      </p:cxnSp>
      <p:sp>
        <p:nvSpPr>
          <p:cNvPr id="343" name="Google Shape;343;h2dfb90ae07d12a84_2_258"/>
          <p:cNvSpPr/>
          <p:nvPr/>
        </p:nvSpPr>
        <p:spPr>
          <a:xfrm>
            <a:off x="2612244" y="5663284"/>
            <a:ext cx="680700" cy="381900"/>
          </a:xfrm>
          <a:prstGeom prst="roundRect">
            <a:avLst>
              <a:gd fmla="val 10909" name="adj"/>
            </a:avLst>
          </a:prstGeom>
          <a:solidFill>
            <a:srgbClr val="FFD6CA"/>
          </a:solidFill>
          <a:ln cap="flat" cmpd="sng" w="15875">
            <a:solidFill>
              <a:srgbClr val="FF6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Helvetica Neue"/>
                <a:ea typeface="Helvetica Neue"/>
                <a:cs typeface="Helvetica Neue"/>
                <a:sym typeface="Helvetica Neue"/>
              </a:rPr>
              <a:t>H2</a:t>
            </a:r>
            <a:endParaRPr b="1">
              <a:latin typeface="Helvetica Neue"/>
              <a:ea typeface="Helvetica Neue"/>
              <a:cs typeface="Helvetica Neue"/>
              <a:sym typeface="Helvetica Neue"/>
            </a:endParaRPr>
          </a:p>
        </p:txBody>
      </p:sp>
      <p:cxnSp>
        <p:nvCxnSpPr>
          <p:cNvPr id="344" name="Google Shape;344;h2dfb90ae07d12a84_2_258"/>
          <p:cNvCxnSpPr/>
          <p:nvPr/>
        </p:nvCxnSpPr>
        <p:spPr>
          <a:xfrm>
            <a:off x="3293049" y="5854292"/>
            <a:ext cx="200700" cy="0"/>
          </a:xfrm>
          <a:prstGeom prst="straightConnector1">
            <a:avLst/>
          </a:prstGeom>
          <a:noFill/>
          <a:ln cap="flat" cmpd="sng" w="19050">
            <a:solidFill>
              <a:srgbClr val="FF6600"/>
            </a:solidFill>
            <a:prstDash val="solid"/>
            <a:round/>
            <a:headEnd len="sm" w="sm" type="none"/>
            <a:tailEnd len="med" w="med" type="triangle"/>
          </a:ln>
        </p:spPr>
      </p:cxnSp>
      <p:sp>
        <p:nvSpPr>
          <p:cNvPr id="345" name="Google Shape;345;h2dfb90ae07d12a84_2_258"/>
          <p:cNvSpPr/>
          <p:nvPr/>
        </p:nvSpPr>
        <p:spPr>
          <a:xfrm>
            <a:off x="3493708" y="5663284"/>
            <a:ext cx="680700" cy="381900"/>
          </a:xfrm>
          <a:prstGeom prst="roundRect">
            <a:avLst>
              <a:gd fmla="val 10909" name="adj"/>
            </a:avLst>
          </a:prstGeom>
          <a:solidFill>
            <a:srgbClr val="FFD6CA"/>
          </a:solidFill>
          <a:ln cap="flat" cmpd="sng" w="15875">
            <a:solidFill>
              <a:srgbClr val="FF6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Helvetica Neue"/>
                <a:ea typeface="Helvetica Neue"/>
                <a:cs typeface="Helvetica Neue"/>
                <a:sym typeface="Helvetica Neue"/>
              </a:rPr>
              <a:t>H3</a:t>
            </a:r>
            <a:endParaRPr b="1">
              <a:latin typeface="Helvetica Neue"/>
              <a:ea typeface="Helvetica Neue"/>
              <a:cs typeface="Helvetica Neue"/>
              <a:sym typeface="Helvetica Neue"/>
            </a:endParaRPr>
          </a:p>
        </p:txBody>
      </p:sp>
      <p:cxnSp>
        <p:nvCxnSpPr>
          <p:cNvPr id="346" name="Google Shape;346;h2dfb90ae07d12a84_2_258"/>
          <p:cNvCxnSpPr/>
          <p:nvPr/>
        </p:nvCxnSpPr>
        <p:spPr>
          <a:xfrm>
            <a:off x="4174514" y="5854292"/>
            <a:ext cx="200700" cy="0"/>
          </a:xfrm>
          <a:prstGeom prst="straightConnector1">
            <a:avLst/>
          </a:prstGeom>
          <a:noFill/>
          <a:ln cap="flat" cmpd="sng" w="19050">
            <a:solidFill>
              <a:srgbClr val="FF6600"/>
            </a:solidFill>
            <a:prstDash val="solid"/>
            <a:round/>
            <a:headEnd len="sm" w="sm" type="none"/>
            <a:tailEnd len="med" w="med" type="triangle"/>
          </a:ln>
        </p:spPr>
      </p:cxnSp>
      <p:sp>
        <p:nvSpPr>
          <p:cNvPr id="347" name="Google Shape;347;h2dfb90ae07d12a84_2_258"/>
          <p:cNvSpPr/>
          <p:nvPr/>
        </p:nvSpPr>
        <p:spPr>
          <a:xfrm>
            <a:off x="4375173" y="5663284"/>
            <a:ext cx="680700" cy="381900"/>
          </a:xfrm>
          <a:prstGeom prst="roundRect">
            <a:avLst>
              <a:gd fmla="val 10909" name="adj"/>
            </a:avLst>
          </a:prstGeom>
          <a:solidFill>
            <a:srgbClr val="FFD6CA"/>
          </a:solidFill>
          <a:ln cap="flat" cmpd="sng" w="15875">
            <a:solidFill>
              <a:srgbClr val="FF6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Helvetica Neue"/>
                <a:ea typeface="Helvetica Neue"/>
                <a:cs typeface="Helvetica Neue"/>
                <a:sym typeface="Helvetica Neue"/>
              </a:rPr>
              <a:t>H4</a:t>
            </a:r>
            <a:endParaRPr b="1">
              <a:latin typeface="Helvetica Neue"/>
              <a:ea typeface="Helvetica Neue"/>
              <a:cs typeface="Helvetica Neue"/>
              <a:sym typeface="Helvetica Neue"/>
            </a:endParaRPr>
          </a:p>
        </p:txBody>
      </p:sp>
      <p:sp>
        <p:nvSpPr>
          <p:cNvPr id="348" name="Google Shape;348;h2dfb90ae07d12a84_2_258"/>
          <p:cNvSpPr/>
          <p:nvPr/>
        </p:nvSpPr>
        <p:spPr>
          <a:xfrm>
            <a:off x="5891129" y="6045300"/>
            <a:ext cx="1252200" cy="381900"/>
          </a:xfrm>
          <a:prstGeom prst="roundRect">
            <a:avLst>
              <a:gd fmla="val 10909" name="adj"/>
            </a:avLst>
          </a:prstGeom>
          <a:solidFill>
            <a:srgbClr val="FFD6CA"/>
          </a:solidFill>
          <a:ln cap="flat" cmpd="sng" w="15875">
            <a:solidFill>
              <a:srgbClr val="FF6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Helvetica Neue"/>
                <a:ea typeface="Helvetica Neue"/>
                <a:cs typeface="Helvetica Neue"/>
                <a:sym typeface="Helvetica Neue"/>
              </a:rPr>
              <a:t>Predictive</a:t>
            </a:r>
            <a:endParaRPr b="1">
              <a:latin typeface="Helvetica Neue"/>
              <a:ea typeface="Helvetica Neue"/>
              <a:cs typeface="Helvetica Neue"/>
              <a:sym typeface="Helvetica Neue"/>
            </a:endParaRPr>
          </a:p>
        </p:txBody>
      </p:sp>
      <p:sp>
        <p:nvSpPr>
          <p:cNvPr id="349" name="Google Shape;349;h2dfb90ae07d12a84_2_258"/>
          <p:cNvSpPr/>
          <p:nvPr/>
        </p:nvSpPr>
        <p:spPr>
          <a:xfrm>
            <a:off x="8189035" y="5616806"/>
            <a:ext cx="1499100" cy="457200"/>
          </a:xfrm>
          <a:prstGeom prst="roundRect">
            <a:avLst>
              <a:gd fmla="val 10909" name="adj"/>
            </a:avLst>
          </a:prstGeom>
          <a:solidFill>
            <a:srgbClr val="FFD6CA"/>
          </a:solidFill>
          <a:ln cap="flat" cmpd="sng" w="19050">
            <a:solidFill>
              <a:srgbClr val="FF6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Helvetica Neue"/>
                <a:ea typeface="Helvetica Neue"/>
                <a:cs typeface="Helvetica Neue"/>
                <a:sym typeface="Helvetica Neue"/>
              </a:rPr>
              <a:t>Development</a:t>
            </a:r>
            <a:endParaRPr b="1">
              <a:latin typeface="Helvetica Neue"/>
              <a:ea typeface="Helvetica Neue"/>
              <a:cs typeface="Helvetica Neue"/>
              <a:sym typeface="Helvetica Neue"/>
            </a:endParaRPr>
          </a:p>
        </p:txBody>
      </p:sp>
      <p:cxnSp>
        <p:nvCxnSpPr>
          <p:cNvPr id="350" name="Google Shape;350;h2dfb90ae07d12a84_2_258"/>
          <p:cNvCxnSpPr/>
          <p:nvPr/>
        </p:nvCxnSpPr>
        <p:spPr>
          <a:xfrm>
            <a:off x="5182639" y="5450432"/>
            <a:ext cx="708600" cy="0"/>
          </a:xfrm>
          <a:prstGeom prst="straightConnector1">
            <a:avLst/>
          </a:prstGeom>
          <a:noFill/>
          <a:ln cap="flat" cmpd="sng" w="19050">
            <a:solidFill>
              <a:srgbClr val="FF6600"/>
            </a:solidFill>
            <a:prstDash val="solid"/>
            <a:round/>
            <a:headEnd len="sm" w="sm" type="none"/>
            <a:tailEnd len="med" w="med" type="triangle"/>
          </a:ln>
        </p:spPr>
      </p:cxnSp>
      <p:cxnSp>
        <p:nvCxnSpPr>
          <p:cNvPr id="351" name="Google Shape;351;h2dfb90ae07d12a84_2_258"/>
          <p:cNvCxnSpPr/>
          <p:nvPr/>
        </p:nvCxnSpPr>
        <p:spPr>
          <a:xfrm>
            <a:off x="5182639" y="6198716"/>
            <a:ext cx="708600" cy="0"/>
          </a:xfrm>
          <a:prstGeom prst="straightConnector1">
            <a:avLst/>
          </a:prstGeom>
          <a:noFill/>
          <a:ln cap="flat" cmpd="sng" w="19050">
            <a:solidFill>
              <a:srgbClr val="FF6600"/>
            </a:solidFill>
            <a:prstDash val="solid"/>
            <a:round/>
            <a:headEnd len="sm" w="sm" type="none"/>
            <a:tailEnd len="med" w="med" type="triangle"/>
          </a:ln>
        </p:spPr>
      </p:cxnSp>
      <p:cxnSp>
        <p:nvCxnSpPr>
          <p:cNvPr id="352" name="Google Shape;352;h2dfb90ae07d12a84_2_258"/>
          <p:cNvCxnSpPr/>
          <p:nvPr/>
        </p:nvCxnSpPr>
        <p:spPr>
          <a:xfrm>
            <a:off x="7143433" y="5459576"/>
            <a:ext cx="1023600" cy="381900"/>
          </a:xfrm>
          <a:prstGeom prst="straightConnector1">
            <a:avLst/>
          </a:prstGeom>
          <a:noFill/>
          <a:ln cap="flat" cmpd="sng" w="19050">
            <a:solidFill>
              <a:srgbClr val="FF6600"/>
            </a:solidFill>
            <a:prstDash val="solid"/>
            <a:round/>
            <a:headEnd len="sm" w="sm" type="none"/>
            <a:tailEnd len="med" w="med" type="triangle"/>
          </a:ln>
        </p:spPr>
      </p:cxnSp>
      <p:cxnSp>
        <p:nvCxnSpPr>
          <p:cNvPr id="353" name="Google Shape;353;h2dfb90ae07d12a84_2_258"/>
          <p:cNvCxnSpPr/>
          <p:nvPr/>
        </p:nvCxnSpPr>
        <p:spPr>
          <a:xfrm flipH="1" rot="10800000">
            <a:off x="7143431" y="5863549"/>
            <a:ext cx="1040100" cy="381900"/>
          </a:xfrm>
          <a:prstGeom prst="straightConnector1">
            <a:avLst/>
          </a:prstGeom>
          <a:noFill/>
          <a:ln cap="flat" cmpd="sng" w="19050">
            <a:solidFill>
              <a:srgbClr val="FF6600"/>
            </a:solidFill>
            <a:prstDash val="solid"/>
            <a:round/>
            <a:headEnd len="sm" w="sm" type="none"/>
            <a:tailEnd len="med" w="med" type="triangle"/>
          </a:ln>
        </p:spPr>
      </p:cxnSp>
      <p:cxnSp>
        <p:nvCxnSpPr>
          <p:cNvPr id="354" name="Google Shape;354;h2dfb90ae07d12a84_2_258"/>
          <p:cNvCxnSpPr>
            <a:stCxn id="350" idx="0"/>
            <a:endCxn id="351" idx="0"/>
          </p:cNvCxnSpPr>
          <p:nvPr/>
        </p:nvCxnSpPr>
        <p:spPr>
          <a:xfrm>
            <a:off x="5182639" y="5450432"/>
            <a:ext cx="0" cy="748200"/>
          </a:xfrm>
          <a:prstGeom prst="straightConnector1">
            <a:avLst/>
          </a:prstGeom>
          <a:noFill/>
          <a:ln cap="flat" cmpd="sng" w="12700">
            <a:solidFill>
              <a:srgbClr val="FF6600"/>
            </a:solidFill>
            <a:prstDash val="solid"/>
            <a:miter lim="8000"/>
            <a:headEnd len="sm" w="sm" type="none"/>
            <a:tailEnd len="sm" w="sm" type="none"/>
          </a:ln>
        </p:spPr>
      </p:cxnSp>
      <p:cxnSp>
        <p:nvCxnSpPr>
          <p:cNvPr id="355" name="Google Shape;355;h2dfb90ae07d12a84_2_258"/>
          <p:cNvCxnSpPr/>
          <p:nvPr/>
        </p:nvCxnSpPr>
        <p:spPr>
          <a:xfrm rot="10800000">
            <a:off x="5056039" y="5839193"/>
            <a:ext cx="126600" cy="9000"/>
          </a:xfrm>
          <a:prstGeom prst="straightConnector1">
            <a:avLst/>
          </a:prstGeom>
          <a:noFill/>
          <a:ln cap="flat" cmpd="sng" w="12700">
            <a:solidFill>
              <a:srgbClr val="FF6600"/>
            </a:solidFill>
            <a:prstDash val="solid"/>
            <a:miter lim="8000"/>
            <a:headEnd len="sm" w="sm" type="none"/>
            <a:tailEnd len="sm" w="sm" type="none"/>
          </a:ln>
        </p:spPr>
      </p:cxnSp>
      <p:cxnSp>
        <p:nvCxnSpPr>
          <p:cNvPr id="356" name="Google Shape;356;h2dfb90ae07d12a84_2_258"/>
          <p:cNvCxnSpPr/>
          <p:nvPr/>
        </p:nvCxnSpPr>
        <p:spPr>
          <a:xfrm>
            <a:off x="5107963" y="6530948"/>
            <a:ext cx="5035200" cy="0"/>
          </a:xfrm>
          <a:prstGeom prst="straightConnector1">
            <a:avLst/>
          </a:prstGeom>
          <a:noFill/>
          <a:ln cap="flat" cmpd="sng" w="25400">
            <a:solidFill>
              <a:srgbClr val="FFFFFF"/>
            </a:solidFill>
            <a:prstDash val="solid"/>
            <a:round/>
            <a:headEnd len="sm" w="sm" type="none"/>
            <a:tailEnd len="sm" w="sm" type="none"/>
          </a:ln>
        </p:spPr>
      </p:cxnSp>
      <p:sp>
        <p:nvSpPr>
          <p:cNvPr id="357" name="Google Shape;357;h2dfb90ae07d12a84_2_258"/>
          <p:cNvSpPr txBox="1"/>
          <p:nvPr/>
        </p:nvSpPr>
        <p:spPr>
          <a:xfrm flipH="1">
            <a:off x="7399808" y="6281035"/>
            <a:ext cx="28731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000">
                <a:solidFill>
                  <a:srgbClr val="FFFFFF"/>
                </a:solidFill>
                <a:latin typeface="Consolas"/>
                <a:ea typeface="Consolas"/>
                <a:cs typeface="Consolas"/>
                <a:sym typeface="Consolas"/>
              </a:rPr>
              <a:t>To be determined based on the findings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61" name="Shape 361"/>
        <p:cNvGrpSpPr/>
        <p:nvPr/>
      </p:nvGrpSpPr>
      <p:grpSpPr>
        <a:xfrm>
          <a:off x="0" y="0"/>
          <a:ext cx="0" cy="0"/>
          <a:chOff x="0" y="0"/>
          <a:chExt cx="0" cy="0"/>
        </a:xfrm>
      </p:grpSpPr>
      <p:sp>
        <p:nvSpPr>
          <p:cNvPr id="362" name="Google Shape;362;h2dfb90ae07d12a84_2_271"/>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363" name="Google Shape;363;h2dfb90ae07d12a84_2_271"/>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364" name="Google Shape;364;h2dfb90ae07d12a84_2_271"/>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365" name="Google Shape;365;h2dfb90ae07d12a84_2_271"/>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3. METHODOLOGY</a:t>
            </a:r>
            <a:endParaRPr b="0" i="0" sz="1500" u="none" cap="none" strike="noStrike">
              <a:solidFill>
                <a:schemeClr val="dk1"/>
              </a:solidFill>
              <a:latin typeface="Helvetica Neue"/>
              <a:ea typeface="Helvetica Neue"/>
              <a:cs typeface="Helvetica Neue"/>
              <a:sym typeface="Helvetica Neue"/>
            </a:endParaRPr>
          </a:p>
        </p:txBody>
      </p:sp>
      <p:sp>
        <p:nvSpPr>
          <p:cNvPr id="366" name="Google Shape;366;h2dfb90ae07d12a84_2_271"/>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B. Development — the proposed allocation pipeline</a:t>
            </a:r>
            <a:endParaRPr b="0" i="0" sz="2000" u="none" cap="none" strike="noStrike">
              <a:solidFill>
                <a:schemeClr val="dk1"/>
              </a:solidFill>
              <a:latin typeface="Helvetica Neue"/>
              <a:ea typeface="Helvetica Neue"/>
              <a:cs typeface="Helvetica Neue"/>
              <a:sym typeface="Helvetica Neue"/>
            </a:endParaRPr>
          </a:p>
        </p:txBody>
      </p:sp>
      <p:sp>
        <p:nvSpPr>
          <p:cNvPr id="367" name="Google Shape;367;h2dfb90ae07d12a84_2_271"/>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368" name="Google Shape;368;h2dfb90ae07d12a84_2_271"/>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14</a:t>
            </a:r>
            <a:endParaRPr b="0" i="0" sz="1000" u="none" cap="none" strike="noStrike">
              <a:solidFill>
                <a:schemeClr val="dk1"/>
              </a:solidFill>
              <a:latin typeface="Helvetica Neue"/>
              <a:ea typeface="Helvetica Neue"/>
              <a:cs typeface="Helvetica Neue"/>
              <a:sym typeface="Helvetica Neue"/>
            </a:endParaRPr>
          </a:p>
        </p:txBody>
      </p:sp>
      <p:sp>
        <p:nvSpPr>
          <p:cNvPr id="369" name="Google Shape;369;h2dfb90ae07d12a84_2_271"/>
          <p:cNvSpPr/>
          <p:nvPr/>
        </p:nvSpPr>
        <p:spPr>
          <a:xfrm>
            <a:off x="502920" y="1828800"/>
            <a:ext cx="11155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9A9A"/>
              </a:buClr>
              <a:buSzPts val="1200"/>
              <a:buFont typeface="Arial"/>
              <a:buNone/>
            </a:pPr>
            <a:r>
              <a:rPr i="1" lang="en-US" sz="1200">
                <a:solidFill>
                  <a:srgbClr val="9A9A9A"/>
                </a:solidFill>
                <a:latin typeface="Helvetica Neue"/>
                <a:ea typeface="Helvetica Neue"/>
                <a:cs typeface="Helvetica Neue"/>
                <a:sym typeface="Helvetica Neue"/>
              </a:rPr>
              <a:t>Each question flows through the pipeline in order; the RL residual stage only changes the outcome for cases flagged as hard to judge.</a:t>
            </a:r>
            <a:endParaRPr sz="1200">
              <a:solidFill>
                <a:schemeClr val="dk1"/>
              </a:solidFill>
              <a:latin typeface="Helvetica Neue"/>
              <a:ea typeface="Helvetica Neue"/>
              <a:cs typeface="Helvetica Neue"/>
              <a:sym typeface="Helvetica Neue"/>
            </a:endParaRPr>
          </a:p>
        </p:txBody>
      </p:sp>
      <p:sp>
        <p:nvSpPr>
          <p:cNvPr id="370" name="Google Shape;370;h2dfb90ae07d12a84_2_271"/>
          <p:cNvSpPr/>
          <p:nvPr/>
        </p:nvSpPr>
        <p:spPr>
          <a:xfrm>
            <a:off x="1182111" y="2606050"/>
            <a:ext cx="1602000" cy="960000"/>
          </a:xfrm>
          <a:prstGeom prst="roundRect">
            <a:avLst>
              <a:gd fmla="val 5714" name="adj"/>
            </a:avLst>
          </a:prstGeom>
          <a:solidFill>
            <a:srgbClr val="FFD6CA"/>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h2dfb90ae07d12a84_2_271"/>
          <p:cNvSpPr/>
          <p:nvPr/>
        </p:nvSpPr>
        <p:spPr>
          <a:xfrm>
            <a:off x="1319271" y="2697480"/>
            <a:ext cx="12801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Arial"/>
              <a:buNone/>
            </a:pPr>
            <a:r>
              <a:rPr b="1" lang="en-US" sz="1150">
                <a:solidFill>
                  <a:schemeClr val="lt1"/>
                </a:solidFill>
                <a:latin typeface="Helvetica Neue"/>
                <a:ea typeface="Helvetica Neue"/>
                <a:cs typeface="Helvetica Neue"/>
                <a:sym typeface="Helvetica Neue"/>
              </a:rPr>
              <a:t>Input</a:t>
            </a:r>
            <a:endParaRPr sz="1150">
              <a:solidFill>
                <a:schemeClr val="lt1"/>
              </a:solidFill>
              <a:latin typeface="Helvetica Neue"/>
              <a:ea typeface="Helvetica Neue"/>
              <a:cs typeface="Helvetica Neue"/>
              <a:sym typeface="Helvetica Neue"/>
            </a:endParaRPr>
          </a:p>
        </p:txBody>
      </p:sp>
      <p:sp>
        <p:nvSpPr>
          <p:cNvPr id="372" name="Google Shape;372;h2dfb90ae07d12a84_2_271"/>
          <p:cNvSpPr/>
          <p:nvPr/>
        </p:nvSpPr>
        <p:spPr>
          <a:xfrm>
            <a:off x="1319271" y="3154680"/>
            <a:ext cx="1280100" cy="3840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D6D6D6"/>
              </a:buClr>
              <a:buSzPts val="950"/>
              <a:buFont typeface="Arial"/>
              <a:buNone/>
            </a:pPr>
            <a:r>
              <a:rPr lang="en-US" sz="950">
                <a:solidFill>
                  <a:schemeClr val="lt1"/>
                </a:solidFill>
                <a:latin typeface="Helvetica Neue"/>
                <a:ea typeface="Helvetica Neue"/>
                <a:cs typeface="Helvetica Neue"/>
                <a:sym typeface="Helvetica Neue"/>
              </a:rPr>
              <a:t>Question + model params</a:t>
            </a:r>
            <a:endParaRPr sz="950">
              <a:solidFill>
                <a:schemeClr val="lt1"/>
              </a:solidFill>
              <a:latin typeface="Helvetica Neue"/>
              <a:ea typeface="Helvetica Neue"/>
              <a:cs typeface="Helvetica Neue"/>
              <a:sym typeface="Helvetica Neue"/>
            </a:endParaRPr>
          </a:p>
        </p:txBody>
      </p:sp>
      <p:sp>
        <p:nvSpPr>
          <p:cNvPr id="373" name="Google Shape;373;h2dfb90ae07d12a84_2_271"/>
          <p:cNvSpPr/>
          <p:nvPr/>
        </p:nvSpPr>
        <p:spPr>
          <a:xfrm>
            <a:off x="3056636" y="2606050"/>
            <a:ext cx="1602000" cy="960000"/>
          </a:xfrm>
          <a:prstGeom prst="roundRect">
            <a:avLst>
              <a:gd fmla="val 5714" name="adj"/>
            </a:avLst>
          </a:prstGeom>
          <a:solidFill>
            <a:srgbClr val="FFD6CA"/>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h2dfb90ae07d12a84_2_271"/>
          <p:cNvSpPr/>
          <p:nvPr/>
        </p:nvSpPr>
        <p:spPr>
          <a:xfrm>
            <a:off x="3193789" y="2697475"/>
            <a:ext cx="10905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Arial"/>
              <a:buNone/>
            </a:pPr>
            <a:r>
              <a:rPr b="1" lang="en-US" sz="1150">
                <a:solidFill>
                  <a:schemeClr val="lt1"/>
                </a:solidFill>
                <a:latin typeface="Helvetica Neue"/>
                <a:ea typeface="Helvetica Neue"/>
                <a:cs typeface="Helvetica Neue"/>
                <a:sym typeface="Helvetica Neue"/>
              </a:rPr>
              <a:t>Theoretical</a:t>
            </a:r>
            <a:endParaRPr sz="1150">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FFFFFF"/>
              </a:buClr>
              <a:buSzPts val="1150"/>
              <a:buFont typeface="Arial"/>
              <a:buNone/>
            </a:pPr>
            <a:r>
              <a:rPr b="1" lang="en-US" sz="1150">
                <a:solidFill>
                  <a:schemeClr val="lt1"/>
                </a:solidFill>
                <a:latin typeface="Helvetica Neue"/>
                <a:ea typeface="Helvetica Neue"/>
                <a:cs typeface="Helvetica Neue"/>
                <a:sym typeface="Helvetica Neue"/>
              </a:rPr>
              <a:t>Estimate</a:t>
            </a:r>
            <a:endParaRPr sz="1150">
              <a:solidFill>
                <a:schemeClr val="lt1"/>
              </a:solidFill>
              <a:latin typeface="Helvetica Neue"/>
              <a:ea typeface="Helvetica Neue"/>
              <a:cs typeface="Helvetica Neue"/>
              <a:sym typeface="Helvetica Neue"/>
            </a:endParaRPr>
          </a:p>
        </p:txBody>
      </p:sp>
      <p:sp>
        <p:nvSpPr>
          <p:cNvPr id="375" name="Google Shape;375;h2dfb90ae07d12a84_2_271"/>
          <p:cNvSpPr/>
          <p:nvPr/>
        </p:nvSpPr>
        <p:spPr>
          <a:xfrm>
            <a:off x="3193788" y="3154675"/>
            <a:ext cx="1371300" cy="3840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D6D6D6"/>
              </a:buClr>
              <a:buSzPts val="950"/>
              <a:buFont typeface="Arial"/>
              <a:buNone/>
            </a:pPr>
            <a:r>
              <a:rPr lang="en-US" sz="950">
                <a:solidFill>
                  <a:schemeClr val="lt1"/>
                </a:solidFill>
                <a:latin typeface="Helvetica Neue"/>
                <a:ea typeface="Helvetica Neue"/>
                <a:cs typeface="Helvetica Neue"/>
                <a:sym typeface="Helvetica Neue"/>
              </a:rPr>
              <a:t>C₀ = f(difficulty, params) </a:t>
            </a:r>
            <a:endParaRPr sz="950">
              <a:solidFill>
                <a:schemeClr val="lt1"/>
              </a:solidFill>
              <a:latin typeface="Helvetica Neue"/>
              <a:ea typeface="Helvetica Neue"/>
              <a:cs typeface="Helvetica Neue"/>
              <a:sym typeface="Helvetica Neue"/>
            </a:endParaRPr>
          </a:p>
          <a:p>
            <a:pPr indent="0" lvl="0" marL="0" marR="0" rtl="0" algn="l">
              <a:lnSpc>
                <a:spcPct val="105000"/>
              </a:lnSpc>
              <a:spcBef>
                <a:spcPts val="0"/>
              </a:spcBef>
              <a:spcAft>
                <a:spcPts val="0"/>
              </a:spcAft>
              <a:buClr>
                <a:srgbClr val="D6D6D6"/>
              </a:buClr>
              <a:buSzPts val="950"/>
              <a:buFont typeface="Arial"/>
              <a:buNone/>
            </a:pPr>
            <a:r>
              <a:rPr lang="en-US" sz="950">
                <a:solidFill>
                  <a:schemeClr val="lt1"/>
                </a:solidFill>
                <a:latin typeface="Helvetica Neue"/>
                <a:ea typeface="Helvetica Neue"/>
                <a:cs typeface="Helvetica Neue"/>
                <a:sym typeface="Helvetica Neue"/>
              </a:rPr>
              <a:t>— closed form</a:t>
            </a:r>
            <a:endParaRPr sz="950">
              <a:solidFill>
                <a:schemeClr val="lt1"/>
              </a:solidFill>
              <a:latin typeface="Helvetica Neue"/>
              <a:ea typeface="Helvetica Neue"/>
              <a:cs typeface="Helvetica Neue"/>
              <a:sym typeface="Helvetica Neue"/>
            </a:endParaRPr>
          </a:p>
        </p:txBody>
      </p:sp>
      <p:sp>
        <p:nvSpPr>
          <p:cNvPr id="376" name="Google Shape;376;h2dfb90ae07d12a84_2_271"/>
          <p:cNvSpPr/>
          <p:nvPr/>
        </p:nvSpPr>
        <p:spPr>
          <a:xfrm>
            <a:off x="4931169" y="2613346"/>
            <a:ext cx="1602000" cy="960000"/>
          </a:xfrm>
          <a:prstGeom prst="roundRect">
            <a:avLst>
              <a:gd fmla="val 5714" name="adj"/>
            </a:avLst>
          </a:prstGeom>
          <a:solidFill>
            <a:srgbClr val="FFD6CA"/>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141414"/>
              </a:solidFill>
            </a:endParaRPr>
          </a:p>
        </p:txBody>
      </p:sp>
      <p:sp>
        <p:nvSpPr>
          <p:cNvPr id="377" name="Google Shape;377;h2dfb90ae07d12a84_2_271"/>
          <p:cNvSpPr/>
          <p:nvPr/>
        </p:nvSpPr>
        <p:spPr>
          <a:xfrm>
            <a:off x="5043822" y="2697475"/>
            <a:ext cx="8796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Arial"/>
              <a:buNone/>
            </a:pPr>
            <a:r>
              <a:rPr b="1" lang="en-US" sz="1150">
                <a:solidFill>
                  <a:schemeClr val="lt1"/>
                </a:solidFill>
                <a:latin typeface="Helvetica Neue"/>
                <a:ea typeface="Helvetica Neue"/>
                <a:cs typeface="Helvetica Neue"/>
                <a:sym typeface="Helvetica Neue"/>
              </a:rPr>
              <a:t>Predictive</a:t>
            </a:r>
            <a:endParaRPr sz="1150">
              <a:solidFill>
                <a:schemeClr val="lt1"/>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FFFFFF"/>
              </a:buClr>
              <a:buSzPts val="1150"/>
              <a:buFont typeface="Arial"/>
              <a:buNone/>
            </a:pPr>
            <a:r>
              <a:rPr b="1" lang="en-US" sz="1150">
                <a:solidFill>
                  <a:schemeClr val="lt1"/>
                </a:solidFill>
                <a:latin typeface="Helvetica Neue"/>
                <a:ea typeface="Helvetica Neue"/>
                <a:cs typeface="Helvetica Neue"/>
                <a:sym typeface="Helvetica Neue"/>
              </a:rPr>
              <a:t>Correction</a:t>
            </a:r>
            <a:endParaRPr sz="1150">
              <a:solidFill>
                <a:schemeClr val="lt1"/>
              </a:solidFill>
              <a:latin typeface="Helvetica Neue"/>
              <a:ea typeface="Helvetica Neue"/>
              <a:cs typeface="Helvetica Neue"/>
              <a:sym typeface="Helvetica Neue"/>
            </a:endParaRPr>
          </a:p>
        </p:txBody>
      </p:sp>
      <p:sp>
        <p:nvSpPr>
          <p:cNvPr id="378" name="Google Shape;378;h2dfb90ae07d12a84_2_271"/>
          <p:cNvSpPr/>
          <p:nvPr/>
        </p:nvSpPr>
        <p:spPr>
          <a:xfrm>
            <a:off x="5043822" y="3154675"/>
            <a:ext cx="1280100" cy="3840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D6D6D6"/>
              </a:buClr>
              <a:buSzPts val="950"/>
              <a:buFont typeface="Arial"/>
              <a:buNone/>
            </a:pPr>
            <a:r>
              <a:rPr lang="en-US" sz="950">
                <a:solidFill>
                  <a:schemeClr val="lt1"/>
                </a:solidFill>
                <a:latin typeface="Helvetica Neue"/>
                <a:ea typeface="Helvetica Neue"/>
                <a:cs typeface="Helvetica Neue"/>
                <a:sym typeface="Helvetica Neue"/>
              </a:rPr>
              <a:t>ΔC = g(C₀, features)</a:t>
            </a:r>
            <a:endParaRPr sz="950">
              <a:solidFill>
                <a:schemeClr val="lt1"/>
              </a:solidFill>
              <a:latin typeface="Helvetica Neue"/>
              <a:ea typeface="Helvetica Neue"/>
              <a:cs typeface="Helvetica Neue"/>
              <a:sym typeface="Helvetica Neue"/>
            </a:endParaRPr>
          </a:p>
          <a:p>
            <a:pPr indent="0" lvl="0" marL="0" marR="0" rtl="0" algn="l">
              <a:lnSpc>
                <a:spcPct val="105000"/>
              </a:lnSpc>
              <a:spcBef>
                <a:spcPts val="0"/>
              </a:spcBef>
              <a:spcAft>
                <a:spcPts val="0"/>
              </a:spcAft>
              <a:buClr>
                <a:srgbClr val="D6D6D6"/>
              </a:buClr>
              <a:buSzPts val="950"/>
              <a:buFont typeface="Arial"/>
              <a:buNone/>
            </a:pPr>
            <a:r>
              <a:rPr lang="en-US" sz="950">
                <a:solidFill>
                  <a:schemeClr val="lt1"/>
                </a:solidFill>
                <a:latin typeface="Helvetica Neue"/>
                <a:ea typeface="Helvetica Neue"/>
                <a:cs typeface="Helvetica Neue"/>
                <a:sym typeface="Helvetica Neue"/>
              </a:rPr>
              <a:t>learned residual</a:t>
            </a:r>
            <a:endParaRPr sz="950">
              <a:solidFill>
                <a:schemeClr val="lt1"/>
              </a:solidFill>
              <a:latin typeface="Helvetica Neue"/>
              <a:ea typeface="Helvetica Neue"/>
              <a:cs typeface="Helvetica Neue"/>
              <a:sym typeface="Helvetica Neue"/>
            </a:endParaRPr>
          </a:p>
        </p:txBody>
      </p:sp>
      <p:sp>
        <p:nvSpPr>
          <p:cNvPr id="379" name="Google Shape;379;h2dfb90ae07d12a84_2_271"/>
          <p:cNvSpPr/>
          <p:nvPr/>
        </p:nvSpPr>
        <p:spPr>
          <a:xfrm>
            <a:off x="2736591" y="2880360"/>
            <a:ext cx="3201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9A9A"/>
              </a:buClr>
              <a:buSzPts val="2000"/>
              <a:buFont typeface="Arial"/>
              <a:buNone/>
            </a:pPr>
            <a:r>
              <a:rPr lang="en-US" sz="2000">
                <a:solidFill>
                  <a:srgbClr val="9A9A9A"/>
                </a:solidFill>
                <a:latin typeface="Arial"/>
                <a:ea typeface="Arial"/>
                <a:cs typeface="Arial"/>
                <a:sym typeface="Arial"/>
              </a:rPr>
              <a:t>→</a:t>
            </a:r>
            <a:endParaRPr sz="2000">
              <a:solidFill>
                <a:schemeClr val="lt1"/>
              </a:solidFill>
              <a:latin typeface="Calibri"/>
              <a:ea typeface="Calibri"/>
              <a:cs typeface="Calibri"/>
              <a:sym typeface="Calibri"/>
            </a:endParaRPr>
          </a:p>
        </p:txBody>
      </p:sp>
      <p:sp>
        <p:nvSpPr>
          <p:cNvPr id="380" name="Google Shape;380;h2dfb90ae07d12a84_2_271"/>
          <p:cNvSpPr/>
          <p:nvPr/>
        </p:nvSpPr>
        <p:spPr>
          <a:xfrm>
            <a:off x="4618881" y="2880360"/>
            <a:ext cx="3201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9A9A"/>
              </a:buClr>
              <a:buSzPts val="2000"/>
              <a:buFont typeface="Arial"/>
              <a:buNone/>
            </a:pPr>
            <a:r>
              <a:rPr lang="en-US" sz="2000">
                <a:solidFill>
                  <a:srgbClr val="9A9A9A"/>
                </a:solidFill>
                <a:latin typeface="Arial"/>
                <a:ea typeface="Arial"/>
                <a:cs typeface="Arial"/>
                <a:sym typeface="Arial"/>
              </a:rPr>
              <a:t>→</a:t>
            </a:r>
            <a:endParaRPr sz="2000">
              <a:solidFill>
                <a:schemeClr val="dk1"/>
              </a:solidFill>
              <a:latin typeface="Calibri"/>
              <a:ea typeface="Calibri"/>
              <a:cs typeface="Calibri"/>
              <a:sym typeface="Calibri"/>
            </a:endParaRPr>
          </a:p>
        </p:txBody>
      </p:sp>
      <p:sp>
        <p:nvSpPr>
          <p:cNvPr id="381" name="Google Shape;381;h2dfb90ae07d12a84_2_271"/>
          <p:cNvSpPr/>
          <p:nvPr/>
        </p:nvSpPr>
        <p:spPr>
          <a:xfrm>
            <a:off x="6897190" y="2468880"/>
            <a:ext cx="1691700" cy="1234500"/>
          </a:xfrm>
          <a:prstGeom prst="diamond">
            <a:avLst/>
          </a:prstGeom>
          <a:solidFill>
            <a:srgbClr val="1F1409"/>
          </a:solidFill>
          <a:ln cap="flat" cmpd="sng" w="15875">
            <a:solidFill>
              <a:srgbClr val="FF7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h2dfb90ae07d12a84_2_271"/>
          <p:cNvSpPr/>
          <p:nvPr/>
        </p:nvSpPr>
        <p:spPr>
          <a:xfrm>
            <a:off x="6897190" y="2507907"/>
            <a:ext cx="1691700" cy="1234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7900"/>
              </a:buClr>
              <a:buSzPts val="1050"/>
              <a:buFont typeface="Arial"/>
              <a:buNone/>
            </a:pPr>
            <a:r>
              <a:rPr b="1" lang="en-US" sz="1050">
                <a:solidFill>
                  <a:schemeClr val="dk1"/>
                </a:solidFill>
                <a:latin typeface="Helvetica Neue"/>
                <a:ea typeface="Helvetica Neue"/>
                <a:cs typeface="Helvetica Neue"/>
                <a:sym typeface="Helvetica Neue"/>
              </a:rPr>
              <a:t>Long-tail /</a:t>
            </a:r>
            <a:endParaRPr sz="1050">
              <a:solidFill>
                <a:schemeClr val="dk1"/>
              </a:solidFill>
              <a:latin typeface="Helvetica Neue"/>
              <a:ea typeface="Helvetica Neue"/>
              <a:cs typeface="Helvetica Neue"/>
              <a:sym typeface="Helvetica Neue"/>
            </a:endParaRPr>
          </a:p>
          <a:p>
            <a:pPr indent="0" lvl="0" marL="0" marR="0" rtl="0" algn="ctr">
              <a:spcBef>
                <a:spcPts val="0"/>
              </a:spcBef>
              <a:spcAft>
                <a:spcPts val="0"/>
              </a:spcAft>
              <a:buClr>
                <a:srgbClr val="FF7900"/>
              </a:buClr>
              <a:buSzPts val="1050"/>
              <a:buFont typeface="Arial"/>
              <a:buNone/>
            </a:pPr>
            <a:r>
              <a:rPr b="1" lang="en-US" sz="1050">
                <a:solidFill>
                  <a:schemeClr val="dk1"/>
                </a:solidFill>
                <a:latin typeface="Helvetica Neue"/>
                <a:ea typeface="Helvetica Neue"/>
                <a:cs typeface="Helvetica Neue"/>
                <a:sym typeface="Helvetica Neue"/>
              </a:rPr>
              <a:t>misjudged</a:t>
            </a:r>
            <a:endParaRPr sz="1050">
              <a:solidFill>
                <a:schemeClr val="dk1"/>
              </a:solidFill>
              <a:latin typeface="Helvetica Neue"/>
              <a:ea typeface="Helvetica Neue"/>
              <a:cs typeface="Helvetica Neue"/>
              <a:sym typeface="Helvetica Neue"/>
            </a:endParaRPr>
          </a:p>
          <a:p>
            <a:pPr indent="0" lvl="0" marL="0" marR="0" rtl="0" algn="ctr">
              <a:spcBef>
                <a:spcPts val="0"/>
              </a:spcBef>
              <a:spcAft>
                <a:spcPts val="0"/>
              </a:spcAft>
              <a:buClr>
                <a:srgbClr val="FF7900"/>
              </a:buClr>
              <a:buSzPts val="1050"/>
              <a:buFont typeface="Arial"/>
              <a:buNone/>
            </a:pPr>
            <a:r>
              <a:rPr b="1" lang="en-US" sz="1050">
                <a:solidFill>
                  <a:schemeClr val="dk1"/>
                </a:solidFill>
                <a:latin typeface="Helvetica Neue"/>
                <a:ea typeface="Helvetica Neue"/>
                <a:cs typeface="Helvetica Neue"/>
                <a:sym typeface="Helvetica Neue"/>
              </a:rPr>
              <a:t>case?</a:t>
            </a:r>
            <a:endParaRPr sz="1050">
              <a:solidFill>
                <a:schemeClr val="dk1"/>
              </a:solidFill>
              <a:latin typeface="Helvetica Neue"/>
              <a:ea typeface="Helvetica Neue"/>
              <a:cs typeface="Helvetica Neue"/>
              <a:sym typeface="Helvetica Neue"/>
            </a:endParaRPr>
          </a:p>
        </p:txBody>
      </p:sp>
      <p:sp>
        <p:nvSpPr>
          <p:cNvPr id="383" name="Google Shape;383;h2dfb90ae07d12a84_2_271"/>
          <p:cNvSpPr/>
          <p:nvPr/>
        </p:nvSpPr>
        <p:spPr>
          <a:xfrm>
            <a:off x="6577150" y="2880360"/>
            <a:ext cx="3201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9A9A"/>
              </a:buClr>
              <a:buSzPts val="2000"/>
              <a:buFont typeface="Arial"/>
              <a:buNone/>
            </a:pPr>
            <a:r>
              <a:rPr lang="en-US" sz="2000">
                <a:solidFill>
                  <a:srgbClr val="9A9A9A"/>
                </a:solidFill>
                <a:latin typeface="Arial"/>
                <a:ea typeface="Arial"/>
                <a:cs typeface="Arial"/>
                <a:sym typeface="Arial"/>
              </a:rPr>
              <a:t>→</a:t>
            </a:r>
            <a:endParaRPr sz="2000">
              <a:solidFill>
                <a:schemeClr val="dk1"/>
              </a:solidFill>
              <a:latin typeface="Calibri"/>
              <a:ea typeface="Calibri"/>
              <a:cs typeface="Calibri"/>
              <a:sym typeface="Calibri"/>
            </a:endParaRPr>
          </a:p>
        </p:txBody>
      </p:sp>
      <p:sp>
        <p:nvSpPr>
          <p:cNvPr id="384" name="Google Shape;384;h2dfb90ae07d12a84_2_271"/>
          <p:cNvSpPr/>
          <p:nvPr/>
        </p:nvSpPr>
        <p:spPr>
          <a:xfrm>
            <a:off x="9285405" y="2377440"/>
            <a:ext cx="1508700" cy="1417200"/>
          </a:xfrm>
          <a:prstGeom prst="roundRect">
            <a:avLst>
              <a:gd fmla="val 3871" name="adj"/>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h2dfb90ae07d12a84_2_271"/>
          <p:cNvSpPr/>
          <p:nvPr/>
        </p:nvSpPr>
        <p:spPr>
          <a:xfrm>
            <a:off x="9293210" y="2376924"/>
            <a:ext cx="1508700" cy="141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200"/>
              <a:buFont typeface="Arial"/>
              <a:buNone/>
            </a:pPr>
            <a:r>
              <a:rPr b="1" lang="en-US" sz="1200">
                <a:solidFill>
                  <a:srgbClr val="000000"/>
                </a:solidFill>
                <a:latin typeface="Helvetica Neue"/>
                <a:ea typeface="Helvetica Neue"/>
                <a:cs typeface="Helvetica Neue"/>
                <a:sym typeface="Helvetica Neue"/>
              </a:rPr>
              <a:t>Final</a:t>
            </a:r>
            <a:endParaRPr sz="1200">
              <a:solidFill>
                <a:schemeClr val="dk1"/>
              </a:solidFill>
              <a:latin typeface="Helvetica Neue"/>
              <a:ea typeface="Helvetica Neue"/>
              <a:cs typeface="Helvetica Neue"/>
              <a:sym typeface="Helvetica Neue"/>
            </a:endParaRPr>
          </a:p>
          <a:p>
            <a:pPr indent="0" lvl="0" marL="0" marR="0" rtl="0" algn="ctr">
              <a:spcBef>
                <a:spcPts val="0"/>
              </a:spcBef>
              <a:spcAft>
                <a:spcPts val="0"/>
              </a:spcAft>
              <a:buClr>
                <a:srgbClr val="000000"/>
              </a:buClr>
              <a:buSzPts val="1200"/>
              <a:buFont typeface="Arial"/>
              <a:buNone/>
            </a:pPr>
            <a:r>
              <a:rPr b="1" lang="en-US" sz="1200">
                <a:solidFill>
                  <a:srgbClr val="000000"/>
                </a:solidFill>
                <a:latin typeface="Helvetica Neue"/>
                <a:ea typeface="Helvetica Neue"/>
                <a:cs typeface="Helvetica Neue"/>
                <a:sym typeface="Helvetica Neue"/>
              </a:rPr>
              <a:t>Compute</a:t>
            </a:r>
            <a:endParaRPr sz="1200">
              <a:solidFill>
                <a:schemeClr val="dk1"/>
              </a:solidFill>
              <a:latin typeface="Helvetica Neue"/>
              <a:ea typeface="Helvetica Neue"/>
              <a:cs typeface="Helvetica Neue"/>
              <a:sym typeface="Helvetica Neue"/>
            </a:endParaRPr>
          </a:p>
          <a:p>
            <a:pPr indent="0" lvl="0" marL="0" marR="0" rtl="0" algn="ctr">
              <a:spcBef>
                <a:spcPts val="0"/>
              </a:spcBef>
              <a:spcAft>
                <a:spcPts val="0"/>
              </a:spcAft>
              <a:buClr>
                <a:srgbClr val="000000"/>
              </a:buClr>
              <a:buSzPts val="1200"/>
              <a:buFont typeface="Arial"/>
              <a:buNone/>
            </a:pPr>
            <a:r>
              <a:rPr b="1" lang="en-US" sz="1200">
                <a:solidFill>
                  <a:srgbClr val="000000"/>
                </a:solidFill>
                <a:latin typeface="Helvetica Neue"/>
                <a:ea typeface="Helvetica Neue"/>
                <a:cs typeface="Helvetica Neue"/>
                <a:sym typeface="Helvetica Neue"/>
              </a:rPr>
              <a:t>Budget</a:t>
            </a:r>
            <a:endParaRPr sz="1200">
              <a:solidFill>
                <a:schemeClr val="dk1"/>
              </a:solidFill>
              <a:latin typeface="Helvetica Neue"/>
              <a:ea typeface="Helvetica Neue"/>
              <a:cs typeface="Helvetica Neue"/>
              <a:sym typeface="Helvetica Neue"/>
            </a:endParaRPr>
          </a:p>
        </p:txBody>
      </p:sp>
      <p:sp>
        <p:nvSpPr>
          <p:cNvPr id="386" name="Google Shape;386;h2dfb90ae07d12a84_2_271"/>
          <p:cNvSpPr/>
          <p:nvPr/>
        </p:nvSpPr>
        <p:spPr>
          <a:xfrm>
            <a:off x="8755508" y="2843046"/>
            <a:ext cx="5487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9A9A"/>
              </a:buClr>
              <a:buSzPts val="900"/>
              <a:buFont typeface="Arial"/>
              <a:buNone/>
            </a:pPr>
            <a:r>
              <a:rPr i="1" lang="en-US" sz="900">
                <a:solidFill>
                  <a:srgbClr val="9A9A9A"/>
                </a:solidFill>
                <a:latin typeface="Arial"/>
                <a:ea typeface="Arial"/>
                <a:cs typeface="Arial"/>
                <a:sym typeface="Arial"/>
              </a:rPr>
              <a:t>no</a:t>
            </a:r>
            <a:endParaRPr sz="900">
              <a:solidFill>
                <a:schemeClr val="dk1"/>
              </a:solidFill>
              <a:latin typeface="Calibri"/>
              <a:ea typeface="Calibri"/>
              <a:cs typeface="Calibri"/>
              <a:sym typeface="Calibri"/>
            </a:endParaRPr>
          </a:p>
        </p:txBody>
      </p:sp>
      <p:cxnSp>
        <p:nvCxnSpPr>
          <p:cNvPr id="387" name="Google Shape;387;h2dfb90ae07d12a84_2_271"/>
          <p:cNvCxnSpPr/>
          <p:nvPr/>
        </p:nvCxnSpPr>
        <p:spPr>
          <a:xfrm>
            <a:off x="7743010" y="3703320"/>
            <a:ext cx="0" cy="292500"/>
          </a:xfrm>
          <a:prstGeom prst="straightConnector1">
            <a:avLst/>
          </a:prstGeom>
          <a:noFill/>
          <a:ln cap="flat" cmpd="sng" w="12700">
            <a:solidFill>
              <a:srgbClr val="9A9A9A"/>
            </a:solidFill>
            <a:prstDash val="solid"/>
            <a:round/>
            <a:headEnd len="sm" w="sm" type="none"/>
            <a:tailEnd len="med" w="med" type="triangle"/>
          </a:ln>
        </p:spPr>
      </p:cxnSp>
      <p:sp>
        <p:nvSpPr>
          <p:cNvPr id="388" name="Google Shape;388;h2dfb90ae07d12a84_2_271"/>
          <p:cNvSpPr/>
          <p:nvPr/>
        </p:nvSpPr>
        <p:spPr>
          <a:xfrm>
            <a:off x="7797874" y="3696320"/>
            <a:ext cx="548700" cy="21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9A9A"/>
              </a:buClr>
              <a:buSzPts val="900"/>
              <a:buFont typeface="Arial"/>
              <a:buNone/>
            </a:pPr>
            <a:r>
              <a:rPr i="1" lang="en-US" sz="900">
                <a:solidFill>
                  <a:srgbClr val="9A9A9A"/>
                </a:solidFill>
                <a:latin typeface="Arial"/>
                <a:ea typeface="Arial"/>
                <a:cs typeface="Arial"/>
                <a:sym typeface="Arial"/>
              </a:rPr>
              <a:t>yes</a:t>
            </a:r>
            <a:endParaRPr sz="900">
              <a:solidFill>
                <a:schemeClr val="dk1"/>
              </a:solidFill>
              <a:latin typeface="Calibri"/>
              <a:ea typeface="Calibri"/>
              <a:cs typeface="Calibri"/>
              <a:sym typeface="Calibri"/>
            </a:endParaRPr>
          </a:p>
        </p:txBody>
      </p:sp>
      <p:sp>
        <p:nvSpPr>
          <p:cNvPr id="389" name="Google Shape;389;h2dfb90ae07d12a84_2_271"/>
          <p:cNvSpPr/>
          <p:nvPr/>
        </p:nvSpPr>
        <p:spPr>
          <a:xfrm>
            <a:off x="6691450" y="3995928"/>
            <a:ext cx="2103000" cy="777300"/>
          </a:xfrm>
          <a:prstGeom prst="roundRect">
            <a:avLst>
              <a:gd fmla="val 7059" name="adj"/>
            </a:avLst>
          </a:prstGeom>
          <a:solidFill>
            <a:srgbClr val="FFD6CA"/>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h2dfb90ae07d12a84_2_271"/>
          <p:cNvSpPr/>
          <p:nvPr/>
        </p:nvSpPr>
        <p:spPr>
          <a:xfrm>
            <a:off x="6828610" y="4087368"/>
            <a:ext cx="1828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Arial"/>
              <a:buNone/>
            </a:pPr>
            <a:r>
              <a:rPr b="1" lang="en-US" sz="1050">
                <a:solidFill>
                  <a:schemeClr val="lt1"/>
                </a:solidFill>
                <a:latin typeface="Helvetica Neue"/>
                <a:ea typeface="Helvetica Neue"/>
                <a:cs typeface="Helvetica Neue"/>
                <a:sym typeface="Helvetica Neue"/>
              </a:rPr>
              <a:t>RL Residual Correction</a:t>
            </a:r>
            <a:endParaRPr sz="1050">
              <a:solidFill>
                <a:schemeClr val="lt1"/>
              </a:solidFill>
              <a:latin typeface="Helvetica Neue"/>
              <a:ea typeface="Helvetica Neue"/>
              <a:cs typeface="Helvetica Neue"/>
              <a:sym typeface="Helvetica Neue"/>
            </a:endParaRPr>
          </a:p>
        </p:txBody>
      </p:sp>
      <p:sp>
        <p:nvSpPr>
          <p:cNvPr id="391" name="Google Shape;391;h2dfb90ae07d12a84_2_271"/>
          <p:cNvSpPr/>
          <p:nvPr/>
        </p:nvSpPr>
        <p:spPr>
          <a:xfrm>
            <a:off x="6828610" y="4379976"/>
            <a:ext cx="1828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6D6D6"/>
              </a:buClr>
              <a:buSzPts val="950"/>
              <a:buFont typeface="Arial"/>
              <a:buNone/>
            </a:pPr>
            <a:r>
              <a:rPr lang="en-US" sz="950">
                <a:solidFill>
                  <a:schemeClr val="lt1"/>
                </a:solidFill>
                <a:latin typeface="Helvetica Neue"/>
                <a:ea typeface="Helvetica Neue"/>
                <a:cs typeface="Helvetica Neue"/>
                <a:sym typeface="Helvetica Neue"/>
              </a:rPr>
              <a:t>Overrides C₀ + ΔC for this case only</a:t>
            </a:r>
            <a:endParaRPr sz="950">
              <a:solidFill>
                <a:schemeClr val="lt1"/>
              </a:solidFill>
              <a:latin typeface="Helvetica Neue"/>
              <a:ea typeface="Helvetica Neue"/>
              <a:cs typeface="Helvetica Neue"/>
              <a:sym typeface="Helvetica Neue"/>
            </a:endParaRPr>
          </a:p>
        </p:txBody>
      </p:sp>
      <p:sp>
        <p:nvSpPr>
          <p:cNvPr id="392" name="Google Shape;392;h2dfb90ae07d12a84_2_271"/>
          <p:cNvSpPr/>
          <p:nvPr/>
        </p:nvSpPr>
        <p:spPr>
          <a:xfrm>
            <a:off x="457200" y="5138928"/>
            <a:ext cx="11247000" cy="621900"/>
          </a:xfrm>
          <a:prstGeom prst="roundRect">
            <a:avLst>
              <a:gd fmla="val 8824" name="adj"/>
            </a:avLst>
          </a:prstGeom>
          <a:solidFill>
            <a:srgbClr val="141414"/>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h2dfb90ae07d12a84_2_271"/>
          <p:cNvSpPr/>
          <p:nvPr/>
        </p:nvSpPr>
        <p:spPr>
          <a:xfrm>
            <a:off x="685800" y="5138928"/>
            <a:ext cx="10789800" cy="621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7900"/>
              </a:buClr>
              <a:buSzPts val="1150"/>
              <a:buFont typeface="Arial"/>
              <a:buNone/>
            </a:pPr>
            <a:r>
              <a:rPr b="1" lang="en-US" sz="1150">
                <a:solidFill>
                  <a:srgbClr val="FF7900"/>
                </a:solidFill>
                <a:latin typeface="Helvetica Neue"/>
                <a:ea typeface="Helvetica Neue"/>
                <a:cs typeface="Helvetica Neue"/>
                <a:sym typeface="Helvetica Neue"/>
              </a:rPr>
              <a:t>Example:  </a:t>
            </a:r>
            <a:r>
              <a:rPr lang="en-US" sz="1150">
                <a:solidFill>
                  <a:srgbClr val="D6D6D6"/>
                </a:solidFill>
                <a:latin typeface="Helvetica Neue"/>
                <a:ea typeface="Helvetica Neue"/>
                <a:cs typeface="Helvetica Neue"/>
                <a:sym typeface="Helvetica Neue"/>
              </a:rPr>
              <a:t>difficulty 0.72, 70B model — theoretical estimate ≈ 1,200 tokens → predictive correction +150 → flagged long-tail → RL override to 1,600 tokens, traceable at every step.</a:t>
            </a:r>
            <a:endParaRPr sz="1150">
              <a:solidFill>
                <a:schemeClr val="dk1"/>
              </a:solidFill>
              <a:latin typeface="Helvetica Neue"/>
              <a:ea typeface="Helvetica Neue"/>
              <a:cs typeface="Helvetica Neue"/>
              <a:sym typeface="Helvetica Neue"/>
            </a:endParaRPr>
          </a:p>
        </p:txBody>
      </p:sp>
      <p:cxnSp>
        <p:nvCxnSpPr>
          <p:cNvPr id="394" name="Google Shape;394;h2dfb90ae07d12a84_2_271"/>
          <p:cNvCxnSpPr/>
          <p:nvPr/>
        </p:nvCxnSpPr>
        <p:spPr>
          <a:xfrm flipH="1" rot="10800000">
            <a:off x="8652669" y="3083118"/>
            <a:ext cx="569700" cy="7800"/>
          </a:xfrm>
          <a:prstGeom prst="straightConnector1">
            <a:avLst/>
          </a:prstGeom>
          <a:noFill/>
          <a:ln cap="flat" cmpd="sng" w="9525">
            <a:solidFill>
              <a:srgbClr val="9A9A9A"/>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98" name="Shape 398"/>
        <p:cNvGrpSpPr/>
        <p:nvPr/>
      </p:nvGrpSpPr>
      <p:grpSpPr>
        <a:xfrm>
          <a:off x="0" y="0"/>
          <a:ext cx="0" cy="0"/>
          <a:chOff x="0" y="0"/>
          <a:chExt cx="0" cy="0"/>
        </a:xfrm>
      </p:grpSpPr>
      <p:sp>
        <p:nvSpPr>
          <p:cNvPr id="399" name="Google Shape;399;h2dfb90ae07d12a84_2_284"/>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00" name="Google Shape;400;h2dfb90ae07d12a84_2_284"/>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401" name="Google Shape;401;h2dfb90ae07d12a84_2_284"/>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402" name="Google Shape;402;h2dfb90ae07d12a84_2_284"/>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3. METHODOLOGY</a:t>
            </a:r>
            <a:endParaRPr b="0" i="0" sz="1500" u="none" cap="none" strike="noStrike">
              <a:solidFill>
                <a:schemeClr val="dk1"/>
              </a:solidFill>
              <a:latin typeface="Helvetica Neue"/>
              <a:ea typeface="Helvetica Neue"/>
              <a:cs typeface="Helvetica Neue"/>
              <a:sym typeface="Helvetica Neue"/>
            </a:endParaRPr>
          </a:p>
        </p:txBody>
      </p:sp>
      <p:sp>
        <p:nvSpPr>
          <p:cNvPr id="403" name="Google Shape;403;h2dfb90ae07d12a84_2_284"/>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B. Detail — Stage 0 &amp; 1</a:t>
            </a:r>
            <a:endParaRPr b="0" i="0" sz="2000" u="none" cap="none" strike="noStrike">
              <a:solidFill>
                <a:schemeClr val="dk1"/>
              </a:solidFill>
              <a:latin typeface="Helvetica Neue"/>
              <a:ea typeface="Helvetica Neue"/>
              <a:cs typeface="Helvetica Neue"/>
              <a:sym typeface="Helvetica Neue"/>
            </a:endParaRPr>
          </a:p>
        </p:txBody>
      </p:sp>
      <p:sp>
        <p:nvSpPr>
          <p:cNvPr id="404" name="Google Shape;404;h2dfb90ae07d12a84_2_284"/>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405" name="Google Shape;405;h2dfb90ae07d12a84_2_284"/>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15</a:t>
            </a:r>
            <a:endParaRPr b="0" i="0" sz="1000" u="none" cap="none" strike="noStrike">
              <a:solidFill>
                <a:schemeClr val="dk1"/>
              </a:solidFill>
              <a:latin typeface="Helvetica Neue"/>
              <a:ea typeface="Helvetica Neue"/>
              <a:cs typeface="Helvetica Neue"/>
              <a:sym typeface="Helvetica Neue"/>
            </a:endParaRPr>
          </a:p>
        </p:txBody>
      </p:sp>
      <p:sp>
        <p:nvSpPr>
          <p:cNvPr id="406" name="Google Shape;406;h2dfb90ae07d12a84_2_284"/>
          <p:cNvSpPr/>
          <p:nvPr/>
        </p:nvSpPr>
        <p:spPr>
          <a:xfrm>
            <a:off x="562646" y="2068235"/>
            <a:ext cx="10470000" cy="2975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38"/>
              <a:buFont typeface="Arial"/>
              <a:buNone/>
            </a:pPr>
            <a:r>
              <a:rPr b="1" i="0" lang="en-US" sz="1638" u="none" cap="none" strike="noStrike">
                <a:solidFill>
                  <a:srgbClr val="FF7900"/>
                </a:solidFill>
                <a:latin typeface="Helvetica Neue"/>
                <a:ea typeface="Helvetica Neue"/>
                <a:cs typeface="Helvetica Neue"/>
                <a:sym typeface="Helvetica Neue"/>
              </a:rPr>
              <a:t>Stage 0 — cheap difficulty signal extraction</a:t>
            </a:r>
            <a:endParaRPr sz="1600"/>
          </a:p>
          <a:p>
            <a:pPr indent="-190500" lvl="1" marL="355600" marR="0" rtl="0" algn="l">
              <a:lnSpc>
                <a:spcPct val="100000"/>
              </a:lnSpc>
              <a:spcBef>
                <a:spcPts val="275"/>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Before any budget estimate, run a short, fixed-cost probe on the query; this avoids the chicken-and-egg problem of needing to know how hard a question is before deciding how long to think about it.</a:t>
            </a:r>
            <a:endParaRPr sz="1600"/>
          </a:p>
          <a:p>
            <a:pPr indent="-190500" lvl="1" marL="355600" marR="0" rtl="0" algn="l">
              <a:lnSpc>
                <a:spcPct val="100000"/>
              </a:lnSpc>
              <a:spcBef>
                <a:spcPts val="220"/>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Option A — short forced-CoT prefix (64–128 tokens) whose token-probability entropy trajectory is read out as the signal.</a:t>
            </a:r>
            <a:endParaRPr sz="1600"/>
          </a:p>
          <a:p>
            <a:pPr indent="-190500" lvl="1" marL="355600" marR="0" rtl="0" algn="l">
              <a:lnSpc>
                <a:spcPct val="100000"/>
              </a:lnSpc>
              <a:spcBef>
                <a:spcPts val="220"/>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Option B — base model’s final hidden state after reading the question only — no generation yet — fed to a small trained classifier.</a:t>
            </a:r>
            <a:endParaRPr sz="1600"/>
          </a:p>
          <a:p>
            <a:pPr indent="-190500" lvl="1" marL="355600" marR="0" rtl="0" algn="l">
              <a:lnSpc>
                <a:spcPct val="100000"/>
              </a:lnSpc>
              <a:spcBef>
                <a:spcPts val="220"/>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Both cost a small fixed number of extra tokens, and produce a cheap difficulty proxy d̂ that we can learn to trust empirically rather than assuming a priori.</a:t>
            </a:r>
            <a:endParaRPr sz="1600"/>
          </a:p>
          <a:p>
            <a:pPr indent="0" lvl="0" marL="0" marR="0" rtl="0" algn="l">
              <a:lnSpc>
                <a:spcPct val="100000"/>
              </a:lnSpc>
              <a:spcBef>
                <a:spcPts val="330"/>
              </a:spcBef>
              <a:spcAft>
                <a:spcPts val="0"/>
              </a:spcAft>
              <a:buClr>
                <a:srgbClr val="000000"/>
              </a:buClr>
              <a:buSzPts val="1438"/>
              <a:buFont typeface="Arial"/>
              <a:buNone/>
            </a:pPr>
            <a:r>
              <a:t/>
            </a:r>
            <a:endParaRPr b="1" sz="1638">
              <a:solidFill>
                <a:srgbClr val="FF7900"/>
              </a:solidFill>
              <a:latin typeface="Helvetica Neue"/>
              <a:ea typeface="Helvetica Neue"/>
              <a:cs typeface="Helvetica Neue"/>
              <a:sym typeface="Helvetica Neue"/>
            </a:endParaRPr>
          </a:p>
          <a:p>
            <a:pPr indent="0" lvl="0" marL="0" marR="0" rtl="0" algn="l">
              <a:lnSpc>
                <a:spcPct val="100000"/>
              </a:lnSpc>
              <a:spcBef>
                <a:spcPts val="330"/>
              </a:spcBef>
              <a:spcAft>
                <a:spcPts val="0"/>
              </a:spcAft>
              <a:buClr>
                <a:srgbClr val="000000"/>
              </a:buClr>
              <a:buSzPts val="1438"/>
              <a:buFont typeface="Arial"/>
              <a:buNone/>
            </a:pPr>
            <a:r>
              <a:rPr b="1" i="0" lang="en-US" sz="1638" u="none" cap="none" strike="noStrike">
                <a:solidFill>
                  <a:srgbClr val="FF7900"/>
                </a:solidFill>
                <a:latin typeface="Helvetica Neue"/>
                <a:ea typeface="Helvetica Neue"/>
                <a:cs typeface="Helvetica Neue"/>
                <a:sym typeface="Helvetica Neue"/>
              </a:rPr>
              <a:t>Stage 1 — calibrated theoretical baseline</a:t>
            </a:r>
            <a:endParaRPr sz="1600"/>
          </a:p>
          <a:p>
            <a:pPr indent="-190500" lvl="1" marL="355600" marR="0" rtl="0" algn="l">
              <a:lnSpc>
                <a:spcPct val="100000"/>
              </a:lnSpc>
              <a:spcBef>
                <a:spcPts val="275"/>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Scaling-law fit C₀ = A·d̂^β + C_min, calibrated on a modest set of ≥some dozens of examples per model; only three free parameters per model family, so it stays interpretable and needs little calibration data.</a:t>
            </a:r>
            <a:endParaRPr sz="1600"/>
          </a:p>
          <a:p>
            <a:pPr indent="-190500" lvl="1" marL="355600" marR="0" rtl="0" algn="l">
              <a:lnSpc>
                <a:spcPct val="100000"/>
              </a:lnSpc>
              <a:spcBef>
                <a:spcPts val="220"/>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Grounded in compute-optimal scaling curves and the marginal-value principle rather than assumed from scratch.</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10" name="Shape 410"/>
        <p:cNvGrpSpPr/>
        <p:nvPr/>
      </p:nvGrpSpPr>
      <p:grpSpPr>
        <a:xfrm>
          <a:off x="0" y="0"/>
          <a:ext cx="0" cy="0"/>
          <a:chOff x="0" y="0"/>
          <a:chExt cx="0" cy="0"/>
        </a:xfrm>
      </p:grpSpPr>
      <p:sp>
        <p:nvSpPr>
          <p:cNvPr id="411" name="Google Shape;411;h2dfb90ae07d12a84_2_295"/>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12" name="Google Shape;412;h2dfb90ae07d12a84_2_295"/>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413" name="Google Shape;413;h2dfb90ae07d12a84_2_295"/>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414" name="Google Shape;414;h2dfb90ae07d12a84_2_295"/>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3. METHODOLOGY</a:t>
            </a:r>
            <a:endParaRPr b="0" i="0" sz="1500" u="none" cap="none" strike="noStrike">
              <a:solidFill>
                <a:schemeClr val="dk1"/>
              </a:solidFill>
              <a:latin typeface="Helvetica Neue"/>
              <a:ea typeface="Helvetica Neue"/>
              <a:cs typeface="Helvetica Neue"/>
              <a:sym typeface="Helvetica Neue"/>
            </a:endParaRPr>
          </a:p>
        </p:txBody>
      </p:sp>
      <p:sp>
        <p:nvSpPr>
          <p:cNvPr id="415" name="Google Shape;415;h2dfb90ae07d12a84_2_295"/>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B. Detail — Stage 2 &amp; 3</a:t>
            </a:r>
            <a:endParaRPr b="0" i="0" sz="2000" u="none" cap="none" strike="noStrike">
              <a:solidFill>
                <a:schemeClr val="dk1"/>
              </a:solidFill>
              <a:latin typeface="Helvetica Neue"/>
              <a:ea typeface="Helvetica Neue"/>
              <a:cs typeface="Helvetica Neue"/>
              <a:sym typeface="Helvetica Neue"/>
            </a:endParaRPr>
          </a:p>
        </p:txBody>
      </p:sp>
      <p:sp>
        <p:nvSpPr>
          <p:cNvPr id="416" name="Google Shape;416;h2dfb90ae07d12a84_2_295"/>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417" name="Google Shape;417;h2dfb90ae07d12a84_2_295"/>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16</a:t>
            </a:r>
            <a:endParaRPr b="0" i="0" sz="1000" u="none" cap="none" strike="noStrike">
              <a:solidFill>
                <a:schemeClr val="dk1"/>
              </a:solidFill>
              <a:latin typeface="Helvetica Neue"/>
              <a:ea typeface="Helvetica Neue"/>
              <a:cs typeface="Helvetica Neue"/>
              <a:sym typeface="Helvetica Neue"/>
            </a:endParaRPr>
          </a:p>
        </p:txBody>
      </p:sp>
      <p:sp>
        <p:nvSpPr>
          <p:cNvPr id="418" name="Google Shape;418;h2dfb90ae07d12a84_2_295"/>
          <p:cNvSpPr/>
          <p:nvPr/>
        </p:nvSpPr>
        <p:spPr>
          <a:xfrm>
            <a:off x="552693" y="1978653"/>
            <a:ext cx="10515600" cy="359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38"/>
              <a:buFont typeface="Arial"/>
              <a:buNone/>
            </a:pPr>
            <a:r>
              <a:rPr b="1" i="0" lang="en-US" sz="1638" u="none" cap="none" strike="noStrike">
                <a:solidFill>
                  <a:srgbClr val="FF7900"/>
                </a:solidFill>
                <a:latin typeface="Helvetica Neue"/>
                <a:ea typeface="Helvetica Neue"/>
                <a:cs typeface="Helvetica Neue"/>
                <a:sym typeface="Helvetica Neue"/>
              </a:rPr>
              <a:t>Stage 2 — predictive correction</a:t>
            </a:r>
            <a:endParaRPr sz="1600"/>
          </a:p>
          <a:p>
            <a:pPr indent="-190500" lvl="1" marL="355600" marR="0" rtl="0" algn="l">
              <a:lnSpc>
                <a:spcPct val="100000"/>
              </a:lnSpc>
              <a:spcBef>
                <a:spcPts val="275"/>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ΔC = g(C₀, x), x = {entropy trajectory, hidden-state probe output, optionally one short self-consistency sample}.</a:t>
            </a:r>
            <a:endParaRPr sz="1600"/>
          </a:p>
          <a:p>
            <a:pPr indent="-190500" lvl="1" marL="355600" marR="0" rtl="0" algn="l">
              <a:lnSpc>
                <a:spcPct val="100000"/>
              </a:lnSpc>
              <a:spcBef>
                <a:spcPts val="220"/>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g is a lightweight regression trained on the residual between C₀ and the empirically optimal compute for each example — it only learns the correction on top of Stage 1’s starting point.</a:t>
            </a:r>
            <a:endParaRPr sz="1600"/>
          </a:p>
          <a:p>
            <a:pPr indent="-190500" lvl="1" marL="355600" marR="0" rtl="0" algn="l">
              <a:lnSpc>
                <a:spcPct val="100000"/>
              </a:lnSpc>
              <a:spcBef>
                <a:spcPts val="220"/>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Compared directly against DiffAdapt’s probe and Damani’s marginal-value predictor (all occupy the same predictive slot).</a:t>
            </a:r>
            <a:endParaRPr sz="1600"/>
          </a:p>
          <a:p>
            <a:pPr indent="0" lvl="0" marL="0" marR="0" rtl="0" algn="l">
              <a:lnSpc>
                <a:spcPct val="100000"/>
              </a:lnSpc>
              <a:spcBef>
                <a:spcPts val="330"/>
              </a:spcBef>
              <a:spcAft>
                <a:spcPts val="0"/>
              </a:spcAft>
              <a:buClr>
                <a:srgbClr val="000000"/>
              </a:buClr>
              <a:buSzPts val="1438"/>
              <a:buFont typeface="Arial"/>
              <a:buNone/>
            </a:pPr>
            <a:r>
              <a:t/>
            </a:r>
            <a:endParaRPr b="1" sz="1638">
              <a:solidFill>
                <a:srgbClr val="FF7900"/>
              </a:solidFill>
              <a:latin typeface="Helvetica Neue"/>
              <a:ea typeface="Helvetica Neue"/>
              <a:cs typeface="Helvetica Neue"/>
              <a:sym typeface="Helvetica Neue"/>
            </a:endParaRPr>
          </a:p>
          <a:p>
            <a:pPr indent="0" lvl="0" marL="0" marR="0" rtl="0" algn="l">
              <a:lnSpc>
                <a:spcPct val="100000"/>
              </a:lnSpc>
              <a:spcBef>
                <a:spcPts val="330"/>
              </a:spcBef>
              <a:spcAft>
                <a:spcPts val="0"/>
              </a:spcAft>
              <a:buClr>
                <a:srgbClr val="000000"/>
              </a:buClr>
              <a:buSzPts val="1438"/>
              <a:buFont typeface="Arial"/>
              <a:buNone/>
            </a:pPr>
            <a:r>
              <a:rPr b="1" i="0" lang="en-US" sz="1638" u="none" cap="none" strike="noStrike">
                <a:solidFill>
                  <a:srgbClr val="FF7900"/>
                </a:solidFill>
                <a:latin typeface="Helvetica Neue"/>
                <a:ea typeface="Helvetica Neue"/>
                <a:cs typeface="Helvetica Neue"/>
                <a:sym typeface="Helvetica Neue"/>
              </a:rPr>
              <a:t>Stage 3 — reactive exception layer with a statistical guarantee</a:t>
            </a:r>
            <a:endParaRPr sz="1600"/>
          </a:p>
          <a:p>
            <a:pPr indent="-190500" lvl="1" marL="355600" marR="0" rtl="0" algn="l">
              <a:lnSpc>
                <a:spcPct val="100000"/>
              </a:lnSpc>
              <a:spcBef>
                <a:spcPts val="275"/>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Stages 0–2 fix a budget before generation; Stage 3 watches generation for the subset of queries where that pre-set budget is likely to be wrong — the long tail of unusual cases the predictive stages miss.</a:t>
            </a:r>
            <a:endParaRPr sz="1600"/>
          </a:p>
          <a:p>
            <a:pPr indent="-190500" lvl="1" marL="355600" marR="0" rtl="0" algn="l">
              <a:lnSpc>
                <a:spcPct val="100000"/>
              </a:lnSpc>
              <a:spcBef>
                <a:spcPts val="220"/>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The reactive signal is investigated under the H1 investigation and tested, not assumed; evaluated on calibration (ECE) and stopping accuracy vs confidence/entropy baselines.</a:t>
            </a:r>
            <a:endParaRPr sz="1600"/>
          </a:p>
          <a:p>
            <a:pPr indent="-190500" lvl="1" marL="355600" marR="0" rtl="0" algn="l">
              <a:lnSpc>
                <a:spcPct val="100000"/>
              </a:lnSpc>
              <a:spcBef>
                <a:spcPts val="220"/>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Calibrated, not hand-tuned: Learn-Then-Test conformal risk control derives an upper threshold (stop when confident) and a lower threshold (pre-emptively stop likely-unsolvable), with a finite-sample guarantee that stopping error stays below α. Overrides C₀ + ΔC only for flagged long-tail cases.</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22" name="Shape 422"/>
        <p:cNvGrpSpPr/>
        <p:nvPr/>
      </p:nvGrpSpPr>
      <p:grpSpPr>
        <a:xfrm>
          <a:off x="0" y="0"/>
          <a:ext cx="0" cy="0"/>
          <a:chOff x="0" y="0"/>
          <a:chExt cx="0" cy="0"/>
        </a:xfrm>
      </p:grpSpPr>
      <p:sp>
        <p:nvSpPr>
          <p:cNvPr id="423" name="Google Shape;423;h2dfb90ae07d12a84_2_306"/>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24" name="Google Shape;424;h2dfb90ae07d12a84_2_306"/>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425" name="Google Shape;425;h2dfb90ae07d12a84_2_306"/>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426" name="Google Shape;426;h2dfb90ae07d12a84_2_306"/>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4. TIMELINE</a:t>
            </a:r>
            <a:endParaRPr b="0" i="0" sz="1500" u="none" cap="none" strike="noStrike">
              <a:solidFill>
                <a:schemeClr val="dk1"/>
              </a:solidFill>
              <a:latin typeface="Helvetica Neue"/>
              <a:ea typeface="Helvetica Neue"/>
              <a:cs typeface="Helvetica Neue"/>
              <a:sym typeface="Helvetica Neue"/>
            </a:endParaRPr>
          </a:p>
        </p:txBody>
      </p:sp>
      <p:sp>
        <p:nvSpPr>
          <p:cNvPr id="427" name="Google Shape;427;h2dfb90ae07d12a84_2_306"/>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10-week research plan</a:t>
            </a:r>
            <a:endParaRPr b="0" i="0" sz="2000" u="none" cap="none" strike="noStrike">
              <a:solidFill>
                <a:schemeClr val="dk1"/>
              </a:solidFill>
              <a:latin typeface="Helvetica Neue"/>
              <a:ea typeface="Helvetica Neue"/>
              <a:cs typeface="Helvetica Neue"/>
              <a:sym typeface="Helvetica Neue"/>
            </a:endParaRPr>
          </a:p>
        </p:txBody>
      </p:sp>
      <p:sp>
        <p:nvSpPr>
          <p:cNvPr id="428" name="Google Shape;428;h2dfb90ae07d12a84_2_306"/>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429" name="Google Shape;429;h2dfb90ae07d12a84_2_306"/>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17</a:t>
            </a:r>
            <a:endParaRPr b="0" i="0" sz="1000" u="none" cap="none" strike="noStrike">
              <a:solidFill>
                <a:schemeClr val="dk1"/>
              </a:solidFill>
              <a:latin typeface="Helvetica Neue"/>
              <a:ea typeface="Helvetica Neue"/>
              <a:cs typeface="Helvetica Neue"/>
              <a:sym typeface="Helvetica Neue"/>
            </a:endParaRPr>
          </a:p>
        </p:txBody>
      </p:sp>
      <p:sp>
        <p:nvSpPr>
          <p:cNvPr id="430" name="Google Shape;430;h2dfb90ae07d12a84_2_306"/>
          <p:cNvSpPr/>
          <p:nvPr/>
        </p:nvSpPr>
        <p:spPr>
          <a:xfrm>
            <a:off x="457200" y="4641150"/>
            <a:ext cx="11155800" cy="1565100"/>
          </a:xfrm>
          <a:prstGeom prst="rect">
            <a:avLst/>
          </a:prstGeom>
          <a:noFill/>
          <a:ln>
            <a:noFill/>
          </a:ln>
        </p:spPr>
        <p:txBody>
          <a:bodyPr anchorCtr="0" anchor="t" bIns="45700" lIns="91425" spcFirstLastPara="1" rIns="91425" wrap="square" tIns="45700">
            <a:noAutofit/>
          </a:bodyPr>
          <a:lstStyle/>
          <a:p>
            <a:pPr indent="-228600" lvl="0" marL="685800" marR="0" rtl="0" algn="l">
              <a:lnSpc>
                <a:spcPct val="100000"/>
              </a:lnSpc>
              <a:spcBef>
                <a:spcPts val="495"/>
              </a:spcBef>
              <a:spcAft>
                <a:spcPts val="0"/>
              </a:spcAft>
              <a:buClr>
                <a:srgbClr val="FF7900"/>
              </a:buClr>
              <a:buSzPts val="1250"/>
              <a:buFont typeface="Arial"/>
              <a:buChar char="■"/>
            </a:pPr>
            <a:r>
              <a:rPr b="1" i="0" lang="en-US" sz="1438" u="none" cap="none" strike="noStrike">
                <a:solidFill>
                  <a:srgbClr val="FF7900"/>
                </a:solidFill>
                <a:latin typeface="Helvetica Neue"/>
                <a:ea typeface="Helvetica Neue"/>
                <a:cs typeface="Helvetica Neue"/>
                <a:sym typeface="Helvetica Neue"/>
              </a:rPr>
              <a:t>Week 1&amp;2 </a:t>
            </a:r>
            <a:r>
              <a:rPr b="0" i="0" lang="en-US" sz="1322" u="none" cap="none" strike="noStrike">
                <a:solidFill>
                  <a:srgbClr val="D6D6D6"/>
                </a:solidFill>
                <a:latin typeface="Helvetica Neue"/>
                <a:ea typeface="Helvetica Neue"/>
                <a:cs typeface="Helvetica Neue"/>
                <a:sym typeface="Helvetica Neue"/>
              </a:rPr>
              <a:t>  	—  single-model, compute–performance curves; confirm under/overthinking exists</a:t>
            </a:r>
            <a:r>
              <a:rPr lang="en-US" sz="1322">
                <a:solidFill>
                  <a:srgbClr val="D6D6D6"/>
                </a:solidFill>
                <a:latin typeface="Helvetica Neue"/>
                <a:ea typeface="Helvetica Neue"/>
                <a:cs typeface="Helvetica Neue"/>
                <a:sym typeface="Helvetica Neue"/>
              </a:rPr>
              <a:t> and analyse patterns.</a:t>
            </a:r>
            <a:endParaRPr b="1" sz="1438">
              <a:solidFill>
                <a:srgbClr val="FF7900"/>
              </a:solidFill>
              <a:latin typeface="Helvetica Neue"/>
              <a:ea typeface="Helvetica Neue"/>
              <a:cs typeface="Helvetica Neue"/>
              <a:sym typeface="Helvetica Neue"/>
            </a:endParaRPr>
          </a:p>
          <a:p>
            <a:pPr indent="-228600" lvl="0" marL="685800" marR="0" rtl="0" algn="l">
              <a:lnSpc>
                <a:spcPct val="100000"/>
              </a:lnSpc>
              <a:spcBef>
                <a:spcPts val="495"/>
              </a:spcBef>
              <a:spcAft>
                <a:spcPts val="0"/>
              </a:spcAft>
              <a:buClr>
                <a:srgbClr val="FF7900"/>
              </a:buClr>
              <a:buSzPts val="1250"/>
              <a:buFont typeface="Arial"/>
              <a:buChar char="■"/>
            </a:pPr>
            <a:r>
              <a:rPr b="1" lang="en-US" sz="1438">
                <a:solidFill>
                  <a:schemeClr val="lt2"/>
                </a:solidFill>
                <a:latin typeface="Helvetica Neue"/>
                <a:ea typeface="Helvetica Neue"/>
                <a:cs typeface="Helvetica Neue"/>
                <a:sym typeface="Helvetica Neue"/>
              </a:rPr>
              <a:t>Week </a:t>
            </a:r>
            <a:r>
              <a:rPr b="1" i="0" lang="en-US" sz="1438" u="none" cap="none" strike="noStrike">
                <a:solidFill>
                  <a:srgbClr val="FF7900"/>
                </a:solidFill>
                <a:latin typeface="Helvetica Neue"/>
                <a:ea typeface="Helvetica Neue"/>
                <a:cs typeface="Helvetica Neue"/>
                <a:sym typeface="Helvetica Neue"/>
              </a:rPr>
              <a:t>3</a:t>
            </a:r>
            <a:r>
              <a:rPr b="1" i="0" lang="en-US" sz="1438" u="none" cap="none" strike="noStrike">
                <a:solidFill>
                  <a:srgbClr val="FF7900"/>
                </a:solidFill>
                <a:latin typeface="Helvetica Neue"/>
                <a:ea typeface="Helvetica Neue"/>
                <a:cs typeface="Helvetica Neue"/>
                <a:sym typeface="Helvetica Neue"/>
              </a:rPr>
              <a:t>&amp;</a:t>
            </a:r>
            <a:r>
              <a:rPr b="1" i="0" lang="en-US" sz="1438" u="none" cap="none" strike="noStrike">
                <a:solidFill>
                  <a:srgbClr val="FF7900"/>
                </a:solidFill>
                <a:latin typeface="Helvetica Neue"/>
                <a:ea typeface="Helvetica Neue"/>
                <a:cs typeface="Helvetica Neue"/>
                <a:sym typeface="Helvetica Neue"/>
              </a:rPr>
              <a:t>4 </a:t>
            </a:r>
            <a:r>
              <a:rPr b="0" i="0" lang="en-US" sz="1322" u="none" cap="none" strike="noStrike">
                <a:solidFill>
                  <a:srgbClr val="D6D6D6"/>
                </a:solidFill>
                <a:latin typeface="Helvetica Neue"/>
                <a:ea typeface="Helvetica Neue"/>
                <a:cs typeface="Helvetica Neue"/>
                <a:sym typeface="Helvetica Neue"/>
              </a:rPr>
              <a:t>  	—  second stage, extends H1 to more models, sizes</a:t>
            </a:r>
            <a:r>
              <a:rPr lang="en-US" sz="1322">
                <a:solidFill>
                  <a:srgbClr val="D6D6D6"/>
                </a:solidFill>
                <a:latin typeface="Helvetica Neue"/>
                <a:ea typeface="Helvetica Neue"/>
                <a:cs typeface="Helvetica Neue"/>
                <a:sym typeface="Helvetica Neue"/>
              </a:rPr>
              <a:t>, and examples</a:t>
            </a:r>
            <a:r>
              <a:rPr b="0" i="0" lang="en-US" sz="1322" u="none" cap="none" strike="noStrike">
                <a:solidFill>
                  <a:srgbClr val="D6D6D6"/>
                </a:solidFill>
                <a:latin typeface="Helvetica Neue"/>
                <a:ea typeface="Helvetica Neue"/>
                <a:cs typeface="Helvetica Neue"/>
                <a:sym typeface="Helvetica Neue"/>
              </a:rPr>
              <a:t>.</a:t>
            </a:r>
            <a:endParaRPr b="1" sz="1438">
              <a:solidFill>
                <a:srgbClr val="FF7900"/>
              </a:solidFill>
              <a:latin typeface="Helvetica Neue"/>
              <a:ea typeface="Helvetica Neue"/>
              <a:cs typeface="Helvetica Neue"/>
              <a:sym typeface="Helvetica Neue"/>
            </a:endParaRPr>
          </a:p>
          <a:p>
            <a:pPr indent="-228600" lvl="0" marL="685800" marR="0" rtl="0" algn="l">
              <a:lnSpc>
                <a:spcPct val="100000"/>
              </a:lnSpc>
              <a:spcBef>
                <a:spcPts val="495"/>
              </a:spcBef>
              <a:spcAft>
                <a:spcPts val="0"/>
              </a:spcAft>
              <a:buClr>
                <a:srgbClr val="FF7900"/>
              </a:buClr>
              <a:buSzPts val="1250"/>
              <a:buFont typeface="Arial"/>
              <a:buChar char="■"/>
            </a:pPr>
            <a:r>
              <a:rPr b="1" lang="en-US" sz="1438">
                <a:solidFill>
                  <a:schemeClr val="lt2"/>
                </a:solidFill>
                <a:latin typeface="Helvetica Neue"/>
                <a:ea typeface="Helvetica Neue"/>
                <a:cs typeface="Helvetica Neue"/>
                <a:sym typeface="Helvetica Neue"/>
              </a:rPr>
              <a:t>Week </a:t>
            </a:r>
            <a:r>
              <a:rPr b="1" i="0" lang="en-US" sz="1438" u="none" cap="none" strike="noStrike">
                <a:solidFill>
                  <a:srgbClr val="FF7900"/>
                </a:solidFill>
                <a:latin typeface="Helvetica Neue"/>
                <a:ea typeface="Helvetica Neue"/>
                <a:cs typeface="Helvetica Neue"/>
                <a:sym typeface="Helvetica Neue"/>
              </a:rPr>
              <a:t>5&amp;6 </a:t>
            </a:r>
            <a:r>
              <a:rPr b="0" i="0" lang="en-US" sz="1322" u="none" cap="none" strike="noStrike">
                <a:solidFill>
                  <a:srgbClr val="D6D6D6"/>
                </a:solidFill>
                <a:latin typeface="Helvetica Neue"/>
                <a:ea typeface="Helvetica Neue"/>
                <a:cs typeface="Helvetica Neue"/>
                <a:sym typeface="Helvetica Neue"/>
              </a:rPr>
              <a:t>  	—  theory stage; derive the predictive compute allocation equation from empirical data.</a:t>
            </a:r>
            <a:endParaRPr b="1" sz="1438">
              <a:solidFill>
                <a:srgbClr val="FF7900"/>
              </a:solidFill>
              <a:latin typeface="Helvetica Neue"/>
              <a:ea typeface="Helvetica Neue"/>
              <a:cs typeface="Helvetica Neue"/>
              <a:sym typeface="Helvetica Neue"/>
            </a:endParaRPr>
          </a:p>
          <a:p>
            <a:pPr indent="-228600" lvl="0" marL="685800" marR="0" rtl="0" algn="l">
              <a:lnSpc>
                <a:spcPct val="100000"/>
              </a:lnSpc>
              <a:spcBef>
                <a:spcPts val="495"/>
              </a:spcBef>
              <a:spcAft>
                <a:spcPts val="0"/>
              </a:spcAft>
              <a:buClr>
                <a:srgbClr val="FF7900"/>
              </a:buClr>
              <a:buSzPts val="1250"/>
              <a:buFont typeface="Arial"/>
              <a:buChar char="■"/>
            </a:pPr>
            <a:r>
              <a:rPr b="1" lang="en-US" sz="1438">
                <a:solidFill>
                  <a:schemeClr val="lt2"/>
                </a:solidFill>
                <a:latin typeface="Helvetica Neue"/>
                <a:ea typeface="Helvetica Neue"/>
                <a:cs typeface="Helvetica Neue"/>
                <a:sym typeface="Helvetica Neue"/>
              </a:rPr>
              <a:t>Wee</a:t>
            </a:r>
            <a:r>
              <a:rPr b="1" i="0" lang="en-US" sz="1438" u="none" cap="none" strike="noStrike">
                <a:solidFill>
                  <a:srgbClr val="FF7900"/>
                </a:solidFill>
                <a:latin typeface="Helvetica Neue"/>
                <a:ea typeface="Helvetica Neue"/>
                <a:cs typeface="Helvetica Neue"/>
                <a:sym typeface="Helvetica Neue"/>
              </a:rPr>
              <a:t>k 7&amp;8 </a:t>
            </a:r>
            <a:r>
              <a:rPr b="0" i="0" lang="en-US" sz="1322" u="none" cap="none" strike="noStrike">
                <a:solidFill>
                  <a:srgbClr val="D6D6D6"/>
                </a:solidFill>
                <a:latin typeface="Helvetica Neue"/>
                <a:ea typeface="Helvetica Neue"/>
                <a:cs typeface="Helvetica Neue"/>
                <a:sym typeface="Helvetica Neue"/>
              </a:rPr>
              <a:t>  	—  train and evaluate the predictive correction layer against the theoretical estimate.</a:t>
            </a:r>
            <a:endParaRPr b="1" sz="1438">
              <a:solidFill>
                <a:srgbClr val="FF7900"/>
              </a:solidFill>
              <a:latin typeface="Helvetica Neue"/>
              <a:ea typeface="Helvetica Neue"/>
              <a:cs typeface="Helvetica Neue"/>
              <a:sym typeface="Helvetica Neue"/>
            </a:endParaRPr>
          </a:p>
          <a:p>
            <a:pPr indent="-228600" lvl="0" marL="685800" marR="0" rtl="0" algn="l">
              <a:lnSpc>
                <a:spcPct val="100000"/>
              </a:lnSpc>
              <a:spcBef>
                <a:spcPts val="495"/>
              </a:spcBef>
              <a:spcAft>
                <a:spcPts val="0"/>
              </a:spcAft>
              <a:buClr>
                <a:srgbClr val="FF7900"/>
              </a:buClr>
              <a:buSzPts val="1250"/>
              <a:buFont typeface="Arial"/>
              <a:buChar char="■"/>
            </a:pPr>
            <a:r>
              <a:rPr b="1" lang="en-US" sz="1438">
                <a:solidFill>
                  <a:schemeClr val="lt2"/>
                </a:solidFill>
                <a:latin typeface="Helvetica Neue"/>
                <a:ea typeface="Helvetica Neue"/>
                <a:cs typeface="Helvetica Neue"/>
                <a:sym typeface="Helvetica Neue"/>
              </a:rPr>
              <a:t>Wee</a:t>
            </a:r>
            <a:r>
              <a:rPr b="1" i="0" lang="en-US" sz="1438" u="none" cap="none" strike="noStrike">
                <a:solidFill>
                  <a:srgbClr val="FF7900"/>
                </a:solidFill>
                <a:latin typeface="Helvetica Neue"/>
                <a:ea typeface="Helvetica Neue"/>
                <a:cs typeface="Helvetica Neue"/>
                <a:sym typeface="Helvetica Neue"/>
              </a:rPr>
              <a:t>k 9&amp;10 </a:t>
            </a:r>
            <a:r>
              <a:rPr b="0" i="0" lang="en-US" sz="1322" u="none" cap="none" strike="noStrike">
                <a:solidFill>
                  <a:srgbClr val="D6D6D6"/>
                </a:solidFill>
                <a:latin typeface="Helvetica Neue"/>
                <a:ea typeface="Helvetica Neue"/>
                <a:cs typeface="Helvetica Neue"/>
                <a:sym typeface="Helvetica Neue"/>
              </a:rPr>
              <a:t>  	—  reactive layer and final integration, write-up, and defense prep.</a:t>
            </a:r>
            <a:endParaRPr/>
          </a:p>
        </p:txBody>
      </p:sp>
      <p:pic>
        <p:nvPicPr>
          <p:cNvPr descr="keep its background black" id="431" name="Google Shape;431;h2dfb90ae07d12a84_2_306"/>
          <p:cNvPicPr preferRelativeResize="0"/>
          <p:nvPr/>
        </p:nvPicPr>
        <p:blipFill>
          <a:blip r:embed="rId3">
            <a:alphaModFix/>
          </a:blip>
          <a:stretch>
            <a:fillRect/>
          </a:stretch>
        </p:blipFill>
        <p:spPr>
          <a:xfrm>
            <a:off x="457200" y="1732725"/>
            <a:ext cx="11367276" cy="2908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35" name="Shape 435"/>
        <p:cNvGrpSpPr/>
        <p:nvPr/>
      </p:nvGrpSpPr>
      <p:grpSpPr>
        <a:xfrm>
          <a:off x="0" y="0"/>
          <a:ext cx="0" cy="0"/>
          <a:chOff x="0" y="0"/>
          <a:chExt cx="0" cy="0"/>
        </a:xfrm>
      </p:grpSpPr>
      <p:sp>
        <p:nvSpPr>
          <p:cNvPr id="436" name="Google Shape;436;h2dfb90ae07d12a84_2_318"/>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37" name="Google Shape;437;h2dfb90ae07d12a84_2_318"/>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438" name="Google Shape;438;h2dfb90ae07d12a84_2_318"/>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439" name="Google Shape;439;h2dfb90ae07d12a84_2_318"/>
          <p:cNvSpPr/>
          <p:nvPr/>
        </p:nvSpPr>
        <p:spPr>
          <a:xfrm>
            <a:off x="838200" y="3282750"/>
            <a:ext cx="10515600" cy="292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900"/>
              </a:buClr>
              <a:buSzPts val="1500"/>
              <a:buFont typeface="Arial"/>
              <a:buNone/>
            </a:pPr>
            <a:r>
              <a:rPr b="1" i="0" lang="en-US" sz="4300" u="none" cap="none" strike="noStrike">
                <a:solidFill>
                  <a:srgbClr val="FF7900"/>
                </a:solidFill>
                <a:latin typeface="Helvetica Neue"/>
                <a:ea typeface="Helvetica Neue"/>
                <a:cs typeface="Helvetica Neue"/>
                <a:sym typeface="Helvetica Neue"/>
              </a:rPr>
              <a:t>H1 — TESTING</a:t>
            </a:r>
            <a:endParaRPr b="0" i="0" sz="4300" u="none" cap="none" strike="noStrike">
              <a:solidFill>
                <a:schemeClr val="dk1"/>
              </a:solidFill>
              <a:latin typeface="Helvetica Neue"/>
              <a:ea typeface="Helvetica Neue"/>
              <a:cs typeface="Helvetica Neue"/>
              <a:sym typeface="Helvetica Neue"/>
            </a:endParaRPr>
          </a:p>
        </p:txBody>
      </p:sp>
      <p:sp>
        <p:nvSpPr>
          <p:cNvPr id="440" name="Google Shape;440;h2dfb90ae07d12a84_2_318"/>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441" name="Google Shape;441;h2dfb90ae07d12a84_2_318"/>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18</a:t>
            </a:r>
            <a:endParaRPr b="0" i="0" sz="10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45" name="Shape 445"/>
        <p:cNvGrpSpPr/>
        <p:nvPr/>
      </p:nvGrpSpPr>
      <p:grpSpPr>
        <a:xfrm>
          <a:off x="0" y="0"/>
          <a:ext cx="0" cy="0"/>
          <a:chOff x="0" y="0"/>
          <a:chExt cx="0" cy="0"/>
        </a:xfrm>
      </p:grpSpPr>
      <p:sp>
        <p:nvSpPr>
          <p:cNvPr id="446" name="Google Shape;446;g3fbf000509b_0_64"/>
          <p:cNvSpPr/>
          <p:nvPr/>
        </p:nvSpPr>
        <p:spPr>
          <a:xfrm>
            <a:off x="457200" y="320040"/>
            <a:ext cx="41100"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47" name="Google Shape;447;g3fbf000509b_0_64"/>
          <p:cNvSpPr/>
          <p:nvPr/>
        </p:nvSpPr>
        <p:spPr>
          <a:xfrm>
            <a:off x="603504" y="265176"/>
            <a:ext cx="23775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448" name="Google Shape;448;g3fbf000509b_0_64"/>
          <p:cNvSpPr/>
          <p:nvPr/>
        </p:nvSpPr>
        <p:spPr>
          <a:xfrm>
            <a:off x="603504" y="512064"/>
            <a:ext cx="23775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449" name="Google Shape;449;g3fbf000509b_0_64"/>
          <p:cNvSpPr/>
          <p:nvPr/>
        </p:nvSpPr>
        <p:spPr>
          <a:xfrm>
            <a:off x="457200" y="896112"/>
            <a:ext cx="105156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H1 — TESTING METHODOLOGY</a:t>
            </a:r>
            <a:endParaRPr b="0" i="0" sz="1500" u="none" cap="none" strike="noStrike">
              <a:solidFill>
                <a:schemeClr val="dk1"/>
              </a:solidFill>
              <a:latin typeface="Helvetica Neue"/>
              <a:ea typeface="Helvetica Neue"/>
              <a:cs typeface="Helvetica Neue"/>
              <a:sym typeface="Helvetica Neue"/>
            </a:endParaRPr>
          </a:p>
        </p:txBody>
      </p:sp>
      <p:sp>
        <p:nvSpPr>
          <p:cNvPr id="450" name="Google Shape;450;g3fbf000509b_0_64"/>
          <p:cNvSpPr/>
          <p:nvPr/>
        </p:nvSpPr>
        <p:spPr>
          <a:xfrm>
            <a:off x="457200" y="1207008"/>
            <a:ext cx="112470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H1 — Hypothesis &amp; motivation</a:t>
            </a:r>
            <a:endParaRPr b="0" i="0" sz="2000" u="none" cap="none" strike="noStrike">
              <a:solidFill>
                <a:schemeClr val="dk1"/>
              </a:solidFill>
              <a:latin typeface="Helvetica Neue"/>
              <a:ea typeface="Helvetica Neue"/>
              <a:cs typeface="Helvetica Neue"/>
              <a:sym typeface="Helvetica Neue"/>
            </a:endParaRPr>
          </a:p>
        </p:txBody>
      </p:sp>
      <p:sp>
        <p:nvSpPr>
          <p:cNvPr id="451" name="Google Shape;451;g3fbf000509b_0_64"/>
          <p:cNvSpPr/>
          <p:nvPr/>
        </p:nvSpPr>
        <p:spPr>
          <a:xfrm>
            <a:off x="457200" y="6473952"/>
            <a:ext cx="5486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452" name="Google Shape;452;g3fbf000509b_0_64"/>
          <p:cNvSpPr/>
          <p:nvPr/>
        </p:nvSpPr>
        <p:spPr>
          <a:xfrm>
            <a:off x="11094415" y="6473952"/>
            <a:ext cx="640200" cy="2742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18</a:t>
            </a:r>
            <a:endParaRPr b="0" i="0" sz="1000" u="none" cap="none" strike="noStrike">
              <a:solidFill>
                <a:schemeClr val="dk1"/>
              </a:solidFill>
              <a:latin typeface="Helvetica Neue"/>
              <a:ea typeface="Helvetica Neue"/>
              <a:cs typeface="Helvetica Neue"/>
              <a:sym typeface="Helvetica Neue"/>
            </a:endParaRPr>
          </a:p>
        </p:txBody>
      </p:sp>
      <p:sp>
        <p:nvSpPr>
          <p:cNvPr id="453" name="Google Shape;453;g3fbf000509b_0_64"/>
          <p:cNvSpPr/>
          <p:nvPr/>
        </p:nvSpPr>
        <p:spPr>
          <a:xfrm>
            <a:off x="408850" y="1887550"/>
            <a:ext cx="10766400" cy="462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38"/>
              <a:buFont typeface="Arial"/>
              <a:buNone/>
            </a:pPr>
            <a:r>
              <a:rPr b="1" i="0" lang="en-US" sz="1638" u="none" cap="none" strike="noStrike">
                <a:solidFill>
                  <a:srgbClr val="FF7900"/>
                </a:solidFill>
                <a:latin typeface="Helvetica Neue"/>
                <a:ea typeface="Helvetica Neue"/>
                <a:cs typeface="Helvetica Neue"/>
                <a:sym typeface="Helvetica Neue"/>
              </a:rPr>
              <a:t>Hypothesis. </a:t>
            </a:r>
            <a:r>
              <a:rPr b="0" i="0" lang="en-US" sz="1638" u="none" cap="none" strike="noStrike">
                <a:solidFill>
                  <a:srgbClr val="D6D6D6"/>
                </a:solidFill>
                <a:latin typeface="Helvetica Neue"/>
                <a:ea typeface="Helvetica Neue"/>
                <a:cs typeface="Helvetica Neue"/>
                <a:sym typeface="Helvetica Neue"/>
              </a:rPr>
              <a:t>poor test-time compute allocation harms performance — underthinking on hard problems, overthinking on easy ones — tested via statistically controlled compute–accuracy curves (≥5 samples per compute level), checking for saturation or an inverted-U pattern.</a:t>
            </a:r>
            <a:endParaRPr sz="1600"/>
          </a:p>
          <a:p>
            <a:pPr indent="0" lvl="0" marL="0" marR="0" rtl="0" algn="l">
              <a:lnSpc>
                <a:spcPct val="100000"/>
              </a:lnSpc>
              <a:spcBef>
                <a:spcPts val="275"/>
              </a:spcBef>
              <a:spcAft>
                <a:spcPts val="0"/>
              </a:spcAft>
              <a:buClr>
                <a:srgbClr val="000000"/>
              </a:buClr>
              <a:buSzPts val="1438"/>
              <a:buFont typeface="Arial"/>
              <a:buNone/>
            </a:pPr>
            <a:r>
              <a:t/>
            </a:r>
            <a:endParaRPr b="1" sz="1638">
              <a:solidFill>
                <a:srgbClr val="FF7900"/>
              </a:solidFill>
              <a:latin typeface="Helvetica Neue"/>
              <a:ea typeface="Helvetica Neue"/>
              <a:cs typeface="Helvetica Neue"/>
              <a:sym typeface="Helvetica Neue"/>
            </a:endParaRPr>
          </a:p>
          <a:p>
            <a:pPr indent="0" lvl="0" marL="0" marR="0" rtl="0" algn="l">
              <a:lnSpc>
                <a:spcPct val="100000"/>
              </a:lnSpc>
              <a:spcBef>
                <a:spcPts val="275"/>
              </a:spcBef>
              <a:spcAft>
                <a:spcPts val="0"/>
              </a:spcAft>
              <a:buClr>
                <a:srgbClr val="000000"/>
              </a:buClr>
              <a:buSzPts val="1438"/>
              <a:buFont typeface="Arial"/>
              <a:buNone/>
            </a:pPr>
            <a:r>
              <a:rPr b="1" i="0" lang="en-US" sz="1638" u="none" cap="none" strike="noStrike">
                <a:solidFill>
                  <a:srgbClr val="FF7900"/>
                </a:solidFill>
                <a:latin typeface="Helvetica Neue"/>
                <a:ea typeface="Helvetica Neue"/>
                <a:cs typeface="Helvetica Neue"/>
                <a:sym typeface="Helvetica Neue"/>
              </a:rPr>
              <a:t>Motivation — simulating everyday use. </a:t>
            </a:r>
            <a:r>
              <a:rPr b="0" i="0" lang="en-US" sz="1638" u="none" cap="none" strike="noStrike">
                <a:solidFill>
                  <a:srgbClr val="D6D6D6"/>
                </a:solidFill>
                <a:latin typeface="Helvetica Neue"/>
                <a:ea typeface="Helvetica Neue"/>
                <a:cs typeface="Helvetica Neue"/>
                <a:sym typeface="Helvetica Neue"/>
              </a:rPr>
              <a:t>the goal of this testing phase is to simulate realistic, everyday LLM usage — a mixture of task types (code, math, general questions, </a:t>
            </a:r>
            <a:r>
              <a:rPr lang="en-US" sz="1638">
                <a:solidFill>
                  <a:srgbClr val="D6D6D6"/>
                </a:solidFill>
                <a:latin typeface="Helvetica Neue"/>
                <a:ea typeface="Helvetica Neue"/>
                <a:cs typeface="Helvetica Neue"/>
                <a:sym typeface="Helvetica Neue"/>
              </a:rPr>
              <a:t>multichoice</a:t>
            </a:r>
            <a:r>
              <a:rPr b="0" i="0" lang="en-US" sz="1638" u="none" cap="none" strike="noStrike">
                <a:solidFill>
                  <a:srgbClr val="D6D6D6"/>
                </a:solidFill>
                <a:latin typeface="Helvetica Neue"/>
                <a:ea typeface="Helvetica Neue"/>
                <a:cs typeface="Helvetica Neue"/>
                <a:sym typeface="Helvetica Neue"/>
              </a:rPr>
              <a:t>), at varying difficulty levels, from several benchmarks — so the results are not biased toward any single task type.</a:t>
            </a:r>
            <a:endParaRPr sz="1600"/>
          </a:p>
          <a:p>
            <a:pPr indent="0" lvl="0" marL="0" marR="0" rtl="0" algn="l">
              <a:lnSpc>
                <a:spcPct val="100000"/>
              </a:lnSpc>
              <a:spcBef>
                <a:spcPts val="275"/>
              </a:spcBef>
              <a:spcAft>
                <a:spcPts val="0"/>
              </a:spcAft>
              <a:buClr>
                <a:srgbClr val="000000"/>
              </a:buClr>
              <a:buSzPts val="1438"/>
              <a:buFont typeface="Arial"/>
              <a:buNone/>
            </a:pPr>
            <a:r>
              <a:t/>
            </a:r>
            <a:endParaRPr b="1" sz="1638">
              <a:solidFill>
                <a:srgbClr val="FF7900"/>
              </a:solidFill>
              <a:latin typeface="Helvetica Neue"/>
              <a:ea typeface="Helvetica Neue"/>
              <a:cs typeface="Helvetica Neue"/>
              <a:sym typeface="Helvetica Neue"/>
            </a:endParaRPr>
          </a:p>
          <a:p>
            <a:pPr indent="0" lvl="0" marL="0" marR="0" rtl="0" algn="l">
              <a:lnSpc>
                <a:spcPct val="100000"/>
              </a:lnSpc>
              <a:spcBef>
                <a:spcPts val="275"/>
              </a:spcBef>
              <a:spcAft>
                <a:spcPts val="0"/>
              </a:spcAft>
              <a:buClr>
                <a:srgbClr val="000000"/>
              </a:buClr>
              <a:buSzPts val="1438"/>
              <a:buFont typeface="Arial"/>
              <a:buNone/>
            </a:pPr>
            <a:r>
              <a:rPr b="1" i="0" lang="en-US" sz="1638" u="none" cap="none" strike="noStrike">
                <a:solidFill>
                  <a:srgbClr val="FF7900"/>
                </a:solidFill>
                <a:latin typeface="Helvetica Neue"/>
                <a:ea typeface="Helvetica Neue"/>
                <a:cs typeface="Helvetica Neue"/>
                <a:sym typeface="Helvetica Neue"/>
              </a:rPr>
              <a:t>The problem — Simpson’s paradox. </a:t>
            </a:r>
            <a:r>
              <a:rPr b="0" i="0" lang="en-US" sz="1638" u="none" cap="none" strike="noStrike">
                <a:solidFill>
                  <a:srgbClr val="D6D6D6"/>
                </a:solidFill>
                <a:latin typeface="Helvetica Neue"/>
                <a:ea typeface="Helvetica Neue"/>
                <a:cs typeface="Helvetica Neue"/>
                <a:sym typeface="Helvetica Neue"/>
              </a:rPr>
              <a:t>simply pooling raw accuracy across benchmarks can produce a misleading single curve. Benchmark task types may individually improve monotonically with compute, saturate, or degrade, giving different curve types that can cancel out when averaged together — masking the exact under/overthinking effect H1 must establish or rule out.</a:t>
            </a:r>
            <a:endParaRPr sz="1600"/>
          </a:p>
          <a:p>
            <a:pPr indent="-190500" lvl="1" marL="355600" marR="0" rtl="0" algn="l">
              <a:lnSpc>
                <a:spcPct val="100000"/>
              </a:lnSpc>
              <a:spcBef>
                <a:spcPts val="165"/>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generation-type tasks vs selection-type tasks vs computation-heavy tasks may all behave differently: per-curve type analysis is required before any aggregate conclusion.</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57" name="Shape 457"/>
        <p:cNvGrpSpPr/>
        <p:nvPr/>
      </p:nvGrpSpPr>
      <p:grpSpPr>
        <a:xfrm>
          <a:off x="0" y="0"/>
          <a:ext cx="0" cy="0"/>
          <a:chOff x="0" y="0"/>
          <a:chExt cx="0" cy="0"/>
        </a:xfrm>
      </p:grpSpPr>
      <p:sp>
        <p:nvSpPr>
          <p:cNvPr id="458" name="Google Shape;458;h2dfb90ae07d12a84_2_329"/>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59" name="Google Shape;459;h2dfb90ae07d12a84_2_329"/>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460" name="Google Shape;460;h2dfb90ae07d12a84_2_329"/>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461" name="Google Shape;461;h2dfb90ae07d12a84_2_329"/>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H1 — TESTING METHODOLOGY</a:t>
            </a:r>
            <a:endParaRPr b="0" i="0" sz="1500" u="none" cap="none" strike="noStrike">
              <a:solidFill>
                <a:schemeClr val="dk1"/>
              </a:solidFill>
              <a:latin typeface="Helvetica Neue"/>
              <a:ea typeface="Helvetica Neue"/>
              <a:cs typeface="Helvetica Neue"/>
              <a:sym typeface="Helvetica Neue"/>
            </a:endParaRPr>
          </a:p>
        </p:txBody>
      </p:sp>
      <p:sp>
        <p:nvSpPr>
          <p:cNvPr id="462" name="Google Shape;462;h2dfb90ae07d12a84_2_329"/>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H1 — Model selection (executed run)</a:t>
            </a:r>
            <a:endParaRPr b="0" i="0" sz="2000" u="none" cap="none" strike="noStrike">
              <a:solidFill>
                <a:schemeClr val="dk1"/>
              </a:solidFill>
              <a:latin typeface="Helvetica Neue"/>
              <a:ea typeface="Helvetica Neue"/>
              <a:cs typeface="Helvetica Neue"/>
              <a:sym typeface="Helvetica Neue"/>
            </a:endParaRPr>
          </a:p>
        </p:txBody>
      </p:sp>
      <p:sp>
        <p:nvSpPr>
          <p:cNvPr id="463" name="Google Shape;463;h2dfb90ae07d12a84_2_329"/>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464" name="Google Shape;464;h2dfb90ae07d12a84_2_329"/>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19</a:t>
            </a:r>
            <a:endParaRPr b="0" i="0" sz="1000" u="none" cap="none" strike="noStrike">
              <a:solidFill>
                <a:schemeClr val="dk1"/>
              </a:solidFill>
              <a:latin typeface="Helvetica Neue"/>
              <a:ea typeface="Helvetica Neue"/>
              <a:cs typeface="Helvetica Neue"/>
              <a:sym typeface="Helvetica Neue"/>
            </a:endParaRPr>
          </a:p>
        </p:txBody>
      </p:sp>
      <p:sp>
        <p:nvSpPr>
          <p:cNvPr id="465" name="Google Shape;465;h2dfb90ae07d12a84_2_329"/>
          <p:cNvSpPr/>
          <p:nvPr/>
        </p:nvSpPr>
        <p:spPr>
          <a:xfrm>
            <a:off x="408850" y="1944000"/>
            <a:ext cx="11155800" cy="278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38"/>
              <a:buFont typeface="Arial"/>
              <a:buNone/>
            </a:pPr>
            <a:r>
              <a:rPr b="1" i="0" lang="en-US" sz="1638" u="none" cap="none" strike="noStrike">
                <a:solidFill>
                  <a:srgbClr val="FF7900"/>
                </a:solidFill>
                <a:latin typeface="Helvetica Neue"/>
                <a:ea typeface="Helvetica Neue"/>
                <a:cs typeface="Helvetica Neue"/>
                <a:sym typeface="Helvetica Neue"/>
              </a:rPr>
              <a:t>Model selection (as executed — LFM2.5-2.6B). </a:t>
            </a:r>
            <a:r>
              <a:rPr b="0" i="0" lang="en-US" sz="1638" u="none" cap="none" strike="noStrike">
                <a:solidFill>
                  <a:srgbClr val="D6D6D6"/>
                </a:solidFill>
                <a:latin typeface="Helvetica Neue"/>
                <a:ea typeface="Helvetica Neue"/>
                <a:cs typeface="Helvetica Neue"/>
                <a:sym typeface="Helvetica Neue"/>
              </a:rPr>
              <a:t>the original plan selected Qwen3-8B; the executed run replaced it with LFM2.5–2.6B for identical reasons, plus deeper practicality at our scale.</a:t>
            </a:r>
            <a:endParaRPr sz="1600"/>
          </a:p>
          <a:p>
            <a:pPr indent="-190500" lvl="1" marL="355600" marR="0" rtl="0" algn="l">
              <a:lnSpc>
                <a:spcPct val="100000"/>
              </a:lnSpc>
              <a:spcBef>
                <a:spcPts val="165"/>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Open-weight, self-hosted access for the large number of inference calls the protocol demands. Pure-reasoning hybrid (22 gated short-conv + 8 GQA blocks, 128K context) with an explicit `thinking` / `response` boundary — that boundary is what makes a thinking budget enforceable and the two halves separable. Fits a single T4 (~5.2 GB fp16).</a:t>
            </a:r>
            <a:endParaRPr sz="1600"/>
          </a:p>
          <a:p>
            <a:pPr indent="-190500" lvl="1" marL="355600" marR="0" rtl="0" algn="l">
              <a:lnSpc>
                <a:spcPct val="100000"/>
              </a:lnSpc>
              <a:spcBef>
                <a:spcPts val="165"/>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Well-documented published scores across a wide spread of benchmarks; recent release reducing contamination risk.</a:t>
            </a:r>
            <a:endParaRPr sz="1600"/>
          </a:p>
          <a:p>
            <a:pPr indent="0" lvl="0" marL="0" marR="0" rtl="0" algn="l">
              <a:lnSpc>
                <a:spcPct val="100000"/>
              </a:lnSpc>
              <a:spcBef>
                <a:spcPts val="275"/>
              </a:spcBef>
              <a:spcAft>
                <a:spcPts val="0"/>
              </a:spcAft>
              <a:buClr>
                <a:srgbClr val="000000"/>
              </a:buClr>
              <a:buSzPts val="1438"/>
              <a:buFont typeface="Arial"/>
              <a:buNone/>
            </a:pPr>
            <a:r>
              <a:t/>
            </a:r>
            <a:endParaRPr b="1" sz="1638">
              <a:solidFill>
                <a:srgbClr val="FF7900"/>
              </a:solidFill>
              <a:latin typeface="Helvetica Neue"/>
              <a:ea typeface="Helvetica Neue"/>
              <a:cs typeface="Helvetica Neue"/>
              <a:sym typeface="Helvetica Neue"/>
            </a:endParaRPr>
          </a:p>
          <a:p>
            <a:pPr indent="0" lvl="0" marL="0" marR="0" rtl="0" algn="l">
              <a:lnSpc>
                <a:spcPct val="100000"/>
              </a:lnSpc>
              <a:spcBef>
                <a:spcPts val="275"/>
              </a:spcBef>
              <a:spcAft>
                <a:spcPts val="0"/>
              </a:spcAft>
              <a:buClr>
                <a:srgbClr val="000000"/>
              </a:buClr>
              <a:buSzPts val="1438"/>
              <a:buFont typeface="Arial"/>
              <a:buNone/>
            </a:pPr>
            <a:r>
              <a:rPr b="1" i="0" lang="en-US" sz="1638" u="none" cap="none" strike="noStrike">
                <a:solidFill>
                  <a:srgbClr val="FF7900"/>
                </a:solidFill>
                <a:latin typeface="Helvetica Neue"/>
                <a:ea typeface="Helvetica Neue"/>
                <a:cs typeface="Helvetica Neue"/>
                <a:sym typeface="Helvetica Neue"/>
              </a:rPr>
              <a:t>Benchmark selection &amp; difficulty tiering. </a:t>
            </a:r>
            <a:r>
              <a:rPr b="0" i="0" lang="en-US" sz="1638" u="none" cap="none" strike="noStrike">
                <a:solidFill>
                  <a:srgbClr val="D6D6D6"/>
                </a:solidFill>
                <a:latin typeface="Helvetica Neue"/>
                <a:ea typeface="Helvetica Neue"/>
                <a:cs typeface="Helvetica Neue"/>
                <a:sym typeface="Helvetica Neue"/>
              </a:rPr>
              <a:t>a deliberate two-dimensional mix: benchmarks are selected to give three difficulty tiers (easy / medium / hard) relative to the target model’s published capability, crossed with task type (math, code, multi-choice selection, tool use, PhD science, instruction following), so no single tier is driven by one difficulty level or one task format.</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69" name="Shape 469"/>
        <p:cNvGrpSpPr/>
        <p:nvPr/>
      </p:nvGrpSpPr>
      <p:grpSpPr>
        <a:xfrm>
          <a:off x="0" y="0"/>
          <a:ext cx="0" cy="0"/>
          <a:chOff x="0" y="0"/>
          <a:chExt cx="0" cy="0"/>
        </a:xfrm>
      </p:grpSpPr>
      <p:sp>
        <p:nvSpPr>
          <p:cNvPr id="470" name="Google Shape;470;h2dfb90ae07d12a84_2_340"/>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71" name="Google Shape;471;h2dfb90ae07d12a84_2_340"/>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472" name="Google Shape;472;h2dfb90ae07d12a84_2_340"/>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473" name="Google Shape;473;h2dfb90ae07d12a84_2_340"/>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H1 — TESTING METHODOLOGY</a:t>
            </a:r>
            <a:endParaRPr b="0" i="0" sz="1500" u="none" cap="none" strike="noStrike">
              <a:solidFill>
                <a:schemeClr val="dk1"/>
              </a:solidFill>
              <a:latin typeface="Helvetica Neue"/>
              <a:ea typeface="Helvetica Neue"/>
              <a:cs typeface="Helvetica Neue"/>
              <a:sym typeface="Helvetica Neue"/>
            </a:endParaRPr>
          </a:p>
        </p:txBody>
      </p:sp>
      <p:sp>
        <p:nvSpPr>
          <p:cNvPr id="474" name="Google Shape;474;h2dfb90ae07d12a84_2_340"/>
          <p:cNvSpPr/>
          <p:nvPr/>
        </p:nvSpPr>
        <p:spPr>
          <a:xfrm>
            <a:off x="457200" y="1207008"/>
            <a:ext cx="112470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H1 — Benchmark grid &amp; tiers</a:t>
            </a:r>
            <a:endParaRPr b="0" i="0" sz="2000" u="none" cap="none" strike="noStrike">
              <a:solidFill>
                <a:schemeClr val="dk1"/>
              </a:solidFill>
              <a:latin typeface="Helvetica Neue"/>
              <a:ea typeface="Helvetica Neue"/>
              <a:cs typeface="Helvetica Neue"/>
              <a:sym typeface="Helvetica Neue"/>
            </a:endParaRPr>
          </a:p>
        </p:txBody>
      </p:sp>
      <p:sp>
        <p:nvSpPr>
          <p:cNvPr id="475" name="Google Shape;475;h2dfb90ae07d12a84_2_340"/>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476" name="Google Shape;476;h2dfb90ae07d12a84_2_340"/>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20</a:t>
            </a:r>
            <a:endParaRPr b="0" i="0" sz="1000" u="none" cap="none" strike="noStrike">
              <a:solidFill>
                <a:schemeClr val="dk1"/>
              </a:solidFill>
              <a:latin typeface="Helvetica Neue"/>
              <a:ea typeface="Helvetica Neue"/>
              <a:cs typeface="Helvetica Neue"/>
              <a:sym typeface="Helvetica Neue"/>
            </a:endParaRPr>
          </a:p>
        </p:txBody>
      </p:sp>
      <p:sp>
        <p:nvSpPr>
          <p:cNvPr id="477" name="Google Shape;477;h2dfb90ae07d12a84_2_340"/>
          <p:cNvSpPr/>
          <p:nvPr/>
        </p:nvSpPr>
        <p:spPr>
          <a:xfrm>
            <a:off x="3352821" y="1950000"/>
            <a:ext cx="2925900" cy="310800"/>
          </a:xfrm>
          <a:prstGeom prst="rect">
            <a:avLst/>
          </a:prstGeom>
          <a:solidFill>
            <a:srgbClr val="FF79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78" name="Google Shape;478;h2dfb90ae07d12a84_2_340"/>
          <p:cNvSpPr/>
          <p:nvPr/>
        </p:nvSpPr>
        <p:spPr>
          <a:xfrm>
            <a:off x="3398539" y="1950000"/>
            <a:ext cx="2880300" cy="3108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00000"/>
                </a:solidFill>
                <a:latin typeface="Helvetica Neue"/>
                <a:ea typeface="Helvetica Neue"/>
                <a:cs typeface="Helvetica Neue"/>
                <a:sym typeface="Helvetica Neue"/>
              </a:rPr>
              <a:t>Benchmark</a:t>
            </a:r>
            <a:endParaRPr/>
          </a:p>
        </p:txBody>
      </p:sp>
      <p:sp>
        <p:nvSpPr>
          <p:cNvPr id="479" name="Google Shape;479;h2dfb90ae07d12a84_2_340"/>
          <p:cNvSpPr/>
          <p:nvPr/>
        </p:nvSpPr>
        <p:spPr>
          <a:xfrm>
            <a:off x="6278741" y="1950000"/>
            <a:ext cx="1097400" cy="310800"/>
          </a:xfrm>
          <a:prstGeom prst="rect">
            <a:avLst/>
          </a:prstGeom>
          <a:solidFill>
            <a:srgbClr val="FF79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80" name="Google Shape;480;h2dfb90ae07d12a84_2_340"/>
          <p:cNvSpPr/>
          <p:nvPr/>
        </p:nvSpPr>
        <p:spPr>
          <a:xfrm>
            <a:off x="6324459" y="1950000"/>
            <a:ext cx="1051500" cy="3108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00000"/>
                </a:solidFill>
                <a:latin typeface="Helvetica Neue"/>
                <a:ea typeface="Helvetica Neue"/>
                <a:cs typeface="Helvetica Neue"/>
                <a:sym typeface="Helvetica Neue"/>
              </a:rPr>
              <a:t>Tier</a:t>
            </a:r>
            <a:endParaRPr/>
          </a:p>
        </p:txBody>
      </p:sp>
      <p:sp>
        <p:nvSpPr>
          <p:cNvPr id="481" name="Google Shape;481;h2dfb90ae07d12a84_2_340"/>
          <p:cNvSpPr/>
          <p:nvPr/>
        </p:nvSpPr>
        <p:spPr>
          <a:xfrm>
            <a:off x="7375961" y="1950000"/>
            <a:ext cx="1463100" cy="310800"/>
          </a:xfrm>
          <a:prstGeom prst="rect">
            <a:avLst/>
          </a:prstGeom>
          <a:solidFill>
            <a:srgbClr val="FF79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82" name="Google Shape;482;h2dfb90ae07d12a84_2_340"/>
          <p:cNvSpPr/>
          <p:nvPr/>
        </p:nvSpPr>
        <p:spPr>
          <a:xfrm>
            <a:off x="7421679" y="1950000"/>
            <a:ext cx="1417500" cy="3108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00000"/>
                </a:solidFill>
                <a:latin typeface="Helvetica Neue"/>
                <a:ea typeface="Helvetica Neue"/>
                <a:cs typeface="Helvetica Neue"/>
                <a:sym typeface="Helvetica Neue"/>
              </a:rPr>
              <a:t>Task type</a:t>
            </a:r>
            <a:endParaRPr/>
          </a:p>
        </p:txBody>
      </p:sp>
      <p:sp>
        <p:nvSpPr>
          <p:cNvPr id="483" name="Google Shape;483;h2dfb90ae07d12a84_2_340"/>
          <p:cNvSpPr/>
          <p:nvPr/>
        </p:nvSpPr>
        <p:spPr>
          <a:xfrm>
            <a:off x="3352821" y="2260895"/>
            <a:ext cx="29259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84" name="Google Shape;484;h2dfb90ae07d12a84_2_340"/>
          <p:cNvSpPr/>
          <p:nvPr/>
        </p:nvSpPr>
        <p:spPr>
          <a:xfrm>
            <a:off x="3398539" y="2260895"/>
            <a:ext cx="28803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GSM8K</a:t>
            </a:r>
            <a:endParaRPr/>
          </a:p>
        </p:txBody>
      </p:sp>
      <p:sp>
        <p:nvSpPr>
          <p:cNvPr id="485" name="Google Shape;485;h2dfb90ae07d12a84_2_340"/>
          <p:cNvSpPr/>
          <p:nvPr/>
        </p:nvSpPr>
        <p:spPr>
          <a:xfrm>
            <a:off x="6278741" y="2260895"/>
            <a:ext cx="10974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86" name="Google Shape;486;h2dfb90ae07d12a84_2_340"/>
          <p:cNvSpPr/>
          <p:nvPr/>
        </p:nvSpPr>
        <p:spPr>
          <a:xfrm>
            <a:off x="6324459" y="2260895"/>
            <a:ext cx="1051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easy</a:t>
            </a:r>
            <a:endParaRPr/>
          </a:p>
        </p:txBody>
      </p:sp>
      <p:sp>
        <p:nvSpPr>
          <p:cNvPr id="487" name="Google Shape;487;h2dfb90ae07d12a84_2_340"/>
          <p:cNvSpPr/>
          <p:nvPr/>
        </p:nvSpPr>
        <p:spPr>
          <a:xfrm>
            <a:off x="7375961" y="2260895"/>
            <a:ext cx="14631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88" name="Google Shape;488;h2dfb90ae07d12a84_2_340"/>
          <p:cNvSpPr/>
          <p:nvPr/>
        </p:nvSpPr>
        <p:spPr>
          <a:xfrm>
            <a:off x="7421679" y="2260895"/>
            <a:ext cx="1417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math</a:t>
            </a:r>
            <a:endParaRPr/>
          </a:p>
        </p:txBody>
      </p:sp>
      <p:sp>
        <p:nvSpPr>
          <p:cNvPr id="489" name="Google Shape;489;h2dfb90ae07d12a84_2_340"/>
          <p:cNvSpPr/>
          <p:nvPr/>
        </p:nvSpPr>
        <p:spPr>
          <a:xfrm>
            <a:off x="3352821" y="2535215"/>
            <a:ext cx="29259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90" name="Google Shape;490;h2dfb90ae07d12a84_2_340"/>
          <p:cNvSpPr/>
          <p:nvPr/>
        </p:nvSpPr>
        <p:spPr>
          <a:xfrm>
            <a:off x="3398539" y="2535215"/>
            <a:ext cx="28803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MMLU-Redux</a:t>
            </a:r>
            <a:endParaRPr/>
          </a:p>
        </p:txBody>
      </p:sp>
      <p:sp>
        <p:nvSpPr>
          <p:cNvPr id="491" name="Google Shape;491;h2dfb90ae07d12a84_2_340"/>
          <p:cNvSpPr/>
          <p:nvPr/>
        </p:nvSpPr>
        <p:spPr>
          <a:xfrm>
            <a:off x="6278741" y="2535215"/>
            <a:ext cx="10974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92" name="Google Shape;492;h2dfb90ae07d12a84_2_340"/>
          <p:cNvSpPr/>
          <p:nvPr/>
        </p:nvSpPr>
        <p:spPr>
          <a:xfrm>
            <a:off x="6324459" y="2535215"/>
            <a:ext cx="1051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easy</a:t>
            </a:r>
            <a:endParaRPr/>
          </a:p>
        </p:txBody>
      </p:sp>
      <p:sp>
        <p:nvSpPr>
          <p:cNvPr id="493" name="Google Shape;493;h2dfb90ae07d12a84_2_340"/>
          <p:cNvSpPr/>
          <p:nvPr/>
        </p:nvSpPr>
        <p:spPr>
          <a:xfrm>
            <a:off x="7375961" y="2535215"/>
            <a:ext cx="14631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94" name="Google Shape;494;h2dfb90ae07d12a84_2_340"/>
          <p:cNvSpPr/>
          <p:nvPr/>
        </p:nvSpPr>
        <p:spPr>
          <a:xfrm>
            <a:off x="7421679" y="2535215"/>
            <a:ext cx="1417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general knowledge</a:t>
            </a:r>
            <a:endParaRPr/>
          </a:p>
        </p:txBody>
      </p:sp>
      <p:sp>
        <p:nvSpPr>
          <p:cNvPr id="495" name="Google Shape;495;h2dfb90ae07d12a84_2_340"/>
          <p:cNvSpPr/>
          <p:nvPr/>
        </p:nvSpPr>
        <p:spPr>
          <a:xfrm>
            <a:off x="3352821" y="2809534"/>
            <a:ext cx="29259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96" name="Google Shape;496;h2dfb90ae07d12a84_2_340"/>
          <p:cNvSpPr/>
          <p:nvPr/>
        </p:nvSpPr>
        <p:spPr>
          <a:xfrm>
            <a:off x="3398539" y="2809534"/>
            <a:ext cx="28803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IFEval</a:t>
            </a:r>
            <a:endParaRPr/>
          </a:p>
        </p:txBody>
      </p:sp>
      <p:sp>
        <p:nvSpPr>
          <p:cNvPr id="497" name="Google Shape;497;h2dfb90ae07d12a84_2_340"/>
          <p:cNvSpPr/>
          <p:nvPr/>
        </p:nvSpPr>
        <p:spPr>
          <a:xfrm>
            <a:off x="6278741" y="2809534"/>
            <a:ext cx="10974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498" name="Google Shape;498;h2dfb90ae07d12a84_2_340"/>
          <p:cNvSpPr/>
          <p:nvPr/>
        </p:nvSpPr>
        <p:spPr>
          <a:xfrm>
            <a:off x="6324459" y="2809534"/>
            <a:ext cx="1051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easy</a:t>
            </a:r>
            <a:endParaRPr/>
          </a:p>
        </p:txBody>
      </p:sp>
      <p:sp>
        <p:nvSpPr>
          <p:cNvPr id="499" name="Google Shape;499;h2dfb90ae07d12a84_2_340"/>
          <p:cNvSpPr/>
          <p:nvPr/>
        </p:nvSpPr>
        <p:spPr>
          <a:xfrm>
            <a:off x="7375961" y="2809534"/>
            <a:ext cx="14631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00" name="Google Shape;500;h2dfb90ae07d12a84_2_340"/>
          <p:cNvSpPr/>
          <p:nvPr/>
        </p:nvSpPr>
        <p:spPr>
          <a:xfrm>
            <a:off x="7241871" y="2809538"/>
            <a:ext cx="1787700" cy="274200"/>
          </a:xfrm>
          <a:prstGeom prst="rect">
            <a:avLst/>
          </a:prstGeom>
          <a:no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instruction following</a:t>
            </a:r>
            <a:endParaRPr/>
          </a:p>
        </p:txBody>
      </p:sp>
      <p:sp>
        <p:nvSpPr>
          <p:cNvPr id="501" name="Google Shape;501;h2dfb90ae07d12a84_2_340"/>
          <p:cNvSpPr/>
          <p:nvPr/>
        </p:nvSpPr>
        <p:spPr>
          <a:xfrm>
            <a:off x="3352821" y="3083853"/>
            <a:ext cx="29259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02" name="Google Shape;502;h2dfb90ae07d12a84_2_340"/>
          <p:cNvSpPr/>
          <p:nvPr/>
        </p:nvSpPr>
        <p:spPr>
          <a:xfrm>
            <a:off x="3398539" y="3083853"/>
            <a:ext cx="28803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MATH-full</a:t>
            </a:r>
            <a:endParaRPr/>
          </a:p>
        </p:txBody>
      </p:sp>
      <p:sp>
        <p:nvSpPr>
          <p:cNvPr id="503" name="Google Shape;503;h2dfb90ae07d12a84_2_340"/>
          <p:cNvSpPr/>
          <p:nvPr/>
        </p:nvSpPr>
        <p:spPr>
          <a:xfrm>
            <a:off x="6278741" y="3083853"/>
            <a:ext cx="10974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04" name="Google Shape;504;h2dfb90ae07d12a84_2_340"/>
          <p:cNvSpPr/>
          <p:nvPr/>
        </p:nvSpPr>
        <p:spPr>
          <a:xfrm>
            <a:off x="6324459" y="3083853"/>
            <a:ext cx="1051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medium</a:t>
            </a:r>
            <a:endParaRPr/>
          </a:p>
        </p:txBody>
      </p:sp>
      <p:sp>
        <p:nvSpPr>
          <p:cNvPr id="505" name="Google Shape;505;h2dfb90ae07d12a84_2_340"/>
          <p:cNvSpPr/>
          <p:nvPr/>
        </p:nvSpPr>
        <p:spPr>
          <a:xfrm>
            <a:off x="7375961" y="3083853"/>
            <a:ext cx="14631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06" name="Google Shape;506;h2dfb90ae07d12a84_2_340"/>
          <p:cNvSpPr/>
          <p:nvPr/>
        </p:nvSpPr>
        <p:spPr>
          <a:xfrm>
            <a:off x="7421679" y="3083853"/>
            <a:ext cx="1417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math</a:t>
            </a:r>
            <a:endParaRPr/>
          </a:p>
        </p:txBody>
      </p:sp>
      <p:sp>
        <p:nvSpPr>
          <p:cNvPr id="507" name="Google Shape;507;h2dfb90ae07d12a84_2_340"/>
          <p:cNvSpPr/>
          <p:nvPr/>
        </p:nvSpPr>
        <p:spPr>
          <a:xfrm>
            <a:off x="3352821" y="3358173"/>
            <a:ext cx="29259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08" name="Google Shape;508;h2dfb90ae07d12a84_2_340"/>
          <p:cNvSpPr/>
          <p:nvPr/>
        </p:nvSpPr>
        <p:spPr>
          <a:xfrm>
            <a:off x="3398539" y="3358173"/>
            <a:ext cx="28803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MMLU-Pro</a:t>
            </a:r>
            <a:endParaRPr/>
          </a:p>
        </p:txBody>
      </p:sp>
      <p:sp>
        <p:nvSpPr>
          <p:cNvPr id="509" name="Google Shape;509;h2dfb90ae07d12a84_2_340"/>
          <p:cNvSpPr/>
          <p:nvPr/>
        </p:nvSpPr>
        <p:spPr>
          <a:xfrm>
            <a:off x="6278741" y="3358173"/>
            <a:ext cx="10974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10" name="Google Shape;510;h2dfb90ae07d12a84_2_340"/>
          <p:cNvSpPr/>
          <p:nvPr/>
        </p:nvSpPr>
        <p:spPr>
          <a:xfrm>
            <a:off x="6324459" y="3358173"/>
            <a:ext cx="1051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medium</a:t>
            </a:r>
            <a:endParaRPr/>
          </a:p>
        </p:txBody>
      </p:sp>
      <p:sp>
        <p:nvSpPr>
          <p:cNvPr id="511" name="Google Shape;511;h2dfb90ae07d12a84_2_340"/>
          <p:cNvSpPr/>
          <p:nvPr/>
        </p:nvSpPr>
        <p:spPr>
          <a:xfrm>
            <a:off x="7375961" y="3358173"/>
            <a:ext cx="14631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12" name="Google Shape;512;h2dfb90ae07d12a84_2_340"/>
          <p:cNvSpPr/>
          <p:nvPr/>
        </p:nvSpPr>
        <p:spPr>
          <a:xfrm>
            <a:off x="7421679" y="3358173"/>
            <a:ext cx="1417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general knowledge</a:t>
            </a:r>
            <a:endParaRPr/>
          </a:p>
        </p:txBody>
      </p:sp>
      <p:sp>
        <p:nvSpPr>
          <p:cNvPr id="513" name="Google Shape;513;h2dfb90ae07d12a84_2_340"/>
          <p:cNvSpPr/>
          <p:nvPr/>
        </p:nvSpPr>
        <p:spPr>
          <a:xfrm>
            <a:off x="3352821" y="3632492"/>
            <a:ext cx="29259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14" name="Google Shape;514;h2dfb90ae07d12a84_2_340"/>
          <p:cNvSpPr/>
          <p:nvPr/>
        </p:nvSpPr>
        <p:spPr>
          <a:xfrm>
            <a:off x="3398539" y="3632492"/>
            <a:ext cx="28803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BFCL-v3-simple</a:t>
            </a:r>
            <a:endParaRPr/>
          </a:p>
        </p:txBody>
      </p:sp>
      <p:sp>
        <p:nvSpPr>
          <p:cNvPr id="515" name="Google Shape;515;h2dfb90ae07d12a84_2_340"/>
          <p:cNvSpPr/>
          <p:nvPr/>
        </p:nvSpPr>
        <p:spPr>
          <a:xfrm>
            <a:off x="6278741" y="3632492"/>
            <a:ext cx="10974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16" name="Google Shape;516;h2dfb90ae07d12a84_2_340"/>
          <p:cNvSpPr/>
          <p:nvPr/>
        </p:nvSpPr>
        <p:spPr>
          <a:xfrm>
            <a:off x="6324459" y="3632492"/>
            <a:ext cx="1051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medium</a:t>
            </a:r>
            <a:endParaRPr/>
          </a:p>
        </p:txBody>
      </p:sp>
      <p:sp>
        <p:nvSpPr>
          <p:cNvPr id="517" name="Google Shape;517;h2dfb90ae07d12a84_2_340"/>
          <p:cNvSpPr/>
          <p:nvPr/>
        </p:nvSpPr>
        <p:spPr>
          <a:xfrm>
            <a:off x="7375961" y="3632492"/>
            <a:ext cx="14631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18" name="Google Shape;518;h2dfb90ae07d12a84_2_340"/>
          <p:cNvSpPr/>
          <p:nvPr/>
        </p:nvSpPr>
        <p:spPr>
          <a:xfrm>
            <a:off x="7421679" y="3632492"/>
            <a:ext cx="1417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agentic tool use</a:t>
            </a:r>
            <a:endParaRPr/>
          </a:p>
        </p:txBody>
      </p:sp>
      <p:sp>
        <p:nvSpPr>
          <p:cNvPr id="519" name="Google Shape;519;h2dfb90ae07d12a84_2_340"/>
          <p:cNvSpPr/>
          <p:nvPr/>
        </p:nvSpPr>
        <p:spPr>
          <a:xfrm>
            <a:off x="3352821" y="3906811"/>
            <a:ext cx="29259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20" name="Google Shape;520;h2dfb90ae07d12a84_2_340"/>
          <p:cNvSpPr/>
          <p:nvPr/>
        </p:nvSpPr>
        <p:spPr>
          <a:xfrm>
            <a:off x="3398539" y="3906811"/>
            <a:ext cx="28803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AIME2025</a:t>
            </a:r>
            <a:endParaRPr/>
          </a:p>
        </p:txBody>
      </p:sp>
      <p:sp>
        <p:nvSpPr>
          <p:cNvPr id="521" name="Google Shape;521;h2dfb90ae07d12a84_2_340"/>
          <p:cNvSpPr/>
          <p:nvPr/>
        </p:nvSpPr>
        <p:spPr>
          <a:xfrm>
            <a:off x="6278741" y="3906811"/>
            <a:ext cx="10974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22" name="Google Shape;522;h2dfb90ae07d12a84_2_340"/>
          <p:cNvSpPr/>
          <p:nvPr/>
        </p:nvSpPr>
        <p:spPr>
          <a:xfrm>
            <a:off x="6324459" y="3906811"/>
            <a:ext cx="1051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hard</a:t>
            </a:r>
            <a:endParaRPr/>
          </a:p>
        </p:txBody>
      </p:sp>
      <p:sp>
        <p:nvSpPr>
          <p:cNvPr id="523" name="Google Shape;523;h2dfb90ae07d12a84_2_340"/>
          <p:cNvSpPr/>
          <p:nvPr/>
        </p:nvSpPr>
        <p:spPr>
          <a:xfrm>
            <a:off x="7375961" y="3906811"/>
            <a:ext cx="14631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24" name="Google Shape;524;h2dfb90ae07d12a84_2_340"/>
          <p:cNvSpPr/>
          <p:nvPr/>
        </p:nvSpPr>
        <p:spPr>
          <a:xfrm>
            <a:off x="7421679" y="3906811"/>
            <a:ext cx="1417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math</a:t>
            </a:r>
            <a:endParaRPr/>
          </a:p>
        </p:txBody>
      </p:sp>
      <p:sp>
        <p:nvSpPr>
          <p:cNvPr id="525" name="Google Shape;525;h2dfb90ae07d12a84_2_340"/>
          <p:cNvSpPr/>
          <p:nvPr/>
        </p:nvSpPr>
        <p:spPr>
          <a:xfrm>
            <a:off x="3352821" y="4181131"/>
            <a:ext cx="29259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26" name="Google Shape;526;h2dfb90ae07d12a84_2_340"/>
          <p:cNvSpPr/>
          <p:nvPr/>
        </p:nvSpPr>
        <p:spPr>
          <a:xfrm>
            <a:off x="3398539" y="4181131"/>
            <a:ext cx="28803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GPQA-Diamond</a:t>
            </a:r>
            <a:endParaRPr/>
          </a:p>
        </p:txBody>
      </p:sp>
      <p:sp>
        <p:nvSpPr>
          <p:cNvPr id="527" name="Google Shape;527;h2dfb90ae07d12a84_2_340"/>
          <p:cNvSpPr/>
          <p:nvPr/>
        </p:nvSpPr>
        <p:spPr>
          <a:xfrm>
            <a:off x="6278741" y="4181131"/>
            <a:ext cx="10974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28" name="Google Shape;528;h2dfb90ae07d12a84_2_340"/>
          <p:cNvSpPr/>
          <p:nvPr/>
        </p:nvSpPr>
        <p:spPr>
          <a:xfrm>
            <a:off x="6324459" y="4181131"/>
            <a:ext cx="1051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hard</a:t>
            </a:r>
            <a:endParaRPr/>
          </a:p>
        </p:txBody>
      </p:sp>
      <p:sp>
        <p:nvSpPr>
          <p:cNvPr id="529" name="Google Shape;529;h2dfb90ae07d12a84_2_340"/>
          <p:cNvSpPr/>
          <p:nvPr/>
        </p:nvSpPr>
        <p:spPr>
          <a:xfrm>
            <a:off x="7375961" y="4181131"/>
            <a:ext cx="14631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30" name="Google Shape;530;h2dfb90ae07d12a84_2_340"/>
          <p:cNvSpPr/>
          <p:nvPr/>
        </p:nvSpPr>
        <p:spPr>
          <a:xfrm>
            <a:off x="7421679" y="4181131"/>
            <a:ext cx="1417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PhD science</a:t>
            </a:r>
            <a:endParaRPr/>
          </a:p>
        </p:txBody>
      </p:sp>
      <p:sp>
        <p:nvSpPr>
          <p:cNvPr id="531" name="Google Shape;531;h2dfb90ae07d12a84_2_340"/>
          <p:cNvSpPr/>
          <p:nvPr/>
        </p:nvSpPr>
        <p:spPr>
          <a:xfrm>
            <a:off x="3352821" y="4455450"/>
            <a:ext cx="29259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32" name="Google Shape;532;h2dfb90ae07d12a84_2_340"/>
          <p:cNvSpPr/>
          <p:nvPr/>
        </p:nvSpPr>
        <p:spPr>
          <a:xfrm>
            <a:off x="3398539" y="4455450"/>
            <a:ext cx="28803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LiveCodeBench-v6</a:t>
            </a:r>
            <a:endParaRPr/>
          </a:p>
        </p:txBody>
      </p:sp>
      <p:sp>
        <p:nvSpPr>
          <p:cNvPr id="533" name="Google Shape;533;h2dfb90ae07d12a84_2_340"/>
          <p:cNvSpPr/>
          <p:nvPr/>
        </p:nvSpPr>
        <p:spPr>
          <a:xfrm>
            <a:off x="6278741" y="4455450"/>
            <a:ext cx="10974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34" name="Google Shape;534;h2dfb90ae07d12a84_2_340"/>
          <p:cNvSpPr/>
          <p:nvPr/>
        </p:nvSpPr>
        <p:spPr>
          <a:xfrm>
            <a:off x="6324459" y="4455450"/>
            <a:ext cx="1051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hard</a:t>
            </a:r>
            <a:endParaRPr/>
          </a:p>
        </p:txBody>
      </p:sp>
      <p:sp>
        <p:nvSpPr>
          <p:cNvPr id="535" name="Google Shape;535;h2dfb90ae07d12a84_2_340"/>
          <p:cNvSpPr/>
          <p:nvPr/>
        </p:nvSpPr>
        <p:spPr>
          <a:xfrm>
            <a:off x="7375961" y="4455450"/>
            <a:ext cx="1463100" cy="274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36" name="Google Shape;536;h2dfb90ae07d12a84_2_340"/>
          <p:cNvSpPr/>
          <p:nvPr/>
        </p:nvSpPr>
        <p:spPr>
          <a:xfrm>
            <a:off x="7421679" y="4455450"/>
            <a:ext cx="1417500" cy="274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0" i="0" lang="en-US" sz="1092" u="none" cap="none" strike="noStrike">
                <a:solidFill>
                  <a:srgbClr val="141414"/>
                </a:solidFill>
                <a:latin typeface="Helvetica Neue"/>
                <a:ea typeface="Helvetica Neue"/>
                <a:cs typeface="Helvetica Neue"/>
                <a:sym typeface="Helvetica Neue"/>
              </a:rPr>
              <a:t>coding</a:t>
            </a:r>
            <a:endParaRPr/>
          </a:p>
        </p:txBody>
      </p:sp>
      <p:sp>
        <p:nvSpPr>
          <p:cNvPr id="537" name="Google Shape;537;h2dfb90ae07d12a84_2_340"/>
          <p:cNvSpPr/>
          <p:nvPr/>
        </p:nvSpPr>
        <p:spPr>
          <a:xfrm>
            <a:off x="502925" y="4929775"/>
            <a:ext cx="11155800" cy="1380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3"/>
              <a:buFont typeface="Arial"/>
              <a:buNone/>
            </a:pPr>
            <a:r>
              <a:rPr b="1" i="0" lang="en-US" sz="1403" u="none" cap="none" strike="noStrike">
                <a:solidFill>
                  <a:srgbClr val="FF7900"/>
                </a:solidFill>
                <a:latin typeface="Helvetica Neue"/>
                <a:ea typeface="Helvetica Neue"/>
                <a:cs typeface="Helvetica Neue"/>
                <a:sym typeface="Helvetica Neue"/>
              </a:rPr>
              <a:t>Important notes.</a:t>
            </a:r>
            <a:r>
              <a:rPr b="0" i="0" lang="en-US" sz="1403" u="none" cap="none" strike="noStrike">
                <a:solidFill>
                  <a:srgbClr val="D6D6D6"/>
                </a:solidFill>
                <a:latin typeface="Helvetica Neue"/>
                <a:ea typeface="Helvetica Neue"/>
                <a:cs typeface="Helvetica Neue"/>
                <a:sym typeface="Helvetica Neue"/>
              </a:rPr>
              <a:t>results are only meaningful if the tiers are genuine for the actual target model; the empirical tier verification step exists precisely for this.</a:t>
            </a:r>
            <a:endParaRPr/>
          </a:p>
          <a:p>
            <a:pPr indent="-177800" lvl="1" marL="355600" marR="0" rtl="0" algn="l">
              <a:lnSpc>
                <a:spcPct val="100000"/>
              </a:lnSpc>
              <a:spcBef>
                <a:spcPts val="165"/>
              </a:spcBef>
              <a:spcAft>
                <a:spcPts val="0"/>
              </a:spcAft>
              <a:buClr>
                <a:srgbClr val="D6D6D6"/>
              </a:buClr>
              <a:buSzPts val="1120"/>
              <a:buFont typeface="Helvetica Neue"/>
              <a:buChar char="–"/>
            </a:pPr>
            <a:r>
              <a:rPr b="0" i="0" lang="en-US" sz="1288" u="none" cap="none" strike="noStrike">
                <a:solidFill>
                  <a:srgbClr val="D6D6D6"/>
                </a:solidFill>
                <a:latin typeface="Helvetica Neue"/>
                <a:ea typeface="Helvetica Neue"/>
                <a:cs typeface="Helvetica Neue"/>
                <a:sym typeface="Helvetica Neue"/>
              </a:rPr>
              <a:t>Every tier covers multiple benchmarks with varying task formats, so that no single format determines an entire tier’s curve.</a:t>
            </a:r>
            <a:endParaRPr/>
          </a:p>
          <a:p>
            <a:pPr indent="-177800" lvl="1" marL="355600" marR="0" rtl="0" algn="l">
              <a:lnSpc>
                <a:spcPct val="100000"/>
              </a:lnSpc>
              <a:spcBef>
                <a:spcPts val="165"/>
              </a:spcBef>
              <a:spcAft>
                <a:spcPts val="0"/>
              </a:spcAft>
              <a:buClr>
                <a:srgbClr val="D6D6D6"/>
              </a:buClr>
              <a:buSzPts val="1120"/>
              <a:buFont typeface="Helvetica Neue"/>
              <a:buChar char="–"/>
            </a:pPr>
            <a:r>
              <a:rPr b="0" i="0" lang="en-US" sz="1288" u="none" cap="none" strike="noStrike">
                <a:solidFill>
                  <a:srgbClr val="D6D6D6"/>
                </a:solidFill>
                <a:latin typeface="Helvetica Neue"/>
                <a:ea typeface="Helvetica Neue"/>
                <a:cs typeface="Helvetica Neue"/>
                <a:sym typeface="Helvetica Neue"/>
              </a:rPr>
              <a:t>Every benchmark is tagged by task type (generation vs selection), with a per-format parser in the evals.</a:t>
            </a:r>
            <a:endParaRPr/>
          </a:p>
          <a:p>
            <a:pPr indent="-177800" lvl="1" marL="355600" marR="0" rtl="0" algn="l">
              <a:lnSpc>
                <a:spcPct val="100000"/>
              </a:lnSpc>
              <a:spcBef>
                <a:spcPts val="165"/>
              </a:spcBef>
              <a:spcAft>
                <a:spcPts val="0"/>
              </a:spcAft>
              <a:buClr>
                <a:srgbClr val="D6D6D6"/>
              </a:buClr>
              <a:buSzPts val="1120"/>
              <a:buFont typeface="Helvetica Neue"/>
              <a:buChar char="–"/>
            </a:pPr>
            <a:r>
              <a:rPr b="0" i="0" lang="en-US" sz="1288" u="none" cap="none" strike="noStrike">
                <a:solidFill>
                  <a:srgbClr val="D6D6D6"/>
                </a:solidFill>
                <a:latin typeface="Helvetica Neue"/>
                <a:ea typeface="Helvetica Neue"/>
                <a:cs typeface="Helvetica Neue"/>
                <a:sym typeface="Helvetica Neue"/>
              </a:rPr>
              <a:t>Grid executed: 9 benchmarks × 10 questions × 7 compute levels [0, 256, 512, 1024, 2048, 4096, 8192] × 5 samples ≈ 3,150 calls, temperature 0.7, independent variable = a hard cap on thinking tokens.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41" name="Shape 541"/>
        <p:cNvGrpSpPr/>
        <p:nvPr/>
      </p:nvGrpSpPr>
      <p:grpSpPr>
        <a:xfrm>
          <a:off x="0" y="0"/>
          <a:ext cx="0" cy="0"/>
          <a:chOff x="0" y="0"/>
          <a:chExt cx="0" cy="0"/>
        </a:xfrm>
      </p:grpSpPr>
      <p:sp>
        <p:nvSpPr>
          <p:cNvPr id="542" name="Google Shape;542;h2dfb90ae07d12a84_2_411"/>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43" name="Google Shape;543;h2dfb90ae07d12a84_2_411"/>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544" name="Google Shape;544;h2dfb90ae07d12a84_2_411"/>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545" name="Google Shape;545;h2dfb90ae07d12a84_2_411"/>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H1 — TESTING METHODOLOGY</a:t>
            </a:r>
            <a:endParaRPr b="0" i="0" sz="1500" u="none" cap="none" strike="noStrike">
              <a:solidFill>
                <a:schemeClr val="dk1"/>
              </a:solidFill>
              <a:latin typeface="Helvetica Neue"/>
              <a:ea typeface="Helvetica Neue"/>
              <a:cs typeface="Helvetica Neue"/>
              <a:sym typeface="Helvetica Neue"/>
            </a:endParaRPr>
          </a:p>
        </p:txBody>
      </p:sp>
      <p:sp>
        <p:nvSpPr>
          <p:cNvPr id="546" name="Google Shape;546;h2dfb90ae07d12a84_2_411"/>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H1 — Protocol &amp; execution</a:t>
            </a:r>
            <a:endParaRPr b="0" i="0" sz="2000" u="none" cap="none" strike="noStrike">
              <a:solidFill>
                <a:schemeClr val="dk1"/>
              </a:solidFill>
              <a:latin typeface="Helvetica Neue"/>
              <a:ea typeface="Helvetica Neue"/>
              <a:cs typeface="Helvetica Neue"/>
              <a:sym typeface="Helvetica Neue"/>
            </a:endParaRPr>
          </a:p>
        </p:txBody>
      </p:sp>
      <p:sp>
        <p:nvSpPr>
          <p:cNvPr id="547" name="Google Shape;547;h2dfb90ae07d12a84_2_411"/>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548" name="Google Shape;548;h2dfb90ae07d12a84_2_411"/>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21</a:t>
            </a:r>
            <a:endParaRPr b="0" i="0" sz="1000" u="none" cap="none" strike="noStrike">
              <a:solidFill>
                <a:schemeClr val="dk1"/>
              </a:solidFill>
              <a:latin typeface="Helvetica Neue"/>
              <a:ea typeface="Helvetica Neue"/>
              <a:cs typeface="Helvetica Neue"/>
              <a:sym typeface="Helvetica Neue"/>
            </a:endParaRPr>
          </a:p>
        </p:txBody>
      </p:sp>
      <p:sp>
        <p:nvSpPr>
          <p:cNvPr id="549" name="Google Shape;549;h2dfb90ae07d12a84_2_411"/>
          <p:cNvSpPr/>
          <p:nvPr/>
        </p:nvSpPr>
        <p:spPr>
          <a:xfrm>
            <a:off x="380624" y="1849926"/>
            <a:ext cx="11155800" cy="462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38"/>
              <a:buFont typeface="Arial"/>
              <a:buNone/>
            </a:pPr>
            <a:r>
              <a:rPr b="1" i="0" lang="en-US" sz="1638" u="none" cap="none" strike="noStrike">
                <a:solidFill>
                  <a:srgbClr val="FF7900"/>
                </a:solidFill>
                <a:latin typeface="Helvetica Neue"/>
                <a:ea typeface="Helvetica Neue"/>
                <a:cs typeface="Helvetica Neue"/>
                <a:sym typeface="Helvetica Neue"/>
              </a:rPr>
              <a:t>Benchmark collection &amp; evaluation protocol.</a:t>
            </a:r>
            <a:endParaRPr sz="1600"/>
          </a:p>
          <a:p>
            <a:pPr indent="-190500" lvl="1" marL="355600" marR="0" rtl="0" algn="l">
              <a:lnSpc>
                <a:spcPct val="100000"/>
              </a:lnSpc>
              <a:spcBef>
                <a:spcPts val="165"/>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Collect each question with its labels from the start: [question_id, benchmark, difficulty_tier, task_type].</a:t>
            </a:r>
            <a:endParaRPr sz="1600"/>
          </a:p>
          <a:p>
            <a:pPr indent="-190500" lvl="1" marL="355600" marR="0" rtl="0" algn="l">
              <a:lnSpc>
                <a:spcPct val="100000"/>
              </a:lnSpc>
              <a:spcBef>
                <a:spcPts val="165"/>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The Simpson’s paradox fix: compute a separate accuracy(compute_level) curve per (benchmark × tier), then normalize each curve on its subgroup’s own performance (z-score or min-max) before aggregating; this removes the scale/ceiling effect that makes raw averages meaningless across subgroups.</a:t>
            </a:r>
            <a:endParaRPr sz="1600"/>
          </a:p>
          <a:p>
            <a:pPr indent="-190500" lvl="1" marL="355600" marR="0" rtl="0" algn="l">
              <a:lnSpc>
                <a:spcPct val="100000"/>
              </a:lnSpc>
              <a:spcBef>
                <a:spcPts val="165"/>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Never aggregate raw accuracy across differently-shaped curves without normalization; always keep disaggregated curves visible.</a:t>
            </a:r>
            <a:endParaRPr sz="1600"/>
          </a:p>
          <a:p>
            <a:pPr indent="0" lvl="0" marL="0" marR="0" rtl="0" algn="l">
              <a:lnSpc>
                <a:spcPct val="100000"/>
              </a:lnSpc>
              <a:spcBef>
                <a:spcPts val="275"/>
              </a:spcBef>
              <a:spcAft>
                <a:spcPts val="0"/>
              </a:spcAft>
              <a:buClr>
                <a:srgbClr val="000000"/>
              </a:buClr>
              <a:buSzPts val="1438"/>
              <a:buFont typeface="Arial"/>
              <a:buNone/>
            </a:pPr>
            <a:r>
              <a:t/>
            </a:r>
            <a:endParaRPr b="1" sz="1638">
              <a:solidFill>
                <a:srgbClr val="FF7900"/>
              </a:solidFill>
              <a:latin typeface="Helvetica Neue"/>
              <a:ea typeface="Helvetica Neue"/>
              <a:cs typeface="Helvetica Neue"/>
              <a:sym typeface="Helvetica Neue"/>
            </a:endParaRPr>
          </a:p>
          <a:p>
            <a:pPr indent="0" lvl="0" marL="0" marR="0" rtl="0" algn="l">
              <a:lnSpc>
                <a:spcPct val="100000"/>
              </a:lnSpc>
              <a:spcBef>
                <a:spcPts val="275"/>
              </a:spcBef>
              <a:spcAft>
                <a:spcPts val="0"/>
              </a:spcAft>
              <a:buClr>
                <a:srgbClr val="000000"/>
              </a:buClr>
              <a:buSzPts val="1438"/>
              <a:buFont typeface="Arial"/>
              <a:buNone/>
            </a:pPr>
            <a:r>
              <a:rPr b="1" i="0" lang="en-US" sz="1638" u="none" cap="none" strike="noStrike">
                <a:solidFill>
                  <a:srgbClr val="FF7900"/>
                </a:solidFill>
                <a:latin typeface="Helvetica Neue"/>
                <a:ea typeface="Helvetica Neue"/>
                <a:cs typeface="Helvetica Neue"/>
                <a:sym typeface="Helvetica Neue"/>
              </a:rPr>
              <a:t>Execution approach.</a:t>
            </a:r>
            <a:endParaRPr sz="1600"/>
          </a:p>
          <a:p>
            <a:pPr indent="-190500" lvl="1" marL="355600" marR="0" rtl="0" algn="l">
              <a:lnSpc>
                <a:spcPct val="100000"/>
              </a:lnSpc>
              <a:spcBef>
                <a:spcPts val="165"/>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Pilot (5–10 questions) — verify per-format parsing and evaluation for each task type/domain, confirm budget enforcement, and confirm no tier is trivially 0% or 100%.</a:t>
            </a:r>
            <a:endParaRPr sz="1600"/>
          </a:p>
          <a:p>
            <a:pPr indent="-190500" lvl="1" marL="355600" marR="0" rtl="0" algn="l">
              <a:lnSpc>
                <a:spcPct val="100000"/>
              </a:lnSpc>
              <a:spcBef>
                <a:spcPts val="165"/>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Full run across compute levels — ≥5 samples per question per level; log every row raw (question_id, benchmark, difficulty_tier, task_type, compute_level, sample_index, raw_model_output, parsed_answer, is_correct) with no aggregation at capture time.</a:t>
            </a:r>
            <a:endParaRPr sz="1600"/>
          </a:p>
          <a:p>
            <a:pPr indent="-190500" lvl="1" marL="355600" marR="0" rtl="0" algn="l">
              <a:lnSpc>
                <a:spcPct val="100000"/>
              </a:lnSpc>
              <a:spcBef>
                <a:spcPts val="165"/>
              </a:spcBef>
              <a:spcAft>
                <a:spcPts val="0"/>
              </a:spcAft>
              <a:buClr>
                <a:srgbClr val="D6D6D6"/>
              </a:buClr>
              <a:buSzPts val="1320"/>
              <a:buFont typeface="Helvetica Neue"/>
              <a:buChar char="–"/>
            </a:pPr>
            <a:r>
              <a:rPr b="0" i="0" lang="en-US" sz="1488" u="none" cap="none" strike="noStrike">
                <a:solidFill>
                  <a:srgbClr val="D6D6D6"/>
                </a:solidFill>
                <a:latin typeface="Helvetica Neue"/>
                <a:ea typeface="Helvetica Neue"/>
                <a:cs typeface="Helvetica Neue"/>
                <a:sym typeface="Helvetica Neue"/>
              </a:rPr>
              <a:t>Normalize each (benchmark × tier) curve, aggregate the normalized curves, then run knee detection (global and per-tier) and record Δcompute per tier.</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53" name="Shape 553"/>
        <p:cNvGrpSpPr/>
        <p:nvPr/>
      </p:nvGrpSpPr>
      <p:grpSpPr>
        <a:xfrm>
          <a:off x="0" y="0"/>
          <a:ext cx="0" cy="0"/>
          <a:chOff x="0" y="0"/>
          <a:chExt cx="0" cy="0"/>
        </a:xfrm>
      </p:grpSpPr>
      <p:sp>
        <p:nvSpPr>
          <p:cNvPr id="554" name="Google Shape;554;h2dfb90ae07d12a84_2_422"/>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55" name="Google Shape;555;h2dfb90ae07d12a84_2_422"/>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556" name="Google Shape;556;h2dfb90ae07d12a84_2_422"/>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557" name="Google Shape;557;h2dfb90ae07d12a84_2_422"/>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H1 — TEST FINDINGS</a:t>
            </a:r>
            <a:endParaRPr b="0" i="0" sz="1500" u="none" cap="none" strike="noStrike">
              <a:solidFill>
                <a:schemeClr val="dk1"/>
              </a:solidFill>
              <a:latin typeface="Helvetica Neue"/>
              <a:ea typeface="Helvetica Neue"/>
              <a:cs typeface="Helvetica Neue"/>
              <a:sym typeface="Helvetica Neue"/>
            </a:endParaRPr>
          </a:p>
        </p:txBody>
      </p:sp>
      <p:sp>
        <p:nvSpPr>
          <p:cNvPr id="558" name="Google Shape;558;h2dfb90ae07d12a84_2_422"/>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Setup &amp; data (executed run)</a:t>
            </a:r>
            <a:endParaRPr b="0" i="0" sz="2000" u="none" cap="none" strike="noStrike">
              <a:solidFill>
                <a:schemeClr val="dk1"/>
              </a:solidFill>
              <a:latin typeface="Helvetica Neue"/>
              <a:ea typeface="Helvetica Neue"/>
              <a:cs typeface="Helvetica Neue"/>
              <a:sym typeface="Helvetica Neue"/>
            </a:endParaRPr>
          </a:p>
        </p:txBody>
      </p:sp>
      <p:sp>
        <p:nvSpPr>
          <p:cNvPr id="559" name="Google Shape;559;h2dfb90ae07d12a84_2_422"/>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560" name="Google Shape;560;h2dfb90ae07d12a84_2_422"/>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22</a:t>
            </a:r>
            <a:endParaRPr b="0" i="0" sz="1000" u="none" cap="none" strike="noStrike">
              <a:solidFill>
                <a:schemeClr val="dk1"/>
              </a:solidFill>
              <a:latin typeface="Helvetica Neue"/>
              <a:ea typeface="Helvetica Neue"/>
              <a:cs typeface="Helvetica Neue"/>
              <a:sym typeface="Helvetica Neue"/>
            </a:endParaRPr>
          </a:p>
        </p:txBody>
      </p:sp>
      <p:sp>
        <p:nvSpPr>
          <p:cNvPr id="561" name="Google Shape;561;h2dfb90ae07d12a84_2_422"/>
          <p:cNvSpPr/>
          <p:nvPr/>
        </p:nvSpPr>
        <p:spPr>
          <a:xfrm>
            <a:off x="518100" y="1831125"/>
            <a:ext cx="11155800" cy="3874200"/>
          </a:xfrm>
          <a:prstGeom prst="rect">
            <a:avLst/>
          </a:prstGeom>
          <a:noFill/>
          <a:ln>
            <a:noFill/>
          </a:ln>
        </p:spPr>
        <p:txBody>
          <a:bodyPr anchorCtr="0" anchor="t" bIns="45700" lIns="91425" spcFirstLastPara="1" rIns="91425" wrap="square" tIns="45700">
            <a:noAutofit/>
          </a:bodyPr>
          <a:lstStyle/>
          <a:p>
            <a:pPr indent="-228600" lvl="0" marL="685800" marR="0" rtl="0" algn="l">
              <a:lnSpc>
                <a:spcPct val="100000"/>
              </a:lnSpc>
              <a:spcBef>
                <a:spcPts val="0"/>
              </a:spcBef>
              <a:spcAft>
                <a:spcPts val="0"/>
              </a:spcAft>
              <a:buClr>
                <a:srgbClr val="FF7900"/>
              </a:buClr>
              <a:buSzPts val="1250"/>
              <a:buFont typeface="Arial"/>
              <a:buChar char="■"/>
            </a:pPr>
            <a:r>
              <a:rPr b="1" i="0" lang="en-US" sz="1638" u="none" cap="none" strike="noStrike">
                <a:solidFill>
                  <a:srgbClr val="FF7900"/>
                </a:solidFill>
                <a:latin typeface="Helvetica Neue"/>
                <a:ea typeface="Helvetica Neue"/>
                <a:cs typeface="Helvetica Neue"/>
                <a:sym typeface="Helvetica Neue"/>
              </a:rPr>
              <a:t>Model: </a:t>
            </a:r>
            <a:r>
              <a:rPr b="0" i="0" lang="en-US" sz="1522" u="none" cap="none" strike="noStrike">
                <a:solidFill>
                  <a:srgbClr val="D6D6D6"/>
                </a:solidFill>
                <a:latin typeface="Helvetica Neue"/>
                <a:ea typeface="Helvetica Neue"/>
                <a:cs typeface="Helvetica Neue"/>
                <a:sym typeface="Helvetica Neue"/>
              </a:rPr>
              <a:t>LFM2.5-2.6B (LiquidAI), vLLM data-parallel on Kaggle 2×T4; thinking-budget enforced via a logits-processor fork of vLLM (hard cap on thinking tokens).</a:t>
            </a:r>
            <a:endParaRPr sz="1600"/>
          </a:p>
          <a:p>
            <a:pPr indent="0" lvl="0" marL="457200" marR="0" rtl="0" algn="l">
              <a:lnSpc>
                <a:spcPct val="100000"/>
              </a:lnSpc>
              <a:spcBef>
                <a:spcPts val="385"/>
              </a:spcBef>
              <a:spcAft>
                <a:spcPts val="0"/>
              </a:spcAft>
              <a:buNone/>
            </a:pPr>
            <a:r>
              <a:t/>
            </a:r>
            <a:endParaRPr b="1" sz="1638">
              <a:solidFill>
                <a:srgbClr val="FF7900"/>
              </a:solidFill>
              <a:latin typeface="Helvetica Neue"/>
              <a:ea typeface="Helvetica Neue"/>
              <a:cs typeface="Helvetica Neue"/>
              <a:sym typeface="Helvetica Neue"/>
            </a:endParaRPr>
          </a:p>
          <a:p>
            <a:pPr indent="-228600" lvl="0" marL="685800" marR="0" rtl="0" algn="l">
              <a:lnSpc>
                <a:spcPct val="100000"/>
              </a:lnSpc>
              <a:spcBef>
                <a:spcPts val="385"/>
              </a:spcBef>
              <a:spcAft>
                <a:spcPts val="0"/>
              </a:spcAft>
              <a:buClr>
                <a:srgbClr val="FF7900"/>
              </a:buClr>
              <a:buSzPts val="1250"/>
              <a:buFont typeface="Arial"/>
              <a:buChar char="■"/>
            </a:pPr>
            <a:r>
              <a:rPr b="1" i="0" lang="en-US" sz="1638" u="none" cap="none" strike="noStrike">
                <a:solidFill>
                  <a:srgbClr val="FF7900"/>
                </a:solidFill>
                <a:latin typeface="Helvetica Neue"/>
                <a:ea typeface="Helvetica Neue"/>
                <a:cs typeface="Helvetica Neue"/>
                <a:sym typeface="Helvetica Neue"/>
              </a:rPr>
              <a:t>Grid executed: </a:t>
            </a:r>
            <a:r>
              <a:rPr b="0" i="0" lang="en-US" sz="1522" u="none" cap="none" strike="noStrike">
                <a:solidFill>
                  <a:srgbClr val="D6D6D6"/>
                </a:solidFill>
                <a:latin typeface="Helvetica Neue"/>
                <a:ea typeface="Helvetica Neue"/>
                <a:cs typeface="Helvetica Neue"/>
                <a:sym typeface="Helvetica Neue"/>
              </a:rPr>
              <a:t>9 benchmarks × 10 questions × 7 compute levels × 5 samples = 3,150 rows; 90 questions; temperature 0.7. Levels: 0, 256, 512, 1024, 2048, 4096, 8192.</a:t>
            </a:r>
            <a:endParaRPr sz="1600"/>
          </a:p>
          <a:p>
            <a:pPr indent="0" lvl="0" marL="457200" marR="0" rtl="0" algn="l">
              <a:lnSpc>
                <a:spcPct val="100000"/>
              </a:lnSpc>
              <a:spcBef>
                <a:spcPts val="385"/>
              </a:spcBef>
              <a:spcAft>
                <a:spcPts val="0"/>
              </a:spcAft>
              <a:buNone/>
            </a:pPr>
            <a:r>
              <a:t/>
            </a:r>
            <a:endParaRPr b="1" sz="1638">
              <a:solidFill>
                <a:srgbClr val="FF7900"/>
              </a:solidFill>
              <a:latin typeface="Helvetica Neue"/>
              <a:ea typeface="Helvetica Neue"/>
              <a:cs typeface="Helvetica Neue"/>
              <a:sym typeface="Helvetica Neue"/>
            </a:endParaRPr>
          </a:p>
          <a:p>
            <a:pPr indent="-228600" lvl="0" marL="685800" marR="0" rtl="0" algn="l">
              <a:lnSpc>
                <a:spcPct val="100000"/>
              </a:lnSpc>
              <a:spcBef>
                <a:spcPts val="385"/>
              </a:spcBef>
              <a:spcAft>
                <a:spcPts val="0"/>
              </a:spcAft>
              <a:buClr>
                <a:srgbClr val="FF7900"/>
              </a:buClr>
              <a:buSzPts val="1250"/>
              <a:buFont typeface="Arial"/>
              <a:buChar char="■"/>
            </a:pPr>
            <a:r>
              <a:rPr b="1" i="0" lang="en-US" sz="1638" u="none" cap="none" strike="noStrike">
                <a:solidFill>
                  <a:srgbClr val="FF7900"/>
                </a:solidFill>
                <a:latin typeface="Helvetica Neue"/>
                <a:ea typeface="Helvetica Neue"/>
                <a:cs typeface="Helvetica Neue"/>
                <a:sym typeface="Helvetica Neue"/>
              </a:rPr>
              <a:t>Pilot sanity checks passed: </a:t>
            </a:r>
            <a:r>
              <a:rPr b="0" i="0" lang="en-US" sz="1522" u="none" cap="none" strike="noStrike">
                <a:solidFill>
                  <a:srgbClr val="D6D6D6"/>
                </a:solidFill>
                <a:latin typeface="Helvetica Neue"/>
                <a:ea typeface="Helvetica Neue"/>
                <a:cs typeface="Helvetica Neue"/>
                <a:sym typeface="Helvetica Neue"/>
              </a:rPr>
              <a:t>marker hit rate 100%; thinking tokens track budget; output tokens flat.</a:t>
            </a:r>
            <a:endParaRPr sz="1600"/>
          </a:p>
          <a:p>
            <a:pPr indent="0" lvl="0" marL="457200" marR="0" rtl="0" algn="l">
              <a:lnSpc>
                <a:spcPct val="100000"/>
              </a:lnSpc>
              <a:spcBef>
                <a:spcPts val="385"/>
              </a:spcBef>
              <a:spcAft>
                <a:spcPts val="0"/>
              </a:spcAft>
              <a:buNone/>
            </a:pPr>
            <a:r>
              <a:t/>
            </a:r>
            <a:endParaRPr b="1" sz="1638">
              <a:solidFill>
                <a:srgbClr val="FF7900"/>
              </a:solidFill>
              <a:latin typeface="Helvetica Neue"/>
              <a:ea typeface="Helvetica Neue"/>
              <a:cs typeface="Helvetica Neue"/>
              <a:sym typeface="Helvetica Neue"/>
            </a:endParaRPr>
          </a:p>
          <a:p>
            <a:pPr indent="-228600" lvl="0" marL="685800" marR="0" rtl="0" algn="l">
              <a:lnSpc>
                <a:spcPct val="100000"/>
              </a:lnSpc>
              <a:spcBef>
                <a:spcPts val="385"/>
              </a:spcBef>
              <a:spcAft>
                <a:spcPts val="0"/>
              </a:spcAft>
              <a:buClr>
                <a:srgbClr val="FF7900"/>
              </a:buClr>
              <a:buSzPts val="1250"/>
              <a:buFont typeface="Arial"/>
              <a:buChar char="■"/>
            </a:pPr>
            <a:r>
              <a:rPr b="1" i="0" lang="en-US" sz="1638" u="none" cap="none" strike="noStrike">
                <a:solidFill>
                  <a:srgbClr val="FF7900"/>
                </a:solidFill>
                <a:latin typeface="Helvetica Neue"/>
                <a:ea typeface="Helvetica Neue"/>
                <a:cs typeface="Helvetica Neue"/>
                <a:sym typeface="Helvetica Neue"/>
              </a:rPr>
              <a:t>Analysis pipeline: </a:t>
            </a:r>
            <a:r>
              <a:rPr b="0" i="0" lang="en-US" sz="1522" u="none" cap="none" strike="noStrike">
                <a:solidFill>
                  <a:srgbClr val="D6D6D6"/>
                </a:solidFill>
                <a:latin typeface="Helvetica Neue"/>
                <a:ea typeface="Helvetica Neue"/>
                <a:cs typeface="Helvetica Neue"/>
                <a:sym typeface="Helvetica Neue"/>
              </a:rPr>
              <a:t>answer normalization/candidate extraction, segmentation, semantic novelty/similarity (SBERT), answer-state tracking, mutually-exclusive segment labels.</a:t>
            </a:r>
            <a:endParaRPr sz="1600"/>
          </a:p>
          <a:p>
            <a:pPr indent="0" lvl="0" marL="457200" marR="0" rtl="0" algn="l">
              <a:lnSpc>
                <a:spcPct val="100000"/>
              </a:lnSpc>
              <a:spcBef>
                <a:spcPts val="385"/>
              </a:spcBef>
              <a:spcAft>
                <a:spcPts val="0"/>
              </a:spcAft>
              <a:buNone/>
            </a:pPr>
            <a:r>
              <a:t/>
            </a:r>
            <a:endParaRPr b="1" sz="1638">
              <a:solidFill>
                <a:srgbClr val="FF7900"/>
              </a:solidFill>
              <a:latin typeface="Helvetica Neue"/>
              <a:ea typeface="Helvetica Neue"/>
              <a:cs typeface="Helvetica Neue"/>
              <a:sym typeface="Helvetica Neue"/>
            </a:endParaRPr>
          </a:p>
          <a:p>
            <a:pPr indent="-228600" lvl="0" marL="685800" marR="0" rtl="0" algn="l">
              <a:lnSpc>
                <a:spcPct val="100000"/>
              </a:lnSpc>
              <a:spcBef>
                <a:spcPts val="385"/>
              </a:spcBef>
              <a:spcAft>
                <a:spcPts val="0"/>
              </a:spcAft>
              <a:buClr>
                <a:srgbClr val="FF7900"/>
              </a:buClr>
              <a:buSzPts val="1250"/>
              <a:buFont typeface="Arial"/>
              <a:buChar char="■"/>
            </a:pPr>
            <a:r>
              <a:rPr b="1" i="0" lang="en-US" sz="1638" u="none" cap="none" strike="noStrike">
                <a:solidFill>
                  <a:srgbClr val="FF7900"/>
                </a:solidFill>
                <a:latin typeface="Helvetica Neue"/>
                <a:ea typeface="Helvetica Neue"/>
                <a:cs typeface="Helvetica Neue"/>
                <a:sym typeface="Helvetica Neue"/>
              </a:rPr>
              <a:t>Deliverables written to </a:t>
            </a:r>
            <a:r>
              <a:rPr b="1" lang="en-US" sz="1638">
                <a:solidFill>
                  <a:srgbClr val="FF7900"/>
                </a:solidFill>
                <a:latin typeface="Helvetica Neue"/>
                <a:ea typeface="Helvetica Neue"/>
                <a:cs typeface="Helvetica Neue"/>
                <a:sym typeface="Helvetica Neue"/>
              </a:rPr>
              <a:t>results a dir</a:t>
            </a:r>
            <a:r>
              <a:rPr b="1" i="0" lang="en-US" sz="1638" u="none" cap="none" strike="noStrike">
                <a:solidFill>
                  <a:srgbClr val="FF7900"/>
                </a:solidFill>
                <a:latin typeface="Helvetica Neue"/>
                <a:ea typeface="Helvetica Neue"/>
                <a:cs typeface="Helvetica Neue"/>
                <a:sym typeface="Helvetica Neue"/>
              </a:rPr>
              <a:t>: </a:t>
            </a:r>
            <a:r>
              <a:rPr b="0" i="0" lang="en-US" sz="1522" u="none" cap="none" strike="noStrike">
                <a:solidFill>
                  <a:srgbClr val="D6D6D6"/>
                </a:solidFill>
                <a:latin typeface="Helvetica Neue"/>
                <a:ea typeface="Helvetica Neue"/>
                <a:cs typeface="Helvetica Neue"/>
                <a:sym typeface="Helvetica Neue"/>
              </a:rPr>
              <a:t>per-benchmark/difficulty/compute-level curves, Kneedle knee outputs, path/segment metrics, validation checks; figures.</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65" name="Shape 565"/>
        <p:cNvGrpSpPr/>
        <p:nvPr/>
      </p:nvGrpSpPr>
      <p:grpSpPr>
        <a:xfrm>
          <a:off x="0" y="0"/>
          <a:ext cx="0" cy="0"/>
          <a:chOff x="0" y="0"/>
          <a:chExt cx="0" cy="0"/>
        </a:xfrm>
      </p:grpSpPr>
      <p:sp>
        <p:nvSpPr>
          <p:cNvPr id="566" name="Google Shape;566;h2dfb90ae07d12a84_2_433"/>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67" name="Google Shape;567;h2dfb90ae07d12a84_2_433"/>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568" name="Google Shape;568;h2dfb90ae07d12a84_2_433"/>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569" name="Google Shape;569;h2dfb90ae07d12a84_2_433"/>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H1 — TEST FINDINGS</a:t>
            </a:r>
            <a:endParaRPr b="0" i="0" sz="1500" u="none" cap="none" strike="noStrike">
              <a:solidFill>
                <a:schemeClr val="dk1"/>
              </a:solidFill>
              <a:latin typeface="Helvetica Neue"/>
              <a:ea typeface="Helvetica Neue"/>
              <a:cs typeface="Helvetica Neue"/>
              <a:sym typeface="Helvetica Neue"/>
            </a:endParaRPr>
          </a:p>
        </p:txBody>
      </p:sp>
      <p:sp>
        <p:nvSpPr>
          <p:cNvPr id="570" name="Google Shape;570;h2dfb90ae07d12a84_2_433"/>
          <p:cNvSpPr/>
          <p:nvPr/>
        </p:nvSpPr>
        <p:spPr>
          <a:xfrm>
            <a:off x="457200" y="1207000"/>
            <a:ext cx="75291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Analysis A — Over samples · Efficiency &amp; attribution (Study 1)</a:t>
            </a:r>
            <a:endParaRPr b="0" i="0" sz="2000" u="none" cap="none" strike="noStrike">
              <a:solidFill>
                <a:schemeClr val="dk1"/>
              </a:solidFill>
              <a:latin typeface="Helvetica Neue"/>
              <a:ea typeface="Helvetica Neue"/>
              <a:cs typeface="Helvetica Neue"/>
              <a:sym typeface="Helvetica Neue"/>
            </a:endParaRPr>
          </a:p>
        </p:txBody>
      </p:sp>
      <p:sp>
        <p:nvSpPr>
          <p:cNvPr id="571" name="Google Shape;571;h2dfb90ae07d12a84_2_433"/>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572" name="Google Shape;572;h2dfb90ae07d12a84_2_433"/>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23</a:t>
            </a:r>
            <a:endParaRPr b="0" i="0" sz="1000" u="none" cap="none" strike="noStrike">
              <a:solidFill>
                <a:schemeClr val="dk1"/>
              </a:solidFill>
              <a:latin typeface="Helvetica Neue"/>
              <a:ea typeface="Helvetica Neue"/>
              <a:cs typeface="Helvetica Neue"/>
              <a:sym typeface="Helvetica Neue"/>
            </a:endParaRPr>
          </a:p>
        </p:txBody>
      </p:sp>
      <p:sp>
        <p:nvSpPr>
          <p:cNvPr id="573" name="Google Shape;573;h2dfb90ae07d12a84_2_433"/>
          <p:cNvSpPr/>
          <p:nvPr/>
        </p:nvSpPr>
        <p:spPr>
          <a:xfrm>
            <a:off x="502920" y="1800000"/>
            <a:ext cx="5074920" cy="32918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8"/>
              <a:buFont typeface="Arial"/>
              <a:buNone/>
            </a:pPr>
            <a:r>
              <a:rPr b="0" i="0" lang="en-US" sz="1508" u="none" cap="none" strike="noStrike">
                <a:solidFill>
                  <a:srgbClr val="D6D6D6"/>
                </a:solidFill>
                <a:latin typeface="Helvetica Neue"/>
                <a:ea typeface="Helvetica Neue"/>
                <a:cs typeface="Helvetica Neue"/>
                <a:sym typeface="Helvetica Neue"/>
              </a:rPr>
              <a:t>Setup: per (question, compute_level) group of 5 samples, stratified by outcome mix </a:t>
            </a:r>
            <a:endParaRPr sz="1700"/>
          </a:p>
          <a:p>
            <a:pPr indent="0" lvl="0" marL="0" marR="0" rtl="0" algn="l">
              <a:lnSpc>
                <a:spcPct val="100000"/>
              </a:lnSpc>
              <a:spcBef>
                <a:spcPts val="0"/>
              </a:spcBef>
              <a:spcAft>
                <a:spcPts val="0"/>
              </a:spcAft>
              <a:buClr>
                <a:srgbClr val="000000"/>
              </a:buClr>
              <a:buSzPts val="1208"/>
              <a:buFont typeface="Arial"/>
              <a:buNone/>
            </a:pPr>
            <a:r>
              <a:rPr b="0" i="0" lang="en-US" sz="1508" u="none" cap="none" strike="noStrike">
                <a:solidFill>
                  <a:srgbClr val="9A9A9A"/>
                </a:solidFill>
                <a:latin typeface="Helvetica Neue"/>
                <a:ea typeface="Helvetica Neue"/>
                <a:cs typeface="Helvetica Neue"/>
                <a:sym typeface="Helvetica Neue"/>
              </a:rPr>
              <a:t>(Study 1: all-correct &amp; high dispersion, n=130 paths).</a:t>
            </a:r>
            <a:endParaRPr sz="1700"/>
          </a:p>
          <a:p>
            <a:pPr indent="0" lvl="0" marL="457200" marR="0" rtl="0" algn="l">
              <a:lnSpc>
                <a:spcPct val="100000"/>
              </a:lnSpc>
              <a:spcBef>
                <a:spcPts val="330"/>
              </a:spcBef>
              <a:spcAft>
                <a:spcPts val="0"/>
              </a:spcAft>
              <a:buNone/>
            </a:pPr>
            <a:r>
              <a:t/>
            </a:r>
            <a:endParaRPr b="1" sz="1588">
              <a:solidFill>
                <a:srgbClr val="FF7900"/>
              </a:solidFill>
              <a:latin typeface="Helvetica Neue"/>
              <a:ea typeface="Helvetica Neue"/>
              <a:cs typeface="Helvetica Neue"/>
              <a:sym typeface="Helvetica Neue"/>
            </a:endParaRPr>
          </a:p>
          <a:p>
            <a:pPr indent="-228600" lvl="0" marL="228600" marR="0" rtl="0" algn="l">
              <a:lnSpc>
                <a:spcPct val="100000"/>
              </a:lnSpc>
              <a:spcBef>
                <a:spcPts val="330"/>
              </a:spcBef>
              <a:spcAft>
                <a:spcPts val="0"/>
              </a:spcAft>
              <a:buClr>
                <a:srgbClr val="FF7900"/>
              </a:buClr>
              <a:buSzPts val="1120"/>
              <a:buFont typeface="Arial"/>
              <a:buChar char="■"/>
            </a:pPr>
            <a:r>
              <a:rPr b="1" i="0" lang="en-US" sz="1588" u="none" cap="none" strike="noStrike">
                <a:solidFill>
                  <a:srgbClr val="FF7900"/>
                </a:solidFill>
                <a:latin typeface="Helvetica Neue"/>
                <a:ea typeface="Helvetica Neue"/>
                <a:cs typeface="Helvetica Neue"/>
                <a:sym typeface="Helvetica Neue"/>
              </a:rPr>
              <a:t>Efficiency (Study 1): </a:t>
            </a:r>
            <a:r>
              <a:rPr b="0" i="0" lang="en-US" sz="1484" u="none" cap="none" strike="noStrike">
                <a:solidFill>
                  <a:srgbClr val="D6D6D6"/>
                </a:solidFill>
                <a:latin typeface="Helvetica Neue"/>
                <a:ea typeface="Helvetica Neue"/>
                <a:cs typeface="Helvetica Neue"/>
                <a:sym typeface="Helvetica Neue"/>
              </a:rPr>
              <a:t>longer correct paths are compositionally less efficient — more token-weighted redundancy (+0.40 Spearman), less lexical diversity (–0.40), less information gain (–0.38), lower efficiency score (–0.40); all survive Holm-corrected 5% testing, large standardized effect ≈ –0.99.</a:t>
            </a:r>
            <a:endParaRPr sz="1700"/>
          </a:p>
          <a:p>
            <a:pPr indent="0" lvl="0" marL="457200" marR="0" rtl="0" algn="l">
              <a:lnSpc>
                <a:spcPct val="100000"/>
              </a:lnSpc>
              <a:spcBef>
                <a:spcPts val="330"/>
              </a:spcBef>
              <a:spcAft>
                <a:spcPts val="0"/>
              </a:spcAft>
              <a:buNone/>
            </a:pPr>
            <a:r>
              <a:t/>
            </a:r>
            <a:endParaRPr b="1" sz="1588">
              <a:solidFill>
                <a:srgbClr val="FF7900"/>
              </a:solidFill>
              <a:latin typeface="Helvetica Neue"/>
              <a:ea typeface="Helvetica Neue"/>
              <a:cs typeface="Helvetica Neue"/>
              <a:sym typeface="Helvetica Neue"/>
            </a:endParaRPr>
          </a:p>
          <a:p>
            <a:pPr indent="-228600" lvl="0" marL="228600" marR="0" rtl="0" algn="l">
              <a:lnSpc>
                <a:spcPct val="100000"/>
              </a:lnSpc>
              <a:spcBef>
                <a:spcPts val="330"/>
              </a:spcBef>
              <a:spcAft>
                <a:spcPts val="0"/>
              </a:spcAft>
              <a:buClr>
                <a:srgbClr val="FF7900"/>
              </a:buClr>
              <a:buSzPts val="1120"/>
              <a:buFont typeface="Arial"/>
              <a:buChar char="■"/>
            </a:pPr>
            <a:r>
              <a:rPr b="1" i="0" lang="en-US" sz="1588" u="none" cap="none" strike="noStrike">
                <a:solidFill>
                  <a:srgbClr val="FF7900"/>
                </a:solidFill>
                <a:latin typeface="Helvetica Neue"/>
                <a:ea typeface="Helvetica Neue"/>
                <a:cs typeface="Helvetica Neue"/>
                <a:sym typeface="Helvetica Neue"/>
              </a:rPr>
              <a:t>Extra-token attribution: </a:t>
            </a:r>
            <a:r>
              <a:rPr b="0" i="0" lang="en-US" sz="1484" u="none" cap="none" strike="noStrike">
                <a:solidFill>
                  <a:srgbClr val="D6D6D6"/>
                </a:solidFill>
                <a:latin typeface="Helvetica Neue"/>
                <a:ea typeface="Helvetica Neue"/>
                <a:cs typeface="Helvetica Neue"/>
                <a:sym typeface="Helvetica Neue"/>
              </a:rPr>
              <a:t>of the tokens that make a correct path longer, ~55% arrive after the answer is committed (verification-style / new-reasoning), ~26% to reach the answer, ~19% overt churn. Post-answer verification rate does not rise with length → extra, largely non-informational effort.</a:t>
            </a:r>
            <a:endParaRPr sz="1700"/>
          </a:p>
        </p:txBody>
      </p:sp>
      <p:grpSp>
        <p:nvGrpSpPr>
          <p:cNvPr id="574" name="Google Shape;574;h2dfb90ae07d12a84_2_433"/>
          <p:cNvGrpSpPr/>
          <p:nvPr/>
        </p:nvGrpSpPr>
        <p:grpSpPr>
          <a:xfrm>
            <a:off x="8292994" y="660265"/>
            <a:ext cx="3335550" cy="2356327"/>
            <a:chOff x="5897880" y="2014945"/>
            <a:chExt cx="1828801" cy="1291917"/>
          </a:xfrm>
        </p:grpSpPr>
        <p:pic>
          <p:nvPicPr>
            <p:cNvPr descr="fig1_length_vs_metrics_forest.png" id="575" name="Google Shape;575;h2dfb90ae07d12a84_2_433"/>
            <p:cNvPicPr preferRelativeResize="0"/>
            <p:nvPr/>
          </p:nvPicPr>
          <p:blipFill rotWithShape="1">
            <a:blip r:embed="rId3">
              <a:alphaModFix/>
            </a:blip>
            <a:srcRect b="0" l="0" r="0" t="0"/>
            <a:stretch/>
          </p:blipFill>
          <p:spPr>
            <a:xfrm>
              <a:off x="5897880" y="2014945"/>
              <a:ext cx="1828801" cy="1045027"/>
            </a:xfrm>
            <a:prstGeom prst="rect">
              <a:avLst/>
            </a:prstGeom>
            <a:noFill/>
            <a:ln>
              <a:noFill/>
            </a:ln>
          </p:spPr>
        </p:pic>
        <p:sp>
          <p:nvSpPr>
            <p:cNvPr id="576" name="Google Shape;576;h2dfb90ae07d12a84_2_433"/>
            <p:cNvSpPr/>
            <p:nvPr/>
          </p:nvSpPr>
          <p:spPr>
            <a:xfrm>
              <a:off x="5897880" y="3087406"/>
              <a:ext cx="1828800" cy="219456"/>
            </a:xfrm>
            <a:prstGeom prst="rect">
              <a:avLst/>
            </a:prstGeom>
            <a:noFill/>
            <a:ln>
              <a:noFill/>
            </a:ln>
          </p:spPr>
          <p:txBody>
            <a:bodyPr anchorCtr="0" anchor="t" bIns="83350" lIns="166725" spcFirstLastPara="1" rIns="166725" wrap="square" tIns="83350">
              <a:noAutofit/>
            </a:bodyPr>
            <a:lstStyle/>
            <a:p>
              <a:pPr indent="0" lvl="0" marL="0" marR="0" rtl="0" algn="ctr">
                <a:lnSpc>
                  <a:spcPct val="100000"/>
                </a:lnSpc>
                <a:spcBef>
                  <a:spcPts val="0"/>
                </a:spcBef>
                <a:spcAft>
                  <a:spcPts val="0"/>
                </a:spcAft>
                <a:buClr>
                  <a:srgbClr val="000000"/>
                </a:buClr>
                <a:buSzPts val="1782"/>
                <a:buFont typeface="Arial"/>
                <a:buNone/>
              </a:pPr>
              <a:r>
                <a:rPr b="0" i="0" lang="en-US" sz="1782" u="none" cap="none" strike="noStrike">
                  <a:solidFill>
                    <a:srgbClr val="9A9A9A"/>
                  </a:solidFill>
                  <a:latin typeface="Helvetica Neue"/>
                  <a:ea typeface="Helvetica Neue"/>
                  <a:cs typeface="Helvetica Neue"/>
                  <a:sym typeface="Helvetica Neue"/>
                </a:rPr>
                <a:t>fig1 · length vs metrics</a:t>
              </a:r>
              <a:endParaRPr sz="2553"/>
            </a:p>
          </p:txBody>
        </p:sp>
      </p:grpSp>
      <p:grpSp>
        <p:nvGrpSpPr>
          <p:cNvPr id="577" name="Google Shape;577;h2dfb90ae07d12a84_2_433"/>
          <p:cNvGrpSpPr/>
          <p:nvPr/>
        </p:nvGrpSpPr>
        <p:grpSpPr>
          <a:xfrm>
            <a:off x="8620596" y="3264516"/>
            <a:ext cx="3477463" cy="2208187"/>
            <a:chOff x="7836408" y="2080260"/>
            <a:chExt cx="1828800" cy="1161287"/>
          </a:xfrm>
        </p:grpSpPr>
        <p:pic>
          <p:nvPicPr>
            <p:cNvPr descr="fig2_token_composition.png" id="578" name="Google Shape;578;h2dfb90ae07d12a84_2_433"/>
            <p:cNvPicPr preferRelativeResize="0"/>
            <p:nvPr/>
          </p:nvPicPr>
          <p:blipFill rotWithShape="1">
            <a:blip r:embed="rId4">
              <a:alphaModFix/>
            </a:blip>
            <a:srcRect b="0" l="0" r="0" t="0"/>
            <a:stretch/>
          </p:blipFill>
          <p:spPr>
            <a:xfrm>
              <a:off x="7836408" y="2080260"/>
              <a:ext cx="1828800" cy="914400"/>
            </a:xfrm>
            <a:prstGeom prst="rect">
              <a:avLst/>
            </a:prstGeom>
            <a:noFill/>
            <a:ln>
              <a:noFill/>
            </a:ln>
          </p:spPr>
        </p:pic>
        <p:sp>
          <p:nvSpPr>
            <p:cNvPr id="579" name="Google Shape;579;h2dfb90ae07d12a84_2_433"/>
            <p:cNvSpPr/>
            <p:nvPr/>
          </p:nvSpPr>
          <p:spPr>
            <a:xfrm>
              <a:off x="7836408" y="3022091"/>
              <a:ext cx="1828800" cy="219456"/>
            </a:xfrm>
            <a:prstGeom prst="rect">
              <a:avLst/>
            </a:prstGeom>
            <a:noFill/>
            <a:ln>
              <a:noFill/>
            </a:ln>
          </p:spPr>
          <p:txBody>
            <a:bodyPr anchorCtr="0" anchor="t" bIns="86900" lIns="173825" spcFirstLastPara="1" rIns="173825" wrap="square" tIns="86900">
              <a:noAutofit/>
            </a:bodyPr>
            <a:lstStyle/>
            <a:p>
              <a:pPr indent="0" lvl="0" marL="0" marR="0" rtl="0" algn="ctr">
                <a:lnSpc>
                  <a:spcPct val="100000"/>
                </a:lnSpc>
                <a:spcBef>
                  <a:spcPts val="0"/>
                </a:spcBef>
                <a:spcAft>
                  <a:spcPts val="0"/>
                </a:spcAft>
                <a:buClr>
                  <a:srgbClr val="000000"/>
                </a:buClr>
                <a:buSzPts val="1858"/>
                <a:buFont typeface="Arial"/>
                <a:buNone/>
              </a:pPr>
              <a:r>
                <a:rPr b="0" i="0" lang="en-US" sz="1858" u="none" cap="none" strike="noStrike">
                  <a:solidFill>
                    <a:srgbClr val="9A9A9A"/>
                  </a:solidFill>
                  <a:latin typeface="Helvetica Neue"/>
                  <a:ea typeface="Helvetica Neue"/>
                  <a:cs typeface="Helvetica Neue"/>
                  <a:sym typeface="Helvetica Neue"/>
                </a:rPr>
                <a:t>fig2 · token attribution</a:t>
              </a:r>
              <a:endParaRPr sz="2662"/>
            </a:p>
          </p:txBody>
        </p:sp>
      </p:grpSp>
      <p:grpSp>
        <p:nvGrpSpPr>
          <p:cNvPr id="580" name="Google Shape;580;h2dfb90ae07d12a84_2_433"/>
          <p:cNvGrpSpPr/>
          <p:nvPr/>
        </p:nvGrpSpPr>
        <p:grpSpPr>
          <a:xfrm>
            <a:off x="5451486" y="3264513"/>
            <a:ext cx="2935590" cy="2073656"/>
            <a:chOff x="9774936" y="2014945"/>
            <a:chExt cx="1828800" cy="1291917"/>
          </a:xfrm>
        </p:grpSpPr>
        <p:pic>
          <p:nvPicPr>
            <p:cNvPr descr="fig3_cumulative_information.png" id="581" name="Google Shape;581;h2dfb90ae07d12a84_2_433"/>
            <p:cNvPicPr preferRelativeResize="0"/>
            <p:nvPr/>
          </p:nvPicPr>
          <p:blipFill rotWithShape="1">
            <a:blip r:embed="rId5">
              <a:alphaModFix/>
            </a:blip>
            <a:srcRect b="0" l="0" r="0" t="0"/>
            <a:stretch/>
          </p:blipFill>
          <p:spPr>
            <a:xfrm>
              <a:off x="9774936" y="2014945"/>
              <a:ext cx="1828800" cy="1045028"/>
            </a:xfrm>
            <a:prstGeom prst="rect">
              <a:avLst/>
            </a:prstGeom>
            <a:noFill/>
            <a:ln>
              <a:noFill/>
            </a:ln>
          </p:spPr>
        </p:pic>
        <p:sp>
          <p:nvSpPr>
            <p:cNvPr id="582" name="Google Shape;582;h2dfb90ae07d12a84_2_433"/>
            <p:cNvSpPr/>
            <p:nvPr/>
          </p:nvSpPr>
          <p:spPr>
            <a:xfrm>
              <a:off x="9774936" y="3087406"/>
              <a:ext cx="1828800" cy="219456"/>
            </a:xfrm>
            <a:prstGeom prst="rect">
              <a:avLst/>
            </a:prstGeom>
            <a:noFill/>
            <a:ln>
              <a:noFill/>
            </a:ln>
          </p:spPr>
          <p:txBody>
            <a:bodyPr anchorCtr="0" anchor="t" bIns="73350" lIns="146725" spcFirstLastPara="1" rIns="146725" wrap="square" tIns="73350">
              <a:noAutofit/>
            </a:bodyPr>
            <a:lstStyle/>
            <a:p>
              <a:pPr indent="0" lvl="0" marL="0" marR="0" rtl="0" algn="ctr">
                <a:lnSpc>
                  <a:spcPct val="100000"/>
                </a:lnSpc>
                <a:spcBef>
                  <a:spcPts val="0"/>
                </a:spcBef>
                <a:spcAft>
                  <a:spcPts val="0"/>
                </a:spcAft>
                <a:buClr>
                  <a:srgbClr val="000000"/>
                </a:buClr>
                <a:buSzPts val="1568"/>
                <a:buFont typeface="Arial"/>
                <a:buNone/>
              </a:pPr>
              <a:r>
                <a:rPr b="0" i="0" lang="en-US" sz="1568" u="none" cap="none" strike="noStrike">
                  <a:solidFill>
                    <a:srgbClr val="9A9A9A"/>
                  </a:solidFill>
                  <a:latin typeface="Helvetica Neue"/>
                  <a:ea typeface="Helvetica Neue"/>
                  <a:cs typeface="Helvetica Neue"/>
                  <a:sym typeface="Helvetica Neue"/>
                </a:rPr>
                <a:t>fig3 · cumulative info</a:t>
              </a:r>
              <a:endParaRPr sz="2247"/>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86" name="Shape 586"/>
        <p:cNvGrpSpPr/>
        <p:nvPr/>
      </p:nvGrpSpPr>
      <p:grpSpPr>
        <a:xfrm>
          <a:off x="0" y="0"/>
          <a:ext cx="0" cy="0"/>
          <a:chOff x="0" y="0"/>
          <a:chExt cx="0" cy="0"/>
        </a:xfrm>
      </p:grpSpPr>
      <p:sp>
        <p:nvSpPr>
          <p:cNvPr id="587" name="Google Shape;587;h2dfb90ae07d12a84_2_450"/>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588" name="Google Shape;588;h2dfb90ae07d12a84_2_450"/>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589" name="Google Shape;589;h2dfb90ae07d12a84_2_450"/>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590" name="Google Shape;590;h2dfb90ae07d12a84_2_450"/>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H1 — TEST FINDINGS</a:t>
            </a:r>
            <a:endParaRPr b="0" i="0" sz="1500" u="none" cap="none" strike="noStrike">
              <a:solidFill>
                <a:schemeClr val="dk1"/>
              </a:solidFill>
              <a:latin typeface="Helvetica Neue"/>
              <a:ea typeface="Helvetica Neue"/>
              <a:cs typeface="Helvetica Neue"/>
              <a:sym typeface="Helvetica Neue"/>
            </a:endParaRPr>
          </a:p>
        </p:txBody>
      </p:sp>
      <p:sp>
        <p:nvSpPr>
          <p:cNvPr id="591" name="Google Shape;591;h2dfb90ae07d12a84_2_450"/>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Analysis A — Over samples · How failure looks (Studies 2–3)</a:t>
            </a:r>
            <a:endParaRPr b="0" i="0" sz="2000" u="none" cap="none" strike="noStrike">
              <a:solidFill>
                <a:schemeClr val="dk1"/>
              </a:solidFill>
              <a:latin typeface="Helvetica Neue"/>
              <a:ea typeface="Helvetica Neue"/>
              <a:cs typeface="Helvetica Neue"/>
              <a:sym typeface="Helvetica Neue"/>
            </a:endParaRPr>
          </a:p>
        </p:txBody>
      </p:sp>
      <p:sp>
        <p:nvSpPr>
          <p:cNvPr id="592" name="Google Shape;592;h2dfb90ae07d12a84_2_450"/>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593" name="Google Shape;593;h2dfb90ae07d12a84_2_450"/>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24</a:t>
            </a:r>
            <a:endParaRPr b="0" i="0" sz="1000" u="none" cap="none" strike="noStrike">
              <a:solidFill>
                <a:schemeClr val="dk1"/>
              </a:solidFill>
              <a:latin typeface="Helvetica Neue"/>
              <a:ea typeface="Helvetica Neue"/>
              <a:cs typeface="Helvetica Neue"/>
              <a:sym typeface="Helvetica Neue"/>
            </a:endParaRPr>
          </a:p>
        </p:txBody>
      </p:sp>
      <p:sp>
        <p:nvSpPr>
          <p:cNvPr id="594" name="Google Shape;594;h2dfb90ae07d12a84_2_450"/>
          <p:cNvSpPr/>
          <p:nvPr/>
        </p:nvSpPr>
        <p:spPr>
          <a:xfrm>
            <a:off x="212600" y="1933150"/>
            <a:ext cx="4311600" cy="23775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rgbClr val="FF7900"/>
              </a:buClr>
              <a:buSzPts val="1120"/>
              <a:buFont typeface="Arial"/>
              <a:buChar char="■"/>
            </a:pPr>
            <a:r>
              <a:rPr b="1" i="0" lang="en-US" sz="1588" u="none" cap="none" strike="noStrike">
                <a:solidFill>
                  <a:srgbClr val="FF7900"/>
                </a:solidFill>
                <a:latin typeface="Helvetica Neue"/>
                <a:ea typeface="Helvetica Neue"/>
                <a:cs typeface="Helvetica Neue"/>
                <a:sym typeface="Helvetica Neue"/>
              </a:rPr>
              <a:t>How failure looks (Studies 2–3): </a:t>
            </a:r>
            <a:r>
              <a:rPr b="0" i="0" lang="en-US" sz="1484" u="none" cap="none" strike="noStrike">
                <a:solidFill>
                  <a:srgbClr val="D6D6D6"/>
                </a:solidFill>
                <a:latin typeface="Helvetica Neue"/>
                <a:ea typeface="Helvetica Neue"/>
                <a:cs typeface="Helvetica Neue"/>
                <a:sym typeface="Helvetica Neue"/>
              </a:rPr>
              <a:t>mixed groups: incorrect paths differ mainly by fewer explicit answer flips (p = 0.010) — they settle early on a wrong answer and stick (not thrash); incorrect paths slightly longer (mean thinking tokens 1,767 vs 1,579). All-wrong groups: never_found dominates (91.1%).</a:t>
            </a:r>
            <a:endParaRPr sz="1700"/>
          </a:p>
          <a:p>
            <a:pPr indent="0" lvl="0" marL="0" marR="0" rtl="0" algn="l">
              <a:lnSpc>
                <a:spcPct val="100000"/>
              </a:lnSpc>
              <a:spcBef>
                <a:spcPts val="330"/>
              </a:spcBef>
              <a:spcAft>
                <a:spcPts val="0"/>
              </a:spcAft>
              <a:buClr>
                <a:srgbClr val="000000"/>
              </a:buClr>
              <a:buSzPts val="1184"/>
              <a:buFont typeface="Arial"/>
              <a:buNone/>
            </a:pPr>
            <a:r>
              <a:rPr b="0" i="0" lang="en-US" sz="1484" u="none" cap="none" strike="noStrike">
                <a:solidFill>
                  <a:srgbClr val="D6D6D6"/>
                </a:solidFill>
                <a:latin typeface="Helvetica Neue"/>
                <a:ea typeface="Helvetica Neue"/>
                <a:cs typeface="Helvetica Neue"/>
                <a:sym typeface="Helvetica Neue"/>
              </a:rPr>
              <a:t>Tooling validation: trajectory classifier 4/4 PASS on synthetic traces; </a:t>
            </a:r>
            <a:endParaRPr b="0" i="0" sz="1484" u="none" cap="none" strike="noStrike">
              <a:solidFill>
                <a:srgbClr val="D6D6D6"/>
              </a:solidFill>
              <a:latin typeface="Helvetica Neue"/>
              <a:ea typeface="Helvetica Neue"/>
              <a:cs typeface="Helvetica Neue"/>
              <a:sym typeface="Helvetica Neue"/>
            </a:endParaRPr>
          </a:p>
          <a:p>
            <a:pPr indent="0" lvl="0" marL="0" marR="0" rtl="0" algn="l">
              <a:lnSpc>
                <a:spcPct val="100000"/>
              </a:lnSpc>
              <a:spcBef>
                <a:spcPts val="330"/>
              </a:spcBef>
              <a:spcAft>
                <a:spcPts val="0"/>
              </a:spcAft>
              <a:buClr>
                <a:srgbClr val="000000"/>
              </a:buClr>
              <a:buSzPts val="1184"/>
              <a:buFont typeface="Arial"/>
              <a:buNone/>
            </a:pPr>
            <a:r>
              <a:rPr b="0" i="0" lang="en-US" sz="1484" u="none" cap="none" strike="noStrike">
                <a:solidFill>
                  <a:srgbClr val="D6D6D6"/>
                </a:solidFill>
                <a:latin typeface="Helvetica Neue"/>
                <a:ea typeface="Helvetica Neue"/>
                <a:cs typeface="Helvetica Neue"/>
                <a:sym typeface="Helvetica Neue"/>
              </a:rPr>
              <a:t>efficiency score 9 PASS / 2 FAIL </a:t>
            </a:r>
            <a:endParaRPr b="0" i="0" sz="1484" u="none" cap="none" strike="noStrike">
              <a:solidFill>
                <a:srgbClr val="D6D6D6"/>
              </a:solidFill>
              <a:latin typeface="Helvetica Neue"/>
              <a:ea typeface="Helvetica Neue"/>
              <a:cs typeface="Helvetica Neue"/>
              <a:sym typeface="Helvetica Neue"/>
            </a:endParaRPr>
          </a:p>
          <a:p>
            <a:pPr indent="0" lvl="0" marL="0" marR="0" rtl="0" algn="l">
              <a:lnSpc>
                <a:spcPct val="100000"/>
              </a:lnSpc>
              <a:spcBef>
                <a:spcPts val="330"/>
              </a:spcBef>
              <a:spcAft>
                <a:spcPts val="0"/>
              </a:spcAft>
              <a:buClr>
                <a:srgbClr val="000000"/>
              </a:buClr>
              <a:buSzPts val="1184"/>
              <a:buFont typeface="Arial"/>
              <a:buNone/>
            </a:pPr>
            <a:r>
              <a:rPr b="0" i="0" lang="en-US" sz="1484" u="none" cap="none" strike="noStrike">
                <a:solidFill>
                  <a:srgbClr val="D6D6D6"/>
                </a:solidFill>
                <a:latin typeface="Helvetica Neue"/>
                <a:ea typeface="Helvetica Neue"/>
                <a:cs typeface="Helvetica Neue"/>
                <a:sym typeface="Helvetica Neue"/>
              </a:rPr>
              <a:t>(c_info dominance 0.956, ρ = –0.54 vs length → associational only).</a:t>
            </a:r>
            <a:endParaRPr sz="1700"/>
          </a:p>
        </p:txBody>
      </p:sp>
      <p:grpSp>
        <p:nvGrpSpPr>
          <p:cNvPr id="595" name="Google Shape;595;h2dfb90ae07d12a84_2_450"/>
          <p:cNvGrpSpPr/>
          <p:nvPr/>
        </p:nvGrpSpPr>
        <p:grpSpPr>
          <a:xfrm>
            <a:off x="8432260" y="164865"/>
            <a:ext cx="3302237" cy="3264125"/>
            <a:chOff x="6016752" y="1874519"/>
            <a:chExt cx="1591056" cy="1572769"/>
          </a:xfrm>
        </p:grpSpPr>
        <p:pic>
          <p:nvPicPr>
            <p:cNvPr descr="fig4_within_group_scatter.png" id="596" name="Google Shape;596;h2dfb90ae07d12a84_2_450"/>
            <p:cNvPicPr preferRelativeResize="0"/>
            <p:nvPr/>
          </p:nvPicPr>
          <p:blipFill rotWithShape="1">
            <a:blip r:embed="rId3">
              <a:alphaModFix/>
            </a:blip>
            <a:srcRect b="0" l="0" r="0" t="0"/>
            <a:stretch/>
          </p:blipFill>
          <p:spPr>
            <a:xfrm>
              <a:off x="6016752" y="1874519"/>
              <a:ext cx="1591056" cy="1325880"/>
            </a:xfrm>
            <a:prstGeom prst="rect">
              <a:avLst/>
            </a:prstGeom>
            <a:noFill/>
            <a:ln>
              <a:noFill/>
            </a:ln>
          </p:spPr>
        </p:pic>
        <p:sp>
          <p:nvSpPr>
            <p:cNvPr id="597" name="Google Shape;597;h2dfb90ae07d12a84_2_450"/>
            <p:cNvSpPr/>
            <p:nvPr/>
          </p:nvSpPr>
          <p:spPr>
            <a:xfrm>
              <a:off x="6016752" y="3227832"/>
              <a:ext cx="1591056" cy="219456"/>
            </a:xfrm>
            <a:prstGeom prst="rect">
              <a:avLst/>
            </a:prstGeom>
            <a:noFill/>
            <a:ln>
              <a:noFill/>
            </a:ln>
          </p:spPr>
          <p:txBody>
            <a:bodyPr anchorCtr="0" anchor="t" bIns="94850" lIns="189750" spcFirstLastPara="1" rIns="189750" wrap="square" tIns="94850">
              <a:noAutofit/>
            </a:bodyPr>
            <a:lstStyle/>
            <a:p>
              <a:pPr indent="0" lvl="0" marL="0" marR="0" rtl="0" algn="ctr">
                <a:lnSpc>
                  <a:spcPct val="100000"/>
                </a:lnSpc>
                <a:spcBef>
                  <a:spcPts val="0"/>
                </a:spcBef>
                <a:spcAft>
                  <a:spcPts val="0"/>
                </a:spcAft>
                <a:buClr>
                  <a:srgbClr val="000000"/>
                </a:buClr>
                <a:buSzPts val="2028"/>
                <a:buFont typeface="Arial"/>
                <a:buNone/>
              </a:pPr>
              <a:r>
                <a:rPr b="0" i="0" lang="en-US" sz="2028" u="none" cap="none" strike="noStrike">
                  <a:solidFill>
                    <a:srgbClr val="9A9A9A"/>
                  </a:solidFill>
                  <a:latin typeface="Helvetica Neue"/>
                  <a:ea typeface="Helvetica Neue"/>
                  <a:cs typeface="Helvetica Neue"/>
                  <a:sym typeface="Helvetica Neue"/>
                </a:rPr>
                <a:t>fig4 · within-group</a:t>
              </a:r>
              <a:endParaRPr sz="2906"/>
            </a:p>
          </p:txBody>
        </p:sp>
      </p:grpSp>
      <p:grpSp>
        <p:nvGrpSpPr>
          <p:cNvPr id="598" name="Google Shape;598;h2dfb90ae07d12a84_2_450"/>
          <p:cNvGrpSpPr/>
          <p:nvPr/>
        </p:nvGrpSpPr>
        <p:grpSpPr>
          <a:xfrm>
            <a:off x="4728260" y="2652611"/>
            <a:ext cx="3365541" cy="2698040"/>
            <a:chOff x="7836408" y="1927860"/>
            <a:chExt cx="1828800" cy="1466087"/>
          </a:xfrm>
        </p:grpSpPr>
        <p:pic>
          <p:nvPicPr>
            <p:cNvPr descr="fig5_divergence_position.png" id="599" name="Google Shape;599;h2dfb90ae07d12a84_2_450"/>
            <p:cNvPicPr preferRelativeResize="0"/>
            <p:nvPr/>
          </p:nvPicPr>
          <p:blipFill rotWithShape="1">
            <a:blip r:embed="rId4">
              <a:alphaModFix/>
            </a:blip>
            <a:srcRect b="0" l="0" r="0" t="0"/>
            <a:stretch/>
          </p:blipFill>
          <p:spPr>
            <a:xfrm>
              <a:off x="7836408" y="1927860"/>
              <a:ext cx="1828800" cy="1219200"/>
            </a:xfrm>
            <a:prstGeom prst="rect">
              <a:avLst/>
            </a:prstGeom>
            <a:noFill/>
            <a:ln>
              <a:noFill/>
            </a:ln>
          </p:spPr>
        </p:pic>
        <p:sp>
          <p:nvSpPr>
            <p:cNvPr id="600" name="Google Shape;600;h2dfb90ae07d12a84_2_450"/>
            <p:cNvSpPr/>
            <p:nvPr/>
          </p:nvSpPr>
          <p:spPr>
            <a:xfrm>
              <a:off x="7836408" y="3174491"/>
              <a:ext cx="1828800" cy="219456"/>
            </a:xfrm>
            <a:prstGeom prst="rect">
              <a:avLst/>
            </a:prstGeom>
            <a:noFill/>
            <a:ln>
              <a:noFill/>
            </a:ln>
          </p:spPr>
          <p:txBody>
            <a:bodyPr anchorCtr="0" anchor="t" bIns="84100" lIns="168250" spcFirstLastPara="1" rIns="168250" wrap="square" tIns="84100">
              <a:noAutofit/>
            </a:bodyPr>
            <a:lstStyle/>
            <a:p>
              <a:pPr indent="0" lvl="0" marL="0" marR="0" rtl="0" algn="ctr">
                <a:lnSpc>
                  <a:spcPct val="100000"/>
                </a:lnSpc>
                <a:spcBef>
                  <a:spcPts val="0"/>
                </a:spcBef>
                <a:spcAft>
                  <a:spcPts val="0"/>
                </a:spcAft>
                <a:buClr>
                  <a:srgbClr val="000000"/>
                </a:buClr>
                <a:buSzPts val="1798"/>
                <a:buFont typeface="Arial"/>
                <a:buNone/>
              </a:pPr>
              <a:r>
                <a:rPr b="0" i="0" lang="en-US" sz="1798" u="none" cap="none" strike="noStrike">
                  <a:solidFill>
                    <a:srgbClr val="9A9A9A"/>
                  </a:solidFill>
                  <a:latin typeface="Helvetica Neue"/>
                  <a:ea typeface="Helvetica Neue"/>
                  <a:cs typeface="Helvetica Neue"/>
                  <a:sym typeface="Helvetica Neue"/>
                </a:rPr>
                <a:t>fig5 · divergence pos</a:t>
              </a:r>
              <a:endParaRPr sz="2576"/>
            </a:p>
          </p:txBody>
        </p:sp>
      </p:grpSp>
      <p:grpSp>
        <p:nvGrpSpPr>
          <p:cNvPr id="601" name="Google Shape;601;h2dfb90ae07d12a84_2_450"/>
          <p:cNvGrpSpPr/>
          <p:nvPr/>
        </p:nvGrpSpPr>
        <p:grpSpPr>
          <a:xfrm>
            <a:off x="8363694" y="3710738"/>
            <a:ext cx="3645896" cy="2575566"/>
            <a:chOff x="9774936" y="2014945"/>
            <a:chExt cx="1828800" cy="1291917"/>
          </a:xfrm>
        </p:grpSpPr>
        <p:pic>
          <p:nvPicPr>
            <p:cNvPr descr="fig7_trajectory_composition.png" id="602" name="Google Shape;602;h2dfb90ae07d12a84_2_450"/>
            <p:cNvPicPr preferRelativeResize="0"/>
            <p:nvPr/>
          </p:nvPicPr>
          <p:blipFill rotWithShape="1">
            <a:blip r:embed="rId5">
              <a:alphaModFix/>
            </a:blip>
            <a:srcRect b="0" l="0" r="0" t="0"/>
            <a:stretch/>
          </p:blipFill>
          <p:spPr>
            <a:xfrm>
              <a:off x="9774936" y="2014945"/>
              <a:ext cx="1828800" cy="1045028"/>
            </a:xfrm>
            <a:prstGeom prst="rect">
              <a:avLst/>
            </a:prstGeom>
            <a:noFill/>
            <a:ln>
              <a:noFill/>
            </a:ln>
          </p:spPr>
        </p:pic>
        <p:sp>
          <p:nvSpPr>
            <p:cNvPr id="603" name="Google Shape;603;h2dfb90ae07d12a84_2_450"/>
            <p:cNvSpPr/>
            <p:nvPr/>
          </p:nvSpPr>
          <p:spPr>
            <a:xfrm>
              <a:off x="9774936" y="3087406"/>
              <a:ext cx="1828800" cy="219456"/>
            </a:xfrm>
            <a:prstGeom prst="rect">
              <a:avLst/>
            </a:prstGeom>
            <a:noFill/>
            <a:ln>
              <a:noFill/>
            </a:ln>
          </p:spPr>
          <p:txBody>
            <a:bodyPr anchorCtr="0" anchor="t" bIns="91100" lIns="182275" spcFirstLastPara="1" rIns="182275" wrap="square" tIns="91100">
              <a:noAutofit/>
            </a:bodyPr>
            <a:lstStyle/>
            <a:p>
              <a:pPr indent="0" lvl="0" marL="0" marR="0" rtl="0" algn="ctr">
                <a:lnSpc>
                  <a:spcPct val="100000"/>
                </a:lnSpc>
                <a:spcBef>
                  <a:spcPts val="0"/>
                </a:spcBef>
                <a:spcAft>
                  <a:spcPts val="0"/>
                </a:spcAft>
                <a:buClr>
                  <a:srgbClr val="000000"/>
                </a:buClr>
                <a:buSzPts val="1948"/>
                <a:buFont typeface="Arial"/>
                <a:buNone/>
              </a:pPr>
              <a:r>
                <a:rPr b="0" i="0" lang="en-US" sz="1948" u="none" cap="none" strike="noStrike">
                  <a:solidFill>
                    <a:srgbClr val="9A9A9A"/>
                  </a:solidFill>
                  <a:latin typeface="Helvetica Neue"/>
                  <a:ea typeface="Helvetica Neue"/>
                  <a:cs typeface="Helvetica Neue"/>
                  <a:sym typeface="Helvetica Neue"/>
                </a:rPr>
                <a:t>fig7 · trajectory comp</a:t>
              </a:r>
              <a:endParaRPr sz="2791"/>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07" name="Shape 607"/>
        <p:cNvGrpSpPr/>
        <p:nvPr/>
      </p:nvGrpSpPr>
      <p:grpSpPr>
        <a:xfrm>
          <a:off x="0" y="0"/>
          <a:ext cx="0" cy="0"/>
          <a:chOff x="0" y="0"/>
          <a:chExt cx="0" cy="0"/>
        </a:xfrm>
      </p:grpSpPr>
      <p:sp>
        <p:nvSpPr>
          <p:cNvPr id="608" name="Google Shape;608;h2dfb90ae07d12a84_2_467"/>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09" name="Google Shape;609;h2dfb90ae07d12a84_2_467"/>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610" name="Google Shape;610;h2dfb90ae07d12a84_2_467"/>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611" name="Google Shape;611;h2dfb90ae07d12a84_2_467"/>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H1 — TEST FINDINGS</a:t>
            </a:r>
            <a:endParaRPr b="0" i="0" sz="1500" u="none" cap="none" strike="noStrike">
              <a:solidFill>
                <a:schemeClr val="dk1"/>
              </a:solidFill>
              <a:latin typeface="Helvetica Neue"/>
              <a:ea typeface="Helvetica Neue"/>
              <a:cs typeface="Helvetica Neue"/>
              <a:sym typeface="Helvetica Neue"/>
            </a:endParaRPr>
          </a:p>
        </p:txBody>
      </p:sp>
      <p:sp>
        <p:nvSpPr>
          <p:cNvPr id="612" name="Google Shape;612;h2dfb90ae07d12a84_2_467"/>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Analysis B — Over benchmarks</a:t>
            </a:r>
            <a:endParaRPr b="0" i="0" sz="2000" u="none" cap="none" strike="noStrike">
              <a:solidFill>
                <a:schemeClr val="dk1"/>
              </a:solidFill>
              <a:latin typeface="Helvetica Neue"/>
              <a:ea typeface="Helvetica Neue"/>
              <a:cs typeface="Helvetica Neue"/>
              <a:sym typeface="Helvetica Neue"/>
            </a:endParaRPr>
          </a:p>
        </p:txBody>
      </p:sp>
      <p:sp>
        <p:nvSpPr>
          <p:cNvPr id="613" name="Google Shape;613;h2dfb90ae07d12a84_2_467"/>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614" name="Google Shape;614;h2dfb90ae07d12a84_2_467"/>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25</a:t>
            </a:r>
            <a:endParaRPr b="0" i="0" sz="1000" u="none" cap="none" strike="noStrike">
              <a:solidFill>
                <a:schemeClr val="dk1"/>
              </a:solidFill>
              <a:latin typeface="Helvetica Neue"/>
              <a:ea typeface="Helvetica Neue"/>
              <a:cs typeface="Helvetica Neue"/>
              <a:sym typeface="Helvetica Neue"/>
            </a:endParaRPr>
          </a:p>
        </p:txBody>
      </p:sp>
      <p:sp>
        <p:nvSpPr>
          <p:cNvPr id="615" name="Google Shape;615;h2dfb90ae07d12a84_2_467"/>
          <p:cNvSpPr/>
          <p:nvPr/>
        </p:nvSpPr>
        <p:spPr>
          <a:xfrm>
            <a:off x="427666" y="1809407"/>
            <a:ext cx="6204000" cy="711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65"/>
              <a:buFont typeface="Arial"/>
              <a:buNone/>
            </a:pPr>
            <a:r>
              <a:rPr b="0" i="0" lang="en-US" sz="1265" u="none" cap="none" strike="noStrike">
                <a:solidFill>
                  <a:srgbClr val="D6D6D6"/>
                </a:solidFill>
                <a:latin typeface="Helvetica Neue"/>
                <a:ea typeface="Helvetica Neue"/>
                <a:cs typeface="Helvetica Neue"/>
                <a:sym typeface="Helvetica Neue"/>
              </a:rPr>
              <a:t>Per benchmark, accuracy at every compute level → </a:t>
            </a:r>
            <a:endParaRPr b="0" i="0" sz="1265" u="none" cap="none" strike="noStrike">
              <a:solidFill>
                <a:srgbClr val="D6D6D6"/>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65"/>
              <a:buFont typeface="Arial"/>
              <a:buNone/>
            </a:pPr>
            <a:r>
              <a:rPr b="0" i="0" lang="en-US" sz="1265" u="none" cap="none" strike="noStrike">
                <a:solidFill>
                  <a:srgbClr val="D6D6D6"/>
                </a:solidFill>
                <a:latin typeface="Helvetica Neue"/>
                <a:ea typeface="Helvetica Neue"/>
                <a:cs typeface="Helvetica Neue"/>
                <a:sym typeface="Helvetica Neue"/>
              </a:rPr>
              <a:t>Kneedle elbow = compute level past which more compute yields diminishing returns.</a:t>
            </a:r>
            <a:endParaRPr/>
          </a:p>
        </p:txBody>
      </p:sp>
      <p:sp>
        <p:nvSpPr>
          <p:cNvPr id="616" name="Google Shape;616;h2dfb90ae07d12a84_2_467"/>
          <p:cNvSpPr/>
          <p:nvPr/>
        </p:nvSpPr>
        <p:spPr>
          <a:xfrm>
            <a:off x="493518" y="2832741"/>
            <a:ext cx="2851800" cy="319800"/>
          </a:xfrm>
          <a:prstGeom prst="rect">
            <a:avLst/>
          </a:prstGeom>
          <a:solidFill>
            <a:srgbClr val="FF79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17" name="Google Shape;617;h2dfb90ae07d12a84_2_467"/>
          <p:cNvSpPr/>
          <p:nvPr/>
        </p:nvSpPr>
        <p:spPr>
          <a:xfrm>
            <a:off x="530525" y="2832741"/>
            <a:ext cx="2778300" cy="3198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1" i="0" lang="en-US" sz="1208" u="none" cap="none" strike="noStrike">
                <a:solidFill>
                  <a:srgbClr val="000000"/>
                </a:solidFill>
                <a:latin typeface="Helvetica Neue"/>
                <a:ea typeface="Helvetica Neue"/>
                <a:cs typeface="Helvetica Neue"/>
                <a:sym typeface="Helvetica Neue"/>
              </a:rPr>
              <a:t>Benchmark</a:t>
            </a:r>
            <a:endParaRPr/>
          </a:p>
        </p:txBody>
      </p:sp>
      <p:sp>
        <p:nvSpPr>
          <p:cNvPr id="618" name="Google Shape;618;h2dfb90ae07d12a84_2_467"/>
          <p:cNvSpPr/>
          <p:nvPr/>
        </p:nvSpPr>
        <p:spPr>
          <a:xfrm>
            <a:off x="3345741" y="2832741"/>
            <a:ext cx="3069600" cy="319800"/>
          </a:xfrm>
          <a:prstGeom prst="rect">
            <a:avLst/>
          </a:prstGeom>
          <a:solidFill>
            <a:srgbClr val="FF7900"/>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19" name="Google Shape;619;h2dfb90ae07d12a84_2_467"/>
          <p:cNvSpPr/>
          <p:nvPr/>
        </p:nvSpPr>
        <p:spPr>
          <a:xfrm>
            <a:off x="3382749" y="2832741"/>
            <a:ext cx="2995800" cy="3198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208"/>
              <a:buFont typeface="Arial"/>
              <a:buNone/>
            </a:pPr>
            <a:r>
              <a:rPr b="1" i="0" lang="en-US" sz="1208" u="none" cap="none" strike="noStrike">
                <a:solidFill>
                  <a:srgbClr val="000000"/>
                </a:solidFill>
                <a:latin typeface="Helvetica Neue"/>
                <a:ea typeface="Helvetica Neue"/>
                <a:cs typeface="Helvetica Neue"/>
                <a:sym typeface="Helvetica Neue"/>
              </a:rPr>
              <a:t>Kneedle optimal compute level</a:t>
            </a:r>
            <a:endParaRPr/>
          </a:p>
        </p:txBody>
      </p:sp>
      <p:sp>
        <p:nvSpPr>
          <p:cNvPr id="620" name="Google Shape;620;h2dfb90ae07d12a84_2_467"/>
          <p:cNvSpPr/>
          <p:nvPr/>
        </p:nvSpPr>
        <p:spPr>
          <a:xfrm>
            <a:off x="493518" y="3152680"/>
            <a:ext cx="28518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21" name="Google Shape;621;h2dfb90ae07d12a84_2_467"/>
          <p:cNvSpPr/>
          <p:nvPr/>
        </p:nvSpPr>
        <p:spPr>
          <a:xfrm>
            <a:off x="530525" y="3152680"/>
            <a:ext cx="27783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AIME2025</a:t>
            </a:r>
            <a:endParaRPr/>
          </a:p>
        </p:txBody>
      </p:sp>
      <p:sp>
        <p:nvSpPr>
          <p:cNvPr id="622" name="Google Shape;622;h2dfb90ae07d12a84_2_467"/>
          <p:cNvSpPr/>
          <p:nvPr/>
        </p:nvSpPr>
        <p:spPr>
          <a:xfrm>
            <a:off x="3345741" y="3152680"/>
            <a:ext cx="30696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23" name="Google Shape;623;h2dfb90ae07d12a84_2_467"/>
          <p:cNvSpPr/>
          <p:nvPr/>
        </p:nvSpPr>
        <p:spPr>
          <a:xfrm>
            <a:off x="3382749" y="3152680"/>
            <a:ext cx="29958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35"/>
              <a:buFont typeface="Arial"/>
              <a:buNone/>
            </a:pPr>
            <a:r>
              <a:rPr b="0" i="0" lang="en-US" sz="1035" u="none" cap="none" strike="noStrike">
                <a:solidFill>
                  <a:srgbClr val="141414"/>
                </a:solidFill>
                <a:latin typeface="Helvetica Neue"/>
                <a:ea typeface="Helvetica Neue"/>
                <a:cs typeface="Helvetica Neue"/>
                <a:sym typeface="Helvetica Neue"/>
              </a:rPr>
              <a:t>256</a:t>
            </a:r>
            <a:endParaRPr/>
          </a:p>
        </p:txBody>
      </p:sp>
      <p:sp>
        <p:nvSpPr>
          <p:cNvPr id="624" name="Google Shape;624;h2dfb90ae07d12a84_2_467"/>
          <p:cNvSpPr/>
          <p:nvPr/>
        </p:nvSpPr>
        <p:spPr>
          <a:xfrm>
            <a:off x="493518" y="3372929"/>
            <a:ext cx="28518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25" name="Google Shape;625;h2dfb90ae07d12a84_2_467"/>
          <p:cNvSpPr/>
          <p:nvPr/>
        </p:nvSpPr>
        <p:spPr>
          <a:xfrm>
            <a:off x="530525" y="3372929"/>
            <a:ext cx="27783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BFCL-v3-simple</a:t>
            </a:r>
            <a:endParaRPr/>
          </a:p>
        </p:txBody>
      </p:sp>
      <p:sp>
        <p:nvSpPr>
          <p:cNvPr id="626" name="Google Shape;626;h2dfb90ae07d12a84_2_467"/>
          <p:cNvSpPr/>
          <p:nvPr/>
        </p:nvSpPr>
        <p:spPr>
          <a:xfrm>
            <a:off x="3345741" y="3372929"/>
            <a:ext cx="30696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27" name="Google Shape;627;h2dfb90ae07d12a84_2_467"/>
          <p:cNvSpPr/>
          <p:nvPr/>
        </p:nvSpPr>
        <p:spPr>
          <a:xfrm>
            <a:off x="3382749" y="3372929"/>
            <a:ext cx="29958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35"/>
              <a:buFont typeface="Arial"/>
              <a:buNone/>
            </a:pPr>
            <a:r>
              <a:rPr b="0" i="0" lang="en-US" sz="1035" u="none" cap="none" strike="noStrike">
                <a:solidFill>
                  <a:srgbClr val="141414"/>
                </a:solidFill>
                <a:latin typeface="Helvetica Neue"/>
                <a:ea typeface="Helvetica Neue"/>
                <a:cs typeface="Helvetica Neue"/>
                <a:sym typeface="Helvetica Neue"/>
              </a:rPr>
              <a:t>256</a:t>
            </a:r>
            <a:endParaRPr/>
          </a:p>
        </p:txBody>
      </p:sp>
      <p:sp>
        <p:nvSpPr>
          <p:cNvPr id="628" name="Google Shape;628;h2dfb90ae07d12a84_2_467"/>
          <p:cNvSpPr/>
          <p:nvPr/>
        </p:nvSpPr>
        <p:spPr>
          <a:xfrm>
            <a:off x="493518" y="3593177"/>
            <a:ext cx="28518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29" name="Google Shape;629;h2dfb90ae07d12a84_2_467"/>
          <p:cNvSpPr/>
          <p:nvPr/>
        </p:nvSpPr>
        <p:spPr>
          <a:xfrm>
            <a:off x="530525" y="3593177"/>
            <a:ext cx="27783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GPQA-Diamond</a:t>
            </a:r>
            <a:endParaRPr/>
          </a:p>
        </p:txBody>
      </p:sp>
      <p:sp>
        <p:nvSpPr>
          <p:cNvPr id="630" name="Google Shape;630;h2dfb90ae07d12a84_2_467"/>
          <p:cNvSpPr/>
          <p:nvPr/>
        </p:nvSpPr>
        <p:spPr>
          <a:xfrm>
            <a:off x="3345741" y="3593177"/>
            <a:ext cx="30696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31" name="Google Shape;631;h2dfb90ae07d12a84_2_467"/>
          <p:cNvSpPr/>
          <p:nvPr/>
        </p:nvSpPr>
        <p:spPr>
          <a:xfrm>
            <a:off x="3382749" y="3593177"/>
            <a:ext cx="29958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35"/>
              <a:buFont typeface="Arial"/>
              <a:buNone/>
            </a:pPr>
            <a:r>
              <a:rPr b="0" i="0" lang="en-US" sz="1035" u="none" cap="none" strike="noStrike">
                <a:solidFill>
                  <a:srgbClr val="141414"/>
                </a:solidFill>
                <a:latin typeface="Helvetica Neue"/>
                <a:ea typeface="Helvetica Neue"/>
                <a:cs typeface="Helvetica Neue"/>
                <a:sym typeface="Helvetica Neue"/>
              </a:rPr>
              <a:t>256</a:t>
            </a:r>
            <a:endParaRPr/>
          </a:p>
        </p:txBody>
      </p:sp>
      <p:sp>
        <p:nvSpPr>
          <p:cNvPr id="632" name="Google Shape;632;h2dfb90ae07d12a84_2_467"/>
          <p:cNvSpPr/>
          <p:nvPr/>
        </p:nvSpPr>
        <p:spPr>
          <a:xfrm>
            <a:off x="493518" y="3813425"/>
            <a:ext cx="28518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33" name="Google Shape;633;h2dfb90ae07d12a84_2_467"/>
          <p:cNvSpPr/>
          <p:nvPr/>
        </p:nvSpPr>
        <p:spPr>
          <a:xfrm>
            <a:off x="530525" y="3813425"/>
            <a:ext cx="27783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GSM8K</a:t>
            </a:r>
            <a:endParaRPr/>
          </a:p>
        </p:txBody>
      </p:sp>
      <p:sp>
        <p:nvSpPr>
          <p:cNvPr id="634" name="Google Shape;634;h2dfb90ae07d12a84_2_467"/>
          <p:cNvSpPr/>
          <p:nvPr/>
        </p:nvSpPr>
        <p:spPr>
          <a:xfrm>
            <a:off x="3345741" y="3813425"/>
            <a:ext cx="30696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35" name="Google Shape;635;h2dfb90ae07d12a84_2_467"/>
          <p:cNvSpPr/>
          <p:nvPr/>
        </p:nvSpPr>
        <p:spPr>
          <a:xfrm>
            <a:off x="3382749" y="3813425"/>
            <a:ext cx="29958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35"/>
              <a:buFont typeface="Arial"/>
              <a:buNone/>
            </a:pPr>
            <a:r>
              <a:rPr b="0" i="0" lang="en-US" sz="1035" u="none" cap="none" strike="noStrike">
                <a:solidFill>
                  <a:srgbClr val="141414"/>
                </a:solidFill>
                <a:latin typeface="Helvetica Neue"/>
                <a:ea typeface="Helvetica Neue"/>
                <a:cs typeface="Helvetica Neue"/>
                <a:sym typeface="Helvetica Neue"/>
              </a:rPr>
              <a:t>512</a:t>
            </a:r>
            <a:endParaRPr/>
          </a:p>
        </p:txBody>
      </p:sp>
      <p:sp>
        <p:nvSpPr>
          <p:cNvPr id="636" name="Google Shape;636;h2dfb90ae07d12a84_2_467"/>
          <p:cNvSpPr/>
          <p:nvPr/>
        </p:nvSpPr>
        <p:spPr>
          <a:xfrm>
            <a:off x="493518" y="4033673"/>
            <a:ext cx="28518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37" name="Google Shape;637;h2dfb90ae07d12a84_2_467"/>
          <p:cNvSpPr/>
          <p:nvPr/>
        </p:nvSpPr>
        <p:spPr>
          <a:xfrm>
            <a:off x="530525" y="4033673"/>
            <a:ext cx="27783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IFEval</a:t>
            </a:r>
            <a:endParaRPr/>
          </a:p>
        </p:txBody>
      </p:sp>
      <p:sp>
        <p:nvSpPr>
          <p:cNvPr id="638" name="Google Shape;638;h2dfb90ae07d12a84_2_467"/>
          <p:cNvSpPr/>
          <p:nvPr/>
        </p:nvSpPr>
        <p:spPr>
          <a:xfrm>
            <a:off x="3345741" y="4033673"/>
            <a:ext cx="30696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39" name="Google Shape;639;h2dfb90ae07d12a84_2_467"/>
          <p:cNvSpPr/>
          <p:nvPr/>
        </p:nvSpPr>
        <p:spPr>
          <a:xfrm>
            <a:off x="3382749" y="4033673"/>
            <a:ext cx="29958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35"/>
              <a:buFont typeface="Arial"/>
              <a:buNone/>
            </a:pPr>
            <a:r>
              <a:rPr b="0" i="0" lang="en-US" sz="1035" u="none" cap="none" strike="noStrike">
                <a:solidFill>
                  <a:srgbClr val="141414"/>
                </a:solidFill>
                <a:latin typeface="Helvetica Neue"/>
                <a:ea typeface="Helvetica Neue"/>
                <a:cs typeface="Helvetica Neue"/>
                <a:sym typeface="Helvetica Neue"/>
              </a:rPr>
              <a:t>512</a:t>
            </a:r>
            <a:endParaRPr/>
          </a:p>
        </p:txBody>
      </p:sp>
      <p:sp>
        <p:nvSpPr>
          <p:cNvPr id="640" name="Google Shape;640;h2dfb90ae07d12a84_2_467"/>
          <p:cNvSpPr/>
          <p:nvPr/>
        </p:nvSpPr>
        <p:spPr>
          <a:xfrm>
            <a:off x="493518" y="4253922"/>
            <a:ext cx="28518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41" name="Google Shape;641;h2dfb90ae07d12a84_2_467"/>
          <p:cNvSpPr/>
          <p:nvPr/>
        </p:nvSpPr>
        <p:spPr>
          <a:xfrm>
            <a:off x="530525" y="4253922"/>
            <a:ext cx="27783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LiveCodeBench-v6</a:t>
            </a:r>
            <a:endParaRPr/>
          </a:p>
        </p:txBody>
      </p:sp>
      <p:sp>
        <p:nvSpPr>
          <p:cNvPr id="642" name="Google Shape;642;h2dfb90ae07d12a84_2_467"/>
          <p:cNvSpPr/>
          <p:nvPr/>
        </p:nvSpPr>
        <p:spPr>
          <a:xfrm>
            <a:off x="3345741" y="4253922"/>
            <a:ext cx="30696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43" name="Google Shape;643;h2dfb90ae07d12a84_2_467"/>
          <p:cNvSpPr/>
          <p:nvPr/>
        </p:nvSpPr>
        <p:spPr>
          <a:xfrm>
            <a:off x="3382749" y="4253922"/>
            <a:ext cx="29958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35"/>
              <a:buFont typeface="Arial"/>
              <a:buNone/>
            </a:pPr>
            <a:r>
              <a:rPr b="0" i="0" lang="en-US" sz="1035" u="none" cap="none" strike="noStrike">
                <a:solidFill>
                  <a:srgbClr val="141414"/>
                </a:solidFill>
                <a:latin typeface="Helvetica Neue"/>
                <a:ea typeface="Helvetica Neue"/>
                <a:cs typeface="Helvetica Neue"/>
                <a:sym typeface="Helvetica Neue"/>
              </a:rPr>
              <a:t>256</a:t>
            </a:r>
            <a:endParaRPr/>
          </a:p>
        </p:txBody>
      </p:sp>
      <p:sp>
        <p:nvSpPr>
          <p:cNvPr id="644" name="Google Shape;644;h2dfb90ae07d12a84_2_467"/>
          <p:cNvSpPr/>
          <p:nvPr/>
        </p:nvSpPr>
        <p:spPr>
          <a:xfrm>
            <a:off x="493518" y="4474170"/>
            <a:ext cx="28518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45" name="Google Shape;645;h2dfb90ae07d12a84_2_467"/>
          <p:cNvSpPr/>
          <p:nvPr/>
        </p:nvSpPr>
        <p:spPr>
          <a:xfrm>
            <a:off x="530525" y="4474170"/>
            <a:ext cx="27783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MATH-full</a:t>
            </a:r>
            <a:endParaRPr/>
          </a:p>
        </p:txBody>
      </p:sp>
      <p:sp>
        <p:nvSpPr>
          <p:cNvPr id="646" name="Google Shape;646;h2dfb90ae07d12a84_2_467"/>
          <p:cNvSpPr/>
          <p:nvPr/>
        </p:nvSpPr>
        <p:spPr>
          <a:xfrm>
            <a:off x="3345741" y="4474170"/>
            <a:ext cx="30696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47" name="Google Shape;647;h2dfb90ae07d12a84_2_467"/>
          <p:cNvSpPr/>
          <p:nvPr/>
        </p:nvSpPr>
        <p:spPr>
          <a:xfrm>
            <a:off x="3382749" y="4474170"/>
            <a:ext cx="29958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35"/>
              <a:buFont typeface="Arial"/>
              <a:buNone/>
            </a:pPr>
            <a:r>
              <a:rPr b="0" i="0" lang="en-US" sz="1035" u="none" cap="none" strike="noStrike">
                <a:solidFill>
                  <a:srgbClr val="141414"/>
                </a:solidFill>
                <a:latin typeface="Helvetica Neue"/>
                <a:ea typeface="Helvetica Neue"/>
                <a:cs typeface="Helvetica Neue"/>
                <a:sym typeface="Helvetica Neue"/>
              </a:rPr>
              <a:t>None (no interior knee — flat/noisy)</a:t>
            </a:r>
            <a:endParaRPr/>
          </a:p>
        </p:txBody>
      </p:sp>
      <p:sp>
        <p:nvSpPr>
          <p:cNvPr id="648" name="Google Shape;648;h2dfb90ae07d12a84_2_467"/>
          <p:cNvSpPr/>
          <p:nvPr/>
        </p:nvSpPr>
        <p:spPr>
          <a:xfrm>
            <a:off x="493518" y="4694418"/>
            <a:ext cx="28518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49" name="Google Shape;649;h2dfb90ae07d12a84_2_467"/>
          <p:cNvSpPr/>
          <p:nvPr/>
        </p:nvSpPr>
        <p:spPr>
          <a:xfrm>
            <a:off x="530525" y="4694418"/>
            <a:ext cx="27783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MMLU-Pro</a:t>
            </a:r>
            <a:endParaRPr/>
          </a:p>
        </p:txBody>
      </p:sp>
      <p:sp>
        <p:nvSpPr>
          <p:cNvPr id="650" name="Google Shape;650;h2dfb90ae07d12a84_2_467"/>
          <p:cNvSpPr/>
          <p:nvPr/>
        </p:nvSpPr>
        <p:spPr>
          <a:xfrm>
            <a:off x="3345741" y="4694418"/>
            <a:ext cx="30696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51" name="Google Shape;651;h2dfb90ae07d12a84_2_467"/>
          <p:cNvSpPr/>
          <p:nvPr/>
        </p:nvSpPr>
        <p:spPr>
          <a:xfrm>
            <a:off x="3382749" y="4694418"/>
            <a:ext cx="29958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35"/>
              <a:buFont typeface="Arial"/>
              <a:buNone/>
            </a:pPr>
            <a:r>
              <a:rPr b="0" i="0" lang="en-US" sz="1035" u="none" cap="none" strike="noStrike">
                <a:solidFill>
                  <a:srgbClr val="141414"/>
                </a:solidFill>
                <a:latin typeface="Helvetica Neue"/>
                <a:ea typeface="Helvetica Neue"/>
                <a:cs typeface="Helvetica Neue"/>
                <a:sym typeface="Helvetica Neue"/>
              </a:rPr>
              <a:t>512</a:t>
            </a:r>
            <a:endParaRPr/>
          </a:p>
        </p:txBody>
      </p:sp>
      <p:sp>
        <p:nvSpPr>
          <p:cNvPr id="652" name="Google Shape;652;h2dfb90ae07d12a84_2_467"/>
          <p:cNvSpPr/>
          <p:nvPr/>
        </p:nvSpPr>
        <p:spPr>
          <a:xfrm>
            <a:off x="493518" y="4914666"/>
            <a:ext cx="28518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53" name="Google Shape;653;h2dfb90ae07d12a84_2_467"/>
          <p:cNvSpPr/>
          <p:nvPr/>
        </p:nvSpPr>
        <p:spPr>
          <a:xfrm>
            <a:off x="530525" y="4914666"/>
            <a:ext cx="27783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92"/>
              <a:buFont typeface="Arial"/>
              <a:buNone/>
            </a:pPr>
            <a:r>
              <a:rPr b="1" i="0" lang="en-US" sz="1092" u="none" cap="none" strike="noStrike">
                <a:solidFill>
                  <a:srgbClr val="141414"/>
                </a:solidFill>
                <a:latin typeface="Helvetica Neue"/>
                <a:ea typeface="Helvetica Neue"/>
                <a:cs typeface="Helvetica Neue"/>
                <a:sym typeface="Helvetica Neue"/>
              </a:rPr>
              <a:t>MMLU-Redux</a:t>
            </a:r>
            <a:endParaRPr/>
          </a:p>
        </p:txBody>
      </p:sp>
      <p:sp>
        <p:nvSpPr>
          <p:cNvPr id="654" name="Google Shape;654;h2dfb90ae07d12a84_2_467"/>
          <p:cNvSpPr/>
          <p:nvPr/>
        </p:nvSpPr>
        <p:spPr>
          <a:xfrm>
            <a:off x="3345741" y="4914666"/>
            <a:ext cx="3069600" cy="220200"/>
          </a:xfrm>
          <a:prstGeom prst="rect">
            <a:avLst/>
          </a:prstGeom>
          <a:solidFill>
            <a:srgbClr val="FFD6C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55" name="Google Shape;655;h2dfb90ae07d12a84_2_467"/>
          <p:cNvSpPr/>
          <p:nvPr/>
        </p:nvSpPr>
        <p:spPr>
          <a:xfrm>
            <a:off x="3382749" y="4914666"/>
            <a:ext cx="2995800" cy="220200"/>
          </a:xfrm>
          <a:prstGeom prst="rect">
            <a:avLst/>
          </a:prstGeom>
          <a:noFill/>
          <a:ln>
            <a:noFill/>
          </a:ln>
        </p:spPr>
        <p:txBody>
          <a:bodyPr anchorCtr="0" anchor="ctr" bIns="0" lIns="91425" spcFirstLastPara="1" rIns="91425" wrap="square" tIns="0">
            <a:noAutofit/>
          </a:bodyPr>
          <a:lstStyle/>
          <a:p>
            <a:pPr indent="0" lvl="0" marL="0" marR="0" rtl="0" algn="l">
              <a:lnSpc>
                <a:spcPct val="100000"/>
              </a:lnSpc>
              <a:spcBef>
                <a:spcPts val="0"/>
              </a:spcBef>
              <a:spcAft>
                <a:spcPts val="0"/>
              </a:spcAft>
              <a:buClr>
                <a:srgbClr val="000000"/>
              </a:buClr>
              <a:buSzPts val="1035"/>
              <a:buFont typeface="Arial"/>
              <a:buNone/>
            </a:pPr>
            <a:r>
              <a:rPr b="0" i="0" lang="en-US" sz="1035" u="none" cap="none" strike="noStrike">
                <a:solidFill>
                  <a:srgbClr val="141414"/>
                </a:solidFill>
                <a:latin typeface="Helvetica Neue"/>
                <a:ea typeface="Helvetica Neue"/>
                <a:cs typeface="Helvetica Neue"/>
                <a:sym typeface="Helvetica Neue"/>
              </a:rPr>
              <a:t>4096 (non-monotone curve, opposite loading)</a:t>
            </a:r>
            <a:endParaRPr/>
          </a:p>
        </p:txBody>
      </p:sp>
      <p:sp>
        <p:nvSpPr>
          <p:cNvPr id="656" name="Google Shape;656;h2dfb90ae07d12a84_2_467"/>
          <p:cNvSpPr/>
          <p:nvPr/>
        </p:nvSpPr>
        <p:spPr>
          <a:xfrm>
            <a:off x="498350" y="5583175"/>
            <a:ext cx="3823800" cy="501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FFFFFF"/>
                </a:solidFill>
                <a:latin typeface="Helvetica Neue"/>
                <a:ea typeface="Helvetica Neue"/>
                <a:cs typeface="Helvetica Neue"/>
                <a:sym typeface="Helvetica Neue"/>
              </a:rPr>
              <a:t>Most benchmarks elbow at 256–512 thinking tokens. </a:t>
            </a:r>
            <a:endParaRPr b="0" i="0" sz="1208" u="none" cap="none" strike="noStrike">
              <a:solidFill>
                <a:srgbClr val="FFFFFF"/>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8"/>
              <a:buFont typeface="Arial"/>
              <a:buNone/>
            </a:pPr>
            <a:r>
              <a:rPr b="0" i="0" lang="en-US" sz="1208" u="none" cap="none" strike="noStrike">
                <a:solidFill>
                  <a:srgbClr val="FFFFFF"/>
                </a:solidFill>
                <a:latin typeface="Helvetica Neue"/>
                <a:ea typeface="Helvetica Neue"/>
                <a:cs typeface="Helvetica Neue"/>
                <a:sym typeface="Helvetica Neue"/>
              </a:rPr>
              <a:t>AIME2025 gains the most in absolute terms.</a:t>
            </a:r>
            <a:endParaRPr/>
          </a:p>
        </p:txBody>
      </p:sp>
      <p:sp>
        <p:nvSpPr>
          <p:cNvPr id="657" name="Google Shape;657;h2dfb90ae07d12a84_2_467"/>
          <p:cNvSpPr/>
          <p:nvPr/>
        </p:nvSpPr>
        <p:spPr>
          <a:xfrm>
            <a:off x="7438278" y="6238384"/>
            <a:ext cx="3357300" cy="284700"/>
          </a:xfrm>
          <a:prstGeom prst="rect">
            <a:avLst/>
          </a:prstGeom>
          <a:noFill/>
          <a:ln>
            <a:noFill/>
          </a:ln>
        </p:spPr>
        <p:txBody>
          <a:bodyPr anchorCtr="0" anchor="t" bIns="71100" lIns="142250" spcFirstLastPara="1" rIns="142250" wrap="square" tIns="71100">
            <a:noAutofit/>
          </a:bodyPr>
          <a:lstStyle/>
          <a:p>
            <a:pPr indent="0" lvl="0" marL="0" marR="0" rtl="0" algn="l">
              <a:lnSpc>
                <a:spcPct val="100000"/>
              </a:lnSpc>
              <a:spcBef>
                <a:spcPts val="0"/>
              </a:spcBef>
              <a:spcAft>
                <a:spcPts val="0"/>
              </a:spcAft>
              <a:buClr>
                <a:srgbClr val="000000"/>
              </a:buClr>
              <a:buSzPts val="1520"/>
              <a:buFont typeface="Arial"/>
              <a:buNone/>
            </a:pPr>
            <a:r>
              <a:rPr b="0" i="0" lang="en-US" sz="1520" u="none" cap="none" strike="noStrike">
                <a:solidFill>
                  <a:srgbClr val="9A9A9A"/>
                </a:solidFill>
                <a:latin typeface="Helvetica Neue"/>
                <a:ea typeface="Helvetica Neue"/>
                <a:cs typeface="Helvetica Neue"/>
                <a:sym typeface="Helvetica Neue"/>
              </a:rPr>
              <a:t>fig10 · normalized curves</a:t>
            </a:r>
            <a:endParaRPr sz="2178"/>
          </a:p>
        </p:txBody>
      </p:sp>
      <p:sp>
        <p:nvSpPr>
          <p:cNvPr id="658" name="Google Shape;658;h2dfb90ae07d12a84_2_467"/>
          <p:cNvSpPr/>
          <p:nvPr/>
        </p:nvSpPr>
        <p:spPr>
          <a:xfrm>
            <a:off x="6895000" y="3698250"/>
            <a:ext cx="4459200" cy="220200"/>
          </a:xfrm>
          <a:prstGeom prst="rect">
            <a:avLst/>
          </a:prstGeom>
          <a:noFill/>
          <a:ln>
            <a:noFill/>
          </a:ln>
        </p:spPr>
        <p:txBody>
          <a:bodyPr anchorCtr="0" anchor="ctr" bIns="126175" lIns="252450" spcFirstLastPara="1" rIns="252450" wrap="square" tIns="126175">
            <a:noAutofit/>
          </a:bodyPr>
          <a:lstStyle/>
          <a:p>
            <a:pPr indent="0" lvl="0" marL="0" marR="0" rtl="0" algn="l">
              <a:lnSpc>
                <a:spcPct val="100000"/>
              </a:lnSpc>
              <a:spcBef>
                <a:spcPts val="0"/>
              </a:spcBef>
              <a:spcAft>
                <a:spcPts val="0"/>
              </a:spcAft>
              <a:buClr>
                <a:srgbClr val="000000"/>
              </a:buClr>
              <a:buSzPts val="2698"/>
              <a:buFont typeface="Arial"/>
              <a:buNone/>
            </a:pPr>
            <a:r>
              <a:rPr b="0" i="0" lang="en-US" sz="2298" u="none" cap="none" strike="noStrike">
                <a:solidFill>
                  <a:srgbClr val="9A9A9A"/>
                </a:solidFill>
                <a:latin typeface="Helvetica Neue"/>
                <a:ea typeface="Helvetica Neue"/>
                <a:cs typeface="Helvetica Neue"/>
                <a:sym typeface="Helvetica Neue"/>
              </a:rPr>
              <a:t>fig8 · raw accuracy curves</a:t>
            </a:r>
            <a:endParaRPr sz="3466"/>
          </a:p>
        </p:txBody>
      </p:sp>
      <p:pic>
        <p:nvPicPr>
          <p:cNvPr descr="fig8_benchmark_accuracy_curves.png" id="659" name="Google Shape;659;h2dfb90ae07d12a84_2_467"/>
          <p:cNvPicPr preferRelativeResize="0"/>
          <p:nvPr/>
        </p:nvPicPr>
        <p:blipFill rotWithShape="1">
          <a:blip r:embed="rId3">
            <a:alphaModFix/>
          </a:blip>
          <a:srcRect b="0" l="0" r="0" t="0"/>
          <a:stretch/>
        </p:blipFill>
        <p:spPr>
          <a:xfrm>
            <a:off x="6734767" y="178051"/>
            <a:ext cx="4926074" cy="3417203"/>
          </a:xfrm>
          <a:prstGeom prst="rect">
            <a:avLst/>
          </a:prstGeom>
          <a:noFill/>
          <a:ln>
            <a:noFill/>
          </a:ln>
        </p:spPr>
      </p:pic>
      <p:pic>
        <p:nvPicPr>
          <p:cNvPr descr="fig10_benchmark_normalized_curves.png" id="660" name="Google Shape;660;h2dfb90ae07d12a84_2_467"/>
          <p:cNvPicPr preferRelativeResize="0"/>
          <p:nvPr/>
        </p:nvPicPr>
        <p:blipFill rotWithShape="1">
          <a:blip r:embed="rId4">
            <a:alphaModFix/>
          </a:blip>
          <a:srcRect b="0" l="0" r="0" t="0"/>
          <a:stretch/>
        </p:blipFill>
        <p:spPr>
          <a:xfrm>
            <a:off x="7064325" y="4261625"/>
            <a:ext cx="4412074" cy="19186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64" name="Shape 664"/>
        <p:cNvGrpSpPr/>
        <p:nvPr/>
      </p:nvGrpSpPr>
      <p:grpSpPr>
        <a:xfrm>
          <a:off x="0" y="0"/>
          <a:ext cx="0" cy="0"/>
          <a:chOff x="0" y="0"/>
          <a:chExt cx="0" cy="0"/>
        </a:xfrm>
      </p:grpSpPr>
      <p:sp>
        <p:nvSpPr>
          <p:cNvPr id="665" name="Google Shape;665;h2dfb90ae07d12a84_2_523"/>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66" name="Google Shape;666;h2dfb90ae07d12a84_2_523"/>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667" name="Google Shape;667;h2dfb90ae07d12a84_2_523"/>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668" name="Google Shape;668;h2dfb90ae07d12a84_2_523"/>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H1 — TEST FINDINGS</a:t>
            </a:r>
            <a:endParaRPr b="0" i="0" sz="1500" u="none" cap="none" strike="noStrike">
              <a:solidFill>
                <a:schemeClr val="dk1"/>
              </a:solidFill>
              <a:latin typeface="Helvetica Neue"/>
              <a:ea typeface="Helvetica Neue"/>
              <a:cs typeface="Helvetica Neue"/>
              <a:sym typeface="Helvetica Neue"/>
            </a:endParaRPr>
          </a:p>
        </p:txBody>
      </p:sp>
      <p:sp>
        <p:nvSpPr>
          <p:cNvPr id="669" name="Google Shape;669;h2dfb90ae07d12a84_2_523"/>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Analysis C &amp; D — Compute level &amp; difficulty</a:t>
            </a:r>
            <a:endParaRPr b="0" i="0" sz="2000" u="none" cap="none" strike="noStrike">
              <a:solidFill>
                <a:schemeClr val="dk1"/>
              </a:solidFill>
              <a:latin typeface="Helvetica Neue"/>
              <a:ea typeface="Helvetica Neue"/>
              <a:cs typeface="Helvetica Neue"/>
              <a:sym typeface="Helvetica Neue"/>
            </a:endParaRPr>
          </a:p>
        </p:txBody>
      </p:sp>
      <p:sp>
        <p:nvSpPr>
          <p:cNvPr id="670" name="Google Shape;670;h2dfb90ae07d12a84_2_523"/>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671" name="Google Shape;671;h2dfb90ae07d12a84_2_523"/>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26</a:t>
            </a:r>
            <a:endParaRPr b="0" i="0" sz="1000" u="none" cap="none" strike="noStrike">
              <a:solidFill>
                <a:schemeClr val="dk1"/>
              </a:solidFill>
              <a:latin typeface="Helvetica Neue"/>
              <a:ea typeface="Helvetica Neue"/>
              <a:cs typeface="Helvetica Neue"/>
              <a:sym typeface="Helvetica Neue"/>
            </a:endParaRPr>
          </a:p>
        </p:txBody>
      </p:sp>
      <p:sp>
        <p:nvSpPr>
          <p:cNvPr id="672" name="Google Shape;672;h2dfb90ae07d12a84_2_523"/>
          <p:cNvSpPr/>
          <p:nvPr/>
        </p:nvSpPr>
        <p:spPr>
          <a:xfrm>
            <a:off x="502920" y="1800000"/>
            <a:ext cx="5074920" cy="420624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rgbClr val="FF7900"/>
              </a:buClr>
              <a:buSzPts val="1120"/>
              <a:buFont typeface="Arial"/>
              <a:buChar char="■"/>
            </a:pPr>
            <a:r>
              <a:rPr b="1" i="0" lang="en-US" sz="1488" u="none" cap="none" strike="noStrike">
                <a:solidFill>
                  <a:srgbClr val="FF7900"/>
                </a:solidFill>
                <a:latin typeface="Helvetica Neue"/>
                <a:ea typeface="Helvetica Neue"/>
                <a:cs typeface="Helvetica Neue"/>
                <a:sym typeface="Helvetica Neue"/>
              </a:rPr>
              <a:t>Over compute level (size-robust aggregate): </a:t>
            </a:r>
            <a:r>
              <a:rPr b="0" i="0" lang="en-US" sz="1384" u="none" cap="none" strike="noStrike">
                <a:solidFill>
                  <a:srgbClr val="D6D6D6"/>
                </a:solidFill>
                <a:latin typeface="Helvetica Neue"/>
                <a:ea typeface="Helvetica Neue"/>
                <a:cs typeface="Helvetica Neue"/>
                <a:sym typeface="Helvetica Neue"/>
              </a:rPr>
              <a:t>each benchmark’s curve min-max normalized then averaged with equal weight (no benchmark excluded). Kneedle aggregate knee = 512. Normalized accuracy: 0.21 → 0.53 by 512 → 0.94 at 8192; inter-benchmark spread shrinks 0.40 → 0.12. 512 tokens is where aggregate compute gains begin to plateau.</a:t>
            </a:r>
            <a:endParaRPr sz="1600"/>
          </a:p>
          <a:p>
            <a:pPr indent="-228600" lvl="0" marL="228600" marR="0" rtl="0" algn="l">
              <a:lnSpc>
                <a:spcPct val="100000"/>
              </a:lnSpc>
              <a:spcBef>
                <a:spcPts val="330"/>
              </a:spcBef>
              <a:spcAft>
                <a:spcPts val="0"/>
              </a:spcAft>
              <a:buClr>
                <a:srgbClr val="FF7900"/>
              </a:buClr>
              <a:buSzPts val="1120"/>
              <a:buFont typeface="Arial"/>
              <a:buChar char="■"/>
            </a:pPr>
            <a:r>
              <a:rPr b="1" i="0" lang="en-US" sz="1488" u="none" cap="none" strike="noStrike">
                <a:solidFill>
                  <a:srgbClr val="FF7900"/>
                </a:solidFill>
                <a:latin typeface="Helvetica Neue"/>
                <a:ea typeface="Helvetica Neue"/>
                <a:cs typeface="Helvetica Neue"/>
                <a:sym typeface="Helvetica Neue"/>
              </a:rPr>
              <a:t>Over difficulty (derived, fixed pass-rate bands): </a:t>
            </a:r>
            <a:r>
              <a:rPr b="0" i="0" lang="en-US" sz="1384" u="none" cap="none" strike="noStrike">
                <a:solidFill>
                  <a:srgbClr val="D6D6D6"/>
                </a:solidFill>
                <a:latin typeface="Helvetica Neue"/>
                <a:ea typeface="Helvetica Neue"/>
                <a:cs typeface="Helvetica Neue"/>
                <a:sym typeface="Helvetica Neue"/>
              </a:rPr>
              <a:t>D1 hardest ([0,25%) pass, 26 q): knee 4096, accuracy still only 0.075 → 0.161. D2 medium-hard ([25,50%), 13 q): knee 256. D3 medium-easy ([50,75%), 15 q): no knee (erratic). D4 easy ([75,100%], 36 q): knee 512 (raw); none normalized (ceiling).</a:t>
            </a:r>
            <a:endParaRPr sz="1600"/>
          </a:p>
          <a:p>
            <a:pPr indent="-228600" lvl="0" marL="228600" marR="0" rtl="0" algn="l">
              <a:lnSpc>
                <a:spcPct val="100000"/>
              </a:lnSpc>
              <a:spcBef>
                <a:spcPts val="330"/>
              </a:spcBef>
              <a:spcAft>
                <a:spcPts val="0"/>
              </a:spcAft>
              <a:buClr>
                <a:srgbClr val="FF7900"/>
              </a:buClr>
              <a:buSzPts val="1120"/>
              <a:buFont typeface="Arial"/>
              <a:buChar char="■"/>
            </a:pPr>
            <a:r>
              <a:rPr b="1" i="0" lang="en-US" sz="1488" u="none" cap="none" strike="noStrike">
                <a:solidFill>
                  <a:srgbClr val="FF7900"/>
                </a:solidFill>
                <a:latin typeface="Helvetica Neue"/>
                <a:ea typeface="Helvetica Neue"/>
                <a:cs typeface="Helvetica Neue"/>
                <a:sym typeface="Helvetica Neue"/>
              </a:rPr>
              <a:t>Headline for H1: </a:t>
            </a:r>
            <a:r>
              <a:rPr b="0" i="0" lang="en-US" sz="1384" u="none" cap="none" strike="noStrike">
                <a:solidFill>
                  <a:srgbClr val="D6D6D6"/>
                </a:solidFill>
                <a:latin typeface="Helvetica Neue"/>
                <a:ea typeface="Helvetica Neue"/>
                <a:cs typeface="Helvetica Neue"/>
                <a:sym typeface="Helvetica Neue"/>
              </a:rPr>
              <a:t>the aggregate knee (512) is far below the max budget (8192) → most gain comes cheaply; hard questions still want far more; overthinking appears as saturation, not a global inverted-U (no benchmark shows a true accuracy drop at high budgets).</a:t>
            </a:r>
            <a:endParaRPr sz="1600"/>
          </a:p>
        </p:txBody>
      </p:sp>
      <p:pic>
        <p:nvPicPr>
          <p:cNvPr descr="fig11_difficulty_accuracy_curves.png" id="673" name="Google Shape;673;h2dfb90ae07d12a84_2_523"/>
          <p:cNvPicPr preferRelativeResize="0"/>
          <p:nvPr/>
        </p:nvPicPr>
        <p:blipFill rotWithShape="1">
          <a:blip r:embed="rId3">
            <a:alphaModFix/>
          </a:blip>
          <a:srcRect b="0" l="0" r="0" t="0"/>
          <a:stretch/>
        </p:blipFill>
        <p:spPr>
          <a:xfrm>
            <a:off x="5813150" y="1098150"/>
            <a:ext cx="6227700" cy="1891950"/>
          </a:xfrm>
          <a:prstGeom prst="rect">
            <a:avLst/>
          </a:prstGeom>
          <a:noFill/>
          <a:ln>
            <a:noFill/>
          </a:ln>
        </p:spPr>
      </p:pic>
      <p:sp>
        <p:nvSpPr>
          <p:cNvPr id="674" name="Google Shape;674;h2dfb90ae07d12a84_2_523"/>
          <p:cNvSpPr/>
          <p:nvPr/>
        </p:nvSpPr>
        <p:spPr>
          <a:xfrm>
            <a:off x="5904280" y="3017520"/>
            <a:ext cx="5793638" cy="21945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977"/>
              <a:buFont typeface="Arial"/>
              <a:buNone/>
            </a:pPr>
            <a:r>
              <a:rPr b="0" i="0" lang="en-US" sz="977" u="none" cap="none" strike="noStrike">
                <a:solidFill>
                  <a:srgbClr val="9A9A9A"/>
                </a:solidFill>
                <a:latin typeface="Helvetica Neue"/>
                <a:ea typeface="Helvetica Neue"/>
                <a:cs typeface="Helvetica Neue"/>
                <a:sym typeface="Helvetica Neue"/>
              </a:rPr>
              <a:t>fig11 · difficulty accuracy curves</a:t>
            </a:r>
            <a:endParaRPr/>
          </a:p>
        </p:txBody>
      </p:sp>
      <p:pic>
        <p:nvPicPr>
          <p:cNvPr descr="fig9_compute_level_normalized_aggregate.png" id="675" name="Google Shape;675;h2dfb90ae07d12a84_2_523"/>
          <p:cNvPicPr preferRelativeResize="0"/>
          <p:nvPr/>
        </p:nvPicPr>
        <p:blipFill rotWithShape="1">
          <a:blip r:embed="rId4">
            <a:alphaModFix/>
          </a:blip>
          <a:srcRect b="0" l="0" r="0" t="0"/>
          <a:stretch/>
        </p:blipFill>
        <p:spPr>
          <a:xfrm>
            <a:off x="5577850" y="3639400"/>
            <a:ext cx="3051799" cy="1743885"/>
          </a:xfrm>
          <a:prstGeom prst="rect">
            <a:avLst/>
          </a:prstGeom>
          <a:noFill/>
          <a:ln>
            <a:noFill/>
          </a:ln>
        </p:spPr>
      </p:pic>
      <p:sp>
        <p:nvSpPr>
          <p:cNvPr id="676" name="Google Shape;676;h2dfb90ae07d12a84_2_523"/>
          <p:cNvSpPr/>
          <p:nvPr/>
        </p:nvSpPr>
        <p:spPr>
          <a:xfrm>
            <a:off x="5577850" y="5414060"/>
            <a:ext cx="3051900" cy="246300"/>
          </a:xfrm>
          <a:prstGeom prst="rect">
            <a:avLst/>
          </a:prstGeom>
          <a:noFill/>
          <a:ln>
            <a:noFill/>
          </a:ln>
        </p:spPr>
        <p:txBody>
          <a:bodyPr anchorCtr="0" anchor="t" bIns="51275" lIns="102575" spcFirstLastPara="1" rIns="102575" wrap="square" tIns="51275">
            <a:noAutofit/>
          </a:bodyPr>
          <a:lstStyle/>
          <a:p>
            <a:pPr indent="0" lvl="0" marL="0" marR="0" rtl="0" algn="ctr">
              <a:lnSpc>
                <a:spcPct val="100000"/>
              </a:lnSpc>
              <a:spcBef>
                <a:spcPts val="0"/>
              </a:spcBef>
              <a:spcAft>
                <a:spcPts val="0"/>
              </a:spcAft>
              <a:buClr>
                <a:srgbClr val="000000"/>
              </a:buClr>
              <a:buSzPts val="1096"/>
              <a:buFont typeface="Arial"/>
              <a:buNone/>
            </a:pPr>
            <a:r>
              <a:rPr b="0" i="0" lang="en-US" sz="1096" u="none" cap="none" strike="noStrike">
                <a:solidFill>
                  <a:srgbClr val="9A9A9A"/>
                </a:solidFill>
                <a:latin typeface="Helvetica Neue"/>
                <a:ea typeface="Helvetica Neue"/>
                <a:cs typeface="Helvetica Neue"/>
                <a:sym typeface="Helvetica Neue"/>
              </a:rPr>
              <a:t>fig9 · compute-level aggregate</a:t>
            </a:r>
            <a:endParaRPr sz="1571"/>
          </a:p>
        </p:txBody>
      </p:sp>
      <p:pic>
        <p:nvPicPr>
          <p:cNvPr descr="fig12_difficulty_normalized_curves.png" id="677" name="Google Shape;677;h2dfb90ae07d12a84_2_523"/>
          <p:cNvPicPr preferRelativeResize="0"/>
          <p:nvPr/>
        </p:nvPicPr>
        <p:blipFill rotWithShape="1">
          <a:blip r:embed="rId5">
            <a:alphaModFix/>
          </a:blip>
          <a:srcRect b="0" l="0" r="0" t="0"/>
          <a:stretch/>
        </p:blipFill>
        <p:spPr>
          <a:xfrm>
            <a:off x="8795124" y="3639399"/>
            <a:ext cx="3177248" cy="1815570"/>
          </a:xfrm>
          <a:prstGeom prst="rect">
            <a:avLst/>
          </a:prstGeom>
          <a:noFill/>
          <a:ln>
            <a:noFill/>
          </a:ln>
        </p:spPr>
      </p:pic>
      <p:sp>
        <p:nvSpPr>
          <p:cNvPr id="678" name="Google Shape;678;h2dfb90ae07d12a84_2_523"/>
          <p:cNvSpPr/>
          <p:nvPr/>
        </p:nvSpPr>
        <p:spPr>
          <a:xfrm>
            <a:off x="8795124" y="5487009"/>
            <a:ext cx="3177300" cy="256200"/>
          </a:xfrm>
          <a:prstGeom prst="rect">
            <a:avLst/>
          </a:prstGeom>
          <a:noFill/>
          <a:ln>
            <a:noFill/>
          </a:ln>
        </p:spPr>
        <p:txBody>
          <a:bodyPr anchorCtr="0" anchor="t" bIns="53375" lIns="106775" spcFirstLastPara="1" rIns="106775" wrap="square" tIns="53375">
            <a:noAutofit/>
          </a:bodyPr>
          <a:lstStyle/>
          <a:p>
            <a:pPr indent="0" lvl="0" marL="0" marR="0" rtl="0" algn="ctr">
              <a:lnSpc>
                <a:spcPct val="100000"/>
              </a:lnSpc>
              <a:spcBef>
                <a:spcPts val="0"/>
              </a:spcBef>
              <a:spcAft>
                <a:spcPts val="0"/>
              </a:spcAft>
              <a:buClr>
                <a:srgbClr val="000000"/>
              </a:buClr>
              <a:buSzPts val="1141"/>
              <a:buFont typeface="Arial"/>
              <a:buNone/>
            </a:pPr>
            <a:r>
              <a:rPr b="0" i="0" lang="en-US" sz="1141" u="none" cap="none" strike="noStrike">
                <a:solidFill>
                  <a:srgbClr val="9A9A9A"/>
                </a:solidFill>
                <a:latin typeface="Helvetica Neue"/>
                <a:ea typeface="Helvetica Neue"/>
                <a:cs typeface="Helvetica Neue"/>
                <a:sym typeface="Helvetica Neue"/>
              </a:rPr>
              <a:t>fig12 · difficulty normalized</a:t>
            </a:r>
            <a:endParaRPr sz="1635"/>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82" name="Shape 682"/>
        <p:cNvGrpSpPr/>
        <p:nvPr/>
      </p:nvGrpSpPr>
      <p:grpSpPr>
        <a:xfrm>
          <a:off x="0" y="0"/>
          <a:ext cx="0" cy="0"/>
          <a:chOff x="0" y="0"/>
          <a:chExt cx="0" cy="0"/>
        </a:xfrm>
      </p:grpSpPr>
      <p:sp>
        <p:nvSpPr>
          <p:cNvPr id="683" name="Google Shape;683;h2dfb90ae07d12a84_2_540"/>
          <p:cNvSpPr/>
          <p:nvPr/>
        </p:nvSpPr>
        <p:spPr>
          <a:xfrm>
            <a:off x="457200" y="320040"/>
            <a:ext cx="41148" cy="457200"/>
          </a:xfrm>
          <a:prstGeom prst="rect">
            <a:avLst/>
          </a:prstGeom>
          <a:solidFill>
            <a:srgbClr val="FF7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Helvetica Neue"/>
              <a:ea typeface="Helvetica Neue"/>
              <a:cs typeface="Helvetica Neue"/>
              <a:sym typeface="Helvetica Neue"/>
            </a:endParaRPr>
          </a:p>
        </p:txBody>
      </p:sp>
      <p:sp>
        <p:nvSpPr>
          <p:cNvPr id="684" name="Google Shape;684;h2dfb90ae07d12a84_2_540"/>
          <p:cNvSpPr/>
          <p:nvPr/>
        </p:nvSpPr>
        <p:spPr>
          <a:xfrm>
            <a:off x="603504" y="265176"/>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7900"/>
              </a:buClr>
              <a:buSzPts val="1400"/>
              <a:buFont typeface="Arial"/>
              <a:buNone/>
            </a:pPr>
            <a:r>
              <a:rPr b="1" i="0" lang="en-US" sz="1400" u="none" cap="none" strike="noStrike">
                <a:solidFill>
                  <a:srgbClr val="FF7900"/>
                </a:solidFill>
                <a:latin typeface="Helvetica Neue"/>
                <a:ea typeface="Helvetica Neue"/>
                <a:cs typeface="Helvetica Neue"/>
                <a:sym typeface="Helvetica Neue"/>
              </a:rPr>
              <a:t>Orange</a:t>
            </a:r>
            <a:endParaRPr b="0" i="0" sz="1400" u="none" cap="none" strike="noStrike">
              <a:solidFill>
                <a:schemeClr val="dk1"/>
              </a:solidFill>
              <a:latin typeface="Helvetica Neue"/>
              <a:ea typeface="Helvetica Neue"/>
              <a:cs typeface="Helvetica Neue"/>
              <a:sym typeface="Helvetica Neue"/>
            </a:endParaRPr>
          </a:p>
        </p:txBody>
      </p:sp>
      <p:sp>
        <p:nvSpPr>
          <p:cNvPr id="685" name="Google Shape;685;h2dfb90ae07d12a84_2_540"/>
          <p:cNvSpPr/>
          <p:nvPr/>
        </p:nvSpPr>
        <p:spPr>
          <a:xfrm>
            <a:off x="603504" y="512064"/>
            <a:ext cx="2377440" cy="25603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Helvetica Neue"/>
                <a:ea typeface="Helvetica Neue"/>
                <a:cs typeface="Helvetica Neue"/>
                <a:sym typeface="Helvetica Neue"/>
              </a:rPr>
              <a:t>Innovation</a:t>
            </a:r>
            <a:endParaRPr b="0" i="0" sz="1400" u="none" cap="none" strike="noStrike">
              <a:solidFill>
                <a:schemeClr val="dk1"/>
              </a:solidFill>
              <a:latin typeface="Helvetica Neue"/>
              <a:ea typeface="Helvetica Neue"/>
              <a:cs typeface="Helvetica Neue"/>
              <a:sym typeface="Helvetica Neue"/>
            </a:endParaRPr>
          </a:p>
        </p:txBody>
      </p:sp>
      <p:sp>
        <p:nvSpPr>
          <p:cNvPr id="686" name="Google Shape;686;h2dfb90ae07d12a84_2_540"/>
          <p:cNvSpPr/>
          <p:nvPr/>
        </p:nvSpPr>
        <p:spPr>
          <a:xfrm>
            <a:off x="457200" y="896112"/>
            <a:ext cx="105156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900"/>
              </a:buClr>
              <a:buSzPts val="1500"/>
              <a:buFont typeface="Arial"/>
              <a:buNone/>
            </a:pPr>
            <a:r>
              <a:rPr b="1" i="0" lang="en-US" sz="1500" u="none" cap="none" strike="noStrike">
                <a:solidFill>
                  <a:srgbClr val="FF7900"/>
                </a:solidFill>
                <a:latin typeface="Helvetica Neue"/>
                <a:ea typeface="Helvetica Neue"/>
                <a:cs typeface="Helvetica Neue"/>
                <a:sym typeface="Helvetica Neue"/>
              </a:rPr>
              <a:t>H1 — TEST FINDINGS</a:t>
            </a:r>
            <a:endParaRPr b="0" i="0" sz="1500" u="none" cap="none" strike="noStrike">
              <a:solidFill>
                <a:schemeClr val="dk1"/>
              </a:solidFill>
              <a:latin typeface="Helvetica Neue"/>
              <a:ea typeface="Helvetica Neue"/>
              <a:cs typeface="Helvetica Neue"/>
              <a:sym typeface="Helvetica Neue"/>
            </a:endParaRPr>
          </a:p>
        </p:txBody>
      </p:sp>
      <p:sp>
        <p:nvSpPr>
          <p:cNvPr id="687" name="Google Shape;687;h2dfb90ae07d12a84_2_540"/>
          <p:cNvSpPr/>
          <p:nvPr/>
        </p:nvSpPr>
        <p:spPr>
          <a:xfrm>
            <a:off x="457200" y="1207008"/>
            <a:ext cx="112471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000"/>
              <a:buFont typeface="Arial"/>
              <a:buNone/>
            </a:pPr>
            <a:r>
              <a:rPr b="1" i="0" lang="en-US" sz="2000" u="none" cap="none" strike="noStrike">
                <a:solidFill>
                  <a:srgbClr val="FFFFFF"/>
                </a:solidFill>
                <a:latin typeface="Helvetica Neue"/>
                <a:ea typeface="Helvetica Neue"/>
                <a:cs typeface="Helvetica Neue"/>
                <a:sym typeface="Helvetica Neue"/>
              </a:rPr>
              <a:t>Key takeaways &amp; verdict</a:t>
            </a:r>
            <a:endParaRPr b="0" i="0" sz="2000" u="none" cap="none" strike="noStrike">
              <a:solidFill>
                <a:schemeClr val="dk1"/>
              </a:solidFill>
              <a:latin typeface="Helvetica Neue"/>
              <a:ea typeface="Helvetica Neue"/>
              <a:cs typeface="Helvetica Neue"/>
              <a:sym typeface="Helvetica Neue"/>
            </a:endParaRPr>
          </a:p>
        </p:txBody>
      </p:sp>
      <p:sp>
        <p:nvSpPr>
          <p:cNvPr id="688" name="Google Shape;688;h2dfb90ae07d12a84_2_540"/>
          <p:cNvSpPr/>
          <p:nvPr/>
        </p:nvSpPr>
        <p:spPr>
          <a:xfrm>
            <a:off x="457200" y="6473952"/>
            <a:ext cx="5486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Dynamic Test-Time Compute Allocation</a:t>
            </a:r>
            <a:endParaRPr b="0" i="0" sz="1000" u="none" cap="none" strike="noStrike">
              <a:solidFill>
                <a:schemeClr val="dk1"/>
              </a:solidFill>
              <a:latin typeface="Helvetica Neue"/>
              <a:ea typeface="Helvetica Neue"/>
              <a:cs typeface="Helvetica Neue"/>
              <a:sym typeface="Helvetica Neue"/>
            </a:endParaRPr>
          </a:p>
        </p:txBody>
      </p:sp>
      <p:sp>
        <p:nvSpPr>
          <p:cNvPr id="689" name="Google Shape;689;h2dfb90ae07d12a84_2_540"/>
          <p:cNvSpPr/>
          <p:nvPr/>
        </p:nvSpPr>
        <p:spPr>
          <a:xfrm>
            <a:off x="11094415" y="6473952"/>
            <a:ext cx="64008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A9A9A"/>
              </a:buClr>
              <a:buSzPts val="1000"/>
              <a:buFont typeface="Arial"/>
              <a:buNone/>
            </a:pPr>
            <a:r>
              <a:rPr b="0" i="0" lang="en-US" sz="1000" u="none" cap="none" strike="noStrike">
                <a:solidFill>
                  <a:srgbClr val="9A9A9A"/>
                </a:solidFill>
                <a:latin typeface="Helvetica Neue"/>
                <a:ea typeface="Helvetica Neue"/>
                <a:cs typeface="Helvetica Neue"/>
                <a:sym typeface="Helvetica Neue"/>
              </a:rPr>
              <a:t>27</a:t>
            </a:r>
            <a:endParaRPr b="0" i="0" sz="1000" u="none" cap="none" strike="noStrike">
              <a:solidFill>
                <a:schemeClr val="dk1"/>
              </a:solidFill>
              <a:latin typeface="Helvetica Neue"/>
              <a:ea typeface="Helvetica Neue"/>
              <a:cs typeface="Helvetica Neue"/>
              <a:sym typeface="Helvetica Neue"/>
            </a:endParaRPr>
          </a:p>
        </p:txBody>
      </p:sp>
      <p:sp>
        <p:nvSpPr>
          <p:cNvPr id="690" name="Google Shape;690;h2dfb90ae07d12a84_2_540"/>
          <p:cNvSpPr/>
          <p:nvPr/>
        </p:nvSpPr>
        <p:spPr>
          <a:xfrm>
            <a:off x="502920" y="1690000"/>
            <a:ext cx="11155680" cy="46200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rgbClr val="FF7900"/>
              </a:buClr>
              <a:buSzPts val="1200"/>
              <a:buFont typeface="Arial"/>
              <a:buChar char="■"/>
            </a:pPr>
            <a:r>
              <a:rPr b="1" i="0" lang="en-US" sz="1580" u="none" cap="none" strike="noStrike">
                <a:solidFill>
                  <a:srgbClr val="FF7900"/>
                </a:solidFill>
                <a:latin typeface="Helvetica Neue"/>
                <a:ea typeface="Helvetica Neue"/>
                <a:cs typeface="Helvetica Neue"/>
                <a:sym typeface="Helvetica Neue"/>
              </a:rPr>
              <a:t>Verdict on H1 (as executed on LFM2.5-2.6B): </a:t>
            </a:r>
            <a:r>
              <a:rPr b="0" i="0" lang="en-US" sz="1465" u="none" cap="none" strike="noStrike">
                <a:solidFill>
                  <a:srgbClr val="D6D6D6"/>
                </a:solidFill>
                <a:latin typeface="Helvetica Neue"/>
                <a:ea typeface="Helvetica Neue"/>
                <a:cs typeface="Helvetica Neue"/>
                <a:sym typeface="Helvetica Neue"/>
              </a:rPr>
              <a:t>poor allocation harms performance mainly as underthinking vs wasted compute: global knee at 512 tokens; easy/medium saturate early (256–512) while the hardest band keeps improving up to 4096 (still ~16% accuracy). No clean inverted-U → overthinking manifests as saturation (flat accuracy, wasted tokens) rather than net accuracy loss here.</a:t>
            </a:r>
            <a:endParaRPr sz="1600"/>
          </a:p>
          <a:p>
            <a:pPr indent="0" lvl="0" marL="457200" marR="0" rtl="0" algn="l">
              <a:lnSpc>
                <a:spcPct val="100000"/>
              </a:lnSpc>
              <a:spcBef>
                <a:spcPts val="330"/>
              </a:spcBef>
              <a:spcAft>
                <a:spcPts val="0"/>
              </a:spcAft>
              <a:buNone/>
            </a:pPr>
            <a:r>
              <a:t/>
            </a:r>
            <a:endParaRPr b="1" sz="1580">
              <a:solidFill>
                <a:srgbClr val="FF7900"/>
              </a:solidFill>
              <a:latin typeface="Helvetica Neue"/>
              <a:ea typeface="Helvetica Neue"/>
              <a:cs typeface="Helvetica Neue"/>
              <a:sym typeface="Helvetica Neue"/>
            </a:endParaRPr>
          </a:p>
          <a:p>
            <a:pPr indent="-228600" lvl="0" marL="228600" marR="0" rtl="0" algn="l">
              <a:lnSpc>
                <a:spcPct val="100000"/>
              </a:lnSpc>
              <a:spcBef>
                <a:spcPts val="330"/>
              </a:spcBef>
              <a:spcAft>
                <a:spcPts val="0"/>
              </a:spcAft>
              <a:buClr>
                <a:srgbClr val="FF7900"/>
              </a:buClr>
              <a:buSzPts val="1200"/>
              <a:buFont typeface="Arial"/>
              <a:buChar char="■"/>
            </a:pPr>
            <a:r>
              <a:rPr b="1" i="0" lang="en-US" sz="1580" u="none" cap="none" strike="noStrike">
                <a:solidFill>
                  <a:srgbClr val="FF7900"/>
                </a:solidFill>
                <a:latin typeface="Helvetica Neue"/>
                <a:ea typeface="Helvetica Neue"/>
                <a:cs typeface="Helvetica Neue"/>
                <a:sym typeface="Helvetica Neue"/>
              </a:rPr>
              <a:t>Quality side: </a:t>
            </a:r>
            <a:r>
              <a:rPr b="0" i="0" lang="en-US" sz="1465" u="none" cap="none" strike="noStrike">
                <a:solidFill>
                  <a:srgbClr val="D6D6D6"/>
                </a:solidFill>
                <a:latin typeface="Helvetica Neue"/>
                <a:ea typeface="Helvetica Neue"/>
                <a:cs typeface="Helvetica Neue"/>
                <a:sym typeface="Helvetica Neue"/>
              </a:rPr>
              <a:t>longer correct paths add ~55% post-answer, mostly non-informational tokens; failing paths settle early on a wrong answer (fewer flips, p = 0.010) and almost never find the correct answer (91.1% never_found) — consistent with insufficient compute / poor convergence signal, not thrashing.</a:t>
            </a:r>
            <a:endParaRPr sz="1600"/>
          </a:p>
          <a:p>
            <a:pPr indent="0" lvl="0" marL="457200" marR="0" rtl="0" algn="l">
              <a:lnSpc>
                <a:spcPct val="100000"/>
              </a:lnSpc>
              <a:spcBef>
                <a:spcPts val="330"/>
              </a:spcBef>
              <a:spcAft>
                <a:spcPts val="0"/>
              </a:spcAft>
              <a:buNone/>
            </a:pPr>
            <a:r>
              <a:t/>
            </a:r>
            <a:endParaRPr b="1" sz="1580">
              <a:solidFill>
                <a:srgbClr val="FF7900"/>
              </a:solidFill>
              <a:latin typeface="Helvetica Neue"/>
              <a:ea typeface="Helvetica Neue"/>
              <a:cs typeface="Helvetica Neue"/>
              <a:sym typeface="Helvetica Neue"/>
            </a:endParaRPr>
          </a:p>
          <a:p>
            <a:pPr indent="-228600" lvl="0" marL="228600" marR="0" rtl="0" algn="l">
              <a:lnSpc>
                <a:spcPct val="100000"/>
              </a:lnSpc>
              <a:spcBef>
                <a:spcPts val="330"/>
              </a:spcBef>
              <a:spcAft>
                <a:spcPts val="0"/>
              </a:spcAft>
              <a:buClr>
                <a:srgbClr val="FF7900"/>
              </a:buClr>
              <a:buSzPts val="1200"/>
              <a:buFont typeface="Arial"/>
              <a:buChar char="■"/>
            </a:pPr>
            <a:r>
              <a:rPr b="1" i="0" lang="en-US" sz="1580" u="none" cap="none" strike="noStrike">
                <a:solidFill>
                  <a:srgbClr val="FF7900"/>
                </a:solidFill>
                <a:latin typeface="Helvetica Neue"/>
                <a:ea typeface="Helvetica Neue"/>
                <a:cs typeface="Helvetica Neue"/>
                <a:sym typeface="Helvetica Neue"/>
              </a:rPr>
              <a:t>Consequence for the pipeline: </a:t>
            </a:r>
            <a:r>
              <a:rPr b="0" i="0" lang="en-US" sz="1465" u="none" cap="none" strike="noStrike">
                <a:solidFill>
                  <a:srgbClr val="D6D6D6"/>
                </a:solidFill>
                <a:latin typeface="Helvetica Neue"/>
                <a:ea typeface="Helvetica Neue"/>
                <a:cs typeface="Helvetica Neue"/>
                <a:sym typeface="Helvetica Neue"/>
              </a:rPr>
              <a:t>supports the difficulty-gated budget (C₀ = A·d̂^β + C_min) plus a reactive convergence signal; conformal calibration fits the “stop when confident / pre-emptively stop likely-unsolvable” structure.</a:t>
            </a:r>
            <a:endParaRPr sz="1600"/>
          </a:p>
          <a:p>
            <a:pPr indent="0" lvl="0" marL="457200" marR="0" rtl="0" algn="l">
              <a:lnSpc>
                <a:spcPct val="100000"/>
              </a:lnSpc>
              <a:spcBef>
                <a:spcPts val="330"/>
              </a:spcBef>
              <a:spcAft>
                <a:spcPts val="0"/>
              </a:spcAft>
              <a:buNone/>
            </a:pPr>
            <a:r>
              <a:t/>
            </a:r>
            <a:endParaRPr b="1" sz="1580">
              <a:solidFill>
                <a:srgbClr val="FF7900"/>
              </a:solidFill>
              <a:latin typeface="Helvetica Neue"/>
              <a:ea typeface="Helvetica Neue"/>
              <a:cs typeface="Helvetica Neue"/>
              <a:sym typeface="Helvetica Neue"/>
            </a:endParaRPr>
          </a:p>
          <a:p>
            <a:pPr indent="-228600" lvl="0" marL="228600" marR="0" rtl="0" algn="l">
              <a:lnSpc>
                <a:spcPct val="100000"/>
              </a:lnSpc>
              <a:spcBef>
                <a:spcPts val="330"/>
              </a:spcBef>
              <a:spcAft>
                <a:spcPts val="0"/>
              </a:spcAft>
              <a:buClr>
                <a:srgbClr val="FF7900"/>
              </a:buClr>
              <a:buSzPts val="1200"/>
              <a:buFont typeface="Arial"/>
              <a:buChar char="■"/>
            </a:pPr>
            <a:r>
              <a:rPr b="1" i="0" lang="en-US" sz="1580" u="none" cap="none" strike="noStrike">
                <a:solidFill>
                  <a:srgbClr val="FF7900"/>
                </a:solidFill>
                <a:latin typeface="Helvetica Neue"/>
                <a:ea typeface="Helvetica Neue"/>
                <a:cs typeface="Helvetica Neue"/>
                <a:sym typeface="Helvetica Neue"/>
              </a:rPr>
              <a:t>Limitations box: </a:t>
            </a:r>
            <a:r>
              <a:rPr b="0" i="0" lang="en-US" sz="1465" u="none" cap="none" strike="noStrike">
                <a:solidFill>
                  <a:srgbClr val="D6D6D6"/>
                </a:solidFill>
                <a:latin typeface="Helvetica Neue"/>
                <a:ea typeface="Helvetica Neue"/>
                <a:cs typeface="Helvetica Neue"/>
                <a:sym typeface="Helvetica Neue"/>
              </a:rPr>
              <a:t>single model family (cross-model H2 not yet run on this data); lenient graders (IFEval ~8 checkers, BFCL syntactic, LiveCodeBench public-tests-only) bias the level not the shape; difficulty derived → selection effect; findings associational, not causal.</a:t>
            </a:r>
            <a:endParaRPr sz="1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h2dfb90ae07d12a84_2_551"/>
          <p:cNvSpPr txBox="1"/>
          <p:nvPr>
            <p:ph type="ctrTitle"/>
          </p:nvPr>
        </p:nvSpPr>
        <p:spPr>
          <a:xfrm>
            <a:off x="1291200" y="2256000"/>
            <a:ext cx="9681600" cy="30912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Clr>
                <a:schemeClr val="dk1"/>
              </a:buClr>
              <a:buSzPts val="5500"/>
              <a:buFont typeface="Helvetica Neue"/>
              <a:buNone/>
            </a:pPr>
            <a:r>
              <a:rPr lang="en-US"/>
              <a:t>Thanks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Black Master 2021">
  <a:themeElements>
    <a:clrScheme name="Orange BLK Core">
      <a:dk1>
        <a:srgbClr val="FFFFFF"/>
      </a:dk1>
      <a:lt1>
        <a:srgbClr val="000000"/>
      </a:lt1>
      <a:dk2>
        <a:srgbClr val="8F8F8F"/>
      </a:dk2>
      <a:lt2>
        <a:srgbClr val="FF7900"/>
      </a:lt2>
      <a:accent1>
        <a:srgbClr val="FF7900"/>
      </a:accent1>
      <a:accent2>
        <a:srgbClr val="FFFFFF"/>
      </a:accent2>
      <a:accent3>
        <a:srgbClr val="595959"/>
      </a:accent3>
      <a:accent4>
        <a:srgbClr val="8F8F8F"/>
      </a:accent4>
      <a:accent5>
        <a:srgbClr val="D6D6D6"/>
      </a:accent5>
      <a:accent6>
        <a:srgbClr val="595959"/>
      </a:accent6>
      <a:hlink>
        <a:srgbClr val="FF7900"/>
      </a:hlink>
      <a:folHlink>
        <a:srgbClr val="FF7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ack Master 2021">
  <a:themeElements>
    <a:clrScheme name="Orange BLK Core">
      <a:dk1>
        <a:srgbClr val="FFFFFF"/>
      </a:dk1>
      <a:lt1>
        <a:srgbClr val="000000"/>
      </a:lt1>
      <a:dk2>
        <a:srgbClr val="8F8F8F"/>
      </a:dk2>
      <a:lt2>
        <a:srgbClr val="FF7900"/>
      </a:lt2>
      <a:accent1>
        <a:srgbClr val="FF7900"/>
      </a:accent1>
      <a:accent2>
        <a:srgbClr val="FFFFFF"/>
      </a:accent2>
      <a:accent3>
        <a:srgbClr val="595959"/>
      </a:accent3>
      <a:accent4>
        <a:srgbClr val="8F8F8F"/>
      </a:accent4>
      <a:accent5>
        <a:srgbClr val="D6D6D6"/>
      </a:accent5>
      <a:accent6>
        <a:srgbClr val="595959"/>
      </a:accent6>
      <a:hlink>
        <a:srgbClr val="FF7900"/>
      </a:hlink>
      <a:folHlink>
        <a:srgbClr val="FF7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2026-08-17T01:40:37Z</dcterms:created>
  <dc:creator>PptxGenJS</dc:creator>
</cp:coreProperties>
</file>