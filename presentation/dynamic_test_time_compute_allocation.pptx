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omments/comment1.xml" ContentType="application/vnd.openxmlformats-officedocument.presentationml.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36"/>
  </p:notesMasterIdLst>
  <p:sldIdLst>
    <p:sldId id="256" r:id="rId3"/>
    <p:sldId id="258" r:id="rId4"/>
    <p:sldId id="285" r:id="rId5"/>
    <p:sldId id="286" r:id="rId6"/>
    <p:sldId id="287" r:id="rId7"/>
    <p:sldId id="288" r:id="rId8"/>
    <p:sldId id="289" r:id="rId9"/>
    <p:sldId id="290" r:id="rId10"/>
    <p:sldId id="291" r:id="rId11"/>
    <p:sldId id="292" r:id="rId12"/>
    <p:sldId id="293" r:id="rId13"/>
    <p:sldId id="294" r:id="rId14"/>
    <p:sldId id="295" r:id="rId15"/>
    <p:sldId id="278" r:id="rId16"/>
    <p:sldId id="279" r:id="rId17"/>
    <p:sldId id="280" r:id="rId18"/>
    <p:sldId id="263" r:id="rId19"/>
    <p:sldId id="282" r:id="rId20"/>
    <p:sldId id="297" r:id="rId21"/>
    <p:sldId id="299" r:id="rId22"/>
    <p:sldId id="300" r:id="rId23"/>
    <p:sldId id="302" r:id="rId24"/>
    <p:sldId id="305" r:id="rId25"/>
    <p:sldId id="307" r:id="rId26"/>
    <p:sldId id="308" r:id="rId27"/>
    <p:sldId id="306" r:id="rId28"/>
    <p:sldId id="298" r:id="rId29"/>
    <p:sldId id="309" r:id="rId30"/>
    <p:sldId id="310" r:id="rId31"/>
    <p:sldId id="311" r:id="rId32"/>
    <p:sldId id="314" r:id="rId42"/>
    <p:sldId id="315" r:id="rId43"/>
    <p:sldId id="316" r:id="rId44"/>
    <p:sldId id="317" r:id="rId45"/>
    <p:sldId id="318" r:id="rId46"/>
    <p:sldId id="319" r:id="rId47"/>
    <p:sldId id="320" r:id="rId48"/>
    <p:sldId id="321" r:id="rId49"/>
    <p:sldId id="322" r:id="rId50"/>
    <p:sldId id="323" r:id="rId51"/>
    <p:sldId id="324" r:id="rId52"/>
    <p:sldId id="325" r:id="rId53"/>
    <p:sldId id="326" r:id="rId54"/>
    <p:sldId id="327" r:id="rId55"/>
    <p:sldId id="328" r:id="rId56"/>
    <p:sldId id="329" r:id="rId57"/>
    <p:sldId id="330" r:id="rId58"/>
    <p:sldId id="312" r:id="rId33"/>
    <p:sldId id="313" r:id="rId34"/>
    <p:sldId id="296"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delrahman Ramad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10"/>
  </p:normalViewPr>
  <p:slideViewPr>
    <p:cSldViewPr snapToGrid="0" snapToObjects="1">
      <p:cViewPr varScale="1">
        <p:scale>
          <a:sx n="125" d="100"/>
          <a:sy n="125" d="100"/>
        </p:scale>
        <p:origin x="91"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  <Relationship Id="rId42" Type="http://schemas.openxmlformats.org/officeDocument/2006/relationships/slide" Target="slides/slide34.xml"/>
  <Relationship Id="rId43" Type="http://schemas.openxmlformats.org/officeDocument/2006/relationships/slide" Target="slides/slide35.xml"/>
  <Relationship Id="rId44" Type="http://schemas.openxmlformats.org/officeDocument/2006/relationships/slide" Target="slides/slide36.xml"/>
  <Relationship Id="rId45" Type="http://schemas.openxmlformats.org/officeDocument/2006/relationships/slide" Target="slides/slide37.xml"/>
  <Relationship Id="rId46" Type="http://schemas.openxmlformats.org/officeDocument/2006/relationships/slide" Target="slides/slide38.xml"/>
  <Relationship Id="rId47" Type="http://schemas.openxmlformats.org/officeDocument/2006/relationships/slide" Target="slides/slide39.xml"/>
  <Relationship Id="rId48" Type="http://schemas.openxmlformats.org/officeDocument/2006/relationships/slide" Target="slides/slide40.xml"/>
  <Relationship Id="rId49" Type="http://schemas.openxmlformats.org/officeDocument/2006/relationships/slide" Target="slides/slide41.xml"/>
  <Relationship Id="rId50" Type="http://schemas.openxmlformats.org/officeDocument/2006/relationships/slide" Target="slides/slide42.xml"/>
  <Relationship Id="rId51" Type="http://schemas.openxmlformats.org/officeDocument/2006/relationships/slide" Target="slides/slide43.xml"/>
  <Relationship Id="rId52" Type="http://schemas.openxmlformats.org/officeDocument/2006/relationships/slide" Target="slides/slide44.xml"/>
  <Relationship Id="rId53" Type="http://schemas.openxmlformats.org/officeDocument/2006/relationships/slide" Target="slides/slide45.xml"/>
  <Relationship Id="rId54" Type="http://schemas.openxmlformats.org/officeDocument/2006/relationships/slide" Target="slides/slide46.xml"/>
  <Relationship Id="rId55" Type="http://schemas.openxmlformats.org/officeDocument/2006/relationships/slide" Target="slides/slide47.xml"/>
  <Relationship Id="rId56" Type="http://schemas.openxmlformats.org/officeDocument/2006/relationships/slide" Target="slides/slide48.xml"/>
  <Relationship Id="rId57" Type="http://schemas.openxmlformats.org/officeDocument/2006/relationships/slide" Target="slides/slide49.xml"/>
  <Relationship Id="rId58" Type="http://schemas.openxmlformats.org/officeDocument/2006/relationships/slide" Target="slides/slide50.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Start</c:v>
                </c:pt>
              </c:strCache>
            </c:strRef>
          </c:tx>
          <c:spPr>
            <a:solidFill>
              <a:srgbClr val="000000"/>
            </a:solidFill>
            <a:ln w="9525" cap="flat">
              <a:solidFill>
                <a:srgbClr val="000000"/>
              </a:solidFill>
              <a:prstDash val="solid"/>
              <a:round/>
            </a:ln>
            <a:effectLst/>
          </c:spPr>
          <c:invertIfNegative val="0"/>
          <c:cat>
            <c:strRef>
              <c:f>Sheet1!$A$2:$A$6</c:f>
              <c:strCache>
                <c:ptCount val="5"/>
                <c:pt idx="0">
                  <c:v>Stage 3 + integration + write-up</c:v>
                </c:pt>
                <c:pt idx="1">
                  <c:v>Stage 2 — predictive correction</c:v>
                </c:pt>
                <c:pt idx="2">
                  <c:v>Theoretical Stage 1</c:v>
                </c:pt>
                <c:pt idx="3">
                  <c:v>H2 &amp; H3 Testing</c:v>
                </c:pt>
                <c:pt idx="4">
                  <c:v>H1 validation</c:v>
                </c:pt>
              </c:strCache>
            </c:strRef>
          </c:cat>
          <c:val>
            <c:numRef>
              <c:f>Sheet1!$B$2:$B$6</c:f>
              <c:numCache>
                <c:formatCode>General</c:formatCode>
                <c:ptCount val="5"/>
                <c:pt idx="0">
                  <c:v>8</c:v>
                </c:pt>
                <c:pt idx="1">
                  <c:v>6</c:v>
                </c:pt>
                <c:pt idx="2">
                  <c:v>4</c:v>
                </c:pt>
                <c:pt idx="3">
                  <c:v>2</c:v>
                </c:pt>
              </c:numCache>
            </c:numRef>
          </c:val>
          <c:extLst>
            <c:ext xmlns:c16="http://schemas.microsoft.com/office/drawing/2014/chart" uri="{C3380CC4-5D6E-409C-BE32-E72D297353CC}">
              <c16:uniqueId val="{00000000-DB61-4C5A-B1AE-2ADE4B5E7B1E}"/>
            </c:ext>
          </c:extLst>
        </c:ser>
        <c:ser>
          <c:idx val="1"/>
          <c:order val="1"/>
          <c:tx>
            <c:strRef>
              <c:f>Sheet1!$C$1</c:f>
              <c:strCache>
                <c:ptCount val="1"/>
                <c:pt idx="0">
                  <c:v>Duration</c:v>
                </c:pt>
              </c:strCache>
            </c:strRef>
          </c:tx>
          <c:spPr>
            <a:solidFill>
              <a:srgbClr val="FF7900"/>
            </a:solidFill>
            <a:ln w="9525" cap="flat">
              <a:solidFill>
                <a:srgbClr val="000000"/>
              </a:solidFill>
              <a:prstDash val="solid"/>
              <a:round/>
            </a:ln>
            <a:effectLst/>
          </c:spPr>
          <c:invertIfNegative val="0"/>
          <c:cat>
            <c:strRef>
              <c:f>Sheet1!$A$2:$A$6</c:f>
              <c:strCache>
                <c:ptCount val="5"/>
                <c:pt idx="0">
                  <c:v>Stage 3 + integration + write-up</c:v>
                </c:pt>
                <c:pt idx="1">
                  <c:v>Stage 2 — predictive correction</c:v>
                </c:pt>
                <c:pt idx="2">
                  <c:v>Theoretical Stage 1</c:v>
                </c:pt>
                <c:pt idx="3">
                  <c:v>H2 &amp; H3 Testing</c:v>
                </c:pt>
                <c:pt idx="4">
                  <c:v>H1 validation</c:v>
                </c:pt>
              </c:strCache>
            </c:strRef>
          </c:cat>
          <c:val>
            <c:numRef>
              <c:f>Sheet1!$C$2:$C$6</c:f>
              <c:numCache>
                <c:formatCode>General</c:formatCode>
                <c:ptCount val="5"/>
                <c:pt idx="0">
                  <c:v>2</c:v>
                </c:pt>
                <c:pt idx="1">
                  <c:v>2</c:v>
                </c:pt>
                <c:pt idx="2">
                  <c:v>2</c:v>
                </c:pt>
                <c:pt idx="3">
                  <c:v>2</c:v>
                </c:pt>
                <c:pt idx="4">
                  <c:v>2</c:v>
                </c:pt>
              </c:numCache>
            </c:numRef>
          </c:val>
          <c:extLst>
            <c:ext xmlns:c16="http://schemas.microsoft.com/office/drawing/2014/chart" uri="{C3380CC4-5D6E-409C-BE32-E72D297353CC}">
              <c16:uniqueId val="{00000001-DB61-4C5A-B1AE-2ADE4B5E7B1E}"/>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FFFFFF"/>
                </a:solidFill>
                <a:latin typeface="Arial"/>
              </a:defRPr>
            </a:pPr>
            <a:endParaRPr lang="en-US"/>
          </a:p>
        </c:txPr>
        <c:crossAx val="2094734552"/>
        <c:crosses val="autoZero"/>
        <c:auto val="1"/>
        <c:lblAlgn val="ctr"/>
        <c:lblOffset val="100"/>
        <c:noMultiLvlLbl val="1"/>
      </c:catAx>
      <c:valAx>
        <c:axId val="2094734552"/>
        <c:scaling>
          <c:orientation val="minMax"/>
          <c:max val="10"/>
          <c:min val="0"/>
        </c:scaling>
        <c:delete val="0"/>
        <c:axPos val="b"/>
        <c:majorGridlines>
          <c:spPr>
            <a:ln w="9525" cap="flat">
              <a:solidFill>
                <a:srgbClr val="333333"/>
              </a:solidFill>
              <a:prstDash val="solid"/>
              <a:round/>
            </a:ln>
          </c:spPr>
        </c:majorGridlines>
        <c:title>
          <c:tx>
            <c:rich>
              <a:bodyPr/>
              <a:lstStyle/>
              <a:p>
                <a:pPr>
                  <a:defRPr sz="1000" b="0" i="0" u="none" strike="noStrike">
                    <a:solidFill>
                      <a:srgbClr val="9A9A9A"/>
                    </a:solidFill>
                    <a:latin typeface="Arial"/>
                  </a:defRPr>
                </a:pPr>
                <a:r>
                  <a:rPr lang="en-US" sz="1000" b="0" i="0" u="none" strike="noStrike">
                    <a:solidFill>
                      <a:srgbClr val="9A9A9A"/>
                    </a:solidFill>
                    <a:latin typeface="Arial"/>
                  </a:rPr>
                  <a:t>Week</a:t>
                </a:r>
              </a:p>
            </c:rich>
          </c:tx>
          <c:overlay val="0"/>
        </c:title>
        <c:numFmt formatCode="General" sourceLinked="0"/>
        <c:majorTickMark val="out"/>
        <c:minorTickMark val="none"/>
        <c:tickLblPos val="low"/>
        <c:spPr>
          <a:ln w="12700" cap="flat">
            <a:solidFill>
              <a:srgbClr val="333333"/>
            </a:solidFill>
            <a:prstDash val="solid"/>
            <a:round/>
          </a:ln>
        </c:spPr>
        <c:txPr>
          <a:bodyPr/>
          <a:lstStyle/>
          <a:p>
            <a:pPr>
              <a:defRPr sz="1000" b="0" i="0" u="none" strike="noStrike">
                <a:solidFill>
                  <a:srgbClr val="9A9A9A"/>
                </a:solidFill>
                <a:latin typeface="Arial"/>
              </a:defRPr>
            </a:pPr>
            <a:endParaRPr lang="en-US"/>
          </a:p>
        </c:txPr>
        <c:crossAx val="2094734554"/>
        <c:crosses val="autoZero"/>
        <c:crossBetween val="between"/>
        <c:majorUnit val="2"/>
      </c:valAx>
      <c:spPr>
        <a:solidFill>
          <a:srgbClr val="000000"/>
        </a:solidFill>
        <a:ln>
          <a:noFill/>
        </a:ln>
        <a:effectLst/>
      </c:spPr>
    </c:plotArea>
    <c:plotVisOnly val="1"/>
    <c:dispBlanksAs val="span"/>
    <c:showDLblsOverMax val="1"/>
  </c:chart>
  <c:spPr>
    <a:solidFill>
      <a:srgbClr val="000000"/>
    </a:solidFill>
    <a:ln>
      <a:noFill/>
    </a:ln>
    <a:effectLst/>
  </c:spPr>
  <c:externalData r:id="rId1">
    <c:autoUpdate val="0"/>
  </c:externalData>
</c:chartSpace>
</file>

<file path=ppt/comments/comment1.xml><?xml version="1.0" encoding="utf-8"?>
<p:cmLst xmlns:a="http://schemas.openxmlformats.org/drawingml/2006/main" xmlns:r="http://schemas.openxmlformats.org/officeDocument/2006/relationships" xmlns:p="http://schemas.openxmlformats.org/presentationml/2006/main">
  <p:cm authorId="1" dt="2026-08-24T09:58:40.974" idx="2">
    <p:pos x="6000" y="0"/>
    <p:text>edit the theme of this table</p:text>
    <p:extLst>
      <p:ext uri="{C676402C-5697-4E1C-873F-D02D1690AC5C}">
        <p15:threadingInfo xmlns:p15="http://schemas.microsoft.com/office/powerpoint/2012/main" timeZoneBias="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7231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86477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1006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20909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0276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79218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3748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8963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568486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3067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35559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36971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8" name="Google Shape;28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89" name="Google Shape;289;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8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524227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34966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765472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5623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220551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83369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580225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161090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985862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84103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6198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iapositive de titre">
  <p:cSld name="Diapositive de titre">
    <p:spTree>
      <p:nvGrpSpPr>
        <p:cNvPr id="1" name="Shape 9"/>
        <p:cNvGrpSpPr/>
        <p:nvPr/>
      </p:nvGrpSpPr>
      <p:grpSpPr>
        <a:xfrm>
          <a:off x="0" y="0"/>
          <a:ext cx="0" cy="0"/>
          <a:chOff x="0" y="0"/>
          <a:chExt cx="0" cy="0"/>
        </a:xfrm>
      </p:grpSpPr>
      <p:sp>
        <p:nvSpPr>
          <p:cNvPr id="10" name="Google Shape;10;p11"/>
          <p:cNvSpPr txBox="1">
            <a:spLocks noGrp="1"/>
          </p:cNvSpPr>
          <p:nvPr>
            <p:ph type="ctrTitle"/>
          </p:nvPr>
        </p:nvSpPr>
        <p:spPr>
          <a:xfrm>
            <a:off x="968400" y="1692000"/>
            <a:ext cx="7261200" cy="23184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5500"/>
              <a:buFont typeface="Helvetica Neue"/>
              <a:buNone/>
              <a:defRPr sz="55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 name="Google Shape;11;p11"/>
          <p:cNvSpPr txBox="1">
            <a:spLocks noGrp="1"/>
          </p:cNvSpPr>
          <p:nvPr>
            <p:ph type="subTitle" idx="1"/>
          </p:nvPr>
        </p:nvSpPr>
        <p:spPr>
          <a:xfrm>
            <a:off x="950596" y="4177344"/>
            <a:ext cx="4341485" cy="338622"/>
          </a:xfrm>
          <a:prstGeom prst="rect">
            <a:avLst/>
          </a:prstGeom>
          <a:noFill/>
          <a:ln>
            <a:noFill/>
          </a:ln>
        </p:spPr>
        <p:txBody>
          <a:bodyPr spcFirstLastPara="1" wrap="square" lIns="0" tIns="0" rIns="0" bIns="0" anchor="t" anchorCtr="0">
            <a:noAutofit/>
          </a:bodyPr>
          <a:lstStyle>
            <a:lvl1pPr lvl="0" algn="l">
              <a:lnSpc>
                <a:spcPct val="90000"/>
              </a:lnSpc>
              <a:spcBef>
                <a:spcPts val="600"/>
              </a:spcBef>
              <a:spcAft>
                <a:spcPts val="0"/>
              </a:spcAft>
              <a:buSzPts val="350"/>
              <a:buNone/>
              <a:defRPr>
                <a:solidFill>
                  <a:schemeClr val="dk1"/>
                </a:solidFill>
              </a:defRPr>
            </a:lvl1pPr>
            <a:lvl2pPr lvl="1" algn="l">
              <a:lnSpc>
                <a:spcPct val="90000"/>
              </a:lnSpc>
              <a:spcBef>
                <a:spcPts val="600"/>
              </a:spcBef>
              <a:spcAft>
                <a:spcPts val="0"/>
              </a:spcAft>
              <a:buClr>
                <a:schemeClr val="lt2"/>
              </a:buClr>
              <a:buSzPts val="1400"/>
              <a:buFont typeface="Noto Sans Symbols"/>
              <a:buChar char="▪"/>
              <a:defRPr>
                <a:solidFill>
                  <a:schemeClr val="dk1"/>
                </a:solidFill>
              </a:defRPr>
            </a:lvl2pPr>
            <a:lvl3pPr lvl="2" algn="l">
              <a:lnSpc>
                <a:spcPct val="90000"/>
              </a:lnSpc>
              <a:spcBef>
                <a:spcPts val="336"/>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3pPr>
            <a:lvl4pPr lvl="3" algn="l">
              <a:lnSpc>
                <a:spcPct val="90000"/>
              </a:lnSpc>
              <a:spcBef>
                <a:spcPts val="24"/>
              </a:spcBef>
              <a:spcAft>
                <a:spcPts val="0"/>
              </a:spcAft>
              <a:buClr>
                <a:schemeClr val="dk1"/>
              </a:buClr>
              <a:buSzPts val="1400"/>
              <a:buFont typeface="Helvetica Neue"/>
              <a:buChar char="–"/>
              <a:defRPr>
                <a:solidFill>
                  <a:schemeClr val="dk1"/>
                </a:solidFill>
              </a:defRPr>
            </a:lvl4pPr>
            <a:lvl5pPr lvl="4" algn="l">
              <a:lnSpc>
                <a:spcPct val="90000"/>
              </a:lnSpc>
              <a:spcBef>
                <a:spcPts val="280"/>
              </a:spcBef>
              <a:spcAft>
                <a:spcPts val="0"/>
              </a:spcAft>
              <a:buSzPts val="1400"/>
              <a:buFont typeface="Helvetica Neue"/>
              <a:buChar char="–"/>
              <a:defRPr>
                <a:solidFill>
                  <a:schemeClr val="dk1"/>
                </a:solidFill>
              </a:defRPr>
            </a:lvl5pPr>
            <a:lvl6pPr lvl="5" algn="ctr">
              <a:lnSpc>
                <a:spcPct val="100000"/>
              </a:lnSpc>
              <a:spcBef>
                <a:spcPts val="280"/>
              </a:spcBef>
              <a:spcAft>
                <a:spcPts val="0"/>
              </a:spcAft>
              <a:buClr>
                <a:schemeClr val="dk1"/>
              </a:buClr>
              <a:buSzPts val="14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a:endParaRPr/>
          </a:p>
        </p:txBody>
      </p:sp>
      <p:grpSp>
        <p:nvGrpSpPr>
          <p:cNvPr id="12" name="Google Shape;12;p11"/>
          <p:cNvGrpSpPr/>
          <p:nvPr/>
        </p:nvGrpSpPr>
        <p:grpSpPr>
          <a:xfrm>
            <a:off x="8227153" y="4233864"/>
            <a:ext cx="612775" cy="612775"/>
            <a:chOff x="313535" y="4233863"/>
            <a:chExt cx="612775" cy="612775"/>
          </a:xfrm>
        </p:grpSpPr>
        <p:sp>
          <p:nvSpPr>
            <p:cNvPr id="13" name="Google Shape;13;p11"/>
            <p:cNvSpPr/>
            <p:nvPr/>
          </p:nvSpPr>
          <p:spPr>
            <a:xfrm>
              <a:off x="313535" y="4233863"/>
              <a:ext cx="612775" cy="612775"/>
            </a:xfrm>
            <a:prstGeom prst="rect">
              <a:avLst/>
            </a:prstGeom>
            <a:solidFill>
              <a:srgbClr val="FF79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1800" b="1" i="0" u="none" strike="noStrike" cap="none">
                <a:solidFill>
                  <a:schemeClr val="dk1"/>
                </a:solidFill>
                <a:latin typeface="Helvetica Neue"/>
                <a:ea typeface="Helvetica Neue"/>
                <a:cs typeface="Helvetica Neue"/>
                <a:sym typeface="Helvetica Neue"/>
              </a:endParaRPr>
            </a:p>
          </p:txBody>
        </p:sp>
        <p:sp>
          <p:nvSpPr>
            <p:cNvPr id="14" name="Google Shape;14;p11"/>
            <p:cNvSpPr/>
            <p:nvPr/>
          </p:nvSpPr>
          <p:spPr>
            <a:xfrm>
              <a:off x="500860" y="4708526"/>
              <a:ext cx="74613" cy="87313"/>
            </a:xfrm>
            <a:custGeom>
              <a:avLst/>
              <a:gdLst/>
              <a:ahLst/>
              <a:cxnLst/>
              <a:rect l="l" t="t" r="r" b="b"/>
              <a:pathLst>
                <a:path w="93" h="109" extrusionOk="0">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1800" b="1" i="0" u="none" strike="noStrike" cap="none">
                <a:solidFill>
                  <a:schemeClr val="dk1"/>
                </a:solidFill>
                <a:latin typeface="Helvetica Neue"/>
                <a:ea typeface="Helvetica Neue"/>
                <a:cs typeface="Helvetica Neue"/>
                <a:sym typeface="Helvetica Neue"/>
              </a:endParaRPr>
            </a:p>
          </p:txBody>
        </p:sp>
        <p:sp>
          <p:nvSpPr>
            <p:cNvPr id="15" name="Google Shape;15;p11"/>
            <p:cNvSpPr/>
            <p:nvPr/>
          </p:nvSpPr>
          <p:spPr>
            <a:xfrm>
              <a:off x="592935" y="4708526"/>
              <a:ext cx="76200" cy="87313"/>
            </a:xfrm>
            <a:custGeom>
              <a:avLst/>
              <a:gdLst/>
              <a:ahLst/>
              <a:cxnLst/>
              <a:rect l="l" t="t" r="r" b="b"/>
              <a:pathLst>
                <a:path w="94" h="108" extrusionOk="0">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1800" b="1" i="0" u="none" strike="noStrike" cap="none">
                <a:solidFill>
                  <a:schemeClr val="dk1"/>
                </a:solidFill>
                <a:latin typeface="Helvetica Neue"/>
                <a:ea typeface="Helvetica Neue"/>
                <a:cs typeface="Helvetica Neue"/>
                <a:sym typeface="Helvetica Neue"/>
              </a:endParaRPr>
            </a:p>
          </p:txBody>
        </p:sp>
        <p:sp>
          <p:nvSpPr>
            <p:cNvPr id="16" name="Google Shape;16;p11"/>
            <p:cNvSpPr/>
            <p:nvPr/>
          </p:nvSpPr>
          <p:spPr>
            <a:xfrm>
              <a:off x="778673" y="4708526"/>
              <a:ext cx="79375" cy="88900"/>
            </a:xfrm>
            <a:custGeom>
              <a:avLst/>
              <a:gdLst/>
              <a:ahLst/>
              <a:cxnLst/>
              <a:rect l="l" t="t" r="r" b="b"/>
              <a:pathLst>
                <a:path w="98" h="110" extrusionOk="0">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1800" b="1" i="0" u="none" strike="noStrike" cap="none">
                <a:solidFill>
                  <a:schemeClr val="dk1"/>
                </a:solidFill>
                <a:latin typeface="Helvetica Neue"/>
                <a:ea typeface="Helvetica Neue"/>
                <a:cs typeface="Helvetica Neue"/>
                <a:sym typeface="Helvetica Neue"/>
              </a:endParaRPr>
            </a:p>
          </p:txBody>
        </p:sp>
        <p:sp>
          <p:nvSpPr>
            <p:cNvPr id="17" name="Google Shape;17;p11"/>
            <p:cNvSpPr/>
            <p:nvPr/>
          </p:nvSpPr>
          <p:spPr>
            <a:xfrm>
              <a:off x="346873" y="4708526"/>
              <a:ext cx="84138" cy="88900"/>
            </a:xfrm>
            <a:custGeom>
              <a:avLst/>
              <a:gdLst/>
              <a:ahLst/>
              <a:cxnLst/>
              <a:rect l="l" t="t" r="r" b="b"/>
              <a:pathLst>
                <a:path w="104" h="111" extrusionOk="0">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1800" b="1" i="0" u="none" strike="noStrike" cap="none">
                <a:solidFill>
                  <a:schemeClr val="dk1"/>
                </a:solidFill>
                <a:latin typeface="Helvetica Neue"/>
                <a:ea typeface="Helvetica Neue"/>
                <a:cs typeface="Helvetica Neue"/>
                <a:sym typeface="Helvetica Neue"/>
              </a:endParaRPr>
            </a:p>
          </p:txBody>
        </p:sp>
        <p:sp>
          <p:nvSpPr>
            <p:cNvPr id="18" name="Google Shape;18;p11"/>
            <p:cNvSpPr/>
            <p:nvPr/>
          </p:nvSpPr>
          <p:spPr>
            <a:xfrm>
              <a:off x="446885" y="4708526"/>
              <a:ext cx="47625" cy="87313"/>
            </a:xfrm>
            <a:custGeom>
              <a:avLst/>
              <a:gdLst/>
              <a:ahLst/>
              <a:cxnLst/>
              <a:rect l="l" t="t" r="r" b="b"/>
              <a:pathLst>
                <a:path w="59" h="108" extrusionOk="0">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1800" b="1" i="0" u="none" strike="noStrike" cap="none">
                <a:solidFill>
                  <a:schemeClr val="dk1"/>
                </a:solidFill>
                <a:latin typeface="Helvetica Neue"/>
                <a:ea typeface="Helvetica Neue"/>
                <a:cs typeface="Helvetica Neue"/>
                <a:sym typeface="Helvetica Neue"/>
              </a:endParaRPr>
            </a:p>
          </p:txBody>
        </p:sp>
        <p:sp>
          <p:nvSpPr>
            <p:cNvPr id="19" name="Google Shape;19;p11"/>
            <p:cNvSpPr/>
            <p:nvPr/>
          </p:nvSpPr>
          <p:spPr>
            <a:xfrm>
              <a:off x="685010" y="4708526"/>
              <a:ext cx="79375" cy="120650"/>
            </a:xfrm>
            <a:custGeom>
              <a:avLst/>
              <a:gdLst/>
              <a:ahLst/>
              <a:cxnLst/>
              <a:rect l="l" t="t" r="r" b="b"/>
              <a:pathLst>
                <a:path w="98" h="149" extrusionOk="0">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1800" b="1" i="0" u="none" strike="noStrike" cap="none">
                <a:solidFill>
                  <a:schemeClr val="dk1"/>
                </a:solidFill>
                <a:latin typeface="Helvetica Neue"/>
                <a:ea typeface="Helvetica Neue"/>
                <a:cs typeface="Helvetica Neue"/>
                <a:sym typeface="Helvetica Neue"/>
              </a:endParaRPr>
            </a:p>
          </p:txBody>
        </p:sp>
        <p:sp>
          <p:nvSpPr>
            <p:cNvPr id="20" name="Google Shape;20;p11"/>
            <p:cNvSpPr/>
            <p:nvPr/>
          </p:nvSpPr>
          <p:spPr>
            <a:xfrm>
              <a:off x="843760" y="4678363"/>
              <a:ext cx="58738" cy="26988"/>
            </a:xfrm>
            <a:custGeom>
              <a:avLst/>
              <a:gdLst/>
              <a:ahLst/>
              <a:cxnLst/>
              <a:rect l="l" t="t" r="r" b="b"/>
              <a:pathLst>
                <a:path w="37" h="17" extrusionOk="0">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1800" b="1" i="0" u="none" strike="noStrike" cap="none">
                <a:solidFill>
                  <a:schemeClr val="dk1"/>
                </a:solidFill>
                <a:latin typeface="Helvetica Neue"/>
                <a:ea typeface="Helvetica Neue"/>
                <a:cs typeface="Helvetica Neue"/>
                <a:sym typeface="Helvetica Neue"/>
              </a:endParaRPr>
            </a:p>
          </p:txBody>
        </p:sp>
      </p:grpSp>
      <p:sp>
        <p:nvSpPr>
          <p:cNvPr id="21" name="Google Shape;21;p11"/>
          <p:cNvSpPr txBox="1"/>
          <p:nvPr/>
        </p:nvSpPr>
        <p:spPr>
          <a:xfrm>
            <a:off x="288771" y="479081"/>
            <a:ext cx="1703993" cy="81560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7900"/>
              </a:buClr>
              <a:buSzPts val="3533"/>
              <a:buFont typeface="Helvetica Neue"/>
              <a:buNone/>
            </a:pPr>
            <a:r>
              <a:rPr lang="en-US" sz="2650" b="1" i="0" u="none" strike="noStrike" cap="none">
                <a:solidFill>
                  <a:srgbClr val="FF7900"/>
                </a:solidFill>
                <a:latin typeface="Helvetica Neue"/>
                <a:ea typeface="Helvetica Neue"/>
                <a:cs typeface="Helvetica Neue"/>
                <a:sym typeface="Helvetica Neue"/>
              </a:rPr>
              <a:t>Orange</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3533"/>
              <a:buFont typeface="Helvetica Neue"/>
              <a:buNone/>
            </a:pPr>
            <a:r>
              <a:rPr lang="en-US" sz="2650" b="1" i="0" u="none" strike="noStrike" cap="none">
                <a:solidFill>
                  <a:schemeClr val="dk1"/>
                </a:solidFill>
                <a:latin typeface="Helvetica Neue"/>
                <a:ea typeface="Helvetica Neue"/>
                <a:cs typeface="Helvetica Neue"/>
                <a:sym typeface="Helvetica Neue"/>
              </a:rPr>
              <a:t>Innovation</a:t>
            </a:r>
            <a:endParaRPr sz="1800" b="0" i="0" u="none" strike="noStrike" cap="none">
              <a:solidFill>
                <a:schemeClr val="dk1"/>
              </a:solidFill>
              <a:latin typeface="Arial"/>
              <a:ea typeface="Arial"/>
              <a:cs typeface="Arial"/>
              <a:sym typeface="Arial"/>
            </a:endParaRPr>
          </a:p>
        </p:txBody>
      </p:sp>
      <p:cxnSp>
        <p:nvCxnSpPr>
          <p:cNvPr id="22" name="Google Shape;22;p11"/>
          <p:cNvCxnSpPr/>
          <p:nvPr/>
        </p:nvCxnSpPr>
        <p:spPr>
          <a:xfrm>
            <a:off x="332630" y="123479"/>
            <a:ext cx="0" cy="277345"/>
          </a:xfrm>
          <a:prstGeom prst="straightConnector1">
            <a:avLst/>
          </a:prstGeom>
          <a:noFill/>
          <a:ln w="53975" cap="flat" cmpd="sng">
            <a:solidFill>
              <a:srgbClr val="FF7900"/>
            </a:solidFill>
            <a:prstDash val="solid"/>
            <a:round/>
            <a:headEnd type="none" w="sm" len="sm"/>
            <a:tailEnd type="none" w="sm" len="sm"/>
          </a:ln>
        </p:spPr>
      </p:cxnSp>
      <p:cxnSp>
        <p:nvCxnSpPr>
          <p:cNvPr id="23" name="Google Shape;23;p11"/>
          <p:cNvCxnSpPr/>
          <p:nvPr/>
        </p:nvCxnSpPr>
        <p:spPr>
          <a:xfrm>
            <a:off x="331934" y="1203598"/>
            <a:ext cx="696" cy="3673202"/>
          </a:xfrm>
          <a:prstGeom prst="straightConnector1">
            <a:avLst/>
          </a:prstGeom>
          <a:noFill/>
          <a:ln w="53975" cap="flat" cmpd="sng">
            <a:solidFill>
              <a:srgbClr val="FF7900"/>
            </a:solidFill>
            <a:prstDash val="solid"/>
            <a:round/>
            <a:headEnd type="none" w="sm" len="sm"/>
            <a:tailEnd type="none" w="sm" len="sm"/>
          </a:ln>
        </p:spPr>
      </p:cxnSp>
    </p:spTree>
    <p:extLst>
      <p:ext uri="{BB962C8B-B14F-4D97-AF65-F5344CB8AC3E}">
        <p14:creationId xmlns:p14="http://schemas.microsoft.com/office/powerpoint/2010/main" val="343631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s">
  <p:cSld name="Contents">
    <p:spTree>
      <p:nvGrpSpPr>
        <p:cNvPr id="1" name="Shape 24"/>
        <p:cNvGrpSpPr/>
        <p:nvPr/>
      </p:nvGrpSpPr>
      <p:grpSpPr>
        <a:xfrm>
          <a:off x="0" y="0"/>
          <a:ext cx="0" cy="0"/>
          <a:chOff x="0" y="0"/>
          <a:chExt cx="0" cy="0"/>
        </a:xfrm>
      </p:grpSpPr>
      <p:sp>
        <p:nvSpPr>
          <p:cNvPr id="25" name="Google Shape;25;p14"/>
          <p:cNvSpPr txBox="1">
            <a:spLocks noGrp="1"/>
          </p:cNvSpPr>
          <p:nvPr>
            <p:ph type="body" idx="1"/>
          </p:nvPr>
        </p:nvSpPr>
        <p:spPr>
          <a:xfrm>
            <a:off x="314326" y="267495"/>
            <a:ext cx="8515349" cy="4283869"/>
          </a:xfrm>
          <a:prstGeom prst="rect">
            <a:avLst/>
          </a:prstGeom>
          <a:noFill/>
          <a:ln>
            <a:noFill/>
          </a:ln>
        </p:spPr>
        <p:txBody>
          <a:bodyPr spcFirstLastPara="1" wrap="square" lIns="0" tIns="0" rIns="0" bIns="0" anchor="t" anchorCtr="0">
            <a:noAutofit/>
          </a:bodyPr>
          <a:lstStyle>
            <a:lvl1pPr marL="342900" lvl="0" indent="-171450" algn="l">
              <a:lnSpc>
                <a:spcPct val="90000"/>
              </a:lnSpc>
              <a:spcBef>
                <a:spcPts val="0"/>
              </a:spcBef>
              <a:spcAft>
                <a:spcPts val="0"/>
              </a:spcAft>
              <a:buSzPts val="750"/>
              <a:buNone/>
              <a:defRPr sz="3000"/>
            </a:lvl1pPr>
            <a:lvl2pPr marL="685800" lvl="1" indent="-314325" algn="l">
              <a:lnSpc>
                <a:spcPct val="90000"/>
              </a:lnSpc>
              <a:spcBef>
                <a:spcPts val="0"/>
              </a:spcBef>
              <a:spcAft>
                <a:spcPts val="0"/>
              </a:spcAft>
              <a:buClr>
                <a:schemeClr val="dk1"/>
              </a:buClr>
              <a:buSzPts val="3000"/>
              <a:buFont typeface="Helvetica Neue"/>
              <a:buAutoNum type="arabicPeriod"/>
              <a:defRPr sz="3000"/>
            </a:lvl2pPr>
            <a:lvl3pPr marL="1028700" lvl="2" indent="-257175" algn="l">
              <a:lnSpc>
                <a:spcPct val="90000"/>
              </a:lnSpc>
              <a:spcBef>
                <a:spcPts val="600"/>
              </a:spcBef>
              <a:spcAft>
                <a:spcPts val="0"/>
              </a:spcAft>
              <a:buSzPts val="1800"/>
              <a:buChar char="▪"/>
              <a:defRPr sz="1800"/>
            </a:lvl3pPr>
            <a:lvl4pPr marL="1371600" lvl="3" indent="-257175" algn="l">
              <a:lnSpc>
                <a:spcPct val="90000"/>
              </a:lnSpc>
              <a:spcBef>
                <a:spcPts val="360"/>
              </a:spcBef>
              <a:spcAft>
                <a:spcPts val="0"/>
              </a:spcAft>
              <a:buClr>
                <a:schemeClr val="dk1"/>
              </a:buClr>
              <a:buSzPts val="1800"/>
              <a:buChar char="–"/>
              <a:defRPr sz="1800"/>
            </a:lvl4pPr>
            <a:lvl5pPr marL="1714500" lvl="4" indent="-257175" algn="l">
              <a:lnSpc>
                <a:spcPct val="90000"/>
              </a:lnSpc>
              <a:spcBef>
                <a:spcPts val="360"/>
              </a:spcBef>
              <a:spcAft>
                <a:spcPts val="0"/>
              </a:spcAft>
              <a:buSzPts val="1800"/>
              <a:buChar char="–"/>
              <a:defRPr sz="1800"/>
            </a:lvl5pPr>
            <a:lvl6pPr marL="2057400" lvl="5" indent="-257175" algn="l">
              <a:lnSpc>
                <a:spcPct val="100000"/>
              </a:lnSpc>
              <a:spcBef>
                <a:spcPts val="360"/>
              </a:spcBef>
              <a:spcAft>
                <a:spcPts val="0"/>
              </a:spcAft>
              <a:buClr>
                <a:schemeClr val="dk1"/>
              </a:buClr>
              <a:buSzPts val="1800"/>
              <a:buChar char="–"/>
              <a:defRPr/>
            </a:lvl6pPr>
            <a:lvl7pPr marL="2400300" lvl="6" indent="-257175" algn="l">
              <a:lnSpc>
                <a:spcPct val="100000"/>
              </a:lnSpc>
              <a:spcBef>
                <a:spcPts val="360"/>
              </a:spcBef>
              <a:spcAft>
                <a:spcPts val="0"/>
              </a:spcAft>
              <a:buClr>
                <a:schemeClr val="dk1"/>
              </a:buClr>
              <a:buSzPts val="1800"/>
              <a:buChar char="•"/>
              <a:defRPr/>
            </a:lvl7pPr>
            <a:lvl8pPr marL="2743200" lvl="7" indent="-257175" algn="l">
              <a:lnSpc>
                <a:spcPct val="100000"/>
              </a:lnSpc>
              <a:spcBef>
                <a:spcPts val="360"/>
              </a:spcBef>
              <a:spcAft>
                <a:spcPts val="0"/>
              </a:spcAft>
              <a:buClr>
                <a:schemeClr val="dk1"/>
              </a:buClr>
              <a:buSzPts val="1800"/>
              <a:buChar char="•"/>
              <a:defRPr/>
            </a:lvl8pPr>
            <a:lvl9pPr marL="3086100" lvl="8" indent="-257175" algn="l">
              <a:lnSpc>
                <a:spcPct val="100000"/>
              </a:lnSpc>
              <a:spcBef>
                <a:spcPts val="360"/>
              </a:spcBef>
              <a:spcAft>
                <a:spcPts val="0"/>
              </a:spcAft>
              <a:buClr>
                <a:schemeClr val="dk1"/>
              </a:buClr>
              <a:buSzPts val="1800"/>
              <a:buChar char="•"/>
              <a:defRPr/>
            </a:lvl9pPr>
          </a:lstStyle>
          <a:p>
            <a:endParaRPr/>
          </a:p>
        </p:txBody>
      </p:sp>
      <p:sp>
        <p:nvSpPr>
          <p:cNvPr id="26" name="Google Shape;26;p14"/>
          <p:cNvSpPr txBox="1"/>
          <p:nvPr/>
        </p:nvSpPr>
        <p:spPr>
          <a:xfrm>
            <a:off x="619545" y="4749148"/>
            <a:ext cx="900888"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2"/>
              </a:buClr>
              <a:buSzPts val="1067"/>
              <a:buFont typeface="Helvetica Neue"/>
              <a:buNone/>
            </a:pPr>
            <a:r>
              <a:rPr lang="en-US" sz="800" b="1" i="0" u="none" strike="noStrike" cap="none">
                <a:solidFill>
                  <a:schemeClr val="lt2"/>
                </a:solidFill>
                <a:latin typeface="Helvetica Neue"/>
                <a:ea typeface="Helvetica Neue"/>
                <a:cs typeface="Helvetica Neue"/>
                <a:sym typeface="Helvetica Neue"/>
              </a:rPr>
              <a:t>Orange Restricted</a:t>
            </a:r>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2110726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de section">
  <p:cSld name="Titre de section">
    <p:spTree>
      <p:nvGrpSpPr>
        <p:cNvPr id="1" name="Shape 27"/>
        <p:cNvGrpSpPr/>
        <p:nvPr/>
      </p:nvGrpSpPr>
      <p:grpSpPr>
        <a:xfrm>
          <a:off x="0" y="0"/>
          <a:ext cx="0" cy="0"/>
          <a:chOff x="0" y="0"/>
          <a:chExt cx="0" cy="0"/>
        </a:xfrm>
      </p:grpSpPr>
      <p:sp>
        <p:nvSpPr>
          <p:cNvPr id="28" name="Google Shape;28;p15"/>
          <p:cNvSpPr txBox="1">
            <a:spLocks noGrp="1"/>
          </p:cNvSpPr>
          <p:nvPr>
            <p:ph type="body" idx="1"/>
          </p:nvPr>
        </p:nvSpPr>
        <p:spPr>
          <a:xfrm>
            <a:off x="313770" y="268289"/>
            <a:ext cx="6096839" cy="4283075"/>
          </a:xfrm>
          <a:prstGeom prst="rect">
            <a:avLst/>
          </a:prstGeom>
          <a:noFill/>
          <a:ln>
            <a:noFill/>
          </a:ln>
        </p:spPr>
        <p:txBody>
          <a:bodyPr spcFirstLastPara="1" wrap="square" lIns="0" tIns="0" rIns="0" bIns="0" anchor="t" anchorCtr="0">
            <a:normAutofit/>
          </a:bodyPr>
          <a:lstStyle>
            <a:lvl1pPr marL="342900" lvl="0" indent="-171450" algn="l">
              <a:lnSpc>
                <a:spcPct val="85000"/>
              </a:lnSpc>
              <a:spcBef>
                <a:spcPts val="0"/>
              </a:spcBef>
              <a:spcAft>
                <a:spcPts val="0"/>
              </a:spcAft>
              <a:buSzPts val="1375"/>
              <a:buNone/>
              <a:defRPr sz="5500"/>
            </a:lvl1pPr>
            <a:lvl2pPr marL="685800" lvl="1" indent="-171450" algn="l">
              <a:lnSpc>
                <a:spcPct val="85000"/>
              </a:lnSpc>
              <a:spcBef>
                <a:spcPts val="0"/>
              </a:spcBef>
              <a:spcAft>
                <a:spcPts val="0"/>
              </a:spcAft>
              <a:buSzPts val="1375"/>
              <a:buNone/>
              <a:defRPr sz="5500"/>
            </a:lvl2pPr>
            <a:lvl3pPr marL="1028700" lvl="2" indent="-433388" algn="l">
              <a:lnSpc>
                <a:spcPct val="90000"/>
              </a:lnSpc>
              <a:spcBef>
                <a:spcPts val="600"/>
              </a:spcBef>
              <a:spcAft>
                <a:spcPts val="0"/>
              </a:spcAft>
              <a:buSzPts val="5500"/>
              <a:buChar char="▪"/>
              <a:defRPr sz="5500"/>
            </a:lvl3pPr>
            <a:lvl4pPr marL="1371600" lvl="3" indent="-433388" algn="l">
              <a:lnSpc>
                <a:spcPct val="90000"/>
              </a:lnSpc>
              <a:spcBef>
                <a:spcPts val="1100"/>
              </a:spcBef>
              <a:spcAft>
                <a:spcPts val="0"/>
              </a:spcAft>
              <a:buClr>
                <a:schemeClr val="dk1"/>
              </a:buClr>
              <a:buSzPts val="5500"/>
              <a:buChar char="–"/>
              <a:defRPr sz="5500"/>
            </a:lvl4pPr>
            <a:lvl5pPr marL="1714500" lvl="4" indent="-433388" algn="l">
              <a:lnSpc>
                <a:spcPct val="90000"/>
              </a:lnSpc>
              <a:spcBef>
                <a:spcPts val="1100"/>
              </a:spcBef>
              <a:spcAft>
                <a:spcPts val="0"/>
              </a:spcAft>
              <a:buSzPts val="5500"/>
              <a:buChar char="–"/>
              <a:defRPr sz="5500"/>
            </a:lvl5pPr>
            <a:lvl6pPr marL="2057400" lvl="5" indent="-257175" algn="l">
              <a:lnSpc>
                <a:spcPct val="100000"/>
              </a:lnSpc>
              <a:spcBef>
                <a:spcPts val="360"/>
              </a:spcBef>
              <a:spcAft>
                <a:spcPts val="0"/>
              </a:spcAft>
              <a:buClr>
                <a:schemeClr val="dk1"/>
              </a:buClr>
              <a:buSzPts val="1800"/>
              <a:buChar char="–"/>
              <a:defRPr/>
            </a:lvl6pPr>
            <a:lvl7pPr marL="2400300" lvl="6" indent="-257175" algn="l">
              <a:lnSpc>
                <a:spcPct val="100000"/>
              </a:lnSpc>
              <a:spcBef>
                <a:spcPts val="360"/>
              </a:spcBef>
              <a:spcAft>
                <a:spcPts val="0"/>
              </a:spcAft>
              <a:buClr>
                <a:schemeClr val="dk1"/>
              </a:buClr>
              <a:buSzPts val="1800"/>
              <a:buChar char="•"/>
              <a:defRPr/>
            </a:lvl7pPr>
            <a:lvl8pPr marL="2743200" lvl="7" indent="-257175" algn="l">
              <a:lnSpc>
                <a:spcPct val="100000"/>
              </a:lnSpc>
              <a:spcBef>
                <a:spcPts val="360"/>
              </a:spcBef>
              <a:spcAft>
                <a:spcPts val="0"/>
              </a:spcAft>
              <a:buClr>
                <a:schemeClr val="dk1"/>
              </a:buClr>
              <a:buSzPts val="1800"/>
              <a:buChar char="•"/>
              <a:defRPr/>
            </a:lvl8pPr>
            <a:lvl9pPr marL="3086100" lvl="8" indent="-257175" algn="l">
              <a:lnSpc>
                <a:spcPct val="100000"/>
              </a:lnSpc>
              <a:spcBef>
                <a:spcPts val="360"/>
              </a:spcBef>
              <a:spcAft>
                <a:spcPts val="0"/>
              </a:spcAft>
              <a:buClr>
                <a:schemeClr val="dk1"/>
              </a:buClr>
              <a:buSzPts val="1800"/>
              <a:buChar char="•"/>
              <a:defRPr/>
            </a:lvl9pPr>
          </a:lstStyle>
          <a:p>
            <a:endParaRPr/>
          </a:p>
        </p:txBody>
      </p:sp>
      <p:sp>
        <p:nvSpPr>
          <p:cNvPr id="29" name="Google Shape;29;p15"/>
          <p:cNvSpPr txBox="1"/>
          <p:nvPr/>
        </p:nvSpPr>
        <p:spPr>
          <a:xfrm>
            <a:off x="619545" y="4749148"/>
            <a:ext cx="900888"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2"/>
              </a:buClr>
              <a:buSzPts val="1067"/>
              <a:buFont typeface="Helvetica Neue"/>
              <a:buNone/>
            </a:pPr>
            <a:r>
              <a:rPr lang="en-US" sz="800" b="1" i="0" u="none" strike="noStrike" cap="none">
                <a:solidFill>
                  <a:schemeClr val="lt2"/>
                </a:solidFill>
                <a:latin typeface="Helvetica Neue"/>
                <a:ea typeface="Helvetica Neue"/>
                <a:cs typeface="Helvetica Neue"/>
                <a:sym typeface="Helvetica Neue"/>
              </a:rPr>
              <a:t>Orange Restricted</a:t>
            </a:r>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1019823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ux contenus">
  <p:cSld name="Deux contenus">
    <p:spTree>
      <p:nvGrpSpPr>
        <p:cNvPr id="1" name="Shape 30"/>
        <p:cNvGrpSpPr/>
        <p:nvPr/>
      </p:nvGrpSpPr>
      <p:grpSpPr>
        <a:xfrm>
          <a:off x="0" y="0"/>
          <a:ext cx="0" cy="0"/>
          <a:chOff x="0" y="0"/>
          <a:chExt cx="0" cy="0"/>
        </a:xfrm>
      </p:grpSpPr>
      <p:sp>
        <p:nvSpPr>
          <p:cNvPr id="31" name="Google Shape;31;p16"/>
          <p:cNvSpPr txBox="1">
            <a:spLocks noGrp="1"/>
          </p:cNvSpPr>
          <p:nvPr>
            <p:ph type="body" idx="1"/>
          </p:nvPr>
        </p:nvSpPr>
        <p:spPr>
          <a:xfrm>
            <a:off x="313201" y="1181101"/>
            <a:ext cx="3968055" cy="3370262"/>
          </a:xfrm>
          <a:prstGeom prst="rect">
            <a:avLst/>
          </a:prstGeom>
          <a:noFill/>
          <a:ln>
            <a:noFill/>
          </a:ln>
        </p:spPr>
        <p:txBody>
          <a:bodyPr spcFirstLastPara="1" wrap="square" lIns="0" tIns="0" rIns="0" bIns="0" anchor="t" anchorCtr="0">
            <a:normAutofit/>
          </a:bodyPr>
          <a:lstStyle>
            <a:lvl1pPr marL="342900" lvl="0" indent="-171450" algn="l">
              <a:lnSpc>
                <a:spcPct val="90000"/>
              </a:lnSpc>
              <a:spcBef>
                <a:spcPts val="600"/>
              </a:spcBef>
              <a:spcAft>
                <a:spcPts val="0"/>
              </a:spcAft>
              <a:buSzPts val="350"/>
              <a:buNone/>
              <a:defRPr sz="1400"/>
            </a:lvl1pPr>
            <a:lvl2pPr marL="685800" lvl="1" indent="-171450" algn="l">
              <a:lnSpc>
                <a:spcPct val="90000"/>
              </a:lnSpc>
              <a:spcBef>
                <a:spcPts val="600"/>
              </a:spcBef>
              <a:spcAft>
                <a:spcPts val="0"/>
              </a:spcAft>
              <a:buSzPts val="350"/>
              <a:buNone/>
              <a:defRPr sz="1400">
                <a:solidFill>
                  <a:schemeClr val="dk1"/>
                </a:solidFill>
              </a:defRPr>
            </a:lvl2pPr>
            <a:lvl3pPr marL="1028700" lvl="2" indent="-238125" algn="l">
              <a:lnSpc>
                <a:spcPct val="90000"/>
              </a:lnSpc>
              <a:spcBef>
                <a:spcPts val="600"/>
              </a:spcBef>
              <a:spcAft>
                <a:spcPts val="0"/>
              </a:spcAft>
              <a:buSzPts val="1400"/>
              <a:buChar char="▪"/>
              <a:defRPr sz="1400">
                <a:solidFill>
                  <a:schemeClr val="dk1"/>
                </a:solidFill>
              </a:defRPr>
            </a:lvl3pPr>
            <a:lvl4pPr marL="1371600" lvl="3" indent="-238125" algn="l">
              <a:lnSpc>
                <a:spcPct val="90000"/>
              </a:lnSpc>
              <a:spcBef>
                <a:spcPts val="280"/>
              </a:spcBef>
              <a:spcAft>
                <a:spcPts val="0"/>
              </a:spcAft>
              <a:buClr>
                <a:schemeClr val="dk1"/>
              </a:buClr>
              <a:buSzPts val="1400"/>
              <a:buChar char="–"/>
              <a:defRPr sz="1400">
                <a:solidFill>
                  <a:schemeClr val="dk1"/>
                </a:solidFill>
              </a:defRPr>
            </a:lvl4pPr>
            <a:lvl5pPr marL="1714500" lvl="4" indent="-238125" algn="l">
              <a:lnSpc>
                <a:spcPct val="90000"/>
              </a:lnSpc>
              <a:spcBef>
                <a:spcPts val="280"/>
              </a:spcBef>
              <a:spcAft>
                <a:spcPts val="0"/>
              </a:spcAft>
              <a:buSzPts val="1400"/>
              <a:buChar char="–"/>
              <a:defRPr sz="1400">
                <a:solidFill>
                  <a:schemeClr val="dk1"/>
                </a:solidFill>
              </a:defRPr>
            </a:lvl5pPr>
            <a:lvl6pPr marL="2057400" lvl="5" indent="-238125" algn="l">
              <a:lnSpc>
                <a:spcPct val="100000"/>
              </a:lnSpc>
              <a:spcBef>
                <a:spcPts val="280"/>
              </a:spcBef>
              <a:spcAft>
                <a:spcPts val="0"/>
              </a:spcAft>
              <a:buClr>
                <a:schemeClr val="dk1"/>
              </a:buClr>
              <a:buSzPts val="1400"/>
              <a:buChar char="–"/>
              <a:defRPr sz="1400"/>
            </a:lvl6pPr>
            <a:lvl7pPr marL="2400300" lvl="6" indent="-257175" algn="l">
              <a:lnSpc>
                <a:spcPct val="100000"/>
              </a:lnSpc>
              <a:spcBef>
                <a:spcPts val="360"/>
              </a:spcBef>
              <a:spcAft>
                <a:spcPts val="0"/>
              </a:spcAft>
              <a:buClr>
                <a:schemeClr val="dk1"/>
              </a:buClr>
              <a:buSzPts val="1800"/>
              <a:buChar char="•"/>
              <a:defRPr sz="1800"/>
            </a:lvl7pPr>
            <a:lvl8pPr marL="2743200" lvl="7" indent="-257175" algn="l">
              <a:lnSpc>
                <a:spcPct val="100000"/>
              </a:lnSpc>
              <a:spcBef>
                <a:spcPts val="360"/>
              </a:spcBef>
              <a:spcAft>
                <a:spcPts val="0"/>
              </a:spcAft>
              <a:buClr>
                <a:schemeClr val="dk1"/>
              </a:buClr>
              <a:buSzPts val="1800"/>
              <a:buChar char="•"/>
              <a:defRPr sz="1800"/>
            </a:lvl8pPr>
            <a:lvl9pPr marL="3086100" lvl="8" indent="-257175" algn="l">
              <a:lnSpc>
                <a:spcPct val="100000"/>
              </a:lnSpc>
              <a:spcBef>
                <a:spcPts val="360"/>
              </a:spcBef>
              <a:spcAft>
                <a:spcPts val="0"/>
              </a:spcAft>
              <a:buClr>
                <a:schemeClr val="dk1"/>
              </a:buClr>
              <a:buSzPts val="1800"/>
              <a:buChar char="•"/>
              <a:defRPr sz="1800"/>
            </a:lvl9pPr>
          </a:lstStyle>
          <a:p>
            <a:endParaRPr/>
          </a:p>
        </p:txBody>
      </p:sp>
      <p:sp>
        <p:nvSpPr>
          <p:cNvPr id="32" name="Google Shape;32;p16"/>
          <p:cNvSpPr txBox="1">
            <a:spLocks noGrp="1"/>
          </p:cNvSpPr>
          <p:nvPr>
            <p:ph type="body" idx="2"/>
          </p:nvPr>
        </p:nvSpPr>
        <p:spPr>
          <a:xfrm>
            <a:off x="4864795" y="1181101"/>
            <a:ext cx="3964880" cy="3370262"/>
          </a:xfrm>
          <a:prstGeom prst="rect">
            <a:avLst/>
          </a:prstGeom>
          <a:noFill/>
          <a:ln>
            <a:noFill/>
          </a:ln>
        </p:spPr>
        <p:txBody>
          <a:bodyPr spcFirstLastPara="1" wrap="square" lIns="0" tIns="0" rIns="0" bIns="0" anchor="t" anchorCtr="0">
            <a:normAutofit/>
          </a:bodyPr>
          <a:lstStyle>
            <a:lvl1pPr marL="342900" lvl="0" indent="-171450" algn="l">
              <a:lnSpc>
                <a:spcPct val="90000"/>
              </a:lnSpc>
              <a:spcBef>
                <a:spcPts val="600"/>
              </a:spcBef>
              <a:spcAft>
                <a:spcPts val="0"/>
              </a:spcAft>
              <a:buSzPts val="350"/>
              <a:buNone/>
              <a:defRPr sz="1400"/>
            </a:lvl1pPr>
            <a:lvl2pPr marL="685800" lvl="1" indent="-171450" algn="l">
              <a:lnSpc>
                <a:spcPct val="90000"/>
              </a:lnSpc>
              <a:spcBef>
                <a:spcPts val="600"/>
              </a:spcBef>
              <a:spcAft>
                <a:spcPts val="0"/>
              </a:spcAft>
              <a:buSzPts val="350"/>
              <a:buNone/>
              <a:defRPr sz="1400">
                <a:solidFill>
                  <a:schemeClr val="dk1"/>
                </a:solidFill>
              </a:defRPr>
            </a:lvl2pPr>
            <a:lvl3pPr marL="1028700" lvl="2" indent="-238125" algn="l">
              <a:lnSpc>
                <a:spcPct val="90000"/>
              </a:lnSpc>
              <a:spcBef>
                <a:spcPts val="600"/>
              </a:spcBef>
              <a:spcAft>
                <a:spcPts val="0"/>
              </a:spcAft>
              <a:buSzPts val="1400"/>
              <a:buChar char="▪"/>
              <a:defRPr sz="1400">
                <a:solidFill>
                  <a:schemeClr val="dk1"/>
                </a:solidFill>
              </a:defRPr>
            </a:lvl3pPr>
            <a:lvl4pPr marL="1371600" lvl="3" indent="-238125" algn="l">
              <a:lnSpc>
                <a:spcPct val="90000"/>
              </a:lnSpc>
              <a:spcBef>
                <a:spcPts val="280"/>
              </a:spcBef>
              <a:spcAft>
                <a:spcPts val="0"/>
              </a:spcAft>
              <a:buClr>
                <a:schemeClr val="dk1"/>
              </a:buClr>
              <a:buSzPts val="1400"/>
              <a:buChar char="–"/>
              <a:defRPr sz="1400">
                <a:solidFill>
                  <a:schemeClr val="dk1"/>
                </a:solidFill>
              </a:defRPr>
            </a:lvl4pPr>
            <a:lvl5pPr marL="1714500" lvl="4" indent="-238125" algn="l">
              <a:lnSpc>
                <a:spcPct val="90000"/>
              </a:lnSpc>
              <a:spcBef>
                <a:spcPts val="280"/>
              </a:spcBef>
              <a:spcAft>
                <a:spcPts val="0"/>
              </a:spcAft>
              <a:buSzPts val="1400"/>
              <a:buChar char="–"/>
              <a:defRPr sz="1400">
                <a:solidFill>
                  <a:schemeClr val="dk1"/>
                </a:solidFill>
              </a:defRPr>
            </a:lvl5pPr>
            <a:lvl6pPr marL="2057400" lvl="5" indent="-238125" algn="l">
              <a:lnSpc>
                <a:spcPct val="100000"/>
              </a:lnSpc>
              <a:spcBef>
                <a:spcPts val="280"/>
              </a:spcBef>
              <a:spcAft>
                <a:spcPts val="0"/>
              </a:spcAft>
              <a:buClr>
                <a:schemeClr val="dk1"/>
              </a:buClr>
              <a:buSzPts val="1400"/>
              <a:buChar char="–"/>
              <a:defRPr sz="1400"/>
            </a:lvl6pPr>
            <a:lvl7pPr marL="2400300" lvl="6" indent="-257175" algn="l">
              <a:lnSpc>
                <a:spcPct val="100000"/>
              </a:lnSpc>
              <a:spcBef>
                <a:spcPts val="360"/>
              </a:spcBef>
              <a:spcAft>
                <a:spcPts val="0"/>
              </a:spcAft>
              <a:buClr>
                <a:schemeClr val="dk1"/>
              </a:buClr>
              <a:buSzPts val="1800"/>
              <a:buChar char="•"/>
              <a:defRPr sz="1800"/>
            </a:lvl7pPr>
            <a:lvl8pPr marL="2743200" lvl="7" indent="-257175" algn="l">
              <a:lnSpc>
                <a:spcPct val="100000"/>
              </a:lnSpc>
              <a:spcBef>
                <a:spcPts val="360"/>
              </a:spcBef>
              <a:spcAft>
                <a:spcPts val="0"/>
              </a:spcAft>
              <a:buClr>
                <a:schemeClr val="dk1"/>
              </a:buClr>
              <a:buSzPts val="1800"/>
              <a:buChar char="•"/>
              <a:defRPr sz="1800"/>
            </a:lvl8pPr>
            <a:lvl9pPr marL="3086100" lvl="8" indent="-257175" algn="l">
              <a:lnSpc>
                <a:spcPct val="100000"/>
              </a:lnSpc>
              <a:spcBef>
                <a:spcPts val="360"/>
              </a:spcBef>
              <a:spcAft>
                <a:spcPts val="0"/>
              </a:spcAft>
              <a:buClr>
                <a:schemeClr val="dk1"/>
              </a:buClr>
              <a:buSzPts val="1800"/>
              <a:buChar char="•"/>
              <a:defRPr sz="1800"/>
            </a:lvl9pPr>
          </a:lstStyle>
          <a:p>
            <a:endParaRPr/>
          </a:p>
        </p:txBody>
      </p:sp>
      <p:sp>
        <p:nvSpPr>
          <p:cNvPr id="33" name="Google Shape;33;p16"/>
          <p:cNvSpPr txBox="1">
            <a:spLocks noGrp="1"/>
          </p:cNvSpPr>
          <p:nvPr>
            <p:ph type="title"/>
          </p:nvPr>
        </p:nvSpPr>
        <p:spPr>
          <a:xfrm>
            <a:off x="313199" y="268288"/>
            <a:ext cx="8516475" cy="7413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2"/>
              </a:buClr>
              <a:buSzPts val="2000"/>
              <a:buFont typeface="Helvetica Neu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6"/>
          <p:cNvSpPr txBox="1"/>
          <p:nvPr/>
        </p:nvSpPr>
        <p:spPr>
          <a:xfrm>
            <a:off x="619545" y="4749148"/>
            <a:ext cx="900888"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2"/>
              </a:buClr>
              <a:buSzPts val="1067"/>
              <a:buFont typeface="Helvetica Neue"/>
              <a:buNone/>
            </a:pPr>
            <a:r>
              <a:rPr lang="en-US" sz="800" b="1" i="0" u="none" strike="noStrike" cap="none">
                <a:solidFill>
                  <a:schemeClr val="lt2"/>
                </a:solidFill>
                <a:latin typeface="Helvetica Neue"/>
                <a:ea typeface="Helvetica Neue"/>
                <a:cs typeface="Helvetica Neue"/>
                <a:sym typeface="Helvetica Neue"/>
              </a:rPr>
              <a:t>Orange Restricted</a:t>
            </a:r>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4020307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contenus">
  <p:cSld name="4_contenus">
    <p:spTree>
      <p:nvGrpSpPr>
        <p:cNvPr id="1" name="Shape 35"/>
        <p:cNvGrpSpPr/>
        <p:nvPr/>
      </p:nvGrpSpPr>
      <p:grpSpPr>
        <a:xfrm>
          <a:off x="0" y="0"/>
          <a:ext cx="0" cy="0"/>
          <a:chOff x="0" y="0"/>
          <a:chExt cx="0" cy="0"/>
        </a:xfrm>
      </p:grpSpPr>
      <p:sp>
        <p:nvSpPr>
          <p:cNvPr id="36" name="Google Shape;36;p17"/>
          <p:cNvSpPr txBox="1">
            <a:spLocks noGrp="1"/>
          </p:cNvSpPr>
          <p:nvPr>
            <p:ph type="body" idx="1"/>
          </p:nvPr>
        </p:nvSpPr>
        <p:spPr>
          <a:xfrm>
            <a:off x="313201" y="1181101"/>
            <a:ext cx="3968055" cy="1678682"/>
          </a:xfrm>
          <a:prstGeom prst="rect">
            <a:avLst/>
          </a:prstGeom>
          <a:noFill/>
          <a:ln>
            <a:noFill/>
          </a:ln>
        </p:spPr>
        <p:txBody>
          <a:bodyPr spcFirstLastPara="1" wrap="square" lIns="0" tIns="0" rIns="0" bIns="0" anchor="t" anchorCtr="0">
            <a:normAutofit/>
          </a:bodyPr>
          <a:lstStyle>
            <a:lvl1pPr marL="342900" lvl="0" indent="-171450" algn="l">
              <a:lnSpc>
                <a:spcPct val="90000"/>
              </a:lnSpc>
              <a:spcBef>
                <a:spcPts val="600"/>
              </a:spcBef>
              <a:spcAft>
                <a:spcPts val="0"/>
              </a:spcAft>
              <a:buSzPts val="350"/>
              <a:buNone/>
              <a:defRPr sz="1400"/>
            </a:lvl1pPr>
            <a:lvl2pPr marL="685800" lvl="1" indent="-171450" algn="l">
              <a:lnSpc>
                <a:spcPct val="90000"/>
              </a:lnSpc>
              <a:spcBef>
                <a:spcPts val="600"/>
              </a:spcBef>
              <a:spcAft>
                <a:spcPts val="0"/>
              </a:spcAft>
              <a:buSzPts val="350"/>
              <a:buNone/>
              <a:defRPr sz="1400">
                <a:solidFill>
                  <a:schemeClr val="dk1"/>
                </a:solidFill>
              </a:defRPr>
            </a:lvl2pPr>
            <a:lvl3pPr marL="1028700" lvl="2" indent="-238125" algn="l">
              <a:lnSpc>
                <a:spcPct val="90000"/>
              </a:lnSpc>
              <a:spcBef>
                <a:spcPts val="600"/>
              </a:spcBef>
              <a:spcAft>
                <a:spcPts val="0"/>
              </a:spcAft>
              <a:buSzPts val="1400"/>
              <a:buChar char="▪"/>
              <a:defRPr sz="1400">
                <a:solidFill>
                  <a:schemeClr val="dk1"/>
                </a:solidFill>
              </a:defRPr>
            </a:lvl3pPr>
            <a:lvl4pPr marL="1371600" lvl="3" indent="-238125" algn="l">
              <a:lnSpc>
                <a:spcPct val="90000"/>
              </a:lnSpc>
              <a:spcBef>
                <a:spcPts val="280"/>
              </a:spcBef>
              <a:spcAft>
                <a:spcPts val="0"/>
              </a:spcAft>
              <a:buClr>
                <a:schemeClr val="dk1"/>
              </a:buClr>
              <a:buSzPts val="1400"/>
              <a:buChar char="–"/>
              <a:defRPr sz="1400">
                <a:solidFill>
                  <a:schemeClr val="dk1"/>
                </a:solidFill>
              </a:defRPr>
            </a:lvl4pPr>
            <a:lvl5pPr marL="1714500" lvl="4" indent="-238125" algn="l">
              <a:lnSpc>
                <a:spcPct val="90000"/>
              </a:lnSpc>
              <a:spcBef>
                <a:spcPts val="280"/>
              </a:spcBef>
              <a:spcAft>
                <a:spcPts val="0"/>
              </a:spcAft>
              <a:buSzPts val="1400"/>
              <a:buChar char="–"/>
              <a:defRPr sz="1400">
                <a:solidFill>
                  <a:schemeClr val="dk1"/>
                </a:solidFill>
              </a:defRPr>
            </a:lvl5pPr>
            <a:lvl6pPr marL="2057400" lvl="5" indent="-238125" algn="l">
              <a:lnSpc>
                <a:spcPct val="100000"/>
              </a:lnSpc>
              <a:spcBef>
                <a:spcPts val="280"/>
              </a:spcBef>
              <a:spcAft>
                <a:spcPts val="0"/>
              </a:spcAft>
              <a:buClr>
                <a:schemeClr val="dk1"/>
              </a:buClr>
              <a:buSzPts val="1400"/>
              <a:buChar char="–"/>
              <a:defRPr sz="1400"/>
            </a:lvl6pPr>
            <a:lvl7pPr marL="2400300" lvl="6" indent="-257175" algn="l">
              <a:lnSpc>
                <a:spcPct val="100000"/>
              </a:lnSpc>
              <a:spcBef>
                <a:spcPts val="360"/>
              </a:spcBef>
              <a:spcAft>
                <a:spcPts val="0"/>
              </a:spcAft>
              <a:buClr>
                <a:schemeClr val="dk1"/>
              </a:buClr>
              <a:buSzPts val="1800"/>
              <a:buChar char="•"/>
              <a:defRPr sz="1800"/>
            </a:lvl7pPr>
            <a:lvl8pPr marL="2743200" lvl="7" indent="-257175" algn="l">
              <a:lnSpc>
                <a:spcPct val="100000"/>
              </a:lnSpc>
              <a:spcBef>
                <a:spcPts val="360"/>
              </a:spcBef>
              <a:spcAft>
                <a:spcPts val="0"/>
              </a:spcAft>
              <a:buClr>
                <a:schemeClr val="dk1"/>
              </a:buClr>
              <a:buSzPts val="1800"/>
              <a:buChar char="•"/>
              <a:defRPr sz="1800"/>
            </a:lvl8pPr>
            <a:lvl9pPr marL="3086100" lvl="8" indent="-257175" algn="l">
              <a:lnSpc>
                <a:spcPct val="100000"/>
              </a:lnSpc>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body" idx="2"/>
          </p:nvPr>
        </p:nvSpPr>
        <p:spPr>
          <a:xfrm>
            <a:off x="4864795" y="1181101"/>
            <a:ext cx="3964880" cy="1678682"/>
          </a:xfrm>
          <a:prstGeom prst="rect">
            <a:avLst/>
          </a:prstGeom>
          <a:noFill/>
          <a:ln>
            <a:noFill/>
          </a:ln>
        </p:spPr>
        <p:txBody>
          <a:bodyPr spcFirstLastPara="1" wrap="square" lIns="0" tIns="0" rIns="0" bIns="0" anchor="t" anchorCtr="0">
            <a:normAutofit/>
          </a:bodyPr>
          <a:lstStyle>
            <a:lvl1pPr marL="342900" lvl="0" indent="-171450" algn="l">
              <a:lnSpc>
                <a:spcPct val="90000"/>
              </a:lnSpc>
              <a:spcBef>
                <a:spcPts val="600"/>
              </a:spcBef>
              <a:spcAft>
                <a:spcPts val="0"/>
              </a:spcAft>
              <a:buSzPts val="350"/>
              <a:buNone/>
              <a:defRPr sz="1400"/>
            </a:lvl1pPr>
            <a:lvl2pPr marL="685800" lvl="1" indent="-171450" algn="l">
              <a:lnSpc>
                <a:spcPct val="90000"/>
              </a:lnSpc>
              <a:spcBef>
                <a:spcPts val="600"/>
              </a:spcBef>
              <a:spcAft>
                <a:spcPts val="0"/>
              </a:spcAft>
              <a:buSzPts val="350"/>
              <a:buNone/>
              <a:defRPr sz="1400">
                <a:solidFill>
                  <a:schemeClr val="dk1"/>
                </a:solidFill>
              </a:defRPr>
            </a:lvl2pPr>
            <a:lvl3pPr marL="1028700" lvl="2" indent="-238125" algn="l">
              <a:lnSpc>
                <a:spcPct val="90000"/>
              </a:lnSpc>
              <a:spcBef>
                <a:spcPts val="600"/>
              </a:spcBef>
              <a:spcAft>
                <a:spcPts val="0"/>
              </a:spcAft>
              <a:buSzPts val="1400"/>
              <a:buChar char="▪"/>
              <a:defRPr sz="1400">
                <a:solidFill>
                  <a:schemeClr val="dk1"/>
                </a:solidFill>
              </a:defRPr>
            </a:lvl3pPr>
            <a:lvl4pPr marL="1371600" lvl="3" indent="-238125" algn="l">
              <a:lnSpc>
                <a:spcPct val="90000"/>
              </a:lnSpc>
              <a:spcBef>
                <a:spcPts val="280"/>
              </a:spcBef>
              <a:spcAft>
                <a:spcPts val="0"/>
              </a:spcAft>
              <a:buClr>
                <a:schemeClr val="dk1"/>
              </a:buClr>
              <a:buSzPts val="1400"/>
              <a:buChar char="–"/>
              <a:defRPr sz="1400">
                <a:solidFill>
                  <a:schemeClr val="dk1"/>
                </a:solidFill>
              </a:defRPr>
            </a:lvl4pPr>
            <a:lvl5pPr marL="1714500" lvl="4" indent="-238125" algn="l">
              <a:lnSpc>
                <a:spcPct val="90000"/>
              </a:lnSpc>
              <a:spcBef>
                <a:spcPts val="280"/>
              </a:spcBef>
              <a:spcAft>
                <a:spcPts val="0"/>
              </a:spcAft>
              <a:buSzPts val="1400"/>
              <a:buChar char="–"/>
              <a:defRPr sz="1400">
                <a:solidFill>
                  <a:schemeClr val="dk1"/>
                </a:solidFill>
              </a:defRPr>
            </a:lvl5pPr>
            <a:lvl6pPr marL="2057400" lvl="5" indent="-238125" algn="l">
              <a:lnSpc>
                <a:spcPct val="100000"/>
              </a:lnSpc>
              <a:spcBef>
                <a:spcPts val="280"/>
              </a:spcBef>
              <a:spcAft>
                <a:spcPts val="0"/>
              </a:spcAft>
              <a:buClr>
                <a:schemeClr val="dk1"/>
              </a:buClr>
              <a:buSzPts val="1400"/>
              <a:buChar char="–"/>
              <a:defRPr sz="1400"/>
            </a:lvl6pPr>
            <a:lvl7pPr marL="2400300" lvl="6" indent="-257175" algn="l">
              <a:lnSpc>
                <a:spcPct val="100000"/>
              </a:lnSpc>
              <a:spcBef>
                <a:spcPts val="360"/>
              </a:spcBef>
              <a:spcAft>
                <a:spcPts val="0"/>
              </a:spcAft>
              <a:buClr>
                <a:schemeClr val="dk1"/>
              </a:buClr>
              <a:buSzPts val="1800"/>
              <a:buChar char="•"/>
              <a:defRPr sz="1800"/>
            </a:lvl7pPr>
            <a:lvl8pPr marL="2743200" lvl="7" indent="-257175" algn="l">
              <a:lnSpc>
                <a:spcPct val="100000"/>
              </a:lnSpc>
              <a:spcBef>
                <a:spcPts val="360"/>
              </a:spcBef>
              <a:spcAft>
                <a:spcPts val="0"/>
              </a:spcAft>
              <a:buClr>
                <a:schemeClr val="dk1"/>
              </a:buClr>
              <a:buSzPts val="1800"/>
              <a:buChar char="•"/>
              <a:defRPr sz="1800"/>
            </a:lvl8pPr>
            <a:lvl9pPr marL="3086100" lvl="8" indent="-257175" algn="l">
              <a:lnSpc>
                <a:spcPct val="100000"/>
              </a:lnSpc>
              <a:spcBef>
                <a:spcPts val="360"/>
              </a:spcBef>
              <a:spcAft>
                <a:spcPts val="0"/>
              </a:spcAft>
              <a:buClr>
                <a:schemeClr val="dk1"/>
              </a:buClr>
              <a:buSzPts val="1800"/>
              <a:buChar char="•"/>
              <a:defRPr sz="1800"/>
            </a:lvl9pPr>
          </a:lstStyle>
          <a:p>
            <a:endParaRPr/>
          </a:p>
        </p:txBody>
      </p:sp>
      <p:sp>
        <p:nvSpPr>
          <p:cNvPr id="38" name="Google Shape;38;p17"/>
          <p:cNvSpPr txBox="1">
            <a:spLocks noGrp="1"/>
          </p:cNvSpPr>
          <p:nvPr>
            <p:ph type="title"/>
          </p:nvPr>
        </p:nvSpPr>
        <p:spPr>
          <a:xfrm>
            <a:off x="313199" y="268288"/>
            <a:ext cx="8516475" cy="7413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2"/>
              </a:buClr>
              <a:buSzPts val="2000"/>
              <a:buFont typeface="Helvetica Neu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7"/>
          <p:cNvSpPr txBox="1"/>
          <p:nvPr/>
        </p:nvSpPr>
        <p:spPr>
          <a:xfrm>
            <a:off x="619545" y="4749148"/>
            <a:ext cx="900888"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2"/>
              </a:buClr>
              <a:buSzPts val="1067"/>
              <a:buFont typeface="Helvetica Neue"/>
              <a:buNone/>
            </a:pPr>
            <a:r>
              <a:rPr lang="en-US" sz="800" b="1" i="0" u="none" strike="noStrike" cap="none">
                <a:solidFill>
                  <a:schemeClr val="lt2"/>
                </a:solidFill>
                <a:latin typeface="Helvetica Neue"/>
                <a:ea typeface="Helvetica Neue"/>
                <a:cs typeface="Helvetica Neue"/>
                <a:sym typeface="Helvetica Neue"/>
              </a:rPr>
              <a:t>Orange Restricted</a:t>
            </a:r>
            <a:endParaRPr sz="1800">
              <a:solidFill>
                <a:schemeClr val="dk1"/>
              </a:solidFill>
              <a:latin typeface="Arial"/>
              <a:ea typeface="Arial"/>
              <a:cs typeface="Arial"/>
              <a:sym typeface="Arial"/>
            </a:endParaRPr>
          </a:p>
        </p:txBody>
      </p:sp>
      <p:sp>
        <p:nvSpPr>
          <p:cNvPr id="40" name="Google Shape;40;p17"/>
          <p:cNvSpPr txBox="1">
            <a:spLocks noGrp="1"/>
          </p:cNvSpPr>
          <p:nvPr>
            <p:ph type="body" idx="3"/>
          </p:nvPr>
        </p:nvSpPr>
        <p:spPr>
          <a:xfrm>
            <a:off x="303998" y="2981301"/>
            <a:ext cx="3968055" cy="1678682"/>
          </a:xfrm>
          <a:prstGeom prst="rect">
            <a:avLst/>
          </a:prstGeom>
          <a:noFill/>
          <a:ln>
            <a:noFill/>
          </a:ln>
        </p:spPr>
        <p:txBody>
          <a:bodyPr spcFirstLastPara="1" wrap="square" lIns="0" tIns="0" rIns="0" bIns="0" anchor="t" anchorCtr="0">
            <a:normAutofit/>
          </a:bodyPr>
          <a:lstStyle>
            <a:lvl1pPr marL="342900" lvl="0" indent="-171450" algn="l">
              <a:lnSpc>
                <a:spcPct val="90000"/>
              </a:lnSpc>
              <a:spcBef>
                <a:spcPts val="600"/>
              </a:spcBef>
              <a:spcAft>
                <a:spcPts val="0"/>
              </a:spcAft>
              <a:buSzPts val="350"/>
              <a:buNone/>
              <a:defRPr sz="1400"/>
            </a:lvl1pPr>
            <a:lvl2pPr marL="685800" lvl="1" indent="-171450" algn="l">
              <a:lnSpc>
                <a:spcPct val="90000"/>
              </a:lnSpc>
              <a:spcBef>
                <a:spcPts val="600"/>
              </a:spcBef>
              <a:spcAft>
                <a:spcPts val="0"/>
              </a:spcAft>
              <a:buSzPts val="350"/>
              <a:buNone/>
              <a:defRPr sz="1400">
                <a:solidFill>
                  <a:schemeClr val="dk1"/>
                </a:solidFill>
              </a:defRPr>
            </a:lvl2pPr>
            <a:lvl3pPr marL="1028700" lvl="2" indent="-238125" algn="l">
              <a:lnSpc>
                <a:spcPct val="90000"/>
              </a:lnSpc>
              <a:spcBef>
                <a:spcPts val="600"/>
              </a:spcBef>
              <a:spcAft>
                <a:spcPts val="0"/>
              </a:spcAft>
              <a:buSzPts val="1400"/>
              <a:buChar char="▪"/>
              <a:defRPr sz="1400">
                <a:solidFill>
                  <a:schemeClr val="dk1"/>
                </a:solidFill>
              </a:defRPr>
            </a:lvl3pPr>
            <a:lvl4pPr marL="1371600" lvl="3" indent="-238125" algn="l">
              <a:lnSpc>
                <a:spcPct val="90000"/>
              </a:lnSpc>
              <a:spcBef>
                <a:spcPts val="280"/>
              </a:spcBef>
              <a:spcAft>
                <a:spcPts val="0"/>
              </a:spcAft>
              <a:buClr>
                <a:schemeClr val="dk1"/>
              </a:buClr>
              <a:buSzPts val="1400"/>
              <a:buChar char="–"/>
              <a:defRPr sz="1400">
                <a:solidFill>
                  <a:schemeClr val="dk1"/>
                </a:solidFill>
              </a:defRPr>
            </a:lvl4pPr>
            <a:lvl5pPr marL="1714500" lvl="4" indent="-238125" algn="l">
              <a:lnSpc>
                <a:spcPct val="90000"/>
              </a:lnSpc>
              <a:spcBef>
                <a:spcPts val="280"/>
              </a:spcBef>
              <a:spcAft>
                <a:spcPts val="0"/>
              </a:spcAft>
              <a:buSzPts val="1400"/>
              <a:buChar char="–"/>
              <a:defRPr sz="1400">
                <a:solidFill>
                  <a:schemeClr val="dk1"/>
                </a:solidFill>
              </a:defRPr>
            </a:lvl5pPr>
            <a:lvl6pPr marL="2057400" lvl="5" indent="-238125" algn="l">
              <a:lnSpc>
                <a:spcPct val="100000"/>
              </a:lnSpc>
              <a:spcBef>
                <a:spcPts val="280"/>
              </a:spcBef>
              <a:spcAft>
                <a:spcPts val="0"/>
              </a:spcAft>
              <a:buClr>
                <a:schemeClr val="dk1"/>
              </a:buClr>
              <a:buSzPts val="1400"/>
              <a:buChar char="–"/>
              <a:defRPr sz="1400"/>
            </a:lvl6pPr>
            <a:lvl7pPr marL="2400300" lvl="6" indent="-257175" algn="l">
              <a:lnSpc>
                <a:spcPct val="100000"/>
              </a:lnSpc>
              <a:spcBef>
                <a:spcPts val="360"/>
              </a:spcBef>
              <a:spcAft>
                <a:spcPts val="0"/>
              </a:spcAft>
              <a:buClr>
                <a:schemeClr val="dk1"/>
              </a:buClr>
              <a:buSzPts val="1800"/>
              <a:buChar char="•"/>
              <a:defRPr sz="1800"/>
            </a:lvl7pPr>
            <a:lvl8pPr marL="2743200" lvl="7" indent="-257175" algn="l">
              <a:lnSpc>
                <a:spcPct val="100000"/>
              </a:lnSpc>
              <a:spcBef>
                <a:spcPts val="360"/>
              </a:spcBef>
              <a:spcAft>
                <a:spcPts val="0"/>
              </a:spcAft>
              <a:buClr>
                <a:schemeClr val="dk1"/>
              </a:buClr>
              <a:buSzPts val="1800"/>
              <a:buChar char="•"/>
              <a:defRPr sz="1800"/>
            </a:lvl8pPr>
            <a:lvl9pPr marL="3086100" lvl="8" indent="-257175" algn="l">
              <a:lnSpc>
                <a:spcPct val="100000"/>
              </a:lnSpc>
              <a:spcBef>
                <a:spcPts val="360"/>
              </a:spcBef>
              <a:spcAft>
                <a:spcPts val="0"/>
              </a:spcAft>
              <a:buClr>
                <a:schemeClr val="dk1"/>
              </a:buClr>
              <a:buSzPts val="1800"/>
              <a:buChar char="•"/>
              <a:defRPr sz="1800"/>
            </a:lvl9pPr>
          </a:lstStyle>
          <a:p>
            <a:endParaRPr/>
          </a:p>
        </p:txBody>
      </p:sp>
      <p:sp>
        <p:nvSpPr>
          <p:cNvPr id="41" name="Google Shape;41;p17"/>
          <p:cNvSpPr txBox="1">
            <a:spLocks noGrp="1"/>
          </p:cNvSpPr>
          <p:nvPr>
            <p:ph type="body" idx="4"/>
          </p:nvPr>
        </p:nvSpPr>
        <p:spPr>
          <a:xfrm>
            <a:off x="4855593" y="2981301"/>
            <a:ext cx="3964880" cy="1678682"/>
          </a:xfrm>
          <a:prstGeom prst="rect">
            <a:avLst/>
          </a:prstGeom>
          <a:noFill/>
          <a:ln>
            <a:noFill/>
          </a:ln>
        </p:spPr>
        <p:txBody>
          <a:bodyPr spcFirstLastPara="1" wrap="square" lIns="0" tIns="0" rIns="0" bIns="0" anchor="t" anchorCtr="0">
            <a:normAutofit/>
          </a:bodyPr>
          <a:lstStyle>
            <a:lvl1pPr marL="342900" lvl="0" indent="-171450" algn="l">
              <a:lnSpc>
                <a:spcPct val="90000"/>
              </a:lnSpc>
              <a:spcBef>
                <a:spcPts val="600"/>
              </a:spcBef>
              <a:spcAft>
                <a:spcPts val="0"/>
              </a:spcAft>
              <a:buSzPts val="350"/>
              <a:buNone/>
              <a:defRPr sz="1400"/>
            </a:lvl1pPr>
            <a:lvl2pPr marL="685800" lvl="1" indent="-171450" algn="l">
              <a:lnSpc>
                <a:spcPct val="90000"/>
              </a:lnSpc>
              <a:spcBef>
                <a:spcPts val="600"/>
              </a:spcBef>
              <a:spcAft>
                <a:spcPts val="0"/>
              </a:spcAft>
              <a:buSzPts val="350"/>
              <a:buNone/>
              <a:defRPr sz="1400">
                <a:solidFill>
                  <a:schemeClr val="dk1"/>
                </a:solidFill>
              </a:defRPr>
            </a:lvl2pPr>
            <a:lvl3pPr marL="1028700" lvl="2" indent="-238125" algn="l">
              <a:lnSpc>
                <a:spcPct val="90000"/>
              </a:lnSpc>
              <a:spcBef>
                <a:spcPts val="600"/>
              </a:spcBef>
              <a:spcAft>
                <a:spcPts val="0"/>
              </a:spcAft>
              <a:buSzPts val="1400"/>
              <a:buChar char="▪"/>
              <a:defRPr sz="1400">
                <a:solidFill>
                  <a:schemeClr val="dk1"/>
                </a:solidFill>
              </a:defRPr>
            </a:lvl3pPr>
            <a:lvl4pPr marL="1371600" lvl="3" indent="-238125" algn="l">
              <a:lnSpc>
                <a:spcPct val="90000"/>
              </a:lnSpc>
              <a:spcBef>
                <a:spcPts val="280"/>
              </a:spcBef>
              <a:spcAft>
                <a:spcPts val="0"/>
              </a:spcAft>
              <a:buClr>
                <a:schemeClr val="dk1"/>
              </a:buClr>
              <a:buSzPts val="1400"/>
              <a:buChar char="–"/>
              <a:defRPr sz="1400">
                <a:solidFill>
                  <a:schemeClr val="dk1"/>
                </a:solidFill>
              </a:defRPr>
            </a:lvl4pPr>
            <a:lvl5pPr marL="1714500" lvl="4" indent="-238125" algn="l">
              <a:lnSpc>
                <a:spcPct val="90000"/>
              </a:lnSpc>
              <a:spcBef>
                <a:spcPts val="280"/>
              </a:spcBef>
              <a:spcAft>
                <a:spcPts val="0"/>
              </a:spcAft>
              <a:buSzPts val="1400"/>
              <a:buChar char="–"/>
              <a:defRPr sz="1400">
                <a:solidFill>
                  <a:schemeClr val="dk1"/>
                </a:solidFill>
              </a:defRPr>
            </a:lvl5pPr>
            <a:lvl6pPr marL="2057400" lvl="5" indent="-238125" algn="l">
              <a:lnSpc>
                <a:spcPct val="100000"/>
              </a:lnSpc>
              <a:spcBef>
                <a:spcPts val="280"/>
              </a:spcBef>
              <a:spcAft>
                <a:spcPts val="0"/>
              </a:spcAft>
              <a:buClr>
                <a:schemeClr val="dk1"/>
              </a:buClr>
              <a:buSzPts val="1400"/>
              <a:buChar char="–"/>
              <a:defRPr sz="1400"/>
            </a:lvl6pPr>
            <a:lvl7pPr marL="2400300" lvl="6" indent="-257175" algn="l">
              <a:lnSpc>
                <a:spcPct val="100000"/>
              </a:lnSpc>
              <a:spcBef>
                <a:spcPts val="360"/>
              </a:spcBef>
              <a:spcAft>
                <a:spcPts val="0"/>
              </a:spcAft>
              <a:buClr>
                <a:schemeClr val="dk1"/>
              </a:buClr>
              <a:buSzPts val="1800"/>
              <a:buChar char="•"/>
              <a:defRPr sz="1800"/>
            </a:lvl7pPr>
            <a:lvl8pPr marL="2743200" lvl="7" indent="-257175" algn="l">
              <a:lnSpc>
                <a:spcPct val="100000"/>
              </a:lnSpc>
              <a:spcBef>
                <a:spcPts val="360"/>
              </a:spcBef>
              <a:spcAft>
                <a:spcPts val="0"/>
              </a:spcAft>
              <a:buClr>
                <a:schemeClr val="dk1"/>
              </a:buClr>
              <a:buSzPts val="1800"/>
              <a:buChar char="•"/>
              <a:defRPr sz="1800"/>
            </a:lvl8pPr>
            <a:lvl9pPr marL="3086100" lvl="8" indent="-257175" algn="l">
              <a:lnSpc>
                <a:spcPct val="100000"/>
              </a:lnSpc>
              <a:spcBef>
                <a:spcPts val="360"/>
              </a:spcBef>
              <a:spcAft>
                <a:spcPts val="0"/>
              </a:spcAft>
              <a:buClr>
                <a:schemeClr val="dk1"/>
              </a:buClr>
              <a:buSzPts val="1800"/>
              <a:buChar char="•"/>
              <a:defRPr sz="1800"/>
            </a:lvl9pPr>
          </a:lstStyle>
          <a:p>
            <a:endParaRPr/>
          </a:p>
        </p:txBody>
      </p:sp>
    </p:spTree>
    <p:extLst>
      <p:ext uri="{BB962C8B-B14F-4D97-AF65-F5344CB8AC3E}">
        <p14:creationId xmlns:p14="http://schemas.microsoft.com/office/powerpoint/2010/main" val="3616496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re seul">
  <p:cSld name="Titre seul">
    <p:spTree>
      <p:nvGrpSpPr>
        <p:cNvPr id="1" name="Shape 42"/>
        <p:cNvGrpSpPr/>
        <p:nvPr/>
      </p:nvGrpSpPr>
      <p:grpSpPr>
        <a:xfrm>
          <a:off x="0" y="0"/>
          <a:ext cx="0" cy="0"/>
          <a:chOff x="0" y="0"/>
          <a:chExt cx="0" cy="0"/>
        </a:xfrm>
      </p:grpSpPr>
      <p:sp>
        <p:nvSpPr>
          <p:cNvPr id="43" name="Google Shape;43;p18"/>
          <p:cNvSpPr txBox="1">
            <a:spLocks noGrp="1"/>
          </p:cNvSpPr>
          <p:nvPr>
            <p:ph type="title"/>
          </p:nvPr>
        </p:nvSpPr>
        <p:spPr>
          <a:xfrm>
            <a:off x="313201" y="268288"/>
            <a:ext cx="8516475" cy="7413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2"/>
              </a:buClr>
              <a:buSzPts val="2000"/>
              <a:buFont typeface="Helvetica Neu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8"/>
          <p:cNvSpPr txBox="1"/>
          <p:nvPr/>
        </p:nvSpPr>
        <p:spPr>
          <a:xfrm>
            <a:off x="619545" y="4749148"/>
            <a:ext cx="900888"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2"/>
              </a:buClr>
              <a:buSzPts val="1067"/>
              <a:buFont typeface="Helvetica Neue"/>
              <a:buNone/>
            </a:pPr>
            <a:r>
              <a:rPr lang="en-US" sz="800" b="1" i="0" u="none" strike="noStrike" cap="none">
                <a:solidFill>
                  <a:schemeClr val="lt2"/>
                </a:solidFill>
                <a:latin typeface="Helvetica Neue"/>
                <a:ea typeface="Helvetica Neue"/>
                <a:cs typeface="Helvetica Neue"/>
                <a:sym typeface="Helvetica Neue"/>
              </a:rPr>
              <a:t>Orange Restricted</a:t>
            </a:r>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172570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Full Bleed Media">
  <p:cSld name="Full Bleed Media">
    <p:bg>
      <p:bgPr>
        <a:solidFill>
          <a:schemeClr val="dk2"/>
        </a:solidFill>
        <a:effectLst/>
      </p:bgPr>
    </p:bg>
    <p:spTree>
      <p:nvGrpSpPr>
        <p:cNvPr id="1" name="Shape 45"/>
        <p:cNvGrpSpPr/>
        <p:nvPr/>
      </p:nvGrpSpPr>
      <p:grpSpPr>
        <a:xfrm>
          <a:off x="0" y="0"/>
          <a:ext cx="0" cy="0"/>
          <a:chOff x="0" y="0"/>
          <a:chExt cx="0" cy="0"/>
        </a:xfrm>
      </p:grpSpPr>
      <p:sp>
        <p:nvSpPr>
          <p:cNvPr id="46" name="Google Shape;46;p19"/>
          <p:cNvSpPr>
            <a:spLocks noGrp="1"/>
          </p:cNvSpPr>
          <p:nvPr>
            <p:ph type="pic" idx="2"/>
          </p:nvPr>
        </p:nvSpPr>
        <p:spPr>
          <a:xfrm>
            <a:off x="0" y="0"/>
            <a:ext cx="9144000" cy="5143500"/>
          </a:xfrm>
          <a:prstGeom prst="rect">
            <a:avLst/>
          </a:prstGeom>
          <a:noFill/>
          <a:ln>
            <a:noFill/>
          </a:ln>
        </p:spPr>
      </p:sp>
      <p:sp>
        <p:nvSpPr>
          <p:cNvPr id="47" name="Google Shape;47;p19"/>
          <p:cNvSpPr txBox="1">
            <a:spLocks noGrp="1"/>
          </p:cNvSpPr>
          <p:nvPr>
            <p:ph type="title"/>
          </p:nvPr>
        </p:nvSpPr>
        <p:spPr>
          <a:xfrm>
            <a:off x="313201" y="268288"/>
            <a:ext cx="8516475" cy="7413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000000"/>
              </a:buClr>
              <a:buSzPts val="2000"/>
              <a:buFont typeface="Helvetica Neue"/>
              <a:buNone/>
              <a:defRPr>
                <a:solidFill>
                  <a:srgbClr val="0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10682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ide">
  <p:cSld name="Vide">
    <p:spTree>
      <p:nvGrpSpPr>
        <p:cNvPr id="1" name="Shape 48"/>
        <p:cNvGrpSpPr/>
        <p:nvPr/>
      </p:nvGrpSpPr>
      <p:grpSpPr>
        <a:xfrm>
          <a:off x="0" y="0"/>
          <a:ext cx="0" cy="0"/>
          <a:chOff x="0" y="0"/>
          <a:chExt cx="0" cy="0"/>
        </a:xfrm>
      </p:grpSpPr>
      <p:sp>
        <p:nvSpPr>
          <p:cNvPr id="49" name="Google Shape;49;p20"/>
          <p:cNvSpPr txBox="1"/>
          <p:nvPr/>
        </p:nvSpPr>
        <p:spPr>
          <a:xfrm>
            <a:off x="619545" y="4749148"/>
            <a:ext cx="900888"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lt2"/>
              </a:buClr>
              <a:buSzPts val="1067"/>
              <a:buFont typeface="Helvetica Neue"/>
              <a:buNone/>
            </a:pPr>
            <a:r>
              <a:rPr lang="en-US" sz="800" b="1" i="0" u="none" strike="noStrike" cap="none">
                <a:solidFill>
                  <a:schemeClr val="lt2"/>
                </a:solidFill>
                <a:latin typeface="Helvetica Neue"/>
                <a:ea typeface="Helvetica Neue"/>
                <a:cs typeface="Helvetica Neue"/>
                <a:sym typeface="Helvetica Neue"/>
              </a:rPr>
              <a:t>Orange Restricted</a:t>
            </a:r>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1208945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ARK">
  <p:cSld name="DARK">
    <p:bg>
      <p:bgPr>
        <a:solidFill>
          <a:srgbClr val="000000"/>
        </a:solidFill>
        <a:effectLst/>
      </p:bgPr>
    </p:bg>
    <p:spTree>
      <p:nvGrpSpPr>
        <p:cNvPr id="1" name="Shape 50"/>
        <p:cNvGrpSpPr/>
        <p:nvPr/>
      </p:nvGrpSpPr>
      <p:grpSpPr>
        <a:xfrm>
          <a:off x="0" y="0"/>
          <a:ext cx="0" cy="0"/>
          <a:chOff x="0" y="0"/>
          <a:chExt cx="0" cy="0"/>
        </a:xfrm>
      </p:grpSpPr>
    </p:spTree>
    <p:extLst>
      <p:ext uri="{BB962C8B-B14F-4D97-AF65-F5344CB8AC3E}">
        <p14:creationId xmlns:p14="http://schemas.microsoft.com/office/powerpoint/2010/main" val="2309567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1"/>
        <p:cNvGrpSpPr/>
        <p:nvPr/>
      </p:nvGrpSpPr>
      <p:grpSpPr>
        <a:xfrm>
          <a:off x="0" y="0"/>
          <a:ext cx="0" cy="0"/>
          <a:chOff x="0" y="0"/>
          <a:chExt cx="0" cy="0"/>
        </a:xfrm>
      </p:grpSpPr>
    </p:spTree>
    <p:extLst>
      <p:ext uri="{BB962C8B-B14F-4D97-AF65-F5344CB8AC3E}">
        <p14:creationId xmlns:p14="http://schemas.microsoft.com/office/powerpoint/2010/main" val="220938566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313201" y="268288"/>
            <a:ext cx="8516475" cy="741362"/>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lt2"/>
              </a:buClr>
              <a:buSzPts val="2000"/>
              <a:buFont typeface="Helvetica Neue"/>
              <a:buNone/>
              <a:defRPr sz="2000" b="1" i="0" u="none" strike="noStrike" cap="none">
                <a:solidFill>
                  <a:schemeClr val="lt2"/>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313201" y="1181101"/>
            <a:ext cx="8516475" cy="3370263"/>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600"/>
              </a:spcBef>
              <a:spcAft>
                <a:spcPts val="0"/>
              </a:spcAft>
              <a:buClr>
                <a:schemeClr val="lt1"/>
              </a:buClr>
              <a:buSzPts val="350"/>
              <a:buFont typeface="Calibri"/>
              <a:buNone/>
              <a:defRPr sz="1400" b="1" i="0" u="none" strike="noStrike" cap="none">
                <a:solidFill>
                  <a:schemeClr val="lt2"/>
                </a:solidFill>
                <a:latin typeface="Helvetica Neue"/>
                <a:ea typeface="Helvetica Neue"/>
                <a:cs typeface="Helvetica Neue"/>
                <a:sym typeface="Helvetica Neue"/>
              </a:defRPr>
            </a:lvl1pPr>
            <a:lvl2pPr marL="914400" marR="0" lvl="1" indent="-228600" algn="l" rtl="0">
              <a:lnSpc>
                <a:spcPct val="90000"/>
              </a:lnSpc>
              <a:spcBef>
                <a:spcPts val="600"/>
              </a:spcBef>
              <a:spcAft>
                <a:spcPts val="0"/>
              </a:spcAft>
              <a:buClr>
                <a:schemeClr val="lt1"/>
              </a:buClr>
              <a:buSzPts val="350"/>
              <a:buFont typeface="Calibri"/>
              <a:buNone/>
              <a:defRPr sz="1400" b="1" i="0" u="none" strike="noStrike" cap="none">
                <a:solidFill>
                  <a:schemeClr val="dk1"/>
                </a:solidFill>
                <a:latin typeface="Helvetica Neue"/>
                <a:ea typeface="Helvetica Neue"/>
                <a:cs typeface="Helvetica Neue"/>
                <a:sym typeface="Helvetica Neue"/>
              </a:defRPr>
            </a:lvl2pPr>
            <a:lvl3pPr marL="1371600" marR="0" lvl="2" indent="-317500" algn="l" rtl="0">
              <a:lnSpc>
                <a:spcPct val="90000"/>
              </a:lnSpc>
              <a:spcBef>
                <a:spcPts val="600"/>
              </a:spcBef>
              <a:spcAft>
                <a:spcPts val="0"/>
              </a:spcAft>
              <a:buClr>
                <a:schemeClr val="lt2"/>
              </a:buClr>
              <a:buSzPts val="1400"/>
              <a:buFont typeface="Noto Sans Symbols"/>
              <a:buChar char="▪"/>
              <a:defRPr sz="1400" b="1" i="0" u="none" strike="noStrike" cap="none">
                <a:solidFill>
                  <a:schemeClr val="dk1"/>
                </a:solidFill>
                <a:latin typeface="Helvetica Neue"/>
                <a:ea typeface="Helvetica Neue"/>
                <a:cs typeface="Helvetica Neue"/>
                <a:sym typeface="Helvetica Neue"/>
              </a:defRPr>
            </a:lvl3pPr>
            <a:lvl4pPr marL="1828800" marR="0" lvl="3" indent="-317500" algn="l" rtl="0">
              <a:lnSpc>
                <a:spcPct val="90000"/>
              </a:lnSpc>
              <a:spcBef>
                <a:spcPts val="280"/>
              </a:spcBef>
              <a:spcAft>
                <a:spcPts val="0"/>
              </a:spcAft>
              <a:buClr>
                <a:schemeClr val="dk1"/>
              </a:buClr>
              <a:buSzPts val="1400"/>
              <a:buFont typeface="Arial"/>
              <a:buChar char="–"/>
              <a:defRPr sz="1400" b="0" i="0" u="none" strike="noStrike" cap="none">
                <a:solidFill>
                  <a:schemeClr val="dk1"/>
                </a:solidFill>
                <a:latin typeface="Helvetica Neue"/>
                <a:ea typeface="Helvetica Neue"/>
                <a:cs typeface="Helvetica Neue"/>
                <a:sym typeface="Helvetica Neue"/>
              </a:defRPr>
            </a:lvl4pPr>
            <a:lvl5pPr marL="2286000" marR="0" lvl="4" indent="-317500" algn="l" rtl="0">
              <a:lnSpc>
                <a:spcPct val="90000"/>
              </a:lnSpc>
              <a:spcBef>
                <a:spcPts val="280"/>
              </a:spcBef>
              <a:spcAft>
                <a:spcPts val="0"/>
              </a:spcAft>
              <a:buClr>
                <a:schemeClr val="dk1"/>
              </a:buClr>
              <a:buSzPts val="1400"/>
              <a:buFont typeface="Arial"/>
              <a:buChar char="–"/>
              <a:defRPr sz="1400" b="0" i="0" u="none" strike="noStrike" cap="none">
                <a:solidFill>
                  <a:schemeClr val="dk1"/>
                </a:solidFill>
                <a:latin typeface="Helvetica Neue"/>
                <a:ea typeface="Helvetica Neue"/>
                <a:cs typeface="Helvetica Neue"/>
                <a:sym typeface="Helvetica Neue"/>
              </a:defRPr>
            </a:lvl5pPr>
            <a:lvl6pPr marL="2743200" marR="0" lvl="5"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Helvetica Neue"/>
                <a:ea typeface="Helvetica Neue"/>
                <a:cs typeface="Helvetica Neue"/>
                <a:sym typeface="Helvetica Neue"/>
              </a:defRPr>
            </a:lvl6pPr>
            <a:lvl7pPr marL="3200400" marR="0" lvl="6"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Helvetica Neue"/>
                <a:ea typeface="Helvetica Neue"/>
                <a:cs typeface="Helvetica Neue"/>
                <a:sym typeface="Helvetica Neue"/>
              </a:defRPr>
            </a:lvl7pPr>
            <a:lvl8pPr marL="3657600" marR="0" lvl="7"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Helvetica Neue"/>
                <a:ea typeface="Helvetica Neue"/>
                <a:cs typeface="Helvetica Neue"/>
                <a:sym typeface="Helvetica Neue"/>
              </a:defRPr>
            </a:lvl8pPr>
            <a:lvl9pPr marL="4114800" marR="0" lvl="8"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Helvetica Neue"/>
                <a:ea typeface="Helvetica Neue"/>
                <a:cs typeface="Helvetica Neue"/>
                <a:sym typeface="Helvetica Neue"/>
              </a:defRPr>
            </a:lvl9pPr>
          </a:lstStyle>
          <a:p>
            <a:endParaRPr/>
          </a:p>
        </p:txBody>
      </p:sp>
      <p:sp>
        <p:nvSpPr>
          <p:cNvPr id="8" name="Google Shape;8;p10"/>
          <p:cNvSpPr txBox="1"/>
          <p:nvPr/>
        </p:nvSpPr>
        <p:spPr>
          <a:xfrm>
            <a:off x="314325" y="4535486"/>
            <a:ext cx="275010" cy="334961"/>
          </a:xfrm>
          <a:prstGeom prst="rect">
            <a:avLst/>
          </a:prstGeom>
          <a:noFill/>
          <a:ln>
            <a:noFill/>
          </a:ln>
        </p:spPr>
        <p:txBody>
          <a:bodyPr spcFirstLastPara="1" wrap="square" lIns="7200" tIns="0" rIns="0" bIns="0" anchor="b" anchorCtr="0">
            <a:normAutofit/>
          </a:bodyPr>
          <a:lstStyle/>
          <a:p>
            <a:pPr marL="0" marR="0" lvl="0" indent="0" algn="l" rtl="0">
              <a:lnSpc>
                <a:spcPct val="85000"/>
              </a:lnSpc>
              <a:spcBef>
                <a:spcPts val="0"/>
              </a:spcBef>
              <a:spcAft>
                <a:spcPts val="0"/>
              </a:spcAft>
              <a:buClr>
                <a:srgbClr val="FFFFFF"/>
              </a:buClr>
              <a:buSzPts val="800"/>
              <a:buFont typeface="Helvetica Neue"/>
              <a:buNone/>
            </a:pPr>
            <a:fld id="{00000000-1234-1234-1234-123412341234}" type="slidenum">
              <a:rPr lang="en-US" sz="800" b="1" i="0" u="none" strike="noStrike" cap="none">
                <a:solidFill>
                  <a:schemeClr val="dk1"/>
                </a:solidFill>
                <a:latin typeface="Helvetica Neue"/>
                <a:ea typeface="Helvetica Neue"/>
                <a:cs typeface="Helvetica Neue"/>
                <a:sym typeface="Helvetica Neue"/>
              </a:rPr>
              <a:pPr marL="0" marR="0" lvl="0" indent="0" algn="l" rtl="0">
                <a:lnSpc>
                  <a:spcPct val="85000"/>
                </a:lnSpc>
                <a:spcBef>
                  <a:spcPts val="0"/>
                </a:spcBef>
                <a:spcAft>
                  <a:spcPts val="0"/>
                </a:spcAft>
                <a:buClr>
                  <a:srgbClr val="FFFFFF"/>
                </a:buClr>
                <a:buSzPts val="800"/>
                <a:buFont typeface="Helvetica Neue"/>
                <a:buNone/>
              </a:pPr>
              <a:t>‹#›</a:t>
            </a:fld>
            <a:endParaRPr sz="800" b="1"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3231971415"/>
      </p:ext>
    </p:extLst>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comments" Target="../comments/commen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338328" y="137160"/>
            <a:ext cx="0" cy="4828032"/>
          </a:xfrm>
          <a:prstGeom prst="line">
            <a:avLst/>
          </a:prstGeom>
          <a:noFill/>
          <a:ln w="53975">
            <a:solidFill>
              <a:srgbClr val="FF6600"/>
            </a:solidFill>
            <a:prstDash val="solid"/>
          </a:ln>
        </p:spPr>
      </p:sp>
      <p:sp>
        <p:nvSpPr>
          <p:cNvPr id="3" name="Text 1"/>
          <p:cNvSpPr txBox="1"/>
          <p:nvPr/>
        </p:nvSpPr>
        <p:spPr>
          <a:xfrm>
            <a:off x="530352" y="384048"/>
            <a:ext cx="2743200" cy="777240"/>
          </a:xfrm>
          <a:prstGeom prst="rect">
            <a:avLst/>
          </a:prstGeom>
          <a:noFill/>
          <a:ln/>
        </p:spPr>
        <p:txBody>
          <a:bodyPr wrap="square" lIns="0" tIns="0" rIns="0" bIns="0" rtlCol="0" anchor="t"/>
          <a:lstStyle/>
          <a:p>
            <a:pPr marL="0" indent="0">
              <a:lnSpc>
                <a:spcPts val="2400"/>
              </a:lnSpc>
              <a:buNone/>
            </a:pPr>
            <a:r>
              <a:rPr lang="en-US" sz="2000" dirty="0">
                <a:solidFill>
                  <a:srgbClr val="FF6600"/>
                </a:solidFill>
                <a:latin typeface="Arial" pitchFamily="34" charset="0"/>
                <a:ea typeface="Arial" pitchFamily="34" charset="-122"/>
                <a:cs typeface="Arial" pitchFamily="34" charset="-120"/>
              </a:rPr>
              <a:t>Orange</a:t>
            </a:r>
            <a:endParaRPr lang="en-US" sz="2000" dirty="0"/>
          </a:p>
          <a:p>
            <a:pPr marL="0" indent="0">
              <a:lnSpc>
                <a:spcPts val="2400"/>
              </a:lnSpc>
              <a:buNone/>
            </a:pPr>
            <a:r>
              <a:rPr lang="en-US" sz="2000" dirty="0">
                <a:solidFill>
                  <a:srgbClr val="FFFFFF"/>
                </a:solidFill>
                <a:latin typeface="Arial" pitchFamily="34" charset="0"/>
                <a:ea typeface="Arial" pitchFamily="34" charset="-122"/>
                <a:cs typeface="Arial" pitchFamily="34" charset="-120"/>
              </a:rPr>
              <a:t>Innovation</a:t>
            </a:r>
            <a:endParaRPr lang="en-US" sz="2000" dirty="0"/>
          </a:p>
        </p:txBody>
      </p:sp>
      <p:sp>
        <p:nvSpPr>
          <p:cNvPr id="4" name="Text 2"/>
          <p:cNvSpPr txBox="1"/>
          <p:nvPr/>
        </p:nvSpPr>
        <p:spPr>
          <a:xfrm>
            <a:off x="868680" y="1600200"/>
            <a:ext cx="7315200" cy="1920240"/>
          </a:xfrm>
          <a:prstGeom prst="rect">
            <a:avLst/>
          </a:prstGeom>
          <a:noFill/>
          <a:ln/>
        </p:spPr>
        <p:txBody>
          <a:bodyPr wrap="square" lIns="0" tIns="0" rIns="0" bIns="0" rtlCol="0" anchor="t"/>
          <a:lstStyle/>
          <a:p>
            <a:pPr marL="0" indent="0" algn="l">
              <a:lnSpc>
                <a:spcPct val="105000"/>
              </a:lnSpc>
              <a:buNone/>
            </a:pPr>
            <a:r>
              <a:rPr lang="en-US" sz="4000" dirty="0">
                <a:solidFill>
                  <a:srgbClr val="FFFFFF"/>
                </a:solidFill>
                <a:latin typeface="Arial" pitchFamily="34" charset="0"/>
                <a:ea typeface="Arial" pitchFamily="34" charset="-122"/>
                <a:cs typeface="Arial" pitchFamily="34" charset="-120"/>
              </a:rPr>
              <a:t>Dynamic Test-Time Compute Allocation for LLM Reasoning</a:t>
            </a:r>
            <a:endParaRPr lang="en-US" sz="4000" dirty="0"/>
          </a:p>
        </p:txBody>
      </p:sp>
      <p:sp>
        <p:nvSpPr>
          <p:cNvPr id="5" name="Text 3"/>
          <p:cNvSpPr txBox="1"/>
          <p:nvPr/>
        </p:nvSpPr>
        <p:spPr>
          <a:xfrm>
            <a:off x="868680" y="3794760"/>
            <a:ext cx="5943600" cy="365760"/>
          </a:xfrm>
          <a:prstGeom prst="rect">
            <a:avLst/>
          </a:prstGeom>
          <a:noFill/>
          <a:ln/>
        </p:spPr>
        <p:txBody>
          <a:bodyPr wrap="square" lIns="0" tIns="0" rIns="0" bIns="0" rtlCol="0" anchor="ctr"/>
          <a:lstStyle/>
          <a:p>
            <a:pPr marL="0" indent="0" algn="l">
              <a:buNone/>
            </a:pPr>
            <a:r>
              <a:rPr lang="en-US" sz="1400" dirty="0">
                <a:solidFill>
                  <a:srgbClr val="FF6600"/>
                </a:solidFill>
                <a:latin typeface="Arial" pitchFamily="34" charset="0"/>
                <a:ea typeface="Arial" pitchFamily="34" charset="-122"/>
                <a:cs typeface="Arial" pitchFamily="34" charset="-120"/>
              </a:rPr>
              <a:t>Research Proposal </a:t>
            </a:r>
            <a:endParaRPr lang="en-US" sz="1400" dirty="0"/>
          </a:p>
        </p:txBody>
      </p:sp>
      <p:sp>
        <p:nvSpPr>
          <p:cNvPr id="6" name="Shape 4"/>
          <p:cNvSpPr/>
          <p:nvPr/>
        </p:nvSpPr>
        <p:spPr>
          <a:xfrm>
            <a:off x="8229600" y="4233672"/>
            <a:ext cx="612648" cy="612648"/>
          </a:xfrm>
          <a:prstGeom prst="rect">
            <a:avLst/>
          </a:prstGeom>
          <a:solidFill>
            <a:srgbClr val="FF66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401858"/>
            <a:ext cx="8503920" cy="566928"/>
          </a:xfrm>
          <a:prstGeom prst="rect">
            <a:avLst/>
          </a:prstGeom>
          <a:noFill/>
          <a:ln/>
        </p:spPr>
        <p:txBody>
          <a:bodyPr wrap="square" lIns="0" tIns="0" rIns="0" bIns="0" rtlCol="0" anchor="t"/>
          <a:lstStyle/>
          <a:p>
            <a:pPr>
              <a:buClr>
                <a:srgbClr val="FF7900"/>
              </a:buClr>
              <a:buSzPts val="1500"/>
            </a:pPr>
            <a:r>
              <a:rPr lang="en-US" sz="2000" b="1" dirty="0">
                <a:solidFill>
                  <a:srgbClr val="FF7900"/>
                </a:solidFill>
                <a:latin typeface="Helvetica Neue"/>
                <a:sym typeface="Arial"/>
              </a:rPr>
              <a:t>EXECUTIVE SUMMARY</a:t>
            </a:r>
          </a:p>
        </p:txBody>
      </p:sp>
      <p:sp>
        <p:nvSpPr>
          <p:cNvPr id="3" name="Text 1"/>
          <p:cNvSpPr txBox="1"/>
          <p:nvPr/>
        </p:nvSpPr>
        <p:spPr>
          <a:xfrm>
            <a:off x="320040" y="997659"/>
            <a:ext cx="8503920" cy="3574341"/>
          </a:xfrm>
          <a:prstGeom prst="rect">
            <a:avLst/>
          </a:prstGeom>
          <a:noFill/>
          <a:ln/>
        </p:spPr>
        <p:txBody>
          <a:bodyPr wrap="square" lIns="0" tIns="0" rIns="0" bIns="0" rtlCol="0" anchor="t"/>
          <a:lstStyle/>
          <a:p>
            <a:pPr marL="177800" indent="-177800">
              <a:spcBef>
                <a:spcPts val="800"/>
              </a:spcBef>
              <a:spcAft>
                <a:spcPts val="200"/>
              </a:spcAft>
              <a:buSzPct val="100000"/>
              <a:buChar char="●"/>
            </a:pPr>
            <a:r>
              <a:rPr lang="en-US" sz="1200" b="1" dirty="0">
                <a:solidFill>
                  <a:srgbClr val="FF7900"/>
                </a:solidFill>
                <a:latin typeface="Helvetica Neue"/>
              </a:rPr>
              <a:t>PROBLEM</a:t>
            </a:r>
            <a:r>
              <a:rPr lang="en-US" sz="1300" b="1" dirty="0">
                <a:solidFill>
                  <a:srgbClr val="FF6600"/>
                </a:solidFill>
                <a:latin typeface="Arial" pitchFamily="34" charset="0"/>
                <a:ea typeface="Arial" pitchFamily="34" charset="-122"/>
                <a:cs typeface="Arial" pitchFamily="34" charset="-120"/>
              </a:rPr>
              <a:t>. </a:t>
            </a:r>
            <a:r>
              <a:rPr lang="en-US" sz="1200" dirty="0">
                <a:solidFill>
                  <a:srgbClr val="FFFFFF"/>
                </a:solidFill>
                <a:latin typeface="Arial" pitchFamily="34" charset="0"/>
                <a:ea typeface="Arial" pitchFamily="34" charset="-122"/>
                <a:cs typeface="Arial" pitchFamily="34" charset="-120"/>
              </a:rPr>
              <a:t>Reasoning LLMs gain accuracy from more test-time compute, but most deployments apply a single fixed budget to every input. Because the difficulty of queries varies widely, no single budget can be right for all of them.</a:t>
            </a:r>
            <a:endParaRPr lang="en-US" sz="1200" dirty="0"/>
          </a:p>
          <a:p>
            <a:pPr marL="457200" lvl="1" indent="-228600">
              <a:buSzPct val="100000"/>
              <a:buChar char="•"/>
            </a:pPr>
            <a:r>
              <a:rPr lang="en-US" sz="1050" dirty="0">
                <a:solidFill>
                  <a:srgbClr val="FFFFFF"/>
                </a:solidFill>
                <a:latin typeface="Arial" pitchFamily="34" charset="0"/>
                <a:ea typeface="Arial" pitchFamily="34" charset="-122"/>
                <a:cs typeface="Arial" pitchFamily="34" charset="-120"/>
              </a:rPr>
              <a:t>Underthinking hard problems (stopping before a reliable solution is reached) and overthinking easy ones (spending tokens after the answer is settled), sometimes with flat or negative returns</a:t>
            </a:r>
            <a:endParaRPr lang="en-US" sz="1050" dirty="0"/>
          </a:p>
          <a:p>
            <a:pPr lvl="1" indent="-228600">
              <a:spcAft>
                <a:spcPts val="800"/>
              </a:spcAft>
              <a:buSzPct val="100000"/>
              <a:buChar char="•"/>
            </a:pPr>
            <a:r>
              <a:rPr lang="en-US" sz="1050" dirty="0">
                <a:solidFill>
                  <a:srgbClr val="FFFFFF"/>
                </a:solidFill>
                <a:latin typeface="Arial" pitchFamily="34" charset="0"/>
                <a:cs typeface="Arial" pitchFamily="34" charset="-120"/>
              </a:rPr>
              <a:t>Includes correct-to-incorrect “flips” — cases where extra compute turns a right answer into a wrong one, actively hurting accuracy</a:t>
            </a:r>
          </a:p>
          <a:p>
            <a:pPr marL="177800" indent="-177800">
              <a:spcAft>
                <a:spcPts val="400"/>
              </a:spcAft>
              <a:buSzPct val="100000"/>
              <a:buFontTx/>
              <a:buChar char="●"/>
            </a:pPr>
            <a:r>
              <a:rPr lang="en-US" sz="1200" b="1" dirty="0">
                <a:solidFill>
                  <a:srgbClr val="FF7900"/>
                </a:solidFill>
                <a:latin typeface="Helvetica Neue"/>
              </a:rPr>
              <a:t>CURRENT SOLUTIONS.</a:t>
            </a:r>
            <a:r>
              <a:rPr lang="en-US" sz="1300" dirty="0">
                <a:solidFill>
                  <a:srgbClr val="FFFFFF"/>
                </a:solidFill>
                <a:latin typeface="Arial" pitchFamily="34" charset="0"/>
                <a:ea typeface="Arial" pitchFamily="34" charset="-122"/>
                <a:cs typeface="Arial" pitchFamily="34" charset="-120"/>
              </a:rPr>
              <a:t> </a:t>
            </a:r>
            <a:r>
              <a:rPr lang="en-US" sz="1200" dirty="0">
                <a:solidFill>
                  <a:srgbClr val="FFFFFF"/>
                </a:solidFill>
                <a:latin typeface="Arial" pitchFamily="34" charset="0"/>
                <a:cs typeface="Arial" pitchFamily="34" charset="-120"/>
              </a:rPr>
              <a:t>Two families of dynamic allocation methods exist:</a:t>
            </a:r>
          </a:p>
          <a:p>
            <a:pPr lvl="1" indent="-228600">
              <a:spcAft>
                <a:spcPts val="500"/>
              </a:spcAft>
              <a:buSzPct val="100000"/>
              <a:buFontTx/>
              <a:buChar char="•"/>
            </a:pPr>
            <a:r>
              <a:rPr lang="en-US" sz="1200" b="1" dirty="0">
                <a:solidFill>
                  <a:schemeClr val="bg1"/>
                </a:solidFill>
                <a:effectLst/>
                <a:latin typeface="Consolas" panose="020B0609020204030204" pitchFamily="49" charset="0"/>
              </a:rPr>
              <a:t>Reactive</a:t>
            </a:r>
            <a:r>
              <a:rPr lang="en-US" sz="1200" dirty="0">
                <a:solidFill>
                  <a:srgbClr val="BBBEBF"/>
                </a:solidFill>
                <a:latin typeface="Consolas" panose="020B0609020204030204" pitchFamily="49" charset="0"/>
              </a:rPr>
              <a:t>_</a:t>
            </a:r>
            <a:r>
              <a:rPr lang="en-US" sz="1200" dirty="0">
                <a:solidFill>
                  <a:srgbClr val="FFFFFF"/>
                </a:solidFill>
                <a:latin typeface="Arial" pitchFamily="34" charset="0"/>
                <a:ea typeface="Arial" pitchFamily="34" charset="-122"/>
                <a:cs typeface="Arial" pitchFamily="34" charset="-120"/>
              </a:rPr>
              <a:t> </a:t>
            </a:r>
            <a:r>
              <a:rPr lang="en-US" sz="1050" dirty="0">
                <a:solidFill>
                  <a:srgbClr val="FFFFFF"/>
                </a:solidFill>
                <a:latin typeface="Arial" pitchFamily="34" charset="0"/>
                <a:cs typeface="Arial" pitchFamily="34" charset="-120"/>
              </a:rPr>
              <a:t>decide during generation, by monitoring a signal such as confidence or entropy while the model reasons, and stopping once a threshold is crossed (e.g., entropy-triggered stopping, DEER).</a:t>
            </a:r>
          </a:p>
          <a:p>
            <a:pPr lvl="1" indent="-228600">
              <a:spcAft>
                <a:spcPts val="800"/>
              </a:spcAft>
              <a:buSzPct val="100000"/>
              <a:buFontTx/>
              <a:buChar char="•"/>
            </a:pPr>
            <a:r>
              <a:rPr lang="en-US" sz="1200" b="1" dirty="0">
                <a:solidFill>
                  <a:schemeClr val="bg1"/>
                </a:solidFill>
                <a:latin typeface="Consolas" panose="020B0609020204030204" pitchFamily="49" charset="0"/>
              </a:rPr>
              <a:t>Predictive</a:t>
            </a:r>
            <a:r>
              <a:rPr lang="en-US" sz="1200" dirty="0">
                <a:solidFill>
                  <a:srgbClr val="BBBEBF"/>
                </a:solidFill>
                <a:latin typeface="Consolas" panose="020B0609020204030204" pitchFamily="49" charset="0"/>
              </a:rPr>
              <a:t>_</a:t>
            </a:r>
            <a:r>
              <a:rPr lang="en-US" sz="1200" dirty="0">
                <a:solidFill>
                  <a:srgbClr val="FFFFFF"/>
                </a:solidFill>
                <a:latin typeface="Arial" pitchFamily="34" charset="0"/>
                <a:ea typeface="Arial" pitchFamily="34" charset="-122"/>
                <a:cs typeface="Arial" pitchFamily="34" charset="-120"/>
              </a:rPr>
              <a:t> decide before generation, by reading a difficulty signal from the model or query (before any reasoning tokens are produced) and choosing a strategy up front (e.g., </a:t>
            </a:r>
            <a:r>
              <a:rPr lang="en-US" sz="1200" dirty="0" err="1">
                <a:solidFill>
                  <a:srgbClr val="FFFFFF"/>
                </a:solidFill>
                <a:latin typeface="Arial" pitchFamily="34" charset="0"/>
                <a:ea typeface="Arial" pitchFamily="34" charset="-122"/>
                <a:cs typeface="Arial" pitchFamily="34" charset="-120"/>
              </a:rPr>
              <a:t>DiffAdapt's</a:t>
            </a:r>
            <a:r>
              <a:rPr lang="en-US" sz="1200" dirty="0">
                <a:solidFill>
                  <a:srgbClr val="FFFFFF"/>
                </a:solidFill>
                <a:latin typeface="Arial" pitchFamily="34" charset="0"/>
                <a:ea typeface="Arial" pitchFamily="34" charset="-122"/>
                <a:cs typeface="Arial" pitchFamily="34" charset="-120"/>
              </a:rPr>
              <a:t> hidden-state probe, learned routers).</a:t>
            </a:r>
            <a:endParaRPr lang="en-US" sz="1200" dirty="0"/>
          </a:p>
          <a:p>
            <a:r>
              <a:rPr lang="en-US" sz="1200" b="1" dirty="0">
                <a:solidFill>
                  <a:srgbClr val="FF7900"/>
                </a:solidFill>
                <a:latin typeface="Helvetica Neue"/>
              </a:rPr>
              <a:t>Why it's suboptimal. </a:t>
            </a:r>
            <a:r>
              <a:rPr lang="en-US" sz="1200" dirty="0">
                <a:solidFill>
                  <a:srgbClr val="FFFFFF"/>
                </a:solidFill>
                <a:latin typeface="Arial" pitchFamily="34" charset="0"/>
                <a:cs typeface="Arial" pitchFamily="34" charset="-120"/>
              </a:rPr>
              <a:t>Each family has its own limitations:</a:t>
            </a:r>
          </a:p>
          <a:p>
            <a:pPr lvl="1" indent="-228600">
              <a:spcAft>
                <a:spcPts val="500"/>
              </a:spcAft>
              <a:buSzPct val="100000"/>
              <a:buFontTx/>
              <a:buChar char="•"/>
            </a:pPr>
            <a:r>
              <a:rPr lang="en-US" sz="1200" b="1" dirty="0">
                <a:solidFill>
                  <a:schemeClr val="bg1"/>
                </a:solidFill>
                <a:effectLst/>
                <a:latin typeface="Consolas" panose="020B0609020204030204" pitchFamily="49" charset="0"/>
              </a:rPr>
              <a:t>Reactive</a:t>
            </a:r>
            <a:r>
              <a:rPr lang="en-US" sz="1200" dirty="0">
                <a:solidFill>
                  <a:srgbClr val="BBBEBF"/>
                </a:solidFill>
                <a:latin typeface="Consolas" panose="020B0609020204030204" pitchFamily="49" charset="0"/>
              </a:rPr>
              <a:t>_</a:t>
            </a:r>
            <a:r>
              <a:rPr lang="en-US" sz="1200" dirty="0">
                <a:solidFill>
                  <a:srgbClr val="FFFFFF"/>
                </a:solidFill>
                <a:latin typeface="Arial" pitchFamily="34" charset="0"/>
                <a:ea typeface="Arial" pitchFamily="34" charset="-122"/>
                <a:cs typeface="Arial" pitchFamily="34" charset="-120"/>
              </a:rPr>
              <a:t> </a:t>
            </a:r>
            <a:r>
              <a:rPr lang="en-US" sz="1050" dirty="0">
                <a:solidFill>
                  <a:srgbClr val="FFFFFF"/>
                </a:solidFill>
                <a:latin typeface="Arial" pitchFamily="34" charset="0"/>
                <a:cs typeface="Arial" pitchFamily="34" charset="-120"/>
              </a:rPr>
              <a:t>methods are trained or calibrated per model, several operate at coarse granularity, and cross-model generalization of the predictor itself is untested, and each new model needs its own tuning or training effort.</a:t>
            </a:r>
          </a:p>
          <a:p>
            <a:pPr lvl="1" indent="-228600">
              <a:spcAft>
                <a:spcPts val="800"/>
              </a:spcAft>
              <a:buSzPct val="100000"/>
              <a:buFontTx/>
              <a:buChar char="•"/>
            </a:pPr>
            <a:r>
              <a:rPr lang="en-US" sz="1200" b="1" dirty="0">
                <a:solidFill>
                  <a:schemeClr val="bg1"/>
                </a:solidFill>
                <a:latin typeface="Consolas" panose="020B0609020204030204" pitchFamily="49" charset="0"/>
              </a:rPr>
              <a:t>Predictive</a:t>
            </a:r>
            <a:r>
              <a:rPr lang="en-US" sz="1200" dirty="0">
                <a:solidFill>
                  <a:srgbClr val="BBBEBF"/>
                </a:solidFill>
                <a:latin typeface="Consolas" panose="020B0609020204030204" pitchFamily="49" charset="0"/>
              </a:rPr>
              <a:t>_</a:t>
            </a:r>
            <a:r>
              <a:rPr lang="en-US" sz="1200" dirty="0">
                <a:solidFill>
                  <a:srgbClr val="FFFFFF"/>
                </a:solidFill>
                <a:latin typeface="Arial" pitchFamily="34" charset="0"/>
                <a:ea typeface="Arial" pitchFamily="34" charset="-122"/>
                <a:cs typeface="Arial" pitchFamily="34" charset="-120"/>
              </a:rPr>
              <a:t> methods rely on signals — confidence, entropy — that can be false positives (a model can be confidently wrong), and their thresholds are hand-tuned per model and temperature rather than transferring.</a:t>
            </a:r>
          </a:p>
          <a:p>
            <a:pPr lvl="1" indent="-228600">
              <a:spcAft>
                <a:spcPts val="800"/>
              </a:spcAft>
              <a:buSzPct val="100000"/>
              <a:buFontTx/>
              <a:buChar char="•"/>
            </a:pPr>
            <a:r>
              <a:rPr lang="en-US" sz="1200" dirty="0">
                <a:solidFill>
                  <a:srgbClr val="FFFFFF"/>
                </a:solidFill>
                <a:latin typeface="Arial" pitchFamily="34" charset="0"/>
                <a:cs typeface="Arial" pitchFamily="34" charset="-120"/>
              </a:rPr>
              <a:t>No study has compared a reactive and a predictive method head-to-head under one shared protocol that jointly reports accuracy, compute, and interpretability. As a result, it is unclear which family — or which combination — works best.</a:t>
            </a:r>
          </a:p>
          <a:p>
            <a:pPr lvl="1" indent="-228600">
              <a:spcAft>
                <a:spcPts val="800"/>
              </a:spcAft>
              <a:buSzPct val="100000"/>
              <a:buFontTx/>
              <a:buChar char="•"/>
            </a:pPr>
            <a:endParaRPr lang="en-US" sz="1200" dirty="0">
              <a:solidFill>
                <a:srgbClr val="FFFFFF"/>
              </a:solidFill>
              <a:latin typeface="Arial" pitchFamily="34" charset="0"/>
              <a:cs typeface="Arial" pitchFamily="34" charset="-12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indent="0" algn="l">
              <a:buNone/>
            </a:pPr>
            <a:r>
              <a:rPr lang="en-US" sz="800" b="1" dirty="0">
                <a:solidFill>
                  <a:srgbClr val="FF6600"/>
                </a:solidFill>
                <a:latin typeface="Arial" pitchFamily="34" charset="0"/>
                <a:ea typeface="Arial" pitchFamily="34" charset="-122"/>
                <a:cs typeface="Arial" pitchFamily="34" charset="-120"/>
              </a:rPr>
              <a:t>Orange Restricted</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EXECUTIVE SUMMARY</a:t>
            </a:r>
          </a:p>
        </p:txBody>
      </p:sp>
      <p:sp>
        <p:nvSpPr>
          <p:cNvPr id="3" name="Text 1"/>
          <p:cNvSpPr txBox="1"/>
          <p:nvPr/>
        </p:nvSpPr>
        <p:spPr>
          <a:xfrm>
            <a:off x="320040" y="997659"/>
            <a:ext cx="8503920" cy="3574341"/>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800"/>
              </a:spcBef>
              <a:spcAft>
                <a:spcPts val="200"/>
              </a:spcAft>
              <a:buClrTx/>
              <a:buSzPct val="100000"/>
              <a:buFontTx/>
              <a:buChar char="●"/>
              <a:tabLst/>
              <a:defRPr/>
            </a:pPr>
            <a:r>
              <a:rPr kumimoji="0" lang="en-US" sz="1200" b="1" i="0" u="none" strike="noStrike" kern="1200" cap="none" spc="0" normalizeH="0" baseline="0" noProof="0" dirty="0">
                <a:ln>
                  <a:noFill/>
                </a:ln>
                <a:solidFill>
                  <a:srgbClr val="FF7900"/>
                </a:solidFill>
                <a:effectLst/>
                <a:uLnTx/>
                <a:uFillTx/>
                <a:latin typeface="Helvetica Neue"/>
                <a:ea typeface="+mn-ea"/>
                <a:cs typeface="+mn-cs"/>
              </a:rPr>
              <a:t>CORE HYPOTHESIS</a:t>
            </a:r>
            <a:r>
              <a:rPr kumimoji="0" lang="en-US" sz="13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 </a:t>
            </a:r>
            <a:r>
              <a:rPr lang="en-US" sz="1200" dirty="0">
                <a:solidFill>
                  <a:srgbClr val="FFFFFF"/>
                </a:solidFill>
                <a:latin typeface="Arial" pitchFamily="34" charset="0"/>
                <a:cs typeface="Arial" pitchFamily="34" charset="-120"/>
              </a:rPr>
              <a:t>Improving Compute allocation can be improved through two complementary directions: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marR="0" lvl="1" indent="-228600" algn="l" defTabSz="914400" rtl="0" eaLnBrk="1" fontAlgn="auto" latinLnBrk="0" hangingPunct="1">
              <a:lnSpc>
                <a:spcPct val="100000"/>
              </a:lnSpc>
              <a:spcBef>
                <a:spcPts val="0"/>
              </a:spcBef>
              <a:spcAft>
                <a:spcPts val="500"/>
              </a:spcAft>
              <a:buClrTx/>
              <a:buSzPct val="100000"/>
              <a:buFontTx/>
              <a:buChar char="•"/>
              <a:tabLst/>
              <a:defRPr/>
            </a:pPr>
            <a:r>
              <a:rPr kumimoji="0" lang="en-US" sz="1200" b="1"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Reactive</a:t>
            </a:r>
            <a:r>
              <a:rPr kumimoji="0" lang="en-US" sz="1200" b="0" i="0" u="none" strike="noStrike" kern="1200" cap="none" spc="0" normalizeH="0" baseline="0" noProof="0" dirty="0">
                <a:ln>
                  <a:noFill/>
                </a:ln>
                <a:solidFill>
                  <a:srgbClr val="BBBEBF"/>
                </a:solidFill>
                <a:effectLst/>
                <a:uLnTx/>
                <a:uFillTx/>
                <a:latin typeface="Consolas" panose="020B0609020204030204" pitchFamily="49" charset="0"/>
                <a:ea typeface="+mn-ea"/>
                <a:cs typeface="+mn-cs"/>
              </a:rPr>
              <a:t>_ </a:t>
            </a:r>
            <a:r>
              <a:rPr lang="en-US" sz="1050" dirty="0">
                <a:solidFill>
                  <a:srgbClr val="FFFFFF"/>
                </a:solidFill>
                <a:latin typeface="Arial" pitchFamily="34" charset="0"/>
                <a:cs typeface="Arial" pitchFamily="34" charset="-120"/>
              </a:rPr>
              <a:t>Allocation can also be improved by refining the signal used to detect when reasoning has actually converged—moving beyond surface-level confidence or entropy toward an internal, model-derived indicator that more accurately determines when thinking should stop.  That is, stop on evidence of convergence, not on how sure the output sounds.</a:t>
            </a:r>
          </a:p>
          <a:p>
            <a:pPr marL="457200" marR="0" lvl="1" indent="-228600" algn="l" defTabSz="914400" rtl="0" eaLnBrk="1" fontAlgn="auto" latinLnBrk="0" hangingPunct="1">
              <a:lnSpc>
                <a:spcPct val="100000"/>
              </a:lnSpc>
              <a:spcBef>
                <a:spcPts val="0"/>
              </a:spcBef>
              <a:spcAft>
                <a:spcPts val="500"/>
              </a:spcAft>
              <a:buClrTx/>
              <a:buSzPct val="100000"/>
              <a:buFontTx/>
              <a:buChar char="•"/>
              <a:tabLst/>
              <a:defRPr/>
            </a:pPr>
            <a:r>
              <a:rPr kumimoji="0" lang="en-US" sz="1200" b="1"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Predictive</a:t>
            </a:r>
            <a:r>
              <a:rPr kumimoji="0" lang="en-US" sz="1200" b="0" i="0" u="none" strike="noStrike" kern="1200" cap="none" spc="0" normalizeH="0" baseline="0" noProof="0" dirty="0">
                <a:ln>
                  <a:noFill/>
                </a:ln>
                <a:solidFill>
                  <a:srgbClr val="BBBEBF"/>
                </a:solidFill>
                <a:effectLst/>
                <a:uLnTx/>
                <a:uFillTx/>
                <a:latin typeface="Consolas" panose="020B0609020204030204" pitchFamily="49" charset="0"/>
                <a:ea typeface="+mn-ea"/>
                <a:cs typeface="+mn-cs"/>
              </a:rPr>
              <a:t>_</a:t>
            </a:r>
            <a:r>
              <a:rPr kumimoji="0" lang="en-US" sz="12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t>
            </a:r>
            <a:r>
              <a:rPr lang="en-US" sz="1050" dirty="0">
                <a:solidFill>
                  <a:srgbClr val="FFFFFF"/>
                </a:solidFill>
                <a:latin typeface="Arial" pitchFamily="34" charset="0"/>
                <a:cs typeface="Arial" pitchFamily="34" charset="-120"/>
              </a:rPr>
              <a:t>Required compute may be predictable from task difficulty beyond a difficulty-only baseline. The open question is whether this relationship holds generally or only in specific settings. Measuring this gap sets the bar any predictor must clear.</a:t>
            </a:r>
          </a:p>
          <a:p>
            <a:pPr marL="177800" marR="0" lvl="0" indent="-177800" algn="l" defTabSz="914400" rtl="0" eaLnBrk="1" fontAlgn="auto" latinLnBrk="0" hangingPunct="1">
              <a:lnSpc>
                <a:spcPct val="100000"/>
              </a:lnSpc>
              <a:spcBef>
                <a:spcPts val="800"/>
              </a:spcBef>
              <a:spcAft>
                <a:spcPts val="200"/>
              </a:spcAft>
              <a:buClrTx/>
              <a:buSzPct val="100000"/>
              <a:buFontTx/>
              <a:buChar char="●"/>
              <a:tabLst/>
              <a:defRPr/>
            </a:pPr>
            <a:r>
              <a:rPr lang="en-US" sz="1200" b="1" dirty="0">
                <a:solidFill>
                  <a:srgbClr val="FF7900"/>
                </a:solidFill>
                <a:latin typeface="Helvetica Neue"/>
              </a:rPr>
              <a:t>POSSIBLE CONTRIBUTION</a:t>
            </a:r>
            <a:r>
              <a:rPr kumimoji="0" lang="en-US" sz="13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 </a:t>
            </a:r>
            <a:endParaRPr lang="en-US" sz="1050" dirty="0">
              <a:solidFill>
                <a:srgbClr val="FFFFFF"/>
              </a:solidFill>
              <a:latin typeface="Arial" pitchFamily="34" charset="0"/>
              <a:cs typeface="Arial" pitchFamily="34" charset="-120"/>
            </a:endParaRPr>
          </a:p>
          <a:p>
            <a:pPr marL="457200" marR="0" lvl="1" indent="-228600" algn="l" defTabSz="914400" rtl="0" eaLnBrk="1" fontAlgn="auto" latinLnBrk="0" hangingPunct="1">
              <a:lnSpc>
                <a:spcPct val="100000"/>
              </a:lnSpc>
              <a:spcBef>
                <a:spcPts val="0"/>
              </a:spcBef>
              <a:spcAft>
                <a:spcPts val="500"/>
              </a:spcAft>
              <a:buClrTx/>
              <a:buSzPct val="100000"/>
              <a:buFontTx/>
              <a:buChar char="•"/>
              <a:tabLst/>
              <a:defRPr/>
            </a:pPr>
            <a:r>
              <a:rPr lang="en-US" sz="1200" b="1" dirty="0">
                <a:solidFill>
                  <a:prstClr val="white"/>
                </a:solidFill>
                <a:latin typeface="Consolas" panose="020B0609020204030204" pitchFamily="49" charset="0"/>
              </a:rPr>
              <a:t>Hypothesis validation</a:t>
            </a:r>
            <a:r>
              <a:rPr lang="en-US" sz="1200" dirty="0"/>
              <a:t>:</a:t>
            </a:r>
            <a:r>
              <a:rPr kumimoji="0" lang="en-US" sz="1200" b="0" i="0" u="none" strike="noStrike" kern="1200" cap="none" spc="0" normalizeH="0" baseline="0" noProof="0" dirty="0">
                <a:ln>
                  <a:noFill/>
                </a:ln>
                <a:solidFill>
                  <a:srgbClr val="BBBEBF"/>
                </a:solidFill>
                <a:effectLst/>
                <a:uLnTx/>
                <a:uFillTx/>
                <a:latin typeface="Consolas" panose="020B0609020204030204" pitchFamily="49" charset="0"/>
                <a:ea typeface="+mn-ea"/>
                <a:cs typeface="+mn-cs"/>
              </a:rPr>
              <a:t>_</a:t>
            </a:r>
            <a:r>
              <a:rPr kumimoji="0" lang="en-US" sz="12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t>
            </a:r>
            <a:r>
              <a:rPr lang="en-US" sz="1050" dirty="0">
                <a:solidFill>
                  <a:srgbClr val="FFFFFF"/>
                </a:solidFill>
                <a:latin typeface="Arial" pitchFamily="34" charset="0"/>
                <a:cs typeface="Arial" pitchFamily="34" charset="-120"/>
              </a:rPr>
              <a:t>Test our hypotheses empirically and determine whether the proposed assumptions hold.</a:t>
            </a:r>
          </a:p>
          <a:p>
            <a:pPr marL="457200" marR="0" lvl="1" indent="-228600" algn="l" defTabSz="914400" rtl="0" eaLnBrk="1" fontAlgn="auto" latinLnBrk="0" hangingPunct="1">
              <a:lnSpc>
                <a:spcPct val="100000"/>
              </a:lnSpc>
              <a:spcBef>
                <a:spcPts val="0"/>
              </a:spcBef>
              <a:spcAft>
                <a:spcPts val="500"/>
              </a:spcAft>
              <a:buClrTx/>
              <a:buSzPct val="100000"/>
              <a:buFontTx/>
              <a:buChar char="•"/>
              <a:tabLst/>
              <a:defRPr/>
            </a:pPr>
            <a:r>
              <a:rPr lang="en-US" sz="1200" b="1" dirty="0">
                <a:solidFill>
                  <a:prstClr val="white"/>
                </a:solidFill>
                <a:latin typeface="Consolas" panose="020B0609020204030204" pitchFamily="49" charset="0"/>
              </a:rPr>
              <a:t>Direction selection</a:t>
            </a:r>
            <a:r>
              <a:rPr lang="en-US" sz="1200" dirty="0"/>
              <a:t>:</a:t>
            </a:r>
            <a:r>
              <a:rPr kumimoji="0" lang="en-US" sz="1200" b="0" i="0" u="none" strike="noStrike" kern="1200" cap="none" spc="0" normalizeH="0" baseline="0" noProof="0" dirty="0">
                <a:ln>
                  <a:noFill/>
                </a:ln>
                <a:solidFill>
                  <a:srgbClr val="BBBEBF"/>
                </a:solidFill>
                <a:effectLst/>
                <a:uLnTx/>
                <a:uFillTx/>
                <a:latin typeface="Consolas" panose="020B0609020204030204" pitchFamily="49" charset="0"/>
                <a:ea typeface="+mn-ea"/>
                <a:cs typeface="+mn-cs"/>
              </a:rPr>
              <a:t>_</a:t>
            </a:r>
            <a:r>
              <a:rPr kumimoji="0" lang="en-US" sz="12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t>
            </a:r>
            <a:r>
              <a:rPr lang="en-US" sz="1050" dirty="0">
                <a:solidFill>
                  <a:srgbClr val="FFFFFF"/>
                </a:solidFill>
                <a:latin typeface="Arial" pitchFamily="34" charset="0"/>
                <a:cs typeface="Arial" pitchFamily="34" charset="-120"/>
              </a:rPr>
              <a:t>Based on the test results, determine which approach to pursue further; the final direction will be determined later according to the findings. Both tracks stay open until the evidence favors one.</a:t>
            </a: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Google Shape;72;p2">
            <a:extLst>
              <a:ext uri="{FF2B5EF4-FFF2-40B4-BE49-F238E27FC236}">
                <a16:creationId xmlns:a16="http://schemas.microsoft.com/office/drawing/2014/main" id="{A7947C86-202E-B7C0-6F37-E56773781535}"/>
              </a:ext>
            </a:extLst>
          </p:cNvPr>
          <p:cNvSpPr/>
          <p:nvPr/>
        </p:nvSpPr>
        <p:spPr>
          <a:xfrm>
            <a:off x="594360" y="2987040"/>
            <a:ext cx="5238413" cy="229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Arial"/>
              <a:buNone/>
            </a:pPr>
            <a:endParaRPr sz="1400" i="0" u="none" strike="noStrike" cap="none" dirty="0">
              <a:solidFill>
                <a:schemeClr val="dk1"/>
              </a:solidFill>
              <a:latin typeface="Helvetica Neue"/>
              <a:ea typeface="Helvetica Neue"/>
              <a:cs typeface="Helvetica Neue"/>
              <a:sym typeface="Helvetica Neue"/>
            </a:endParaRPr>
          </a:p>
        </p:txBody>
      </p:sp>
      <p:sp>
        <p:nvSpPr>
          <p:cNvPr id="8" name="Google Shape;73;p2">
            <a:extLst>
              <a:ext uri="{FF2B5EF4-FFF2-40B4-BE49-F238E27FC236}">
                <a16:creationId xmlns:a16="http://schemas.microsoft.com/office/drawing/2014/main" id="{C26939E5-B13C-9DD2-A219-C7B489815949}"/>
              </a:ext>
            </a:extLst>
          </p:cNvPr>
          <p:cNvSpPr/>
          <p:nvPr/>
        </p:nvSpPr>
        <p:spPr>
          <a:xfrm>
            <a:off x="594360" y="3288180"/>
            <a:ext cx="3915714" cy="1520040"/>
          </a:xfrm>
          <a:prstGeom prst="roundRect">
            <a:avLst>
              <a:gd name="adj" fmla="val 2830"/>
            </a:avLst>
          </a:prstGeom>
          <a:solidFill>
            <a:srgbClr val="141414"/>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9" name="Google Shape;74;p2">
            <a:extLst>
              <a:ext uri="{FF2B5EF4-FFF2-40B4-BE49-F238E27FC236}">
                <a16:creationId xmlns:a16="http://schemas.microsoft.com/office/drawing/2014/main" id="{AFE601CE-FA8A-D8B1-2F84-2FCD50E04A97}"/>
              </a:ext>
            </a:extLst>
          </p:cNvPr>
          <p:cNvSpPr/>
          <p:nvPr/>
        </p:nvSpPr>
        <p:spPr>
          <a:xfrm>
            <a:off x="738416" y="3402900"/>
            <a:ext cx="3627601" cy="215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9A9A"/>
              </a:buClr>
              <a:buSzPts val="1200"/>
              <a:buFont typeface="Arial"/>
              <a:buNone/>
            </a:pPr>
            <a:r>
              <a:rPr lang="en-US" sz="1200" b="1" i="0" u="none" strike="noStrike" cap="none" dirty="0">
                <a:solidFill>
                  <a:srgbClr val="9A9A9A"/>
                </a:solidFill>
                <a:latin typeface="Helvetica Neue"/>
                <a:ea typeface="Helvetica Neue"/>
                <a:cs typeface="Helvetica Neue"/>
                <a:sym typeface="Helvetica Neue"/>
              </a:rPr>
              <a:t>FIXED BUDGET — SAME REASONING BUDGET FOR EVERY INPUT</a:t>
            </a:r>
            <a:endParaRPr sz="1200" i="0" u="none" strike="noStrike" cap="none" dirty="0">
              <a:solidFill>
                <a:schemeClr val="dk1"/>
              </a:solidFill>
              <a:latin typeface="Helvetica Neue"/>
              <a:ea typeface="Helvetica Neue"/>
              <a:cs typeface="Helvetica Neue"/>
              <a:sym typeface="Helvetica Neue"/>
            </a:endParaRPr>
          </a:p>
        </p:txBody>
      </p:sp>
      <p:sp>
        <p:nvSpPr>
          <p:cNvPr id="10" name="Google Shape;75;p2">
            <a:extLst>
              <a:ext uri="{FF2B5EF4-FFF2-40B4-BE49-F238E27FC236}">
                <a16:creationId xmlns:a16="http://schemas.microsoft.com/office/drawing/2014/main" id="{E2291892-AEA5-41D9-4426-EFC15FCA0B60}"/>
              </a:ext>
            </a:extLst>
          </p:cNvPr>
          <p:cNvSpPr/>
          <p:nvPr/>
        </p:nvSpPr>
        <p:spPr>
          <a:xfrm>
            <a:off x="738416" y="3704040"/>
            <a:ext cx="1309603" cy="200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Helvetica Neue"/>
                <a:ea typeface="Helvetica Neue"/>
                <a:cs typeface="Helvetica Neue"/>
                <a:sym typeface="Helvetica Neue"/>
              </a:rPr>
              <a:t>Easy problem</a:t>
            </a:r>
            <a:endParaRPr sz="1150" i="0" u="none" strike="noStrike" cap="none">
              <a:solidFill>
                <a:schemeClr val="dk1"/>
              </a:solidFill>
              <a:latin typeface="Helvetica Neue"/>
              <a:ea typeface="Helvetica Neue"/>
              <a:cs typeface="Helvetica Neue"/>
              <a:sym typeface="Helvetica Neue"/>
            </a:endParaRPr>
          </a:p>
        </p:txBody>
      </p:sp>
      <p:sp>
        <p:nvSpPr>
          <p:cNvPr id="11" name="Google Shape;76;p2">
            <a:extLst>
              <a:ext uri="{FF2B5EF4-FFF2-40B4-BE49-F238E27FC236}">
                <a16:creationId xmlns:a16="http://schemas.microsoft.com/office/drawing/2014/main" id="{5FF6EAFE-3C5D-297D-474D-237131C43710}"/>
              </a:ext>
            </a:extLst>
          </p:cNvPr>
          <p:cNvSpPr/>
          <p:nvPr/>
        </p:nvSpPr>
        <p:spPr>
          <a:xfrm>
            <a:off x="2100404" y="3718380"/>
            <a:ext cx="2213230" cy="172080"/>
          </a:xfrm>
          <a:prstGeom prst="roundRect">
            <a:avLst>
              <a:gd name="adj" fmla="val 16667"/>
            </a:avLst>
          </a:prstGeom>
          <a:no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2" name="Google Shape;77;p2">
            <a:extLst>
              <a:ext uri="{FF2B5EF4-FFF2-40B4-BE49-F238E27FC236}">
                <a16:creationId xmlns:a16="http://schemas.microsoft.com/office/drawing/2014/main" id="{CAD7EF88-0DEE-F01D-DF59-F31CF1A27D88}"/>
              </a:ext>
            </a:extLst>
          </p:cNvPr>
          <p:cNvSpPr/>
          <p:nvPr/>
        </p:nvSpPr>
        <p:spPr>
          <a:xfrm>
            <a:off x="2100404" y="3724396"/>
            <a:ext cx="1231312" cy="157740"/>
          </a:xfrm>
          <a:prstGeom prst="roundRect">
            <a:avLst>
              <a:gd name="adj" fmla="val 16667"/>
            </a:avLst>
          </a:prstGeom>
          <a:solidFill>
            <a:srgbClr val="9A9A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3" name="Google Shape;78;p2">
            <a:extLst>
              <a:ext uri="{FF2B5EF4-FFF2-40B4-BE49-F238E27FC236}">
                <a16:creationId xmlns:a16="http://schemas.microsoft.com/office/drawing/2014/main" id="{383DDF31-81AC-5371-270A-B56756CB3638}"/>
              </a:ext>
            </a:extLst>
          </p:cNvPr>
          <p:cNvSpPr/>
          <p:nvPr/>
        </p:nvSpPr>
        <p:spPr>
          <a:xfrm>
            <a:off x="738416" y="3947820"/>
            <a:ext cx="3627601" cy="229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9A9A"/>
              </a:buClr>
              <a:buSzPts val="950"/>
              <a:buFont typeface="Arial"/>
              <a:buNone/>
            </a:pPr>
            <a:r>
              <a:rPr lang="en-US" sz="950" b="1" i="1" u="none" strike="noStrike" cap="none">
                <a:solidFill>
                  <a:srgbClr val="9A9A9A"/>
                </a:solidFill>
                <a:latin typeface="Helvetica Neue"/>
                <a:ea typeface="Helvetica Neue"/>
                <a:cs typeface="Helvetica Neue"/>
                <a:sym typeface="Helvetica Neue"/>
              </a:rPr>
              <a:t>overthinks — wasted tokens, flat/negative return</a:t>
            </a:r>
            <a:endParaRPr sz="950" b="1" i="0" u="none" strike="noStrike" cap="none">
              <a:solidFill>
                <a:schemeClr val="dk1"/>
              </a:solidFill>
              <a:latin typeface="Helvetica Neue"/>
              <a:ea typeface="Helvetica Neue"/>
              <a:cs typeface="Helvetica Neue"/>
              <a:sym typeface="Helvetica Neue"/>
            </a:endParaRPr>
          </a:p>
        </p:txBody>
      </p:sp>
      <p:sp>
        <p:nvSpPr>
          <p:cNvPr id="14" name="Google Shape;79;p2">
            <a:extLst>
              <a:ext uri="{FF2B5EF4-FFF2-40B4-BE49-F238E27FC236}">
                <a16:creationId xmlns:a16="http://schemas.microsoft.com/office/drawing/2014/main" id="{2DC4900E-67D7-89CD-AB8C-B1E5E9D7A394}"/>
              </a:ext>
            </a:extLst>
          </p:cNvPr>
          <p:cNvSpPr/>
          <p:nvPr/>
        </p:nvSpPr>
        <p:spPr>
          <a:xfrm>
            <a:off x="738416" y="4263300"/>
            <a:ext cx="1309603" cy="200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dirty="0">
                <a:solidFill>
                  <a:srgbClr val="FFFFFF"/>
                </a:solidFill>
                <a:latin typeface="Helvetica Neue"/>
                <a:ea typeface="Helvetica Neue"/>
                <a:cs typeface="Helvetica Neue"/>
                <a:sym typeface="Helvetica Neue"/>
              </a:rPr>
              <a:t>Hard problem</a:t>
            </a:r>
            <a:endParaRPr sz="1150" i="0" u="none" strike="noStrike" cap="none" dirty="0">
              <a:solidFill>
                <a:schemeClr val="dk1"/>
              </a:solidFill>
              <a:latin typeface="Helvetica Neue"/>
              <a:ea typeface="Helvetica Neue"/>
              <a:cs typeface="Helvetica Neue"/>
              <a:sym typeface="Helvetica Neue"/>
            </a:endParaRPr>
          </a:p>
        </p:txBody>
      </p:sp>
      <p:sp>
        <p:nvSpPr>
          <p:cNvPr id="15" name="Google Shape;80;p2">
            <a:extLst>
              <a:ext uri="{FF2B5EF4-FFF2-40B4-BE49-F238E27FC236}">
                <a16:creationId xmlns:a16="http://schemas.microsoft.com/office/drawing/2014/main" id="{A0690DA5-B25F-2A13-8054-7D533B81CB52}"/>
              </a:ext>
            </a:extLst>
          </p:cNvPr>
          <p:cNvSpPr/>
          <p:nvPr/>
        </p:nvSpPr>
        <p:spPr>
          <a:xfrm>
            <a:off x="2100404" y="4277640"/>
            <a:ext cx="2213230" cy="172080"/>
          </a:xfrm>
          <a:prstGeom prst="roundRect">
            <a:avLst>
              <a:gd name="adj" fmla="val 16667"/>
            </a:avLst>
          </a:prstGeom>
          <a:no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6" name="Google Shape;81;p2">
            <a:extLst>
              <a:ext uri="{FF2B5EF4-FFF2-40B4-BE49-F238E27FC236}">
                <a16:creationId xmlns:a16="http://schemas.microsoft.com/office/drawing/2014/main" id="{FBC774A7-F0B6-BE93-2F66-E0779513F8C9}"/>
              </a:ext>
            </a:extLst>
          </p:cNvPr>
          <p:cNvSpPr/>
          <p:nvPr/>
        </p:nvSpPr>
        <p:spPr>
          <a:xfrm>
            <a:off x="2100404" y="4277640"/>
            <a:ext cx="1231313" cy="172080"/>
          </a:xfrm>
          <a:prstGeom prst="roundRect">
            <a:avLst>
              <a:gd name="adj" fmla="val 16667"/>
            </a:avLst>
          </a:prstGeom>
          <a:solidFill>
            <a:srgbClr val="9A9A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7" name="Google Shape;82;p2">
            <a:extLst>
              <a:ext uri="{FF2B5EF4-FFF2-40B4-BE49-F238E27FC236}">
                <a16:creationId xmlns:a16="http://schemas.microsoft.com/office/drawing/2014/main" id="{04D406BC-2782-1F9F-59BE-55E163E1BC48}"/>
              </a:ext>
            </a:extLst>
          </p:cNvPr>
          <p:cNvSpPr/>
          <p:nvPr/>
        </p:nvSpPr>
        <p:spPr>
          <a:xfrm>
            <a:off x="738416" y="4507080"/>
            <a:ext cx="3627601" cy="229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9A9A"/>
              </a:buClr>
              <a:buSzPts val="950"/>
              <a:buFont typeface="Arial"/>
              <a:buNone/>
            </a:pPr>
            <a:r>
              <a:rPr lang="en-US" sz="950" b="1" i="1" u="none" strike="noStrike" cap="none">
                <a:solidFill>
                  <a:srgbClr val="9A9A9A"/>
                </a:solidFill>
                <a:latin typeface="Helvetica Neue"/>
                <a:ea typeface="Helvetica Neue"/>
                <a:cs typeface="Helvetica Neue"/>
                <a:sym typeface="Helvetica Neue"/>
              </a:rPr>
              <a:t>underthinks — abandons promising reasoning</a:t>
            </a:r>
            <a:endParaRPr sz="950" b="1" i="0" u="none" strike="noStrike" cap="none">
              <a:solidFill>
                <a:schemeClr val="dk1"/>
              </a:solidFill>
              <a:latin typeface="Helvetica Neue"/>
              <a:ea typeface="Helvetica Neue"/>
              <a:cs typeface="Helvetica Neue"/>
              <a:sym typeface="Helvetica Neue"/>
            </a:endParaRPr>
          </a:p>
        </p:txBody>
      </p:sp>
      <p:sp>
        <p:nvSpPr>
          <p:cNvPr id="18" name="Google Shape;83;p2">
            <a:extLst>
              <a:ext uri="{FF2B5EF4-FFF2-40B4-BE49-F238E27FC236}">
                <a16:creationId xmlns:a16="http://schemas.microsoft.com/office/drawing/2014/main" id="{19AC2F44-881C-E244-6468-BDB26874F136}"/>
              </a:ext>
            </a:extLst>
          </p:cNvPr>
          <p:cNvSpPr/>
          <p:nvPr/>
        </p:nvSpPr>
        <p:spPr>
          <a:xfrm>
            <a:off x="4699966" y="3288180"/>
            <a:ext cx="3915714" cy="1520040"/>
          </a:xfrm>
          <a:prstGeom prst="roundRect">
            <a:avLst>
              <a:gd name="adj" fmla="val 2830"/>
            </a:avLst>
          </a:prstGeom>
          <a:solidFill>
            <a:srgbClr val="141414"/>
          </a:solidFill>
          <a:ln w="12700" cap="flat" cmpd="sng">
            <a:solidFill>
              <a:srgbClr val="FF7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9" name="Google Shape;84;p2">
            <a:extLst>
              <a:ext uri="{FF2B5EF4-FFF2-40B4-BE49-F238E27FC236}">
                <a16:creationId xmlns:a16="http://schemas.microsoft.com/office/drawing/2014/main" id="{7CEF4C4A-C122-4B1B-42C0-83CE89FF9DF5}"/>
              </a:ext>
            </a:extLst>
          </p:cNvPr>
          <p:cNvSpPr/>
          <p:nvPr/>
        </p:nvSpPr>
        <p:spPr>
          <a:xfrm>
            <a:off x="4844023" y="3402900"/>
            <a:ext cx="3627601" cy="215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7900"/>
              </a:buClr>
              <a:buSzPts val="1200"/>
              <a:buFont typeface="Arial"/>
              <a:buNone/>
            </a:pPr>
            <a:r>
              <a:rPr lang="en-US" sz="1200" b="1" i="0" u="none" strike="noStrike" cap="none">
                <a:solidFill>
                  <a:srgbClr val="FF7900"/>
                </a:solidFill>
                <a:latin typeface="Helvetica Neue"/>
                <a:ea typeface="Helvetica Neue"/>
                <a:cs typeface="Helvetica Neue"/>
                <a:sym typeface="Helvetica Neue"/>
              </a:rPr>
              <a:t>PROPOSED — BUDGET MATCHED TO DIFFICULTY</a:t>
            </a:r>
            <a:endParaRPr sz="1200" i="0" u="none" strike="noStrike" cap="none">
              <a:solidFill>
                <a:schemeClr val="dk1"/>
              </a:solidFill>
              <a:latin typeface="Helvetica Neue"/>
              <a:ea typeface="Helvetica Neue"/>
              <a:cs typeface="Helvetica Neue"/>
              <a:sym typeface="Helvetica Neue"/>
            </a:endParaRPr>
          </a:p>
        </p:txBody>
      </p:sp>
      <p:sp>
        <p:nvSpPr>
          <p:cNvPr id="20" name="Google Shape;85;p2">
            <a:extLst>
              <a:ext uri="{FF2B5EF4-FFF2-40B4-BE49-F238E27FC236}">
                <a16:creationId xmlns:a16="http://schemas.microsoft.com/office/drawing/2014/main" id="{21BBF973-E6CE-59BF-1368-D93B3B80E52F}"/>
              </a:ext>
            </a:extLst>
          </p:cNvPr>
          <p:cNvSpPr/>
          <p:nvPr/>
        </p:nvSpPr>
        <p:spPr>
          <a:xfrm>
            <a:off x="4844023" y="3704040"/>
            <a:ext cx="1309603" cy="200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Helvetica Neue"/>
                <a:ea typeface="Helvetica Neue"/>
                <a:cs typeface="Helvetica Neue"/>
                <a:sym typeface="Helvetica Neue"/>
              </a:rPr>
              <a:t>Easy problem</a:t>
            </a:r>
            <a:endParaRPr sz="1150" i="0" u="none" strike="noStrike" cap="none">
              <a:solidFill>
                <a:schemeClr val="dk1"/>
              </a:solidFill>
              <a:latin typeface="Helvetica Neue"/>
              <a:ea typeface="Helvetica Neue"/>
              <a:cs typeface="Helvetica Neue"/>
              <a:sym typeface="Helvetica Neue"/>
            </a:endParaRPr>
          </a:p>
        </p:txBody>
      </p:sp>
      <p:sp>
        <p:nvSpPr>
          <p:cNvPr id="21" name="Google Shape;86;p2">
            <a:extLst>
              <a:ext uri="{FF2B5EF4-FFF2-40B4-BE49-F238E27FC236}">
                <a16:creationId xmlns:a16="http://schemas.microsoft.com/office/drawing/2014/main" id="{9F7D1DD8-8C59-833B-A8D5-8B8FF20B86DA}"/>
              </a:ext>
            </a:extLst>
          </p:cNvPr>
          <p:cNvSpPr/>
          <p:nvPr/>
        </p:nvSpPr>
        <p:spPr>
          <a:xfrm>
            <a:off x="6206010" y="3718380"/>
            <a:ext cx="2213230" cy="172080"/>
          </a:xfrm>
          <a:prstGeom prst="roundRect">
            <a:avLst>
              <a:gd name="adj" fmla="val 16667"/>
            </a:avLst>
          </a:prstGeom>
          <a:no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2" name="Google Shape;87;p2">
            <a:extLst>
              <a:ext uri="{FF2B5EF4-FFF2-40B4-BE49-F238E27FC236}">
                <a16:creationId xmlns:a16="http://schemas.microsoft.com/office/drawing/2014/main" id="{7100365B-1F11-9D81-1586-D429EF7AEE61}"/>
              </a:ext>
            </a:extLst>
          </p:cNvPr>
          <p:cNvSpPr/>
          <p:nvPr/>
        </p:nvSpPr>
        <p:spPr>
          <a:xfrm>
            <a:off x="6206010" y="3718380"/>
            <a:ext cx="462347" cy="172080"/>
          </a:xfrm>
          <a:prstGeom prst="roundRect">
            <a:avLst>
              <a:gd name="adj" fmla="val 16667"/>
            </a:avLst>
          </a:prstGeom>
          <a:solidFill>
            <a:srgbClr val="FF7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3" name="Google Shape;88;p2">
            <a:extLst>
              <a:ext uri="{FF2B5EF4-FFF2-40B4-BE49-F238E27FC236}">
                <a16:creationId xmlns:a16="http://schemas.microsoft.com/office/drawing/2014/main" id="{09A0CE0C-990F-2056-BD2A-34D27BAC64E0}"/>
              </a:ext>
            </a:extLst>
          </p:cNvPr>
          <p:cNvSpPr/>
          <p:nvPr/>
        </p:nvSpPr>
        <p:spPr>
          <a:xfrm>
            <a:off x="4844023" y="3947820"/>
            <a:ext cx="3627601" cy="229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9A9A"/>
              </a:buClr>
              <a:buSzPts val="950"/>
              <a:buFont typeface="Arial"/>
              <a:buNone/>
            </a:pPr>
            <a:r>
              <a:rPr lang="en-US" sz="950" b="1" i="1" u="none" strike="noStrike" cap="none" dirty="0">
                <a:solidFill>
                  <a:srgbClr val="9A9A9A"/>
                </a:solidFill>
                <a:latin typeface="Helvetica Neue"/>
                <a:ea typeface="Helvetica Neue"/>
                <a:cs typeface="Helvetica Neue"/>
                <a:sym typeface="Helvetica Neue"/>
              </a:rPr>
              <a:t>stops once accuracy saturates</a:t>
            </a:r>
            <a:endParaRPr sz="950" b="1" i="0" u="none" strike="noStrike" cap="none" dirty="0">
              <a:solidFill>
                <a:schemeClr val="dk1"/>
              </a:solidFill>
              <a:latin typeface="Helvetica Neue"/>
              <a:ea typeface="Helvetica Neue"/>
              <a:cs typeface="Helvetica Neue"/>
              <a:sym typeface="Helvetica Neue"/>
            </a:endParaRPr>
          </a:p>
        </p:txBody>
      </p:sp>
      <p:sp>
        <p:nvSpPr>
          <p:cNvPr id="24" name="Google Shape;89;p2">
            <a:extLst>
              <a:ext uri="{FF2B5EF4-FFF2-40B4-BE49-F238E27FC236}">
                <a16:creationId xmlns:a16="http://schemas.microsoft.com/office/drawing/2014/main" id="{3BD24743-2FC3-03BF-3D3D-F43FE880B396}"/>
              </a:ext>
            </a:extLst>
          </p:cNvPr>
          <p:cNvSpPr/>
          <p:nvPr/>
        </p:nvSpPr>
        <p:spPr>
          <a:xfrm>
            <a:off x="4844023" y="4263300"/>
            <a:ext cx="1309603" cy="200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Helvetica Neue"/>
                <a:ea typeface="Helvetica Neue"/>
                <a:cs typeface="Helvetica Neue"/>
                <a:sym typeface="Helvetica Neue"/>
              </a:rPr>
              <a:t>Hard problem</a:t>
            </a:r>
            <a:endParaRPr sz="1150" i="0" u="none" strike="noStrike" cap="none">
              <a:solidFill>
                <a:schemeClr val="dk1"/>
              </a:solidFill>
              <a:latin typeface="Helvetica Neue"/>
              <a:ea typeface="Helvetica Neue"/>
              <a:cs typeface="Helvetica Neue"/>
              <a:sym typeface="Helvetica Neue"/>
            </a:endParaRPr>
          </a:p>
        </p:txBody>
      </p:sp>
      <p:sp>
        <p:nvSpPr>
          <p:cNvPr id="25" name="Google Shape;90;p2">
            <a:extLst>
              <a:ext uri="{FF2B5EF4-FFF2-40B4-BE49-F238E27FC236}">
                <a16:creationId xmlns:a16="http://schemas.microsoft.com/office/drawing/2014/main" id="{497E435C-821F-605C-5DAC-C0BE6638C423}"/>
              </a:ext>
            </a:extLst>
          </p:cNvPr>
          <p:cNvSpPr/>
          <p:nvPr/>
        </p:nvSpPr>
        <p:spPr>
          <a:xfrm>
            <a:off x="6206010" y="4277640"/>
            <a:ext cx="2213230" cy="172080"/>
          </a:xfrm>
          <a:prstGeom prst="roundRect">
            <a:avLst>
              <a:gd name="adj" fmla="val 16667"/>
            </a:avLst>
          </a:prstGeom>
          <a:no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6" name="Google Shape;91;p2">
            <a:extLst>
              <a:ext uri="{FF2B5EF4-FFF2-40B4-BE49-F238E27FC236}">
                <a16:creationId xmlns:a16="http://schemas.microsoft.com/office/drawing/2014/main" id="{F2EA0E54-41DA-F6C5-1FF7-7A9BA5A924D9}"/>
              </a:ext>
            </a:extLst>
          </p:cNvPr>
          <p:cNvSpPr/>
          <p:nvPr/>
        </p:nvSpPr>
        <p:spPr>
          <a:xfrm>
            <a:off x="6206010" y="4277640"/>
            <a:ext cx="1947642" cy="172080"/>
          </a:xfrm>
          <a:prstGeom prst="roundRect">
            <a:avLst>
              <a:gd name="adj" fmla="val 16667"/>
            </a:avLst>
          </a:prstGeom>
          <a:solidFill>
            <a:srgbClr val="FF7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7" name="Google Shape;92;p2">
            <a:extLst>
              <a:ext uri="{FF2B5EF4-FFF2-40B4-BE49-F238E27FC236}">
                <a16:creationId xmlns:a16="http://schemas.microsoft.com/office/drawing/2014/main" id="{AE5AACE7-570B-A17E-915F-0DF793AD8D6C}"/>
              </a:ext>
            </a:extLst>
          </p:cNvPr>
          <p:cNvSpPr/>
          <p:nvPr/>
        </p:nvSpPr>
        <p:spPr>
          <a:xfrm>
            <a:off x="4844023" y="4507080"/>
            <a:ext cx="3627601" cy="229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9A9A"/>
              </a:buClr>
              <a:buSzPts val="950"/>
              <a:buFont typeface="Arial"/>
              <a:buNone/>
            </a:pPr>
            <a:r>
              <a:rPr lang="en-US" sz="950" b="1" i="1" u="none" strike="noStrike" cap="none">
                <a:solidFill>
                  <a:srgbClr val="9A9A9A"/>
                </a:solidFill>
                <a:latin typeface="Helvetica Neue"/>
                <a:ea typeface="Helvetica Neue"/>
                <a:cs typeface="Helvetica Neue"/>
                <a:sym typeface="Helvetica Neue"/>
              </a:rPr>
              <a:t>spends compute where it pays off</a:t>
            </a:r>
            <a:endParaRPr sz="950" b="1" i="0" u="none" strike="noStrike" cap="none">
              <a:solidFill>
                <a:schemeClr val="dk1"/>
              </a:solidFill>
              <a:latin typeface="Helvetica Neue"/>
              <a:ea typeface="Helvetica Neue"/>
              <a:cs typeface="Helvetica Neue"/>
              <a:sym typeface="Helvetica Neue"/>
            </a:endParaRPr>
          </a:p>
        </p:txBody>
      </p:sp>
      <p:sp>
        <p:nvSpPr>
          <p:cNvPr id="28" name="Google Shape;93;p2">
            <a:extLst>
              <a:ext uri="{FF2B5EF4-FFF2-40B4-BE49-F238E27FC236}">
                <a16:creationId xmlns:a16="http://schemas.microsoft.com/office/drawing/2014/main" id="{60D707C1-A081-C2B6-D5EA-90BDEA9A5B18}"/>
              </a:ext>
            </a:extLst>
          </p:cNvPr>
          <p:cNvSpPr/>
          <p:nvPr/>
        </p:nvSpPr>
        <p:spPr>
          <a:xfrm flipH="1">
            <a:off x="2477626" y="3718380"/>
            <a:ext cx="32739" cy="172080"/>
          </a:xfrm>
          <a:prstGeom prst="roundRect">
            <a:avLst>
              <a:gd name="adj" fmla="val 16667"/>
            </a:avLst>
          </a:prstGeom>
          <a:solidFill>
            <a:srgbClr val="FF7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9" name="Google Shape;94;p2">
            <a:extLst>
              <a:ext uri="{FF2B5EF4-FFF2-40B4-BE49-F238E27FC236}">
                <a16:creationId xmlns:a16="http://schemas.microsoft.com/office/drawing/2014/main" id="{21F639C1-80C6-3833-4339-7355593AB99A}"/>
              </a:ext>
            </a:extLst>
          </p:cNvPr>
          <p:cNvSpPr/>
          <p:nvPr/>
        </p:nvSpPr>
        <p:spPr>
          <a:xfrm flipH="1">
            <a:off x="3902056" y="4276486"/>
            <a:ext cx="32739" cy="172080"/>
          </a:xfrm>
          <a:prstGeom prst="roundRect">
            <a:avLst>
              <a:gd name="adj" fmla="val 16667"/>
            </a:avLst>
          </a:prstGeom>
          <a:solidFill>
            <a:srgbClr val="FF7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30" name="Google Shape;95;p2">
            <a:extLst>
              <a:ext uri="{FF2B5EF4-FFF2-40B4-BE49-F238E27FC236}">
                <a16:creationId xmlns:a16="http://schemas.microsoft.com/office/drawing/2014/main" id="{76DC54D7-E056-2BCB-8004-96A4C26EB18C}"/>
              </a:ext>
            </a:extLst>
          </p:cNvPr>
          <p:cNvSpPr txBox="1"/>
          <p:nvPr/>
        </p:nvSpPr>
        <p:spPr>
          <a:xfrm>
            <a:off x="2324102" y="3806801"/>
            <a:ext cx="1192310"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000"/>
              <a:buFont typeface="Arial"/>
              <a:buNone/>
            </a:pPr>
            <a:r>
              <a:rPr lang="en-US" sz="1000" b="1" i="1" u="none" strike="noStrike" cap="none" dirty="0">
                <a:solidFill>
                  <a:schemeClr val="lt1"/>
                </a:solidFill>
                <a:latin typeface="Helvetica Neue"/>
                <a:ea typeface="Helvetica Neue"/>
                <a:cs typeface="Helvetica Neue"/>
                <a:sym typeface="Helvetica Neue"/>
              </a:rPr>
              <a:t>optimal</a:t>
            </a:r>
            <a:endParaRPr sz="1000" b="1" i="0" u="none" strike="noStrike" cap="none" dirty="0">
              <a:solidFill>
                <a:schemeClr val="lt1"/>
              </a:solidFill>
              <a:latin typeface="Helvetica Neue"/>
              <a:ea typeface="Helvetica Neue"/>
              <a:cs typeface="Helvetica Neue"/>
              <a:sym typeface="Helvetica Neue"/>
            </a:endParaRPr>
          </a:p>
        </p:txBody>
      </p:sp>
      <p:sp>
        <p:nvSpPr>
          <p:cNvPr id="31" name="Google Shape;96;p2">
            <a:extLst>
              <a:ext uri="{FF2B5EF4-FFF2-40B4-BE49-F238E27FC236}">
                <a16:creationId xmlns:a16="http://schemas.microsoft.com/office/drawing/2014/main" id="{244F9978-B230-58CC-FEBE-37FC8E142DF3}"/>
              </a:ext>
            </a:extLst>
          </p:cNvPr>
          <p:cNvSpPr txBox="1"/>
          <p:nvPr/>
        </p:nvSpPr>
        <p:spPr>
          <a:xfrm>
            <a:off x="3711081" y="4425717"/>
            <a:ext cx="746609"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000"/>
              <a:buFont typeface="Arial"/>
              <a:buNone/>
            </a:pPr>
            <a:r>
              <a:rPr lang="en-US" sz="1000" b="1" i="1" u="none" strike="noStrike" cap="none" dirty="0">
                <a:solidFill>
                  <a:schemeClr val="lt1"/>
                </a:solidFill>
                <a:latin typeface="Helvetica Neue"/>
                <a:ea typeface="Helvetica Neue"/>
                <a:cs typeface="Helvetica Neue"/>
                <a:sym typeface="Helvetica Neue"/>
              </a:rPr>
              <a:t>optimal</a:t>
            </a:r>
            <a:endParaRPr sz="1000" b="1" i="0" u="none" strike="noStrike" cap="none" dirty="0">
              <a:solidFill>
                <a:schemeClr val="lt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1850896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2000" b="1" dirty="0">
                <a:solidFill>
                  <a:srgbClr val="FF7900"/>
                </a:solidFill>
                <a:latin typeface="Helvetica Neue"/>
                <a:sym typeface="Arial"/>
              </a:rPr>
              <a:t>1. BACKGROUND</a:t>
            </a:r>
            <a:endPar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endParaRPr>
          </a:p>
        </p:txBody>
      </p:sp>
      <p:sp>
        <p:nvSpPr>
          <p:cNvPr id="3" name="Text 1"/>
          <p:cNvSpPr txBox="1"/>
          <p:nvPr/>
        </p:nvSpPr>
        <p:spPr>
          <a:xfrm>
            <a:off x="320040" y="997659"/>
            <a:ext cx="8503920" cy="3574341"/>
          </a:xfrm>
          <a:prstGeom prst="rect">
            <a:avLst/>
          </a:prstGeom>
          <a:noFill/>
          <a:ln/>
        </p:spPr>
        <p:txBody>
          <a:bodyPr wrap="square" lIns="0" tIns="0" rIns="0" bIns="0" rtlCol="0" anchor="t"/>
          <a:lstStyle/>
          <a:p>
            <a:r>
              <a:rPr lang="en-US" sz="1300" b="1" dirty="0">
                <a:solidFill>
                  <a:srgbClr val="FF7900"/>
                </a:solidFill>
                <a:latin typeface="Helvetica Neue"/>
              </a:rPr>
              <a:t>The two failure modes. </a:t>
            </a:r>
            <a:r>
              <a:rPr lang="en-US" sz="1200" dirty="0">
                <a:solidFill>
                  <a:srgbClr val="FFFFFF"/>
                </a:solidFill>
                <a:latin typeface="Arial" pitchFamily="34" charset="0"/>
                <a:cs typeface="Arial" pitchFamily="34" charset="-120"/>
              </a:rPr>
              <a:t>Test-time scaling improves accuracy by allocating more inference compute through longer reasoning, sampling, or search. However, fixed budgets for all inputs can lead to two opposite failure modes. Underthinking stops reasoning short where more was needed; overthinking keeps going after the answer is already settled.</a:t>
            </a:r>
          </a:p>
          <a:p>
            <a:endParaRPr lang="en-US" sz="1200" dirty="0">
              <a:solidFill>
                <a:srgbClr val="FFFFFF"/>
              </a:solidFill>
              <a:latin typeface="Arial" pitchFamily="34" charset="0"/>
              <a:cs typeface="Arial" pitchFamily="34" charset="-120"/>
            </a:endParaRPr>
          </a:p>
          <a:p>
            <a:pPr marL="171450" indent="-171450">
              <a:buFontTx/>
              <a:buChar char="-"/>
            </a:pPr>
            <a:r>
              <a:rPr lang="en-US" sz="1200" dirty="0">
                <a:solidFill>
                  <a:srgbClr val="FFFFFF"/>
                </a:solidFill>
                <a:latin typeface="Arial" pitchFamily="34" charset="0"/>
                <a:cs typeface="Arial" pitchFamily="34" charset="-120"/>
              </a:rPr>
              <a:t>Underthinking — Wang et al., “Thoughts Are All Over the Place” (</a:t>
            </a:r>
            <a:r>
              <a:rPr lang="en-US" sz="1200" dirty="0" err="1">
                <a:solidFill>
                  <a:srgbClr val="FFFFFF"/>
                </a:solidFill>
                <a:latin typeface="Arial" pitchFamily="34" charset="0"/>
                <a:cs typeface="Arial" pitchFamily="34" charset="-120"/>
              </a:rPr>
              <a:t>NeurIPS</a:t>
            </a:r>
            <a:r>
              <a:rPr lang="en-US" sz="1200" dirty="0">
                <a:solidFill>
                  <a:srgbClr val="FFFFFF"/>
                </a:solidFill>
                <a:latin typeface="Arial" pitchFamily="34" charset="0"/>
                <a:cs typeface="Arial" pitchFamily="34" charset="-120"/>
              </a:rPr>
              <a:t> 2025): can arise from two distinct compute-allocation failures: the model may either receive too little compute for the problem, or have sufficient compute but allocate it inefficiently. The two cases need different fixes: a larger budget in the first, a better stopping signal in the second.</a:t>
            </a:r>
          </a:p>
          <a:p>
            <a:pPr marL="457200" marR="0" lvl="1" indent="-228600" algn="l" defTabSz="914400" rtl="0" eaLnBrk="1" fontAlgn="auto" latinLnBrk="0" hangingPunct="1">
              <a:lnSpc>
                <a:spcPct val="100000"/>
              </a:lnSpc>
              <a:spcBef>
                <a:spcPts val="0"/>
              </a:spcBef>
              <a:spcAft>
                <a:spcPts val="500"/>
              </a:spcAft>
              <a:buClrTx/>
              <a:buSzPct val="100000"/>
              <a:buFontTx/>
              <a:buChar char="•"/>
              <a:tabLst/>
              <a:defRPr/>
            </a:pPr>
            <a:r>
              <a:rPr kumimoji="0" lang="en-US" sz="1200" b="1"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Insufficient Compute</a:t>
            </a:r>
            <a:r>
              <a:rPr kumimoji="0" lang="en-US" sz="1200" b="0" i="0" u="none" strike="noStrike" kern="1200" cap="none" spc="0" normalizeH="0" baseline="0" noProof="0" dirty="0">
                <a:ln>
                  <a:noFill/>
                </a:ln>
                <a:solidFill>
                  <a:srgbClr val="BBBEBF"/>
                </a:solidFill>
                <a:effectLst/>
                <a:uLnTx/>
                <a:uFillTx/>
                <a:latin typeface="Consolas" panose="020B0609020204030204" pitchFamily="49" charset="0"/>
                <a:ea typeface="+mn-ea"/>
                <a:cs typeface="+mn-cs"/>
              </a:rPr>
              <a:t>_</a:t>
            </a:r>
            <a:endParaRPr lang="en-US" sz="1050" dirty="0">
              <a:solidFill>
                <a:srgbClr val="FFFFFF"/>
              </a:solidFill>
              <a:latin typeface="Arial" pitchFamily="34" charset="0"/>
              <a:cs typeface="Arial" pitchFamily="34" charset="-120"/>
            </a:endParaRPr>
          </a:p>
          <a:p>
            <a:pPr marL="571500" marR="0" lvl="1" indent="-171450" algn="l" defTabSz="914400" rtl="0" eaLnBrk="1" fontAlgn="auto" latinLnBrk="0" hangingPunct="1">
              <a:lnSpc>
                <a:spcPct val="100000"/>
              </a:lnSpc>
              <a:spcBef>
                <a:spcPts val="0"/>
              </a:spcBef>
              <a:spcAft>
                <a:spcPts val="500"/>
              </a:spcAft>
              <a:buClrTx/>
              <a:buSzPct val="100000"/>
              <a:buFontTx/>
              <a:buChar char="-"/>
              <a:tabLst/>
              <a:defRPr/>
            </a:pPr>
            <a:r>
              <a:rPr lang="en-US" sz="1050" dirty="0">
                <a:solidFill>
                  <a:srgbClr val="FFFFFF"/>
                </a:solidFill>
                <a:latin typeface="Arial" pitchFamily="34" charset="0"/>
                <a:cs typeface="Arial" pitchFamily="34" charset="-120"/>
              </a:rPr>
              <a:t>Evidence: On hard problems, incorrect responses may stop before reaching a reliable solution because the allocated budget is insufficient. A larger budget would let the model finish reasoning it had already started.</a:t>
            </a:r>
          </a:p>
          <a:p>
            <a:pPr marL="571500" lvl="1" indent="-171450">
              <a:spcAft>
                <a:spcPts val="500"/>
              </a:spcAft>
              <a:buSzPct val="100000"/>
              <a:buFontTx/>
              <a:buChar char="-"/>
              <a:defRPr/>
            </a:pPr>
            <a:r>
              <a:rPr lang="en-US" sz="1050" dirty="0">
                <a:solidFill>
                  <a:srgbClr val="FFFFFF"/>
                </a:solidFill>
                <a:latin typeface="Arial" pitchFamily="34" charset="0"/>
                <a:cs typeface="Arial" pitchFamily="34" charset="-120"/>
              </a:rPr>
              <a:t>Research direction: identify queries that require more reasoning and allocate additional compute rather than using a fixed budget. This requires telling hard queries apart from easy ones early enough to assign the extra budget.</a:t>
            </a:r>
          </a:p>
          <a:p>
            <a:pPr marL="457200" marR="0" lvl="1" indent="-228600" algn="l" defTabSz="914400" rtl="0" eaLnBrk="1" fontAlgn="auto" latinLnBrk="0" hangingPunct="1">
              <a:lnSpc>
                <a:spcPct val="100000"/>
              </a:lnSpc>
              <a:spcBef>
                <a:spcPts val="0"/>
              </a:spcBef>
              <a:spcAft>
                <a:spcPts val="500"/>
              </a:spcAft>
              <a:buClrTx/>
              <a:buSzPct val="100000"/>
              <a:buFontTx/>
              <a:buChar char="•"/>
              <a:tabLst/>
              <a:defRPr/>
            </a:pPr>
            <a:r>
              <a:rPr kumimoji="0" lang="en-US" sz="1200" b="1"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Inefficient Compute</a:t>
            </a:r>
            <a:r>
              <a:rPr kumimoji="0" lang="en-US" sz="1200" b="0" i="0" u="none" strike="noStrike" kern="1200" cap="none" spc="0" normalizeH="0" baseline="0" noProof="0" dirty="0">
                <a:ln>
                  <a:noFill/>
                </a:ln>
                <a:solidFill>
                  <a:srgbClr val="BBBEBF"/>
                </a:solidFill>
                <a:effectLst/>
                <a:uLnTx/>
                <a:uFillTx/>
                <a:latin typeface="Consolas" panose="020B0609020204030204" pitchFamily="49" charset="0"/>
                <a:ea typeface="+mn-ea"/>
                <a:cs typeface="+mn-cs"/>
              </a:rPr>
              <a:t>_</a:t>
            </a:r>
            <a:r>
              <a:rPr lang="en-US" sz="1050" dirty="0"/>
              <a:t> </a:t>
            </a:r>
            <a:r>
              <a:rPr lang="en-US" sz="1200" dirty="0">
                <a:solidFill>
                  <a:srgbClr val="FFFFFF"/>
                </a:solidFill>
                <a:latin typeface="Arial" pitchFamily="34" charset="0"/>
                <a:cs typeface="Arial" pitchFamily="34" charset="-120"/>
              </a:rPr>
              <a:t>Partially out of scope</a:t>
            </a:r>
          </a:p>
          <a:p>
            <a:pPr marL="571500" marR="0" lvl="1" indent="-171450" algn="l" defTabSz="914400" rtl="0" eaLnBrk="1" fontAlgn="auto" latinLnBrk="0" hangingPunct="1">
              <a:lnSpc>
                <a:spcPct val="100000"/>
              </a:lnSpc>
              <a:spcBef>
                <a:spcPts val="0"/>
              </a:spcBef>
              <a:spcAft>
                <a:spcPts val="500"/>
              </a:spcAft>
              <a:buClrTx/>
              <a:buSzPct val="100000"/>
              <a:buFontTx/>
              <a:buChar char="-"/>
              <a:tabLst/>
              <a:defRPr/>
            </a:pPr>
            <a:r>
              <a:rPr lang="en-US" sz="1050" dirty="0">
                <a:solidFill>
                  <a:srgbClr val="FFFFFF"/>
                </a:solidFill>
                <a:latin typeface="Arial" pitchFamily="34" charset="0"/>
                <a:cs typeface="Arial" pitchFamily="34" charset="-120"/>
              </a:rPr>
              <a:t>Evidence: Incorrect responses show far more thought switches despite often being longer: QwQ-32B-Preview: 26.4 vs. 7.0 and DeepSeek-R1-671B: 59.3 vs. 12.6 switches on AIME2024. This suggests compute is being spent restarting thoughts rather than reasoning deeper (a thought switch is a point where the model abandons its current line of reasoning and starts a different one).</a:t>
            </a:r>
          </a:p>
          <a:p>
            <a:pPr marL="571500" lvl="1" indent="-171450">
              <a:spcAft>
                <a:spcPts val="500"/>
              </a:spcAft>
              <a:buSzPct val="100000"/>
              <a:buFontTx/>
              <a:buChar char="-"/>
              <a:defRPr/>
            </a:pPr>
            <a:r>
              <a:rPr lang="en-US" sz="1050" dirty="0">
                <a:solidFill>
                  <a:srgbClr val="FFFFFF"/>
                </a:solidFill>
                <a:latin typeface="Arial" pitchFamily="34" charset="0"/>
                <a:cs typeface="Arial" pitchFamily="34" charset="-120"/>
              </a:rPr>
              <a:t>Research direction: refine the convergence signal to distinguish genuine reasoning progress from inefficient thought switching and decide when to continue or stop. The goal is to stop on real convergence, not on length alone.</a:t>
            </a:r>
          </a:p>
          <a:p>
            <a:pPr marL="571500" lvl="1" indent="-171450">
              <a:spcAft>
                <a:spcPts val="500"/>
              </a:spcAft>
              <a:buSzPct val="100000"/>
              <a:buFontTx/>
              <a:buChar char="-"/>
              <a:defRPr/>
            </a:pPr>
            <a:endParaRPr lang="en-US" sz="1050" dirty="0">
              <a:solidFill>
                <a:srgbClr val="FFFFFF"/>
              </a:solidFill>
              <a:latin typeface="Arial" pitchFamily="34" charset="0"/>
              <a:cs typeface="Arial" pitchFamily="34" charset="-120"/>
            </a:endParaRPr>
          </a:p>
          <a:p>
            <a:pPr marL="457200" marR="0" lvl="1" indent="-228600" algn="l" defTabSz="914400" rtl="0" eaLnBrk="1" fontAlgn="auto" latinLnBrk="0" hangingPunct="1">
              <a:lnSpc>
                <a:spcPct val="100000"/>
              </a:lnSpc>
              <a:spcBef>
                <a:spcPts val="0"/>
              </a:spcBef>
              <a:spcAft>
                <a:spcPts val="500"/>
              </a:spcAft>
              <a:buClrTx/>
              <a:buSzPct val="100000"/>
              <a:buFontTx/>
              <a:buChar char="•"/>
              <a:tabLst/>
              <a:defRPr/>
            </a:pPr>
            <a:endParaRPr kumimoji="0" lang="en-US" sz="105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6557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8" name="Google Shape;128;p3"/>
          <p:cNvSpPr/>
          <p:nvPr/>
        </p:nvSpPr>
        <p:spPr>
          <a:xfrm>
            <a:off x="251460" y="4068280"/>
            <a:ext cx="8656320" cy="847344"/>
          </a:xfrm>
          <a:prstGeom prst="roundRect">
            <a:avLst>
              <a:gd name="adj" fmla="val 8333"/>
            </a:avLst>
          </a:prstGeom>
          <a:solidFill>
            <a:srgbClr val="1F1409"/>
          </a:solidFill>
          <a:ln w="12700" cap="flat" cmpd="sng">
            <a:solidFill>
              <a:srgbClr val="FF7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2" name="Text 0"/>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1. BACKGROUND</a:t>
            </a:r>
          </a:p>
        </p:txBody>
      </p:sp>
      <p:sp>
        <p:nvSpPr>
          <p:cNvPr id="3" name="Text 1"/>
          <p:cNvSpPr txBox="1"/>
          <p:nvPr/>
        </p:nvSpPr>
        <p:spPr>
          <a:xfrm>
            <a:off x="320040" y="997659"/>
            <a:ext cx="8503920" cy="3574341"/>
          </a:xfrm>
          <a:prstGeom prst="rect">
            <a:avLst/>
          </a:prstGeom>
          <a:noFill/>
          <a:ln/>
        </p:spPr>
        <p:txBody>
          <a:bodyPr wrap="square" lIns="0" tIns="0" rIns="0" bIns="0" rtlCol="0" anchor="t"/>
          <a:lstStyle/>
          <a:p>
            <a:pPr marL="171450" marR="0" lvl="0" indent="-171450" fontAlgn="auto">
              <a:lnSpc>
                <a:spcPct val="100000"/>
              </a:lnSpc>
              <a:spcBef>
                <a:spcPts val="0"/>
              </a:spcBef>
              <a:spcAft>
                <a:spcPts val="0"/>
              </a:spcAft>
              <a:buClrTx/>
              <a:buSzTx/>
              <a:buFontTx/>
              <a:buChar char="-"/>
              <a:tabLst/>
              <a:defRPr/>
            </a:pPr>
            <a:r>
              <a:rPr lang="en-US" sz="1200" dirty="0">
                <a:solidFill>
                  <a:srgbClr val="FFFFFF"/>
                </a:solidFill>
                <a:latin typeface="Arial" pitchFamily="34" charset="0"/>
                <a:cs typeface="Arial" pitchFamily="34" charset="-120"/>
              </a:rPr>
              <a:t>Overthinking can also arise from two distinct compute-allocation failures: the model may either spend unnecessary compute on easy problems, or allocate compute inefficiently across different domains. The first concerns how much compute is spent; the second, whether it matches the kind of problem.</a:t>
            </a:r>
            <a:endParaRPr kumimoji="0" lang="en-US" sz="1300" b="1" i="0" u="none" strike="noStrike" kern="1200" cap="none" spc="0" normalizeH="0" baseline="0" noProof="0" dirty="0">
              <a:ln>
                <a:noFill/>
              </a:ln>
              <a:solidFill>
                <a:srgbClr val="FF7900"/>
              </a:solidFill>
              <a:effectLst/>
              <a:uLnTx/>
              <a:uFillTx/>
              <a:latin typeface="Helvetica Neue"/>
              <a:ea typeface="+mn-ea"/>
              <a:cs typeface="+mn-cs"/>
            </a:endParaRPr>
          </a:p>
          <a:p>
            <a:pPr lvl="1" indent="-228600">
              <a:spcAft>
                <a:spcPts val="500"/>
              </a:spcAft>
              <a:buSzPct val="100000"/>
              <a:buFontTx/>
              <a:buChar char="•"/>
              <a:defRPr/>
            </a:pPr>
            <a:r>
              <a:rPr lang="en-US" sz="1200" b="1" dirty="0">
                <a:solidFill>
                  <a:prstClr val="white"/>
                </a:solidFill>
                <a:latin typeface="Consolas" panose="020B0609020204030204" pitchFamily="49" charset="0"/>
              </a:rPr>
              <a:t>Unnecessary Compute</a:t>
            </a:r>
            <a:r>
              <a:rPr kumimoji="0" lang="en-US" sz="1200" b="0" i="0" u="none" strike="noStrike" kern="1200" cap="none" spc="0" normalizeH="0" baseline="0" noProof="0" dirty="0">
                <a:ln>
                  <a:noFill/>
                </a:ln>
                <a:solidFill>
                  <a:srgbClr val="BBBEBF"/>
                </a:solidFill>
                <a:effectLst/>
                <a:uLnTx/>
                <a:uFillTx/>
                <a:latin typeface="Consolas" panose="020B0609020204030204" pitchFamily="49" charset="0"/>
                <a:ea typeface="+mn-ea"/>
                <a:cs typeface="+mn-cs"/>
              </a:rPr>
              <a:t>_</a:t>
            </a:r>
            <a:endParaRPr lang="en-US" sz="1050" dirty="0">
              <a:solidFill>
                <a:srgbClr val="FFFFFF"/>
              </a:solidFill>
              <a:latin typeface="Arial" pitchFamily="34" charset="0"/>
              <a:cs typeface="Arial" pitchFamily="34" charset="-120"/>
            </a:endParaRPr>
          </a:p>
          <a:p>
            <a:pPr marL="571500" lvl="1" indent="-171450">
              <a:spcAft>
                <a:spcPts val="500"/>
              </a:spcAft>
              <a:buSzPct val="100000"/>
              <a:buFontTx/>
              <a:buChar char="-"/>
              <a:defRPr/>
            </a:pPr>
            <a:r>
              <a:rPr lang="en-US" sz="1050" dirty="0">
                <a:solidFill>
                  <a:srgbClr val="FFFFFF"/>
                </a:solidFill>
                <a:latin typeface="Arial" pitchFamily="34" charset="0"/>
                <a:cs typeface="Arial" pitchFamily="34" charset="-120"/>
              </a:rPr>
              <a:t>Evidence: </a:t>
            </a:r>
            <a:r>
              <a:rPr lang="en-US" sz="1050" dirty="0" err="1">
                <a:solidFill>
                  <a:srgbClr val="FFFFFF"/>
                </a:solidFill>
                <a:latin typeface="Arial" pitchFamily="34" charset="0"/>
                <a:cs typeface="Arial" pitchFamily="34" charset="-120"/>
              </a:rPr>
              <a:t>DiffAdapt</a:t>
            </a:r>
            <a:r>
              <a:rPr lang="en-US" sz="1050" dirty="0">
                <a:solidFill>
                  <a:srgbClr val="FFFFFF"/>
                </a:solidFill>
                <a:latin typeface="Arial" pitchFamily="34" charset="0"/>
                <a:cs typeface="Arial" pitchFamily="34" charset="-120"/>
              </a:rPr>
              <a:t> finds a U-shaped entropy–difficulty relationship: entropy is high on easy problems despite high accuracy, drops by 22–25% at medium difficulty, then rises again on hard problems. This suggests that easy-problem entropy reflects wasted exploration rather than genuine uncertainty. Entropy therefore cannot be read at face value as a sign that more compute is needed.</a:t>
            </a:r>
          </a:p>
          <a:p>
            <a:pPr marL="571500" lvl="1" indent="-171450">
              <a:spcAft>
                <a:spcPts val="500"/>
              </a:spcAft>
              <a:buSzPct val="100000"/>
              <a:buFontTx/>
              <a:buChar char="-"/>
              <a:defRPr/>
            </a:pPr>
            <a:r>
              <a:rPr lang="en-US" sz="1050" dirty="0">
                <a:solidFill>
                  <a:srgbClr val="FFFFFF"/>
                </a:solidFill>
                <a:latin typeface="Arial" pitchFamily="34" charset="0"/>
                <a:cs typeface="Arial" pitchFamily="34" charset="-120"/>
              </a:rPr>
              <a:t>Research direction: identify easy queries and allocate less compute instead of applying a fixed budget — for example, stopping once accuracy saturates and further tokens add only cost.</a:t>
            </a:r>
            <a:endParaRPr kumimoji="0" lang="en-US" sz="1300" b="1" i="0" u="none" strike="noStrike" kern="1200" cap="none" spc="0" normalizeH="0" baseline="0" noProof="0" dirty="0">
              <a:ln>
                <a:noFill/>
              </a:ln>
              <a:solidFill>
                <a:srgbClr val="FF7900"/>
              </a:solidFill>
              <a:effectLst/>
              <a:uLnTx/>
              <a:uFillTx/>
              <a:latin typeface="Helvetica Neue"/>
              <a:ea typeface="+mn-ea"/>
              <a:cs typeface="+mn-cs"/>
            </a:endParaRPr>
          </a:p>
          <a:p>
            <a:pPr lvl="1" indent="-228600">
              <a:spcAft>
                <a:spcPts val="500"/>
              </a:spcAft>
              <a:buSzPct val="100000"/>
              <a:buFontTx/>
              <a:buChar char="•"/>
              <a:defRPr/>
            </a:pPr>
            <a:r>
              <a:rPr lang="en-US" sz="1200" b="1" dirty="0">
                <a:solidFill>
                  <a:prstClr val="white"/>
                </a:solidFill>
                <a:latin typeface="Consolas" panose="020B0609020204030204" pitchFamily="49" charset="0"/>
              </a:rPr>
              <a:t>Domain-Mismatched Compute</a:t>
            </a:r>
            <a:r>
              <a:rPr kumimoji="0" lang="en-US" sz="1200" b="0" i="0" u="none" strike="noStrike" kern="1200" cap="none" spc="0" normalizeH="0" baseline="0" noProof="0" dirty="0">
                <a:ln>
                  <a:noFill/>
                </a:ln>
                <a:solidFill>
                  <a:srgbClr val="BBBEBF"/>
                </a:solidFill>
                <a:effectLst/>
                <a:uLnTx/>
                <a:uFillTx/>
                <a:latin typeface="Consolas" panose="020B0609020204030204" pitchFamily="49" charset="0"/>
                <a:ea typeface="+mn-ea"/>
                <a:cs typeface="+mn-cs"/>
              </a:rPr>
              <a:t>_</a:t>
            </a:r>
            <a:endParaRPr lang="en-US" sz="1050" dirty="0">
              <a:solidFill>
                <a:srgbClr val="FFFFFF"/>
              </a:solidFill>
              <a:latin typeface="Arial" pitchFamily="34" charset="0"/>
              <a:cs typeface="Arial" pitchFamily="34" charset="-120"/>
            </a:endParaRPr>
          </a:p>
          <a:p>
            <a:pPr marL="571500" marR="0" lvl="1" indent="-171450" fontAlgn="auto">
              <a:lnSpc>
                <a:spcPct val="100000"/>
              </a:lnSpc>
              <a:spcBef>
                <a:spcPts val="0"/>
              </a:spcBef>
              <a:spcAft>
                <a:spcPts val="500"/>
              </a:spcAft>
              <a:buClrTx/>
              <a:buSzPct val="100000"/>
              <a:buFontTx/>
              <a:buChar char="-"/>
              <a:tabLst/>
              <a:defRPr/>
            </a:pPr>
            <a:r>
              <a:rPr lang="en-US" sz="1050" dirty="0">
                <a:solidFill>
                  <a:srgbClr val="FFFFFF"/>
                </a:solidFill>
                <a:latin typeface="Arial" pitchFamily="34" charset="0"/>
                <a:cs typeface="Arial" pitchFamily="34" charset="-120"/>
              </a:rPr>
              <a:t>Evidence: Yang et al. show that increasing </a:t>
            </a:r>
            <a:r>
              <a:rPr lang="en-US" sz="1050" dirty="0" err="1">
                <a:solidFill>
                  <a:srgbClr val="FFFFFF"/>
                </a:solidFill>
                <a:latin typeface="Arial" pitchFamily="34" charset="0"/>
                <a:cs typeface="Arial" pitchFamily="34" charset="-120"/>
              </a:rPr>
              <a:t>CoT</a:t>
            </a:r>
            <a:r>
              <a:rPr lang="en-US" sz="1050" dirty="0">
                <a:solidFill>
                  <a:srgbClr val="FFFFFF"/>
                </a:solidFill>
                <a:latin typeface="Arial" pitchFamily="34" charset="0"/>
                <a:cs typeface="Arial" pitchFamily="34" charset="-120"/>
              </a:rPr>
              <a:t> length has domain-dependent returns: it helps some problem sets but can harm others, and the optimal length distribution differs by domain rather than depending only on difficulty. The same extra tokens can therefore help in one domain and hurt in another.</a:t>
            </a:r>
          </a:p>
          <a:p>
            <a:pPr marL="571500" marR="0" lvl="1" indent="-171450" fontAlgn="auto">
              <a:lnSpc>
                <a:spcPct val="100000"/>
              </a:lnSpc>
              <a:spcBef>
                <a:spcPts val="0"/>
              </a:spcBef>
              <a:spcAft>
                <a:spcPts val="500"/>
              </a:spcAft>
              <a:buClrTx/>
              <a:buSzPct val="100000"/>
              <a:buFontTx/>
              <a:buChar char="-"/>
              <a:tabLst/>
              <a:defRPr/>
            </a:pPr>
            <a:r>
              <a:rPr lang="en-US" sz="1050" dirty="0">
                <a:solidFill>
                  <a:srgbClr val="FFFFFF"/>
                </a:solidFill>
                <a:latin typeface="Arial" pitchFamily="34" charset="0"/>
                <a:cs typeface="Arial" pitchFamily="34" charset="-120"/>
              </a:rPr>
              <a:t>Research direction: Refine the allocation signal to account for domain-specific reasoning behavior rather than relying solely on a difficulty-based estimate. Domain would then act as a second input to the budget, next to difficulty.</a:t>
            </a:r>
          </a:p>
          <a:p>
            <a:pPr marL="400050" marR="0" lvl="1" fontAlgn="auto">
              <a:lnSpc>
                <a:spcPct val="100000"/>
              </a:lnSpc>
              <a:spcBef>
                <a:spcPts val="0"/>
              </a:spcBef>
              <a:spcAft>
                <a:spcPts val="500"/>
              </a:spcAft>
              <a:buClrTx/>
              <a:buSzPct val="100000"/>
              <a:tabLst/>
              <a:defRPr/>
            </a:pPr>
            <a:endParaRPr lang="en-US" sz="1050" dirty="0">
              <a:solidFill>
                <a:srgbClr val="FFFFFF"/>
              </a:solidFill>
              <a:latin typeface="Arial" pitchFamily="34" charset="0"/>
              <a:cs typeface="Arial" pitchFamily="34" charset="-120"/>
            </a:endParaRPr>
          </a:p>
          <a:p>
            <a:r>
              <a:rPr lang="en-US" sz="1200" b="1" dirty="0">
                <a:solidFill>
                  <a:prstClr val="white"/>
                </a:solidFill>
                <a:latin typeface="Consolas" panose="020B0609020204030204" pitchFamily="49" charset="0"/>
              </a:rPr>
              <a:t>Open question</a:t>
            </a:r>
            <a:r>
              <a:rPr lang="en-US" sz="1050" b="1" dirty="0">
                <a:solidFill>
                  <a:srgbClr val="C9D1D9"/>
                </a:solidFill>
                <a:effectLst/>
                <a:latin typeface="Consolas" panose="020B0609020204030204" pitchFamily="49" charset="0"/>
              </a:rPr>
              <a:t>:</a:t>
            </a:r>
            <a:r>
              <a:rPr lang="en-US" sz="1050" b="0" dirty="0">
                <a:solidFill>
                  <a:srgbClr val="BBBEBF"/>
                </a:solidFill>
                <a:effectLst/>
                <a:latin typeface="Consolas" panose="020B0609020204030204" pitchFamily="49" charset="0"/>
              </a:rPr>
              <a:t> </a:t>
            </a:r>
            <a:r>
              <a:rPr lang="en-US" sz="1200" dirty="0">
                <a:solidFill>
                  <a:srgbClr val="FFFFFF"/>
                </a:solidFill>
                <a:latin typeface="Arial" pitchFamily="34" charset="0"/>
                <a:cs typeface="Arial" pitchFamily="34" charset="-120"/>
              </a:rPr>
              <a:t>the literature does not disagree on whether overthinking exists — </a:t>
            </a:r>
            <a:r>
              <a:rPr lang="en-US" sz="1200" dirty="0" err="1">
                <a:solidFill>
                  <a:srgbClr val="FFFFFF"/>
                </a:solidFill>
                <a:latin typeface="Arial" pitchFamily="34" charset="0"/>
                <a:cs typeface="Arial" pitchFamily="34" charset="-120"/>
              </a:rPr>
              <a:t>DiffAdapt</a:t>
            </a:r>
            <a:r>
              <a:rPr lang="en-US" sz="1200" dirty="0">
                <a:solidFill>
                  <a:srgbClr val="FFFFFF"/>
                </a:solidFill>
                <a:latin typeface="Arial" pitchFamily="34" charset="0"/>
                <a:cs typeface="Arial" pitchFamily="34" charset="-120"/>
              </a:rPr>
              <a:t>, TOPS, and Sui et al. all document it. What is unresolved is whether it is a true inverted-U (net accuracy loss) or pure saturation (flat accuracy, wasted compute only), and whether this differs by task type. This proposal treats net accuracy loss from overthinking as an open empirical question, verified per model/benchmark rather than assumed.</a:t>
            </a:r>
          </a:p>
          <a:p>
            <a:br>
              <a:rPr lang="en-US" sz="1050" b="0" dirty="0">
                <a:solidFill>
                  <a:srgbClr val="BBBEBF"/>
                </a:solidFill>
                <a:effectLst/>
                <a:latin typeface="Consolas" panose="020B0609020204030204" pitchFamily="49" charset="0"/>
              </a:rPr>
            </a:br>
            <a:endParaRPr lang="en-US" sz="1050" b="0" dirty="0">
              <a:solidFill>
                <a:srgbClr val="BBBEBF"/>
              </a:solidFill>
              <a:effectLst/>
              <a:latin typeface="Consolas" panose="020B0609020204030204" pitchFamily="49" charset="0"/>
            </a:endParaRPr>
          </a:p>
          <a:p>
            <a:pPr marL="400050" marR="0" lvl="1" fontAlgn="auto">
              <a:lnSpc>
                <a:spcPct val="100000"/>
              </a:lnSpc>
              <a:spcBef>
                <a:spcPts val="0"/>
              </a:spcBef>
              <a:spcAft>
                <a:spcPts val="500"/>
              </a:spcAft>
              <a:buClrTx/>
              <a:buSzPct val="100000"/>
              <a:tabLst/>
              <a:defRPr/>
            </a:pPr>
            <a:endParaRPr lang="en-US" sz="1050" dirty="0">
              <a:solidFill>
                <a:srgbClr val="FFFFFF"/>
              </a:solidFill>
              <a:latin typeface="Arial" pitchFamily="34" charset="0"/>
              <a:cs typeface="Arial" pitchFamily="34" charset="-120"/>
            </a:endParaRPr>
          </a:p>
          <a:p>
            <a:pPr marL="571500" marR="0" lvl="1" indent="-171450" algn="l" defTabSz="914400" rtl="0" eaLnBrk="1" fontAlgn="auto" latinLnBrk="0" hangingPunct="1">
              <a:lnSpc>
                <a:spcPct val="100000"/>
              </a:lnSpc>
              <a:spcBef>
                <a:spcPts val="0"/>
              </a:spcBef>
              <a:spcAft>
                <a:spcPts val="500"/>
              </a:spcAft>
              <a:buClrTx/>
              <a:buSzPct val="100000"/>
              <a:buFontTx/>
              <a:buChar char="-"/>
              <a:tabLst/>
              <a:defRPr/>
            </a:pPr>
            <a:endParaRPr kumimoji="0" lang="en-US" sz="105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a:p>
            <a:pPr marL="457200" marR="0" lvl="1" indent="-228600" algn="l" defTabSz="914400" rtl="0" eaLnBrk="1" fontAlgn="auto" latinLnBrk="0" hangingPunct="1">
              <a:lnSpc>
                <a:spcPct val="100000"/>
              </a:lnSpc>
              <a:spcBef>
                <a:spcPts val="0"/>
              </a:spcBef>
              <a:spcAft>
                <a:spcPts val="500"/>
              </a:spcAft>
              <a:buClrTx/>
              <a:buSzPct val="100000"/>
              <a:buFontTx/>
              <a:buChar char="•"/>
              <a:tabLst/>
              <a:defRPr/>
            </a:pPr>
            <a:endParaRPr kumimoji="0" lang="en-US" sz="105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220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2. CURRENT SOLUTIONS</a:t>
            </a: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1300" b="1" dirty="0">
                <a:solidFill>
                  <a:srgbClr val="FF7900"/>
                </a:solidFill>
                <a:latin typeface="Helvetica Neue"/>
                <a:sym typeface="Arial"/>
              </a:rPr>
              <a:t>2.1 REACTIVE METHODS (decide during generation)</a:t>
            </a:r>
            <a:endParaRPr kumimoji="0" lang="en-US" sz="1300" b="1" i="0" u="none" strike="noStrike" kern="1200" cap="none" spc="0" normalizeH="0" baseline="0" noProof="0" dirty="0">
              <a:ln>
                <a:noFill/>
              </a:ln>
              <a:solidFill>
                <a:srgbClr val="FF7900"/>
              </a:solidFill>
              <a:effectLst/>
              <a:uLnTx/>
              <a:uFillTx/>
              <a:latin typeface="Helvetica Neue"/>
              <a:ea typeface="+mn-ea"/>
              <a:cs typeface="+mn-cs"/>
              <a:sym typeface="Arial"/>
            </a:endParaRPr>
          </a:p>
        </p:txBody>
      </p:sp>
      <p:sp>
        <p:nvSpPr>
          <p:cNvPr id="3" name="Text 1"/>
          <p:cNvSpPr txBox="1"/>
          <p:nvPr/>
        </p:nvSpPr>
        <p:spPr>
          <a:xfrm>
            <a:off x="320040" y="997659"/>
            <a:ext cx="8503920" cy="3574341"/>
          </a:xfrm>
          <a:prstGeom prst="rect">
            <a:avLst/>
          </a:prstGeom>
          <a:noFill/>
          <a:ln/>
        </p:spPr>
        <p:txBody>
          <a:bodyPr wrap="square" lIns="0" tIns="0" rIns="0" bIns="0" rtlCol="0" anchor="t"/>
          <a:lstStyle/>
          <a:p>
            <a:pPr>
              <a:spcAft>
                <a:spcPts val="1000"/>
              </a:spcAft>
            </a:pPr>
            <a:endParaRPr lang="en-US" sz="1200" b="1" dirty="0">
              <a:solidFill>
                <a:srgbClr val="FF7900"/>
              </a:solidFill>
              <a:latin typeface="Helvetica Neue"/>
            </a:endParaRPr>
          </a:p>
          <a:p>
            <a:pPr>
              <a:spcAft>
                <a:spcPts val="1000"/>
              </a:spcAft>
            </a:pPr>
            <a:r>
              <a:rPr lang="en-US" sz="1200" b="1" dirty="0">
                <a:solidFill>
                  <a:srgbClr val="FF7900"/>
                </a:solidFill>
                <a:latin typeface="Helvetica Neue"/>
              </a:rPr>
              <a:t>Confidence / Entropy-Based Early Exit</a:t>
            </a:r>
            <a:r>
              <a:rPr kumimoji="0" lang="en-US" sz="1200" b="1" i="0" u="none" strike="noStrike" kern="1200" cap="none" spc="0" normalizeH="0" baseline="0" noProof="0" dirty="0">
                <a:ln>
                  <a:noFill/>
                </a:ln>
                <a:solidFill>
                  <a:srgbClr val="FF7900"/>
                </a:solidFill>
                <a:effectLst/>
                <a:uLnTx/>
                <a:uFillTx/>
                <a:latin typeface="Helvetica Neue"/>
                <a:ea typeface="+mn-ea"/>
                <a:cs typeface="+mn-cs"/>
              </a:rPr>
              <a:t>. </a:t>
            </a:r>
            <a:r>
              <a:rPr lang="en-US" sz="1000" b="0" i="1" dirty="0">
                <a:solidFill>
                  <a:schemeClr val="bg1"/>
                </a:solidFill>
                <a:effectLst/>
                <a:latin typeface="Consolas" panose="020B0609020204030204" pitchFamily="49" charset="0"/>
              </a:rPr>
              <a:t>(Yang et al., "Dynamic Early Exit in Reasoning Models," 2025 — DEER; general confidence/entropy early-exit class)</a:t>
            </a:r>
            <a:endParaRPr lang="en-US" sz="1000" dirty="0">
              <a:solidFill>
                <a:schemeClr val="bg1"/>
              </a:solidFill>
              <a:latin typeface="Arial" pitchFamily="34" charset="0"/>
              <a:cs typeface="Arial" pitchFamily="34" charset="-120"/>
            </a:endParaRPr>
          </a:p>
          <a:p>
            <a:pPr lvl="1" indent="-228600">
              <a:spcAft>
                <a:spcPts val="800"/>
              </a:spcAft>
              <a:buSzPct val="100000"/>
              <a:buFontTx/>
              <a:buChar char="•"/>
              <a:defRPr/>
            </a:pPr>
            <a:r>
              <a:rPr lang="en-US" sz="1200" b="1" dirty="0">
                <a:solidFill>
                  <a:prstClr val="white"/>
                </a:solidFill>
                <a:latin typeface="Consolas" panose="020B0609020204030204" pitchFamily="49" charset="0"/>
              </a:rPr>
              <a:t>Mechanism: M</a:t>
            </a:r>
            <a:r>
              <a:rPr lang="en-US" sz="1200" dirty="0">
                <a:solidFill>
                  <a:srgbClr val="FFFFFF"/>
                </a:solidFill>
                <a:latin typeface="Arial" pitchFamily="34" charset="0"/>
                <a:cs typeface="Arial" pitchFamily="34" charset="-120"/>
              </a:rPr>
              <a:t>onitor a per-step scalar token entropy as a signal, self-consistency across sampled continuations, or logit-derived confidence — and stop once it crosses a threshold. DEER specifically detects "reasoning transition points" (e.g., the token "Wait"), injects a forced trial-answer prompt at that point, and reads the model's confidence in that trial answer; if confidence is high, it stops, otherwise it discards the trial and continues. In effect, the model is asked mid-reasoning whether it already knows the answer, and how sure it is.</a:t>
            </a:r>
          </a:p>
          <a:p>
            <a:pPr lvl="1" indent="-228600">
              <a:spcAft>
                <a:spcPts val="800"/>
              </a:spcAft>
              <a:buSzPct val="100000"/>
              <a:buFontTx/>
              <a:buChar char="•"/>
              <a:defRPr/>
            </a:pPr>
            <a:r>
              <a:rPr lang="en-US" sz="1200" b="1" dirty="0">
                <a:solidFill>
                  <a:prstClr val="white"/>
                </a:solidFill>
                <a:latin typeface="Consolas" panose="020B0609020204030204" pitchFamily="49" charset="0"/>
              </a:rPr>
              <a:t>Reported results: </a:t>
            </a:r>
            <a:r>
              <a:rPr lang="en-US" sz="1200" dirty="0">
                <a:solidFill>
                  <a:srgbClr val="FFFFFF"/>
                </a:solidFill>
                <a:latin typeface="Arial" pitchFamily="34" charset="0"/>
                <a:cs typeface="Arial" pitchFamily="34" charset="-120"/>
              </a:rPr>
              <a:t>DEER achieves 19–80% </a:t>
            </a:r>
            <a:r>
              <a:rPr lang="en-US" sz="1200" dirty="0" err="1">
                <a:solidFill>
                  <a:srgbClr val="FFFFFF"/>
                </a:solidFill>
                <a:latin typeface="Arial" pitchFamily="34" charset="0"/>
                <a:cs typeface="Arial" pitchFamily="34" charset="-120"/>
              </a:rPr>
              <a:t>CoT</a:t>
            </a:r>
            <a:r>
              <a:rPr lang="en-US" sz="1200" dirty="0">
                <a:solidFill>
                  <a:srgbClr val="FFFFFF"/>
                </a:solidFill>
                <a:latin typeface="Arial" pitchFamily="34" charset="0"/>
                <a:cs typeface="Arial" pitchFamily="34" charset="-120"/>
              </a:rPr>
              <a:t> length reduction with +0.3–5.0% accuracy across 11 models and 10 benchmarks — shorter reasoning chains without trading away accuracy.</a:t>
            </a:r>
          </a:p>
          <a:p>
            <a:pPr lvl="1" indent="-228600">
              <a:spcAft>
                <a:spcPts val="300"/>
              </a:spcAft>
              <a:buSzPct val="100000"/>
              <a:buFontTx/>
              <a:buChar char="•"/>
              <a:defRPr/>
            </a:pPr>
            <a:r>
              <a:rPr lang="en-US" sz="1200" b="1" dirty="0">
                <a:solidFill>
                  <a:prstClr val="white"/>
                </a:solidFill>
                <a:latin typeface="Consolas" panose="020B0609020204030204" pitchFamily="49" charset="0"/>
              </a:rPr>
              <a:t>Limitations: </a:t>
            </a:r>
          </a:p>
          <a:p>
            <a:pPr marL="517525" lvl="1">
              <a:spcAft>
                <a:spcPts val="300"/>
              </a:spcAft>
              <a:buSzPct val="100000"/>
              <a:defRPr/>
            </a:pPr>
            <a:r>
              <a:rPr lang="en-US" sz="1100" b="1" dirty="0">
                <a:solidFill>
                  <a:prstClr val="white"/>
                </a:solidFill>
                <a:latin typeface="Consolas" panose="020B0609020204030204" pitchFamily="49" charset="0"/>
                <a:cs typeface="Arial" pitchFamily="34" charset="-120"/>
              </a:rPr>
              <a:t>- False</a:t>
            </a:r>
            <a:r>
              <a:rPr lang="en-US" sz="1100" dirty="0">
                <a:solidFill>
                  <a:srgbClr val="FFFFFF"/>
                </a:solidFill>
                <a:latin typeface="Arial" pitchFamily="34" charset="0"/>
                <a:cs typeface="Arial" pitchFamily="34" charset="-120"/>
              </a:rPr>
              <a:t> </a:t>
            </a:r>
            <a:r>
              <a:rPr lang="en-US" sz="1100" b="1" dirty="0">
                <a:solidFill>
                  <a:prstClr val="white"/>
                </a:solidFill>
                <a:latin typeface="Consolas" panose="020B0609020204030204" pitchFamily="49" charset="0"/>
                <a:cs typeface="Arial" pitchFamily="34" charset="-120"/>
              </a:rPr>
              <a:t>positives</a:t>
            </a:r>
            <a:r>
              <a:rPr lang="en-US" sz="1100" dirty="0">
                <a:solidFill>
                  <a:srgbClr val="FFFFFF"/>
                </a:solidFill>
                <a:latin typeface="Arial" pitchFamily="34" charset="0"/>
                <a:cs typeface="Arial" pitchFamily="34" charset="-120"/>
              </a:rPr>
              <a:t>: The signal can be misleading—a model may be highly confident while still being wrong, especially after                 RLHF/RLVR where confidence and correctness can become decoupled.</a:t>
            </a:r>
          </a:p>
          <a:p>
            <a:pPr marL="517525" lvl="1">
              <a:spcAft>
                <a:spcPts val="300"/>
              </a:spcAft>
              <a:buSzPct val="100000"/>
              <a:defRPr/>
            </a:pPr>
            <a:r>
              <a:rPr lang="en-US" sz="1100" b="1" dirty="0">
                <a:solidFill>
                  <a:prstClr val="white"/>
                </a:solidFill>
                <a:latin typeface="Consolas" panose="020B0609020204030204" pitchFamily="49" charset="0"/>
                <a:cs typeface="Arial" pitchFamily="34" charset="-120"/>
              </a:rPr>
              <a:t>- Poor transferability: </a:t>
            </a:r>
            <a:r>
              <a:rPr lang="en-US" sz="1100" dirty="0">
                <a:solidFill>
                  <a:srgbClr val="FFFFFF"/>
                </a:solidFill>
                <a:latin typeface="Arial" pitchFamily="34" charset="0"/>
                <a:cs typeface="Arial" pitchFamily="34" charset="-120"/>
              </a:rPr>
              <a:t>Thresholds are typically hand-tuned for each model and temperature, limiting their ability to generalize across settings. Moving to a new model or temperature means re-tuning.</a:t>
            </a:r>
          </a:p>
          <a:p>
            <a:pPr marL="517525" lvl="1">
              <a:spcAft>
                <a:spcPts val="800"/>
              </a:spcAft>
              <a:buSzPct val="100000"/>
              <a:defRPr/>
            </a:pPr>
            <a:r>
              <a:rPr lang="en-US" sz="1100" b="1" dirty="0">
                <a:solidFill>
                  <a:prstClr val="white"/>
                </a:solidFill>
                <a:latin typeface="Consolas" panose="020B0609020204030204" pitchFamily="49" charset="0"/>
                <a:cs typeface="Arial" pitchFamily="34" charset="-120"/>
              </a:rPr>
              <a:t>- Blind spot: </a:t>
            </a:r>
            <a:r>
              <a:rPr lang="en-US" sz="1100" dirty="0">
                <a:solidFill>
                  <a:srgbClr val="FFFFFF"/>
                </a:solidFill>
                <a:latin typeface="Arial" pitchFamily="34" charset="0"/>
                <a:cs typeface="Arial" pitchFamily="34" charset="-120"/>
              </a:rPr>
              <a:t>DEER only stops when confidence is high; it cannot identify queries that remain uncertain and are likely to be wrong. Such queries keep generating instead of being cut off early.</a:t>
            </a:r>
          </a:p>
          <a:p>
            <a:br>
              <a:rPr lang="en-US" sz="1200" b="0" dirty="0">
                <a:solidFill>
                  <a:srgbClr val="BBBEBF"/>
                </a:solidFill>
                <a:effectLst/>
                <a:latin typeface="Consolas" panose="020B0609020204030204" pitchFamily="49" charset="0"/>
              </a:rPr>
            </a:br>
            <a:endParaRPr kumimoji="0" lang="en-US" sz="105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a:p>
            <a:pPr marL="457200" marR="0" lvl="1" indent="-228600" algn="l" defTabSz="914400" rtl="0" eaLnBrk="1" fontAlgn="auto" latinLnBrk="0" hangingPunct="1">
              <a:lnSpc>
                <a:spcPct val="100000"/>
              </a:lnSpc>
              <a:spcBef>
                <a:spcPts val="0"/>
              </a:spcBef>
              <a:spcAft>
                <a:spcPts val="500"/>
              </a:spcAft>
              <a:buClrTx/>
              <a:buSzPct val="100000"/>
              <a:buFontTx/>
              <a:buChar char="•"/>
              <a:tabLst/>
              <a:defRPr/>
            </a:pPr>
            <a:endParaRPr kumimoji="0" lang="en-US" sz="105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7586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2. CURRENT SOLUTIONS</a:t>
            </a: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1300" b="1" i="0" u="none" strike="noStrike" kern="1200" cap="none" spc="0" normalizeH="0" baseline="0" noProof="0" dirty="0">
                <a:ln>
                  <a:noFill/>
                </a:ln>
                <a:solidFill>
                  <a:srgbClr val="FF7900"/>
                </a:solidFill>
                <a:effectLst/>
                <a:uLnTx/>
                <a:uFillTx/>
                <a:latin typeface="Helvetica Neue"/>
                <a:ea typeface="+mn-ea"/>
                <a:cs typeface="+mn-cs"/>
                <a:sym typeface="Arial"/>
              </a:rPr>
              <a:t>2.1 REACTIVE METHODS (decide during generation)</a:t>
            </a: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endParaRPr lang="en-US" sz="1300" b="1" dirty="0">
              <a:solidFill>
                <a:srgbClr val="FF7900"/>
              </a:solidFill>
              <a:latin typeface="Helvetica Neue"/>
              <a:sym typeface="Arial"/>
            </a:endParaRP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endParaRPr kumimoji="0" lang="en-US" sz="1300" b="1" i="0" u="none" strike="noStrike" kern="1200" cap="none" spc="0" normalizeH="0" baseline="0" noProof="0" dirty="0">
              <a:ln>
                <a:noFill/>
              </a:ln>
              <a:solidFill>
                <a:srgbClr val="FF7900"/>
              </a:solidFill>
              <a:effectLst/>
              <a:uLnTx/>
              <a:uFillTx/>
              <a:latin typeface="Helvetica Neue"/>
              <a:ea typeface="+mn-ea"/>
              <a:cs typeface="+mn-cs"/>
              <a:sym typeface="Arial"/>
            </a:endParaRPr>
          </a:p>
        </p:txBody>
      </p:sp>
      <p:sp>
        <p:nvSpPr>
          <p:cNvPr id="3" name="Text 1"/>
          <p:cNvSpPr txBox="1"/>
          <p:nvPr/>
        </p:nvSpPr>
        <p:spPr>
          <a:xfrm>
            <a:off x="320040" y="997659"/>
            <a:ext cx="8503920" cy="357434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0"/>
              </a:spcAft>
              <a:buClrTx/>
              <a:buSzTx/>
              <a:buFontTx/>
              <a:buNone/>
              <a:tabLst/>
              <a:defRPr/>
            </a:pPr>
            <a:endParaRPr kumimoji="0" lang="en-US" sz="1200" b="1" i="0" u="none" strike="noStrike" kern="1200" cap="none" spc="0" normalizeH="0" baseline="0" noProof="0" dirty="0">
              <a:ln>
                <a:noFill/>
              </a:ln>
              <a:solidFill>
                <a:srgbClr val="FF7900"/>
              </a:solidFill>
              <a:effectLst/>
              <a:uLnTx/>
              <a:uFillTx/>
              <a:latin typeface="Helvetica Neue"/>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sz="1200" b="1" i="0" u="none" strike="noStrike" kern="1200" cap="none" spc="0" normalizeH="0" baseline="0" noProof="0" dirty="0">
                <a:ln>
                  <a:noFill/>
                </a:ln>
                <a:solidFill>
                  <a:srgbClr val="FF7900"/>
                </a:solidFill>
                <a:effectLst/>
                <a:uLnTx/>
                <a:uFillTx/>
                <a:latin typeface="Helvetica Neue"/>
                <a:ea typeface="+mn-ea"/>
                <a:cs typeface="+mn-cs"/>
              </a:rPr>
              <a:t>Conformal / Risk-Controlled Stopping. </a:t>
            </a:r>
            <a:r>
              <a:rPr kumimoji="0" lang="en-US" sz="1000" b="0" i="1"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(Conformal Thinking, Apple, 2026; Thought Calibration, 2025)</a:t>
            </a:r>
          </a:p>
          <a:p>
            <a:pPr marL="457200" marR="0" lvl="1" indent="-228600" algn="l" defTabSz="914400" rtl="0" eaLnBrk="1" fontAlgn="auto" latinLnBrk="0" hangingPunct="1">
              <a:lnSpc>
                <a:spcPct val="100000"/>
              </a:lnSpc>
              <a:spcBef>
                <a:spcPts val="0"/>
              </a:spcBef>
              <a:spcAft>
                <a:spcPts val="800"/>
              </a:spcAft>
              <a:buClrTx/>
              <a:buSzPct val="100000"/>
              <a:buFontTx/>
              <a:buChar char="•"/>
              <a:tabLst/>
              <a:defRPr/>
            </a:pPr>
            <a:r>
              <a:rPr kumimoji="0" lang="en-US" sz="1200" b="1"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Mechanism: </a:t>
            </a:r>
            <a:r>
              <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Reframe budget-setting as distribution-free risk control (Learn-Then-Test): given a target error rate α and a calibration set, derive a stopping threshold with a finite-sample statistical guarantee that stopping error stays below α. Conformal Thinking adds a second, lower threshold that pre-emptively halts instances flagged as likely-unsolvable, directly addressing the blind spot in confidence-only early exit. In practice, candidate thresholds are tested on the calibration set and only those whose risk can be certified below α are kept.</a:t>
            </a:r>
          </a:p>
          <a:p>
            <a:pPr marL="457200" marR="0" lvl="1" indent="-228600" algn="l" defTabSz="914400" rtl="0" eaLnBrk="1" fontAlgn="auto" latinLnBrk="0" hangingPunct="1">
              <a:lnSpc>
                <a:spcPct val="100000"/>
              </a:lnSpc>
              <a:spcBef>
                <a:spcPts val="0"/>
              </a:spcBef>
              <a:spcAft>
                <a:spcPts val="300"/>
              </a:spcAft>
              <a:buClrTx/>
              <a:buSzPct val="100000"/>
              <a:buFontTx/>
              <a:buChar char="•"/>
              <a:tabLst/>
              <a:defRPr/>
            </a:pPr>
            <a:r>
              <a:rPr kumimoji="0" lang="en-US" sz="1200" b="1"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Limitations: </a:t>
            </a:r>
          </a:p>
          <a:p>
            <a:pPr marL="517525" marR="0" lvl="1" indent="0" algn="l" defTabSz="914400" rtl="0" eaLnBrk="1" fontAlgn="auto" latinLnBrk="0" hangingPunct="1">
              <a:lnSpc>
                <a:spcPct val="100000"/>
              </a:lnSpc>
              <a:spcBef>
                <a:spcPts val="0"/>
              </a:spcBef>
              <a:spcAft>
                <a:spcPts val="300"/>
              </a:spcAft>
              <a:buClrTx/>
              <a:buSzPct val="100000"/>
              <a:buFontTx/>
              <a:buNone/>
              <a:tabLst/>
              <a:defRPr/>
            </a:pPr>
            <a:r>
              <a:rPr kumimoji="0" lang="en-US" sz="11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itchFamily="34" charset="-120"/>
              </a:rPr>
              <a:t>- </a:t>
            </a:r>
            <a:r>
              <a:rPr lang="en-US" sz="1100" b="1" dirty="0">
                <a:solidFill>
                  <a:prstClr val="white"/>
                </a:solidFill>
                <a:latin typeface="Consolas" panose="020B0609020204030204" pitchFamily="49" charset="0"/>
                <a:cs typeface="Arial" pitchFamily="34" charset="-120"/>
              </a:rPr>
              <a:t>Calibration</a:t>
            </a:r>
            <a:r>
              <a:rPr lang="en-US" sz="1100" dirty="0"/>
              <a:t> </a:t>
            </a:r>
            <a:r>
              <a:rPr lang="en-US" sz="1100" b="1" dirty="0">
                <a:solidFill>
                  <a:prstClr val="white"/>
                </a:solidFill>
                <a:latin typeface="Consolas" panose="020B0609020204030204" pitchFamily="49" charset="0"/>
                <a:cs typeface="Arial" pitchFamily="34" charset="-120"/>
              </a:rPr>
              <a:t>required</a:t>
            </a: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 Requires a held-out calibration set for each model/task pair.</a:t>
            </a:r>
          </a:p>
          <a:p>
            <a:pPr marL="517525" marR="0" lvl="1" indent="0" algn="l" defTabSz="914400" rtl="0" eaLnBrk="1" fontAlgn="auto" latinLnBrk="0" hangingPunct="1">
              <a:lnSpc>
                <a:spcPct val="100000"/>
              </a:lnSpc>
              <a:spcBef>
                <a:spcPts val="0"/>
              </a:spcBef>
              <a:spcAft>
                <a:spcPts val="300"/>
              </a:spcAft>
              <a:buClrTx/>
              <a:buSzPct val="100000"/>
              <a:buFontTx/>
              <a:buNone/>
              <a:tabLst/>
              <a:defRPr/>
            </a:pPr>
            <a:r>
              <a:rPr kumimoji="0" lang="en-US" sz="11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itchFamily="34" charset="-120"/>
              </a:rPr>
              <a:t>- Marginal guarantee: </a:t>
            </a:r>
            <a:r>
              <a:rPr lang="en-US" sz="1100" dirty="0">
                <a:solidFill>
                  <a:srgbClr val="FFFFFF"/>
                </a:solidFill>
                <a:latin typeface="Arial" pitchFamily="34" charset="0"/>
                <a:cs typeface="Arial" pitchFamily="34" charset="-120"/>
              </a:rPr>
              <a:t>The guarantee holds on average over the calibration distribution, not for each individual instance, so a particular hard query can still be stopped wrongly even when the average error stays below α.</a:t>
            </a:r>
          </a:p>
          <a:p>
            <a:pPr marL="688975" lvl="1" indent="-171450">
              <a:spcAft>
                <a:spcPts val="800"/>
              </a:spcAft>
              <a:buSzPct val="100000"/>
              <a:buFontTx/>
              <a:buChar char="-"/>
              <a:defRPr/>
            </a:pPr>
            <a:r>
              <a:rPr kumimoji="0" lang="en-US" sz="11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itchFamily="34" charset="-120"/>
              </a:rPr>
              <a:t>Monotonicity assumption</a:t>
            </a:r>
            <a:r>
              <a:rPr lang="en-US" sz="1100" dirty="0">
                <a:solidFill>
                  <a:srgbClr val="FFFFFF"/>
                </a:solidFill>
                <a:latin typeface="Arial" pitchFamily="34" charset="0"/>
                <a:cs typeface="Arial" pitchFamily="34" charset="-120"/>
              </a:rPr>
              <a:t>: Assumes the risk function is monotonic with respect to the threshold, which is only reliably verifiable in the large-sample regime. If the risk does not move smoothly with the threshold, the certified threshold may not be reliable.</a:t>
            </a:r>
          </a:p>
          <a:p>
            <a:pPr lvl="1" indent="-228600">
              <a:spcAft>
                <a:spcPts val="800"/>
              </a:spcAft>
              <a:buSzPct val="100000"/>
              <a:buFontTx/>
              <a:buChar char="•"/>
              <a:defRPr/>
            </a:pPr>
            <a:r>
              <a:rPr lang="en-US" sz="1200" b="1" dirty="0">
                <a:solidFill>
                  <a:prstClr val="white"/>
                </a:solidFill>
                <a:latin typeface="Consolas" panose="020B0609020204030204" pitchFamily="49" charset="0"/>
              </a:rPr>
              <a:t>Our</a:t>
            </a:r>
            <a:r>
              <a:rPr lang="en-US" sz="1200" dirty="0"/>
              <a:t> </a:t>
            </a:r>
            <a:r>
              <a:rPr lang="en-US" sz="1200" b="1" dirty="0">
                <a:solidFill>
                  <a:prstClr val="white"/>
                </a:solidFill>
                <a:latin typeface="Consolas" panose="020B0609020204030204" pitchFamily="49" charset="0"/>
              </a:rPr>
              <a:t>Use</a:t>
            </a:r>
            <a:r>
              <a:rPr lang="en-US" sz="1200" dirty="0"/>
              <a:t> </a:t>
            </a:r>
            <a:r>
              <a:rPr lang="en-US" sz="1200" b="1" dirty="0">
                <a:solidFill>
                  <a:prstClr val="white"/>
                </a:solidFill>
                <a:latin typeface="Consolas" panose="020B0609020204030204" pitchFamily="49" charset="0"/>
              </a:rPr>
              <a:t>of</a:t>
            </a:r>
            <a:r>
              <a:rPr lang="en-US" sz="1200" dirty="0"/>
              <a:t> </a:t>
            </a:r>
            <a:r>
              <a:rPr lang="en-US" sz="1200" b="1" dirty="0">
                <a:solidFill>
                  <a:prstClr val="white"/>
                </a:solidFill>
                <a:latin typeface="Consolas" panose="020B0609020204030204" pitchFamily="49" charset="0"/>
              </a:rPr>
              <a:t>This</a:t>
            </a:r>
            <a:r>
              <a:rPr lang="en-US" sz="1200" dirty="0"/>
              <a:t> </a:t>
            </a:r>
            <a:r>
              <a:rPr lang="en-US" sz="1200" b="1" dirty="0">
                <a:solidFill>
                  <a:prstClr val="white"/>
                </a:solidFill>
                <a:latin typeface="Consolas" panose="020B0609020204030204" pitchFamily="49" charset="0"/>
              </a:rPr>
              <a:t>Method: </a:t>
            </a:r>
            <a:r>
              <a:rPr lang="en-US" sz="1200" dirty="0">
                <a:solidFill>
                  <a:srgbClr val="FFFFFF"/>
                </a:solidFill>
                <a:latin typeface="Arial" pitchFamily="34" charset="0"/>
                <a:cs typeface="Arial" pitchFamily="34" charset="-120"/>
              </a:rPr>
              <a:t>can serve directly as the statistical-validation layer for any adaptive method this proposal produces. Any policy built here can be wrapped with these thresholds, so its early stops are certified, not hand-tuned.</a:t>
            </a:r>
          </a:p>
          <a:p>
            <a:pPr marL="517525" lvl="1">
              <a:spcAft>
                <a:spcPts val="800"/>
              </a:spcAft>
              <a:buSzPct val="100000"/>
              <a:defRPr/>
            </a:pPr>
            <a:endParaRPr lang="en-US" sz="1100" dirty="0">
              <a:solidFill>
                <a:srgbClr val="FFFFFF"/>
              </a:solidFill>
              <a:latin typeface="Arial" pitchFamily="34" charset="0"/>
              <a:cs typeface="Arial"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200" b="0" i="0" u="none" strike="noStrike" kern="1200" cap="none" spc="0" normalizeH="0" baseline="0" noProof="0" dirty="0">
                <a:ln>
                  <a:noFill/>
                </a:ln>
                <a:solidFill>
                  <a:srgbClr val="BBBEBF"/>
                </a:solidFill>
                <a:effectLst/>
                <a:uLnTx/>
                <a:uFillTx/>
                <a:latin typeface="Consolas" panose="020B0609020204030204" pitchFamily="49" charset="0"/>
                <a:ea typeface="+mn-ea"/>
                <a:cs typeface="+mn-cs"/>
              </a:rPr>
            </a:br>
            <a:endParaRPr kumimoji="0" lang="en-US" sz="105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a:p>
            <a:pPr marL="457200" marR="0" lvl="1" indent="-228600" algn="l" defTabSz="914400" rtl="0" eaLnBrk="1" fontAlgn="auto" latinLnBrk="0" hangingPunct="1">
              <a:lnSpc>
                <a:spcPct val="100000"/>
              </a:lnSpc>
              <a:spcBef>
                <a:spcPts val="0"/>
              </a:spcBef>
              <a:spcAft>
                <a:spcPts val="500"/>
              </a:spcAft>
              <a:buClrTx/>
              <a:buSzPct val="100000"/>
              <a:buFontTx/>
              <a:buChar char="•"/>
              <a:tabLst/>
              <a:defRPr/>
            </a:pPr>
            <a:endParaRPr kumimoji="0" lang="en-US" sz="105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026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2. CURRENT SOLUTIONS</a:t>
            </a: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1300" b="1" i="0" u="none" strike="noStrike" kern="1200" cap="none" spc="0" normalizeH="0" baseline="0" noProof="0" dirty="0">
                <a:ln>
                  <a:noFill/>
                </a:ln>
                <a:solidFill>
                  <a:srgbClr val="FF7900"/>
                </a:solidFill>
                <a:effectLst/>
                <a:uLnTx/>
                <a:uFillTx/>
                <a:latin typeface="Helvetica Neue"/>
                <a:ea typeface="+mn-ea"/>
                <a:cs typeface="+mn-cs"/>
                <a:sym typeface="Arial"/>
              </a:rPr>
              <a:t>2.2 PREDICTIVE METHODS (decide before generation)</a:t>
            </a:r>
          </a:p>
        </p:txBody>
      </p:sp>
      <p:sp>
        <p:nvSpPr>
          <p:cNvPr id="3" name="Text 1"/>
          <p:cNvSpPr txBox="1"/>
          <p:nvPr/>
        </p:nvSpPr>
        <p:spPr>
          <a:xfrm>
            <a:off x="320040" y="997659"/>
            <a:ext cx="8503920" cy="3574341"/>
          </a:xfrm>
          <a:prstGeom prst="rect">
            <a:avLst/>
          </a:prstGeom>
          <a:noFill/>
          <a:ln/>
        </p:spPr>
        <p:txBody>
          <a:bodyPr wrap="square" lIns="0" tIns="0" rIns="0" bIns="0" rtlCol="0" anchor="t"/>
          <a:lstStyle/>
          <a:p>
            <a:pPr>
              <a:spcAft>
                <a:spcPts val="1000"/>
              </a:spcAft>
            </a:pPr>
            <a:endParaRPr lang="en-US" sz="1200" b="1" dirty="0">
              <a:solidFill>
                <a:srgbClr val="FF7900"/>
              </a:solidFill>
              <a:latin typeface="Helvetica Neue"/>
            </a:endParaRPr>
          </a:p>
          <a:p>
            <a:pPr>
              <a:spcAft>
                <a:spcPts val="1000"/>
              </a:spcAft>
            </a:pPr>
            <a:r>
              <a:rPr lang="en-US" sz="1200" b="1" dirty="0">
                <a:solidFill>
                  <a:srgbClr val="FF7900"/>
                </a:solidFill>
                <a:latin typeface="Helvetica Neue"/>
              </a:rPr>
              <a:t>Budget Forcing. </a:t>
            </a:r>
            <a:r>
              <a:rPr lang="en-US" sz="1000" i="1" dirty="0">
                <a:solidFill>
                  <a:prstClr val="white"/>
                </a:solidFill>
                <a:latin typeface="Consolas" panose="020B0609020204030204" pitchFamily="49" charset="0"/>
              </a:rPr>
              <a:t>(</a:t>
            </a:r>
            <a:r>
              <a:rPr lang="en-US" sz="1000" i="1" dirty="0" err="1">
                <a:solidFill>
                  <a:prstClr val="white"/>
                </a:solidFill>
                <a:latin typeface="Consolas" panose="020B0609020204030204" pitchFamily="49" charset="0"/>
              </a:rPr>
              <a:t>Muennighoff</a:t>
            </a:r>
            <a:r>
              <a:rPr lang="en-US" sz="1000" i="1" dirty="0">
                <a:solidFill>
                  <a:prstClr val="white"/>
                </a:solidFill>
                <a:latin typeface="Consolas" panose="020B0609020204030204" pitchFamily="49" charset="0"/>
              </a:rPr>
              <a:t> et al., "s1: Simple Test-Time Scaling," EMNLP 2025)</a:t>
            </a:r>
          </a:p>
          <a:p>
            <a:pPr lvl="1" indent="-228600">
              <a:spcAft>
                <a:spcPts val="800"/>
              </a:spcAft>
              <a:buSzPct val="100000"/>
              <a:buFontTx/>
              <a:buChar char="•"/>
              <a:defRPr/>
            </a:pPr>
            <a:r>
              <a:rPr lang="en-US" sz="1200" b="1" dirty="0">
                <a:solidFill>
                  <a:prstClr val="white"/>
                </a:solidFill>
                <a:latin typeface="Consolas" panose="020B0609020204030204" pitchFamily="49" charset="0"/>
              </a:rPr>
              <a:t>Mechanism: </a:t>
            </a:r>
            <a:r>
              <a:rPr lang="en-US" sz="1200" dirty="0">
                <a:solidFill>
                  <a:srgbClr val="FFFFFF"/>
                </a:solidFill>
                <a:latin typeface="Arial" pitchFamily="34" charset="0"/>
                <a:cs typeface="Arial" pitchFamily="34" charset="-120"/>
              </a:rPr>
              <a:t>a fixed, global token cap; if the model tries to stop early, suppress the end-of-thinking token and append "Wait" to force continuation; if it exceeds the cap, force termination. It is a decoding-time intervention that needs no extra training, and it lets one model be run at different budgets: the appended “Wait” pushes the model to keep reasoning and often re-check its work, while the cap sets a hard upper limit on length.</a:t>
            </a:r>
          </a:p>
          <a:p>
            <a:pPr lvl="1" indent="-228600">
              <a:spcAft>
                <a:spcPts val="800"/>
              </a:spcAft>
              <a:buSzPct val="100000"/>
              <a:buFontTx/>
              <a:buChar char="•"/>
              <a:defRPr/>
            </a:pPr>
            <a:r>
              <a:rPr lang="en-US" sz="1200" b="1" dirty="0">
                <a:solidFill>
                  <a:prstClr val="white"/>
                </a:solidFill>
                <a:latin typeface="Consolas" panose="020B0609020204030204" pitchFamily="49" charset="0"/>
              </a:rPr>
              <a:t>Limitation: </a:t>
            </a:r>
            <a:r>
              <a:rPr lang="en-US" sz="1200" dirty="0">
                <a:solidFill>
                  <a:srgbClr val="FFFFFF"/>
                </a:solidFill>
                <a:latin typeface="Arial" pitchFamily="34" charset="0"/>
                <a:cs typeface="Arial" pitchFamily="34" charset="-120"/>
              </a:rPr>
              <a:t>the cap is a single hand-set number for all inputs — it is control, not adaptation; later work (L1) shows this crude intervention degrades performance relative to a length-conditioned policy. Because it ignores how hard each query is, easy queries can still be pushed to think longer than needed while hard queries are cut at the same cap, and it gives no signal about when extra thinking is actually useful.</a:t>
            </a:r>
          </a:p>
          <a:p>
            <a:pPr lvl="1" indent="-228600">
              <a:spcAft>
                <a:spcPts val="800"/>
              </a:spcAft>
              <a:buSzPct val="100000"/>
              <a:buFontTx/>
              <a:buChar char="•"/>
              <a:defRPr/>
            </a:pPr>
            <a:r>
              <a:rPr lang="en-US" sz="1200" b="1" dirty="0">
                <a:solidFill>
                  <a:prstClr val="white"/>
                </a:solidFill>
                <a:latin typeface="Consolas" panose="020B0609020204030204" pitchFamily="49" charset="0"/>
              </a:rPr>
              <a:t>Our</a:t>
            </a:r>
            <a:r>
              <a:rPr lang="en-US" sz="1200" dirty="0"/>
              <a:t> </a:t>
            </a:r>
            <a:r>
              <a:rPr lang="en-US" sz="1200" b="1" dirty="0">
                <a:solidFill>
                  <a:prstClr val="white"/>
                </a:solidFill>
                <a:latin typeface="Consolas" panose="020B0609020204030204" pitchFamily="49" charset="0"/>
              </a:rPr>
              <a:t>Use</a:t>
            </a:r>
            <a:r>
              <a:rPr lang="en-US" sz="1200" dirty="0"/>
              <a:t> </a:t>
            </a:r>
            <a:r>
              <a:rPr lang="en-US" sz="1200" b="1" dirty="0">
                <a:solidFill>
                  <a:prstClr val="white"/>
                </a:solidFill>
                <a:latin typeface="Consolas" panose="020B0609020204030204" pitchFamily="49" charset="0"/>
              </a:rPr>
              <a:t>of</a:t>
            </a:r>
            <a:r>
              <a:rPr lang="en-US" sz="1200" dirty="0"/>
              <a:t> </a:t>
            </a:r>
            <a:r>
              <a:rPr lang="en-US" sz="1200" b="1" dirty="0">
                <a:solidFill>
                  <a:prstClr val="white"/>
                </a:solidFill>
                <a:latin typeface="Consolas" panose="020B0609020204030204" pitchFamily="49" charset="0"/>
              </a:rPr>
              <a:t>This</a:t>
            </a:r>
            <a:r>
              <a:rPr lang="en-US" sz="1200" dirty="0"/>
              <a:t> </a:t>
            </a:r>
            <a:r>
              <a:rPr lang="en-US" sz="1200" b="1" dirty="0">
                <a:solidFill>
                  <a:prstClr val="white"/>
                </a:solidFill>
                <a:latin typeface="Consolas" panose="020B0609020204030204" pitchFamily="49" charset="0"/>
              </a:rPr>
              <a:t>Method: </a:t>
            </a:r>
            <a:r>
              <a:rPr lang="en-US" sz="1200" dirty="0">
                <a:solidFill>
                  <a:srgbClr val="FFFFFF"/>
                </a:solidFill>
                <a:latin typeface="Arial" pitchFamily="34" charset="0"/>
                <a:cs typeface="Arial" pitchFamily="34" charset="-120"/>
              </a:rPr>
              <a:t>serves as the right lower-bound ablation baseline — any adaptive method here must beat naive budget forcing at matched average token count. Matching average token count keeps the comparison fair: it shows whether a gain comes from allocating compute more intelligently rather than from simply using more or fewer tokens overall.</a:t>
            </a:r>
          </a:p>
          <a:p>
            <a:br>
              <a:rPr lang="en-US" sz="1200" b="0" dirty="0">
                <a:solidFill>
                  <a:srgbClr val="BBBEBF"/>
                </a:solidFill>
                <a:effectLst/>
                <a:latin typeface="Consolas" panose="020B0609020204030204" pitchFamily="49" charset="0"/>
              </a:rPr>
            </a:br>
            <a:endParaRPr lang="en-US" sz="1200" b="0" dirty="0">
              <a:solidFill>
                <a:srgbClr val="BBBEBF"/>
              </a:solidFill>
              <a:effectLst/>
              <a:latin typeface="Consolas" panose="020B0609020204030204" pitchFamily="49" charset="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4951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2. CURRENT SOLUTIONS</a:t>
            </a: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1300" b="1" i="0" u="none" strike="noStrike" kern="1200" cap="none" spc="0" normalizeH="0" baseline="0" noProof="0" dirty="0">
                <a:ln>
                  <a:noFill/>
                </a:ln>
                <a:solidFill>
                  <a:srgbClr val="FF7900"/>
                </a:solidFill>
                <a:effectLst/>
                <a:uLnTx/>
                <a:uFillTx/>
                <a:latin typeface="Helvetica Neue"/>
                <a:ea typeface="+mn-ea"/>
                <a:cs typeface="+mn-cs"/>
                <a:sym typeface="Arial"/>
              </a:rPr>
              <a:t>2.2 PREDICTIVE METHODS (decide before generation)</a:t>
            </a:r>
          </a:p>
        </p:txBody>
      </p:sp>
      <p:sp>
        <p:nvSpPr>
          <p:cNvPr id="3" name="Text 1"/>
          <p:cNvSpPr txBox="1"/>
          <p:nvPr/>
        </p:nvSpPr>
        <p:spPr>
          <a:xfrm>
            <a:off x="320040" y="990039"/>
            <a:ext cx="8503920" cy="3574341"/>
          </a:xfrm>
          <a:prstGeom prst="rect">
            <a:avLst/>
          </a:prstGeom>
          <a:noFill/>
          <a:ln/>
        </p:spPr>
        <p:txBody>
          <a:bodyPr wrap="square" lIns="0" tIns="0" rIns="0" bIns="0" rtlCol="0" anchor="t"/>
          <a:lstStyle/>
          <a:p>
            <a:pPr>
              <a:spcAft>
                <a:spcPts val="1000"/>
              </a:spcAft>
            </a:pPr>
            <a:endParaRPr lang="en-US" sz="1200" b="1" dirty="0">
              <a:solidFill>
                <a:srgbClr val="FF7900"/>
              </a:solidFill>
              <a:latin typeface="Helvetica Neue"/>
            </a:endParaRPr>
          </a:p>
          <a:p>
            <a:pPr>
              <a:spcAft>
                <a:spcPts val="1000"/>
              </a:spcAft>
            </a:pPr>
            <a:r>
              <a:rPr lang="en-US" sz="1200" b="1" dirty="0" err="1">
                <a:solidFill>
                  <a:srgbClr val="FF7900"/>
                </a:solidFill>
                <a:latin typeface="Helvetica Neue"/>
              </a:rPr>
              <a:t>DiffAdapt</a:t>
            </a:r>
            <a:r>
              <a:rPr lang="en-US" sz="1200" b="1" dirty="0">
                <a:solidFill>
                  <a:srgbClr val="FF7900"/>
                </a:solidFill>
                <a:latin typeface="Helvetica Neue"/>
              </a:rPr>
              <a:t>. </a:t>
            </a:r>
            <a:r>
              <a:rPr lang="en-US" sz="1000" i="1" dirty="0">
                <a:solidFill>
                  <a:prstClr val="white"/>
                </a:solidFill>
                <a:latin typeface="Consolas" panose="020B0609020204030204" pitchFamily="49" charset="0"/>
              </a:rPr>
              <a:t>(Liu, Hu, Chu &amp; Choi, "</a:t>
            </a:r>
            <a:r>
              <a:rPr lang="en-US" sz="1000" i="1" dirty="0" err="1">
                <a:solidFill>
                  <a:prstClr val="white"/>
                </a:solidFill>
                <a:latin typeface="Consolas" panose="020B0609020204030204" pitchFamily="49" charset="0"/>
              </a:rPr>
              <a:t>DiffAdapt</a:t>
            </a:r>
            <a:r>
              <a:rPr lang="en-US" sz="1000" i="1" dirty="0">
                <a:solidFill>
                  <a:prstClr val="white"/>
                </a:solidFill>
                <a:latin typeface="Consolas" panose="020B0609020204030204" pitchFamily="49" charset="0"/>
              </a:rPr>
              <a:t>: Difficulty-Adaptive Reasoning for Token-Efficient LLM Inference," 2025)</a:t>
            </a:r>
          </a:p>
          <a:p>
            <a:pPr lvl="1" indent="-228600">
              <a:spcAft>
                <a:spcPts val="800"/>
              </a:spcAft>
              <a:buSzPct val="100000"/>
              <a:buFontTx/>
              <a:buChar char="•"/>
              <a:defRPr/>
            </a:pPr>
            <a:r>
              <a:rPr lang="en-US" sz="1200" b="1" dirty="0">
                <a:solidFill>
                  <a:prstClr val="white"/>
                </a:solidFill>
                <a:latin typeface="Consolas" panose="020B0609020204030204" pitchFamily="49" charset="0"/>
              </a:rPr>
              <a:t>Mechanism: </a:t>
            </a:r>
            <a:r>
              <a:rPr lang="en-US" sz="1200" dirty="0">
                <a:solidFill>
                  <a:srgbClr val="FFFFFF"/>
                </a:solidFill>
                <a:latin typeface="Arial" pitchFamily="34" charset="0"/>
                <a:cs typeface="Arial" pitchFamily="34" charset="-120"/>
              </a:rPr>
              <a:t>a three-stage framework — label difficulty, predict it from hidden states, pick a setup:</a:t>
            </a:r>
          </a:p>
          <a:p>
            <a:pPr lvl="1">
              <a:spcAft>
                <a:spcPts val="800"/>
              </a:spcAft>
              <a:buSzPct val="100000"/>
              <a:defRPr/>
            </a:pPr>
            <a:r>
              <a:rPr lang="en-US" sz="1100" b="1" dirty="0">
                <a:solidFill>
                  <a:prstClr val="white"/>
                </a:solidFill>
                <a:latin typeface="Consolas" panose="020B0609020204030204" pitchFamily="49" charset="0"/>
                <a:cs typeface="Arial" pitchFamily="34" charset="-120"/>
              </a:rPr>
              <a:t>- </a:t>
            </a:r>
            <a:r>
              <a:rPr lang="en-US" sz="1100" dirty="0">
                <a:solidFill>
                  <a:srgbClr val="FFFFFF"/>
                </a:solidFill>
                <a:latin typeface="Arial" pitchFamily="34" charset="0"/>
                <a:cs typeface="Arial" pitchFamily="34" charset="-120"/>
              </a:rPr>
              <a:t>sample a proxy model's responses to heuristically label each training query Easy/Normal/Hard from observed entropy and      correctness. The labels come from how the proxy model actually behaves, not from hand annotation.</a:t>
            </a:r>
          </a:p>
          <a:p>
            <a:pPr lvl="1">
              <a:spcAft>
                <a:spcPts val="800"/>
              </a:spcAft>
              <a:buSzPct val="100000"/>
              <a:defRPr/>
            </a:pPr>
            <a:r>
              <a:rPr lang="en-US" sz="1100" b="1" dirty="0">
                <a:solidFill>
                  <a:prstClr val="white"/>
                </a:solidFill>
                <a:latin typeface="Consolas" panose="020B0609020204030204" pitchFamily="49" charset="0"/>
                <a:cs typeface="Arial" pitchFamily="34" charset="-120"/>
              </a:rPr>
              <a:t>- </a:t>
            </a:r>
            <a:r>
              <a:rPr lang="en-US" sz="1100" dirty="0">
                <a:solidFill>
                  <a:srgbClr val="FFFFFF"/>
                </a:solidFill>
                <a:latin typeface="Arial" pitchFamily="34" charset="0"/>
                <a:cs typeface="Arial" pitchFamily="34" charset="-120"/>
              </a:rPr>
              <a:t>train a lightweight probe on the base model's final hidden state to predict that label. </a:t>
            </a:r>
          </a:p>
          <a:p>
            <a:pPr lvl="1">
              <a:spcAft>
                <a:spcPts val="800"/>
              </a:spcAft>
              <a:buSzPct val="100000"/>
              <a:defRPr/>
            </a:pPr>
            <a:r>
              <a:rPr lang="en-US" sz="1100" b="1" dirty="0">
                <a:solidFill>
                  <a:prstClr val="white"/>
                </a:solidFill>
                <a:latin typeface="Consolas" panose="020B0609020204030204" pitchFamily="49" charset="0"/>
                <a:cs typeface="Arial" pitchFamily="34" charset="-120"/>
              </a:rPr>
              <a:t>- </a:t>
            </a:r>
            <a:r>
              <a:rPr lang="en-US" sz="1100" dirty="0">
                <a:solidFill>
                  <a:srgbClr val="FFFFFF"/>
                </a:solidFill>
                <a:latin typeface="Arial" pitchFamily="34" charset="0"/>
                <a:cs typeface="Arial" pitchFamily="34" charset="-120"/>
              </a:rPr>
              <a:t>at inference, the probe selects one of three fixed (prompt, temperature, max-length) configurations. No base-model fine-tuning. Each of the three difficulty classes is tied to its own setting for how much, and how freely, the model may reason.</a:t>
            </a:r>
          </a:p>
          <a:p>
            <a:pPr lvl="1" indent="-228600">
              <a:spcAft>
                <a:spcPts val="800"/>
              </a:spcAft>
              <a:buSzPct val="100000"/>
              <a:buFontTx/>
              <a:buChar char="•"/>
              <a:defRPr/>
            </a:pPr>
            <a:r>
              <a:rPr lang="en-US" sz="1200" b="1" dirty="0">
                <a:solidFill>
                  <a:prstClr val="white"/>
                </a:solidFill>
                <a:latin typeface="Consolas" panose="020B0609020204030204" pitchFamily="49" charset="0"/>
              </a:rPr>
              <a:t>Reported results: </a:t>
            </a:r>
            <a:r>
              <a:rPr lang="en-US" sz="1200" dirty="0">
                <a:solidFill>
                  <a:srgbClr val="FFFFFF"/>
                </a:solidFill>
                <a:latin typeface="Arial" pitchFamily="34" charset="0"/>
                <a:cs typeface="Arial" pitchFamily="34" charset="-120"/>
              </a:rPr>
              <a:t>up to 22.4% token reduction with comparable or improved accuracy, across 5 models and 8 benchmarks — fewer tokens spent with little or no accuracy cost.</a:t>
            </a:r>
          </a:p>
          <a:p>
            <a:pPr lvl="1" indent="-228600">
              <a:spcAft>
                <a:spcPts val="800"/>
              </a:spcAft>
              <a:buSzPct val="100000"/>
              <a:buFontTx/>
              <a:buChar char="•"/>
              <a:defRPr/>
            </a:pPr>
            <a:r>
              <a:rPr lang="en-US" sz="1200" b="1" dirty="0">
                <a:solidFill>
                  <a:prstClr val="white"/>
                </a:solidFill>
                <a:latin typeface="Consolas" panose="020B0609020204030204" pitchFamily="49" charset="0"/>
              </a:rPr>
              <a:t>Limitation: </a:t>
            </a:r>
          </a:p>
          <a:p>
            <a:pPr marL="228600" lvl="1" indent="228600">
              <a:spcAft>
                <a:spcPts val="800"/>
              </a:spcAft>
              <a:buSzPct val="100000"/>
              <a:defRPr/>
            </a:pPr>
            <a:r>
              <a:rPr lang="en-US" sz="1100" dirty="0">
                <a:solidFill>
                  <a:srgbClr val="FFFFFF"/>
                </a:solidFill>
                <a:latin typeface="Arial" pitchFamily="34" charset="0"/>
                <a:cs typeface="Arial" pitchFamily="34" charset="-120"/>
              </a:rPr>
              <a:t>- only three discrete strategies (coarse granularity, not a continuous budget), so unlike queries can share one setting.</a:t>
            </a:r>
          </a:p>
          <a:p>
            <a:pPr marL="228600" lvl="1" indent="228600">
              <a:spcAft>
                <a:spcPts val="800"/>
              </a:spcAft>
              <a:buSzPct val="100000"/>
              <a:defRPr/>
            </a:pPr>
            <a:r>
              <a:rPr lang="en-US" sz="1100" dirty="0">
                <a:solidFill>
                  <a:srgbClr val="FFFFFF"/>
                </a:solidFill>
                <a:latin typeface="Arial" pitchFamily="34" charset="0"/>
                <a:cs typeface="Arial" pitchFamily="34" charset="-120"/>
              </a:rPr>
              <a:t>- the probe is trained per base model, since hidden-state geometry is model-specific, so each new model needs retraining.</a:t>
            </a: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1103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2. CURRENT SOLUTIONS</a:t>
            </a: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1300" b="1" i="0" u="none" strike="noStrike" kern="1200" cap="none" spc="0" normalizeH="0" baseline="0" noProof="0" dirty="0">
                <a:ln>
                  <a:noFill/>
                </a:ln>
                <a:solidFill>
                  <a:srgbClr val="FF7900"/>
                </a:solidFill>
                <a:effectLst/>
                <a:uLnTx/>
                <a:uFillTx/>
                <a:latin typeface="Helvetica Neue"/>
                <a:ea typeface="+mn-ea"/>
                <a:cs typeface="+mn-cs"/>
                <a:sym typeface="Arial"/>
              </a:rPr>
              <a:t>2.2 PREDICTIVE METHODS (decide before generation)</a:t>
            </a:r>
          </a:p>
        </p:txBody>
      </p:sp>
      <p:sp>
        <p:nvSpPr>
          <p:cNvPr id="3" name="Text 1"/>
          <p:cNvSpPr txBox="1"/>
          <p:nvPr/>
        </p:nvSpPr>
        <p:spPr>
          <a:xfrm>
            <a:off x="320040" y="997659"/>
            <a:ext cx="8503920" cy="3575304"/>
          </a:xfrm>
          <a:prstGeom prst="rect">
            <a:avLst/>
          </a:prstGeom>
          <a:noFill/>
          <a:ln/>
        </p:spPr>
        <p:txBody>
          <a:bodyPr wrap="square" lIns="0" tIns="0" rIns="0" bIns="0" rtlCol="0" anchor="t"/>
          <a:lstStyle/>
          <a:p>
            <a:endParaRPr lang="en-US" sz="1200" b="1" dirty="0">
              <a:solidFill>
                <a:srgbClr val="FF7900"/>
              </a:solidFill>
              <a:latin typeface="Helvetica Neue"/>
            </a:endParaRPr>
          </a:p>
          <a:p>
            <a:r>
              <a:rPr lang="en-US" sz="1200" b="1" dirty="0">
                <a:solidFill>
                  <a:srgbClr val="FF7900"/>
                </a:solidFill>
                <a:latin typeface="Helvetica Neue"/>
              </a:rPr>
              <a:t>Learned Routers. </a:t>
            </a:r>
            <a:r>
              <a:rPr lang="en-US" sz="1000" i="1" dirty="0">
                <a:solidFill>
                  <a:prstClr val="white"/>
                </a:solidFill>
                <a:latin typeface="Consolas" panose="020B0609020204030204" pitchFamily="49" charset="0"/>
              </a:rPr>
              <a:t>(Damani, </a:t>
            </a:r>
            <a:r>
              <a:rPr lang="en-US" sz="1000" i="1" dirty="0" err="1">
                <a:solidFill>
                  <a:prstClr val="white"/>
                </a:solidFill>
                <a:latin typeface="Consolas" panose="020B0609020204030204" pitchFamily="49" charset="0"/>
              </a:rPr>
              <a:t>Shenfeld</a:t>
            </a:r>
            <a:r>
              <a:rPr lang="en-US" sz="1000" i="1" dirty="0">
                <a:solidFill>
                  <a:prstClr val="white"/>
                </a:solidFill>
                <a:latin typeface="Consolas" panose="020B0609020204030204" pitchFamily="49" charset="0"/>
              </a:rPr>
              <a:t>, Peng, </a:t>
            </a:r>
            <a:r>
              <a:rPr lang="en-US" sz="1000" i="1" dirty="0" err="1">
                <a:solidFill>
                  <a:prstClr val="white"/>
                </a:solidFill>
                <a:latin typeface="Consolas" panose="020B0609020204030204" pitchFamily="49" charset="0"/>
              </a:rPr>
              <a:t>Bobu</a:t>
            </a:r>
            <a:r>
              <a:rPr lang="en-US" sz="1000" i="1" dirty="0">
                <a:solidFill>
                  <a:prstClr val="white"/>
                </a:solidFill>
                <a:latin typeface="Consolas" panose="020B0609020204030204" pitchFamily="49" charset="0"/>
              </a:rPr>
              <a:t>, and Andreas, "Learning How Hard to Think: Input-Adaptive Allocation of LM Computation," ICLR 2025)</a:t>
            </a:r>
          </a:p>
          <a:p>
            <a:pPr lvl="1" indent="-228600">
              <a:spcAft>
                <a:spcPts val="800"/>
              </a:spcAft>
              <a:buSzPct val="100000"/>
              <a:buFontTx/>
              <a:buChar char="•"/>
              <a:defRPr/>
            </a:pPr>
            <a:r>
              <a:rPr lang="en-US" sz="1200" b="1" dirty="0">
                <a:solidFill>
                  <a:prstClr val="white"/>
                </a:solidFill>
                <a:latin typeface="Consolas" panose="020B0609020204030204" pitchFamily="49" charset="0"/>
              </a:rPr>
              <a:t>Mechanism: </a:t>
            </a:r>
            <a:r>
              <a:rPr lang="en-US" sz="1200" dirty="0">
                <a:solidFill>
                  <a:srgbClr val="FFFFFF"/>
                </a:solidFill>
                <a:latin typeface="Arial" pitchFamily="34" charset="0"/>
                <a:cs typeface="Arial" pitchFamily="34" charset="-120"/>
              </a:rPr>
              <a:t>trains a marginal reward predictor — the expected accuracy gain from allocating one more unit of compute (e.g., one more best-of-N sample) to a given query — and allocates compute where the predicted marginal value is highest. For example, in a best-of-N setting the router predicts how much each additional sample would raise the chance of a correct answer for that query, so compute flows to queries where an extra sample is most likely to change the outcome and away from those that are already solved or unlikely to be solved.</a:t>
            </a:r>
          </a:p>
          <a:p>
            <a:pPr lvl="1" indent="-228600">
              <a:spcAft>
                <a:spcPts val="800"/>
              </a:spcAft>
              <a:buSzPct val="100000"/>
              <a:buFontTx/>
              <a:buChar char="•"/>
              <a:defRPr/>
            </a:pPr>
            <a:r>
              <a:rPr lang="en-US" sz="1200" b="1" dirty="0">
                <a:solidFill>
                  <a:prstClr val="white"/>
                </a:solidFill>
                <a:latin typeface="Consolas" panose="020B0609020204030204" pitchFamily="49" charset="0"/>
              </a:rPr>
              <a:t>Limitation: </a:t>
            </a:r>
            <a:r>
              <a:rPr lang="en-US" sz="1200" dirty="0">
                <a:solidFill>
                  <a:srgbClr val="FFFFFF"/>
                </a:solidFill>
                <a:latin typeface="Arial" pitchFamily="34" charset="0"/>
                <a:cs typeface="Arial" pitchFamily="34" charset="-120"/>
              </a:rPr>
              <a:t>the predictor is trained per model/task, cross-model transfer is not reported, and the best-of-N framing does not directly cover single-chain </a:t>
            </a:r>
            <a:r>
              <a:rPr lang="en-US" sz="1200" dirty="0" err="1">
                <a:solidFill>
                  <a:srgbClr val="FFFFFF"/>
                </a:solidFill>
                <a:latin typeface="Arial" pitchFamily="34" charset="0"/>
                <a:cs typeface="Arial" pitchFamily="34" charset="-120"/>
              </a:rPr>
              <a:t>CoT</a:t>
            </a:r>
            <a:r>
              <a:rPr lang="en-US" sz="1200" dirty="0">
                <a:solidFill>
                  <a:srgbClr val="FFFFFF"/>
                </a:solidFill>
                <a:latin typeface="Arial" pitchFamily="34" charset="0"/>
                <a:cs typeface="Arial" pitchFamily="34" charset="-120"/>
              </a:rPr>
              <a:t> length control. In short, the idea transfers conceptually, but the trained predictor and its evidence base are tied to the specific model, task, and sampling setup it was built for.</a:t>
            </a:r>
          </a:p>
          <a:p>
            <a:pPr lvl="1" indent="-228600">
              <a:spcAft>
                <a:spcPts val="800"/>
              </a:spcAft>
              <a:buSzPct val="100000"/>
              <a:buFontTx/>
              <a:buChar char="•"/>
              <a:defRPr/>
            </a:pPr>
            <a:r>
              <a:rPr lang="en-US" sz="1200" b="1" dirty="0">
                <a:solidFill>
                  <a:prstClr val="white"/>
                </a:solidFill>
                <a:latin typeface="Consolas" panose="020B0609020204030204" pitchFamily="49" charset="0"/>
              </a:rPr>
              <a:t>Our Use of This Method: </a:t>
            </a:r>
            <a:r>
              <a:rPr lang="en-US" sz="1200" dirty="0">
                <a:solidFill>
                  <a:srgbClr val="FFFFFF"/>
                </a:solidFill>
                <a:latin typeface="Arial" pitchFamily="34" charset="0"/>
                <a:cs typeface="Arial" pitchFamily="34" charset="-120"/>
              </a:rPr>
              <a:t>reuse the marginal-value framing — "allocate compute where its predicted value is highest" — as the guiding principle for a compute-allocation equation grounded in prior work rather than assumed from scratch. The same logic applies here: a query’s budget should grow only while the expected gain from additional tokens is worth their cost, which is what the scaling-law baseline in Section 3.2 is meant to encode.</a:t>
            </a:r>
          </a:p>
          <a:p>
            <a:br>
              <a:rPr lang="en-US" sz="1200" b="0" dirty="0">
                <a:solidFill>
                  <a:srgbClr val="BBBEBF"/>
                </a:solidFill>
                <a:effectLst/>
                <a:latin typeface="Consolas" panose="020B0609020204030204" pitchFamily="49" charset="0"/>
              </a:rPr>
            </a:br>
            <a:endParaRPr lang="en-US" sz="1200" b="0" dirty="0">
              <a:solidFill>
                <a:srgbClr val="BBBEBF"/>
              </a:solidFill>
              <a:effectLst/>
              <a:latin typeface="Consolas" panose="020B0609020204030204" pitchFamily="49" charset="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5973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2. CURRENT SOLUTIONS</a:t>
            </a:r>
          </a:p>
          <a:p>
            <a:pPr>
              <a:buClr>
                <a:srgbClr val="FF7900"/>
              </a:buClr>
              <a:buSzPts val="1500"/>
              <a:defRPr/>
            </a:pPr>
            <a:r>
              <a:rPr lang="en-US" sz="1300" b="1" dirty="0">
                <a:solidFill>
                  <a:srgbClr val="FF7900"/>
                </a:solidFill>
                <a:latin typeface="Helvetica Neue"/>
                <a:sym typeface="Arial"/>
              </a:rPr>
              <a:t>2.2 PREDICTIVE METHODS (decide before generation)</a:t>
            </a:r>
          </a:p>
        </p:txBody>
      </p:sp>
      <p:sp>
        <p:nvSpPr>
          <p:cNvPr id="3" name="Text 1"/>
          <p:cNvSpPr txBox="1"/>
          <p:nvPr/>
        </p:nvSpPr>
        <p:spPr>
          <a:xfrm>
            <a:off x="320040" y="997659"/>
            <a:ext cx="8503920" cy="3574341"/>
          </a:xfrm>
          <a:prstGeom prst="rect">
            <a:avLst/>
          </a:prstGeom>
          <a:noFill/>
          <a:ln/>
        </p:spPr>
        <p:txBody>
          <a:bodyPr wrap="square" lIns="0" tIns="0" rIns="0" bIns="0" rtlCol="0" anchor="t"/>
          <a:lstStyle/>
          <a:p>
            <a:pPr>
              <a:spcAft>
                <a:spcPts val="1000"/>
              </a:spcAft>
            </a:pPr>
            <a:endParaRPr lang="en-US" sz="1200" b="1" dirty="0">
              <a:solidFill>
                <a:srgbClr val="FF7900"/>
              </a:solidFill>
              <a:latin typeface="Helvetica Neue"/>
            </a:endParaRPr>
          </a:p>
          <a:p>
            <a:pPr>
              <a:spcAft>
                <a:spcPts val="1000"/>
              </a:spcAft>
            </a:pPr>
            <a:r>
              <a:rPr lang="en-US" sz="1200" b="1" dirty="0">
                <a:solidFill>
                  <a:srgbClr val="FF7900"/>
                </a:solidFill>
                <a:latin typeface="Helvetica Neue"/>
              </a:rPr>
              <a:t>Thinking-Optimal Scaling (TOPS). </a:t>
            </a:r>
            <a:r>
              <a:rPr lang="en-US" sz="1000" i="1" dirty="0">
                <a:solidFill>
                  <a:prstClr val="white"/>
                </a:solidFill>
                <a:latin typeface="Consolas" panose="020B0609020204030204" pitchFamily="49" charset="0"/>
              </a:rPr>
              <a:t>(Yang et al., "Towards Thinking-Optimal Scaling of Test-Time Compute for LLM Reasoning," </a:t>
            </a:r>
            <a:r>
              <a:rPr lang="en-US" sz="1000" i="1" dirty="0" err="1">
                <a:solidFill>
                  <a:prstClr val="white"/>
                </a:solidFill>
                <a:latin typeface="Consolas" panose="020B0609020204030204" pitchFamily="49" charset="0"/>
              </a:rPr>
              <a:t>NeurIPS</a:t>
            </a:r>
            <a:r>
              <a:rPr lang="en-US" sz="1000" i="1" dirty="0">
                <a:solidFill>
                  <a:prstClr val="white"/>
                </a:solidFill>
                <a:latin typeface="Consolas" panose="020B0609020204030204" pitchFamily="49" charset="0"/>
              </a:rPr>
              <a:t> 2025)</a:t>
            </a:r>
          </a:p>
          <a:p>
            <a:pPr lvl="1" indent="-228600">
              <a:spcAft>
                <a:spcPts val="800"/>
              </a:spcAft>
              <a:buSzPct val="100000"/>
              <a:buFontTx/>
              <a:buChar char="•"/>
              <a:defRPr/>
            </a:pPr>
            <a:r>
              <a:rPr lang="en-US" sz="1200" b="1" dirty="0">
                <a:solidFill>
                  <a:prstClr val="white"/>
                </a:solidFill>
                <a:latin typeface="Consolas" panose="020B0609020204030204" pitchFamily="49" charset="0"/>
              </a:rPr>
              <a:t>Mechanism: </a:t>
            </a:r>
            <a:r>
              <a:rPr lang="en-US" sz="1200" dirty="0">
                <a:solidFill>
                  <a:srgbClr val="FFFFFF"/>
                </a:solidFill>
                <a:latin typeface="Arial" pitchFamily="34" charset="0"/>
                <a:cs typeface="Arial" pitchFamily="34" charset="-120"/>
              </a:rPr>
              <a:t>supervised fine-tuning on a small seed set spanning several reasoning-effort levels ("format imitation"), then self-improvement by sampling multiple efforts per training query and keeping the shortest correct response as the preferred target — baking a domain-conditioned length policy into the weights. In other words, the model learns from its own best past behavior: among its correct answers it is taught to prefer the one that reached the answer with the least reasoning.</a:t>
            </a:r>
          </a:p>
          <a:p>
            <a:pPr lvl="1" indent="-228600">
              <a:spcAft>
                <a:spcPts val="800"/>
              </a:spcAft>
              <a:buSzPct val="100000"/>
              <a:buFontTx/>
              <a:buChar char="•"/>
              <a:defRPr/>
            </a:pPr>
            <a:r>
              <a:rPr lang="en-US" sz="1200" b="1" dirty="0">
                <a:solidFill>
                  <a:prstClr val="white"/>
                </a:solidFill>
                <a:latin typeface="Consolas" panose="020B0609020204030204" pitchFamily="49" charset="0"/>
              </a:rPr>
              <a:t>Limitation: </a:t>
            </a:r>
            <a:r>
              <a:rPr lang="en-US" sz="1200" dirty="0">
                <a:solidFill>
                  <a:srgbClr val="FFFFFF"/>
                </a:solidFill>
                <a:latin typeface="Arial" pitchFamily="34" charset="0"/>
                <a:cs typeface="Arial" pitchFamily="34" charset="-120"/>
              </a:rPr>
              <a:t>granularity is domain-level, not instance-level — a domain gets one length distribution, not each query its own budget — and building the training set requires generating multiple full responses per example. Two queries from the same domain therefore receive the same length behavior even if one needs far more reasoning, and data-generation cost grows with the number of efforts sampled per training example.</a:t>
            </a:r>
          </a:p>
          <a:p>
            <a:pPr lvl="1" indent="-228600">
              <a:spcAft>
                <a:spcPts val="800"/>
              </a:spcAft>
              <a:buSzPct val="100000"/>
              <a:buFontTx/>
              <a:buChar char="•"/>
              <a:defRPr/>
            </a:pPr>
            <a:r>
              <a:rPr lang="en-US" sz="1200" b="1" dirty="0">
                <a:solidFill>
                  <a:prstClr val="white"/>
                </a:solidFill>
                <a:latin typeface="Consolas" panose="020B0609020204030204" pitchFamily="49" charset="0"/>
              </a:rPr>
              <a:t>Our</a:t>
            </a:r>
            <a:r>
              <a:rPr lang="en-US" sz="1200" dirty="0"/>
              <a:t> </a:t>
            </a:r>
            <a:r>
              <a:rPr lang="en-US" sz="1200" b="1" dirty="0">
                <a:solidFill>
                  <a:prstClr val="white"/>
                </a:solidFill>
                <a:latin typeface="Consolas" panose="020B0609020204030204" pitchFamily="49" charset="0"/>
              </a:rPr>
              <a:t>Use</a:t>
            </a:r>
            <a:r>
              <a:rPr lang="en-US" sz="1200" dirty="0"/>
              <a:t> </a:t>
            </a:r>
            <a:r>
              <a:rPr lang="en-US" sz="1200" b="1" dirty="0">
                <a:solidFill>
                  <a:prstClr val="white"/>
                </a:solidFill>
                <a:latin typeface="Consolas" panose="020B0609020204030204" pitchFamily="49" charset="0"/>
              </a:rPr>
              <a:t>of</a:t>
            </a:r>
            <a:r>
              <a:rPr lang="en-US" sz="1200" dirty="0"/>
              <a:t> </a:t>
            </a:r>
            <a:r>
              <a:rPr lang="en-US" sz="1200" b="1" dirty="0">
                <a:solidFill>
                  <a:prstClr val="white"/>
                </a:solidFill>
                <a:latin typeface="Consolas" panose="020B0609020204030204" pitchFamily="49" charset="0"/>
              </a:rPr>
              <a:t>This</a:t>
            </a:r>
            <a:r>
              <a:rPr lang="en-US" sz="1200" dirty="0"/>
              <a:t> </a:t>
            </a:r>
            <a:r>
              <a:rPr lang="en-US" sz="1200" b="1" dirty="0">
                <a:solidFill>
                  <a:prstClr val="white"/>
                </a:solidFill>
                <a:latin typeface="Consolas" panose="020B0609020204030204" pitchFamily="49" charset="0"/>
              </a:rPr>
              <a:t>Method: </a:t>
            </a:r>
            <a:r>
              <a:rPr lang="en-US" sz="1200" dirty="0">
                <a:solidFill>
                  <a:srgbClr val="FFFFFF"/>
                </a:solidFill>
                <a:latin typeface="Arial" pitchFamily="34" charset="0"/>
                <a:cs typeface="Arial" pitchFamily="34" charset="-120"/>
              </a:rPr>
              <a:t>TOPS's finding that the optimal length distribution differs by domain is direct prior evidence for a task-type hypothesis, and an instance-level predictor can be tested against TOPS's domain-level one at matched compute. This gives a concrete comparison: if instance-level prediction beats domain-level length control at the same average token budget, the gain can be attributed to finer-grained allocation rather than to extra compute.</a:t>
            </a: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0037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2000" b="1" dirty="0">
                <a:solidFill>
                  <a:srgbClr val="FF6600"/>
                </a:solidFill>
                <a:latin typeface="Arial" pitchFamily="34" charset="0"/>
                <a:cs typeface="Arial" pitchFamily="34" charset="-120"/>
                <a:sym typeface="Arial"/>
              </a:rPr>
              <a:t>2. CURRENT SOLUTIONS</a:t>
            </a:r>
          </a:p>
          <a:p>
            <a:pPr>
              <a:buClr>
                <a:srgbClr val="FF7900"/>
              </a:buClr>
              <a:buSzPts val="1500"/>
              <a:defRPr/>
            </a:pPr>
            <a:r>
              <a:rPr lang="en-US" sz="1300" b="1" dirty="0">
                <a:solidFill>
                  <a:srgbClr val="FF7900"/>
                </a:solidFill>
                <a:latin typeface="Helvetica Neue"/>
                <a:sym typeface="Arial"/>
              </a:rPr>
              <a:t>SUMMARY</a:t>
            </a:r>
          </a:p>
        </p:txBody>
      </p:sp>
      <p:sp>
        <p:nvSpPr>
          <p:cNvPr id="3" name="Text 1"/>
          <p:cNvSpPr txBox="1"/>
          <p:nvPr/>
        </p:nvSpPr>
        <p:spPr>
          <a:xfrm>
            <a:off x="190158" y="840005"/>
            <a:ext cx="8503920" cy="36652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0"/>
              </a:spcAft>
              <a:buClrTx/>
              <a:buSzTx/>
              <a:buFontTx/>
              <a:buNone/>
              <a:tabLst/>
              <a:defRPr/>
            </a:pPr>
            <a:endParaRPr lang="en-US" sz="1200" dirty="0">
              <a:solidFill>
                <a:schemeClr val="tx1">
                  <a:lumMod val="95000"/>
                  <a:lumOff val="5000"/>
                </a:schemeClr>
              </a:solidFill>
              <a:latin typeface="Arial" pitchFamily="34" charset="0"/>
              <a:cs typeface="Arial" pitchFamily="34" charset="-120"/>
            </a:endParaRPr>
          </a:p>
          <a:p>
            <a:pPr marL="228600" lvl="1">
              <a:spcAft>
                <a:spcPts val="800"/>
              </a:spcAft>
              <a:buSzPct val="100000"/>
              <a:defRPr/>
            </a:pPr>
            <a:endParaRPr lang="en-US" sz="1200" b="1" dirty="0">
              <a:solidFill>
                <a:schemeClr val="tx1">
                  <a:lumMod val="95000"/>
                  <a:lumOff val="5000"/>
                </a:schemeClr>
              </a:solidFill>
              <a:latin typeface="Consolas" panose="020B0609020204030204" pitchFamily="49" charset="0"/>
            </a:endParaRPr>
          </a:p>
          <a:p>
            <a:pPr marL="228600" lvl="1">
              <a:spcAft>
                <a:spcPts val="800"/>
              </a:spcAft>
              <a:buSzPct val="100000"/>
              <a:defRPr/>
            </a:pPr>
            <a:endParaRPr lang="en-US" sz="1200" b="1" dirty="0">
              <a:solidFill>
                <a:schemeClr val="tx1">
                  <a:lumMod val="95000"/>
                  <a:lumOff val="5000"/>
                </a:schemeClr>
              </a:solidFill>
              <a:latin typeface="Consolas" panose="020B0609020204030204" pitchFamily="49" charset="0"/>
            </a:endParaRPr>
          </a:p>
          <a:p>
            <a:pPr marL="228600" lvl="1">
              <a:spcAft>
                <a:spcPts val="800"/>
              </a:spcAft>
              <a:buSzPct val="100000"/>
              <a:defRPr/>
            </a:pPr>
            <a:endParaRPr lang="en-US" sz="1200" b="1" dirty="0">
              <a:solidFill>
                <a:schemeClr val="tx1">
                  <a:lumMod val="95000"/>
                  <a:lumOff val="5000"/>
                </a:schemeClr>
              </a:solidFill>
              <a:latin typeface="Consolas" panose="020B0609020204030204" pitchFamily="49" charset="0"/>
            </a:endParaRPr>
          </a:p>
          <a:p>
            <a:pPr marL="228600" lvl="1">
              <a:spcAft>
                <a:spcPts val="800"/>
              </a:spcAft>
              <a:buSzPct val="100000"/>
              <a:defRPr/>
            </a:pPr>
            <a:endParaRPr lang="en-US" sz="1200" b="1" dirty="0">
              <a:solidFill>
                <a:schemeClr val="tx1">
                  <a:lumMod val="95000"/>
                  <a:lumOff val="5000"/>
                </a:schemeClr>
              </a:solidFill>
              <a:latin typeface="Consolas" panose="020B0609020204030204" pitchFamily="49" charset="0"/>
            </a:endParaRPr>
          </a:p>
          <a:p>
            <a:pPr marL="228600" lvl="1">
              <a:spcAft>
                <a:spcPts val="800"/>
              </a:spcAft>
              <a:buSzPct val="100000"/>
              <a:defRPr/>
            </a:pPr>
            <a:endParaRPr lang="en-US" sz="1200" b="1" dirty="0">
              <a:solidFill>
                <a:schemeClr val="tx1">
                  <a:lumMod val="95000"/>
                  <a:lumOff val="5000"/>
                </a:schemeClr>
              </a:solidFill>
              <a:latin typeface="Consolas" panose="020B0609020204030204" pitchFamily="49" charset="0"/>
            </a:endParaRPr>
          </a:p>
          <a:p>
            <a:pPr marL="228600" lvl="1">
              <a:spcAft>
                <a:spcPts val="800"/>
              </a:spcAft>
              <a:buSzPct val="100000"/>
              <a:defRPr/>
            </a:pPr>
            <a:endParaRPr lang="en-US" sz="1200" b="1" dirty="0">
              <a:solidFill>
                <a:schemeClr val="tx1">
                  <a:lumMod val="95000"/>
                  <a:lumOff val="5000"/>
                </a:schemeClr>
              </a:solidFill>
              <a:latin typeface="Consolas" panose="020B0609020204030204" pitchFamily="49" charset="0"/>
            </a:endParaRPr>
          </a:p>
          <a:p>
            <a:pPr marL="228600" lvl="1">
              <a:spcAft>
                <a:spcPts val="800"/>
              </a:spcAft>
              <a:buSzPct val="100000"/>
              <a:defRPr/>
            </a:pPr>
            <a:endParaRPr lang="en-US" sz="1200" b="1" dirty="0">
              <a:solidFill>
                <a:schemeClr val="tx1">
                  <a:lumMod val="95000"/>
                  <a:lumOff val="5000"/>
                </a:schemeClr>
              </a:solidFill>
              <a:latin typeface="Consolas" panose="020B0609020204030204" pitchFamily="49" charset="0"/>
            </a:endParaRPr>
          </a:p>
          <a:p>
            <a:pPr marL="228600" lvl="1">
              <a:spcAft>
                <a:spcPts val="800"/>
              </a:spcAft>
              <a:buSzPct val="100000"/>
              <a:defRPr/>
            </a:pPr>
            <a:endParaRPr lang="en-US" sz="1200" b="1" dirty="0">
              <a:solidFill>
                <a:schemeClr val="tx1">
                  <a:lumMod val="95000"/>
                  <a:lumOff val="5000"/>
                </a:schemeClr>
              </a:solidFill>
              <a:latin typeface="Consolas" panose="020B0609020204030204" pitchFamily="49" charset="0"/>
            </a:endParaRPr>
          </a:p>
          <a:p>
            <a:pPr marL="228600" lvl="1">
              <a:spcAft>
                <a:spcPts val="800"/>
              </a:spcAft>
              <a:buSzPct val="100000"/>
              <a:defRPr/>
            </a:pPr>
            <a:endParaRPr lang="en-US" sz="1200" b="1" dirty="0">
              <a:solidFill>
                <a:schemeClr val="tx1">
                  <a:lumMod val="95000"/>
                  <a:lumOff val="5000"/>
                </a:schemeClr>
              </a:solidFill>
              <a:latin typeface="Consolas" panose="020B0609020204030204" pitchFamily="49" charset="0"/>
            </a:endParaRPr>
          </a:p>
          <a:p>
            <a:pPr marL="228600" lvl="1">
              <a:spcAft>
                <a:spcPts val="800"/>
              </a:spcAft>
              <a:buSzPct val="100000"/>
              <a:defRPr/>
            </a:pPr>
            <a:r>
              <a:rPr lang="en-US" sz="1200" b="1" dirty="0">
                <a:solidFill>
                  <a:schemeClr val="bg1"/>
                </a:solidFill>
                <a:latin typeface="Consolas" panose="020B0609020204030204" pitchFamily="49" charset="0"/>
              </a:rPr>
              <a:t>Conclusion: </a:t>
            </a:r>
            <a:r>
              <a:rPr lang="en-US" sz="1200" dirty="0">
                <a:solidFill>
                  <a:schemeClr val="bg1"/>
                </a:solidFill>
                <a:latin typeface="Arial" pitchFamily="34" charset="0"/>
                <a:cs typeface="Arial" pitchFamily="34" charset="-120"/>
              </a:rPr>
              <a:t>Existing methods address different aspects of adaptive compute allocation, but none simultaneously provides instance-level allocation, cross-model generalization, and statistical calibration. This work targets their intersection and evaluates it under a unified experimental protocol. Read across the table, each method fixes one weakness but keeps another: per-model tuning or training, coarse granularity, or a guarantee that holds only on average. The proposed pipeline is therefore compared against each baseline on accuracy, token cost, and interpretability.</a:t>
            </a:r>
          </a:p>
          <a:p>
            <a:pPr marL="457200" marR="0" lvl="1" indent="-228600" algn="l" defTabSz="914400" rtl="0" eaLnBrk="1" fontAlgn="auto" latinLnBrk="0" hangingPunct="1">
              <a:lnSpc>
                <a:spcPct val="100000"/>
              </a:lnSpc>
              <a:spcBef>
                <a:spcPts val="0"/>
              </a:spcBef>
              <a:spcAft>
                <a:spcPts val="800"/>
              </a:spcAft>
              <a:buClrTx/>
              <a:buSzPct val="100000"/>
              <a:buFontTx/>
              <a:buChar char="•"/>
              <a:tabLst/>
              <a:defRPr/>
            </a:pPr>
            <a:endParaRPr kumimoji="0" lang="en-US" sz="1200" b="0" i="0" u="none" strike="noStrike" kern="1200" cap="none" spc="0" normalizeH="0" baseline="0" noProof="0" dirty="0">
              <a:ln>
                <a:noFill/>
              </a:ln>
              <a:solidFill>
                <a:schemeClr val="tx1">
                  <a:lumMod val="95000"/>
                  <a:lumOff val="5000"/>
                </a:schemeClr>
              </a:solidFill>
              <a:effectLst/>
              <a:uLnTx/>
              <a:uFillTx/>
              <a:latin typeface="Arial" pitchFamily="34" charset="0"/>
              <a:ea typeface="+mn-ea"/>
              <a:cs typeface="Arial" pitchFamily="34" charset="-12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4" name="Google Shape;144;p4"/>
          <p:cNvSpPr/>
          <p:nvPr/>
        </p:nvSpPr>
        <p:spPr>
          <a:xfrm>
            <a:off x="381000" y="1074419"/>
            <a:ext cx="2067664" cy="324312"/>
          </a:xfrm>
          <a:prstGeom prst="rect">
            <a:avLst/>
          </a:prstGeom>
          <a:solidFill>
            <a:srgbClr val="FF7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45" name="Google Shape;145;p4"/>
          <p:cNvSpPr/>
          <p:nvPr/>
        </p:nvSpPr>
        <p:spPr>
          <a:xfrm>
            <a:off x="449922" y="1074419"/>
            <a:ext cx="1929819" cy="324312"/>
          </a:xfrm>
          <a:prstGeom prst="rect">
            <a:avLst/>
          </a:prstGeom>
          <a:noFill/>
          <a:ln>
            <a:noFill/>
          </a:ln>
        </p:spPr>
        <p:txBody>
          <a:bodyPr spcFirstLastPara="1" wrap="square" lIns="0" tIns="0" rIns="0" bIns="0" anchor="ctr" anchorCtr="0">
            <a:noAutofit/>
          </a:bodyPr>
          <a:lstStyle/>
          <a:p>
            <a:pPr>
              <a:buClr>
                <a:srgbClr val="000000"/>
              </a:buClr>
              <a:buSzPts val="1050"/>
            </a:pPr>
            <a:r>
              <a:rPr lang="en-US" sz="1050" b="1" dirty="0">
                <a:latin typeface="Helvetica Neue"/>
                <a:sym typeface="Helvetica Neue"/>
              </a:rPr>
              <a:t>Method</a:t>
            </a:r>
            <a:endParaRPr sz="1050" b="1" dirty="0">
              <a:latin typeface="Helvetica Neue"/>
              <a:sym typeface="Helvetica Neue"/>
            </a:endParaRPr>
          </a:p>
        </p:txBody>
      </p:sp>
      <p:sp>
        <p:nvSpPr>
          <p:cNvPr id="146" name="Google Shape;146;p4"/>
          <p:cNvSpPr/>
          <p:nvPr/>
        </p:nvSpPr>
        <p:spPr>
          <a:xfrm>
            <a:off x="2448664" y="1074419"/>
            <a:ext cx="1964280" cy="324312"/>
          </a:xfrm>
          <a:prstGeom prst="rect">
            <a:avLst/>
          </a:prstGeom>
          <a:solidFill>
            <a:srgbClr val="FF7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47" name="Google Shape;147;p4"/>
          <p:cNvSpPr/>
          <p:nvPr/>
        </p:nvSpPr>
        <p:spPr>
          <a:xfrm>
            <a:off x="2517586" y="1074419"/>
            <a:ext cx="1826436" cy="3243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1050"/>
              <a:buFont typeface="Arial"/>
              <a:buNone/>
            </a:pPr>
            <a:r>
              <a:rPr lang="en-US" sz="1050" b="1" dirty="0">
                <a:latin typeface="Helvetica Neue"/>
                <a:ea typeface="Helvetica Neue"/>
                <a:cs typeface="Helvetica Neue"/>
                <a:sym typeface="Helvetica Neue"/>
              </a:rPr>
              <a:t>Compute control</a:t>
            </a:r>
            <a:endParaRPr sz="1050" dirty="0">
              <a:latin typeface="Helvetica Neue"/>
              <a:ea typeface="Helvetica Neue"/>
              <a:cs typeface="Helvetica Neue"/>
              <a:sym typeface="Helvetica Neue"/>
            </a:endParaRPr>
          </a:p>
        </p:txBody>
      </p:sp>
      <p:sp>
        <p:nvSpPr>
          <p:cNvPr id="148" name="Google Shape;148;p4"/>
          <p:cNvSpPr/>
          <p:nvPr/>
        </p:nvSpPr>
        <p:spPr>
          <a:xfrm>
            <a:off x="4412944" y="1074419"/>
            <a:ext cx="1378442" cy="324312"/>
          </a:xfrm>
          <a:prstGeom prst="rect">
            <a:avLst/>
          </a:prstGeom>
          <a:solidFill>
            <a:srgbClr val="FF7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49" name="Google Shape;149;p4"/>
          <p:cNvSpPr/>
          <p:nvPr/>
        </p:nvSpPr>
        <p:spPr>
          <a:xfrm>
            <a:off x="4412943" y="1074419"/>
            <a:ext cx="1378442" cy="324312"/>
          </a:xfrm>
          <a:prstGeom prst="rect">
            <a:avLst/>
          </a:prstGeom>
          <a:noFill/>
          <a:ln>
            <a:noFill/>
          </a:ln>
        </p:spPr>
        <p:txBody>
          <a:bodyPr spcFirstLastPara="1" wrap="square" lIns="0" tIns="0" rIns="0" bIns="0" anchor="ctr" anchorCtr="0">
            <a:noAutofit/>
          </a:bodyPr>
          <a:lstStyle/>
          <a:p>
            <a:pPr algn="ctr">
              <a:buClr>
                <a:srgbClr val="000000"/>
              </a:buClr>
              <a:buSzPts val="1050"/>
            </a:pPr>
            <a:r>
              <a:rPr lang="en-US" sz="1050" b="1" dirty="0">
                <a:latin typeface="Helvetica Neue"/>
              </a:rPr>
              <a:t>Per-model</a:t>
            </a:r>
          </a:p>
          <a:p>
            <a:pPr algn="ctr">
              <a:buClr>
                <a:srgbClr val="000000"/>
              </a:buClr>
              <a:buSzPts val="1050"/>
            </a:pPr>
            <a:r>
              <a:rPr lang="en-US" sz="1050" b="1" dirty="0">
                <a:latin typeface="Helvetica Neue"/>
              </a:rPr>
              <a:t>training?</a:t>
            </a:r>
          </a:p>
        </p:txBody>
      </p:sp>
      <p:sp>
        <p:nvSpPr>
          <p:cNvPr id="150" name="Google Shape;150;p4"/>
          <p:cNvSpPr/>
          <p:nvPr/>
        </p:nvSpPr>
        <p:spPr>
          <a:xfrm>
            <a:off x="5791387" y="1074419"/>
            <a:ext cx="3032573" cy="324312"/>
          </a:xfrm>
          <a:prstGeom prst="rect">
            <a:avLst/>
          </a:prstGeom>
          <a:solidFill>
            <a:srgbClr val="FF7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51" name="Google Shape;151;p4"/>
          <p:cNvSpPr/>
          <p:nvPr/>
        </p:nvSpPr>
        <p:spPr>
          <a:xfrm>
            <a:off x="5860309" y="1074419"/>
            <a:ext cx="2894729" cy="324312"/>
          </a:xfrm>
          <a:prstGeom prst="rect">
            <a:avLst/>
          </a:prstGeom>
          <a:noFill/>
          <a:ln>
            <a:noFill/>
          </a:ln>
        </p:spPr>
        <p:txBody>
          <a:bodyPr spcFirstLastPara="1" wrap="square" lIns="0" tIns="0" rIns="0" bIns="0" anchor="ctr" anchorCtr="0">
            <a:noAutofit/>
          </a:bodyPr>
          <a:lstStyle/>
          <a:p>
            <a:pPr>
              <a:buClr>
                <a:srgbClr val="000000"/>
              </a:buClr>
              <a:buSzPts val="1050"/>
            </a:pPr>
            <a:r>
              <a:rPr lang="en-US" sz="1050" b="1" dirty="0">
                <a:latin typeface="Helvetica Neue"/>
                <a:sym typeface="Helvetica Neue"/>
              </a:rPr>
              <a:t>Key limitation</a:t>
            </a:r>
            <a:endParaRPr sz="1050" b="1" dirty="0">
              <a:latin typeface="Helvetica Neue"/>
              <a:sym typeface="Helvetica Neue"/>
            </a:endParaRPr>
          </a:p>
        </p:txBody>
      </p:sp>
      <p:sp>
        <p:nvSpPr>
          <p:cNvPr id="152" name="Google Shape;152;p4"/>
          <p:cNvSpPr/>
          <p:nvPr/>
        </p:nvSpPr>
        <p:spPr>
          <a:xfrm>
            <a:off x="381000" y="1398731"/>
            <a:ext cx="2067664"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53" name="Google Shape;153;p4"/>
          <p:cNvSpPr/>
          <p:nvPr/>
        </p:nvSpPr>
        <p:spPr>
          <a:xfrm>
            <a:off x="449922" y="1398731"/>
            <a:ext cx="1929729" cy="343301"/>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Arial"/>
              <a:buNone/>
            </a:pPr>
            <a:r>
              <a:rPr lang="en-US" sz="1050" b="1" dirty="0">
                <a:latin typeface="Helvetica Neue"/>
                <a:ea typeface="Helvetica Neue"/>
                <a:cs typeface="Helvetica Neue"/>
                <a:sym typeface="Helvetica Neue"/>
              </a:rPr>
              <a:t>DEER</a:t>
            </a:r>
            <a:endParaRPr sz="1050" dirty="0">
              <a:latin typeface="Helvetica Neue"/>
              <a:ea typeface="Helvetica Neue"/>
              <a:cs typeface="Helvetica Neue"/>
              <a:sym typeface="Helvetica Neue"/>
            </a:endParaRPr>
          </a:p>
        </p:txBody>
      </p:sp>
      <p:sp>
        <p:nvSpPr>
          <p:cNvPr id="154" name="Google Shape;154;p4"/>
          <p:cNvSpPr/>
          <p:nvPr/>
        </p:nvSpPr>
        <p:spPr>
          <a:xfrm>
            <a:off x="2448664" y="1398731"/>
            <a:ext cx="1964280"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55" name="Google Shape;155;p4"/>
          <p:cNvSpPr/>
          <p:nvPr/>
        </p:nvSpPr>
        <p:spPr>
          <a:xfrm>
            <a:off x="2517586" y="1398731"/>
            <a:ext cx="1826436"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dirty="0">
                <a:latin typeface="Helvetica Neue"/>
                <a:ea typeface="Helvetica Neue"/>
                <a:cs typeface="Helvetica Neue"/>
                <a:sym typeface="Helvetica Neue"/>
              </a:rPr>
              <a:t>Reactive, per-step</a:t>
            </a:r>
          </a:p>
        </p:txBody>
      </p:sp>
      <p:sp>
        <p:nvSpPr>
          <p:cNvPr id="156" name="Google Shape;156;p4"/>
          <p:cNvSpPr/>
          <p:nvPr/>
        </p:nvSpPr>
        <p:spPr>
          <a:xfrm>
            <a:off x="4412944" y="1398731"/>
            <a:ext cx="1378442"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57" name="Google Shape;157;p4"/>
          <p:cNvSpPr/>
          <p:nvPr/>
        </p:nvSpPr>
        <p:spPr>
          <a:xfrm>
            <a:off x="4481866" y="1398731"/>
            <a:ext cx="1240598" cy="343389"/>
          </a:xfrm>
          <a:prstGeom prst="rect">
            <a:avLst/>
          </a:prstGeom>
          <a:solidFill>
            <a:srgbClr val="FFD6CA"/>
          </a:solidFill>
          <a:ln>
            <a:noFill/>
          </a:ln>
        </p:spPr>
        <p:txBody>
          <a:bodyPr spcFirstLastPara="1" wrap="square" lIns="0" tIns="0" rIns="0" bIns="0" anchor="ctr" anchorCtr="0">
            <a:noAutofit/>
          </a:bodyPr>
          <a:lstStyle/>
          <a:p>
            <a:pPr marL="0" indent="0">
              <a:buNone/>
            </a:pPr>
            <a:r>
              <a:rPr lang="en-US" sz="1000" dirty="0">
                <a:latin typeface="Arial" pitchFamily="34" charset="0"/>
                <a:ea typeface="Arial" pitchFamily="34" charset="-122"/>
                <a:cs typeface="Arial" pitchFamily="34" charset="-120"/>
              </a:rPr>
              <a:t>Threshold tuned</a:t>
            </a:r>
            <a:endParaRPr lang="en-US" sz="1000" dirty="0">
              <a:latin typeface="Arial" charset="0"/>
              <a:ea typeface="Arial" charset="0"/>
              <a:cs typeface="Arial" charset="0"/>
            </a:endParaRPr>
          </a:p>
        </p:txBody>
      </p:sp>
      <p:sp>
        <p:nvSpPr>
          <p:cNvPr id="158" name="Google Shape;158;p4"/>
          <p:cNvSpPr/>
          <p:nvPr/>
        </p:nvSpPr>
        <p:spPr>
          <a:xfrm>
            <a:off x="5791387" y="1398731"/>
            <a:ext cx="3032573"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59" name="Google Shape;159;p4"/>
          <p:cNvSpPr/>
          <p:nvPr/>
        </p:nvSpPr>
        <p:spPr>
          <a:xfrm>
            <a:off x="5860309" y="1398731"/>
            <a:ext cx="2894729"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dirty="0">
                <a:latin typeface="Helvetica Neue"/>
                <a:ea typeface="Helvetica Neue"/>
                <a:cs typeface="Helvetica Neue"/>
                <a:sym typeface="Helvetica Neue"/>
              </a:rPr>
              <a:t>Threshold tuning; calibration-sensitive</a:t>
            </a:r>
          </a:p>
        </p:txBody>
      </p:sp>
      <p:sp>
        <p:nvSpPr>
          <p:cNvPr id="160" name="Google Shape;160;p4"/>
          <p:cNvSpPr/>
          <p:nvPr/>
        </p:nvSpPr>
        <p:spPr>
          <a:xfrm>
            <a:off x="381000" y="1742119"/>
            <a:ext cx="2067664"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61" name="Google Shape;161;p4"/>
          <p:cNvSpPr/>
          <p:nvPr/>
        </p:nvSpPr>
        <p:spPr>
          <a:xfrm>
            <a:off x="449922" y="1742119"/>
            <a:ext cx="1929819" cy="343389"/>
          </a:xfrm>
          <a:prstGeom prst="rect">
            <a:avLst/>
          </a:prstGeom>
          <a:solidFill>
            <a:srgbClr val="FFD6CA"/>
          </a:solidFill>
          <a:ln>
            <a:noFill/>
          </a:ln>
        </p:spPr>
        <p:txBody>
          <a:bodyPr spcFirstLastPara="1" wrap="square" lIns="0" tIns="0" rIns="0" bIns="0" anchor="ctr" anchorCtr="0">
            <a:noAutofit/>
          </a:bodyPr>
          <a:lstStyle/>
          <a:p>
            <a:pPr>
              <a:buClr>
                <a:srgbClr val="FFFFFF"/>
              </a:buClr>
              <a:buSzPts val="1050"/>
            </a:pPr>
            <a:r>
              <a:rPr lang="en-US" sz="1050" b="1" dirty="0">
                <a:latin typeface="Helvetica Neue"/>
              </a:rPr>
              <a:t>Conformal Thinking</a:t>
            </a:r>
            <a:endParaRPr sz="1050" b="1" dirty="0">
              <a:latin typeface="Helvetica Neue"/>
              <a:sym typeface="Helvetica Neue"/>
            </a:endParaRPr>
          </a:p>
        </p:txBody>
      </p:sp>
      <p:sp>
        <p:nvSpPr>
          <p:cNvPr id="162" name="Google Shape;162;p4"/>
          <p:cNvSpPr/>
          <p:nvPr/>
        </p:nvSpPr>
        <p:spPr>
          <a:xfrm>
            <a:off x="2448664" y="1742119"/>
            <a:ext cx="1964280"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63" name="Google Shape;163;p4"/>
          <p:cNvSpPr/>
          <p:nvPr/>
        </p:nvSpPr>
        <p:spPr>
          <a:xfrm>
            <a:off x="2517586" y="1742119"/>
            <a:ext cx="1826436"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a:latin typeface="Helvetica Neue"/>
                <a:ea typeface="Helvetica Neue"/>
                <a:cs typeface="Helvetica Neue"/>
                <a:sym typeface="Helvetica Neue"/>
              </a:rPr>
              <a:t>Confidence-threshold triggered</a:t>
            </a:r>
            <a:endParaRPr sz="950">
              <a:latin typeface="Helvetica Neue"/>
              <a:ea typeface="Helvetica Neue"/>
              <a:cs typeface="Helvetica Neue"/>
              <a:sym typeface="Helvetica Neue"/>
            </a:endParaRPr>
          </a:p>
        </p:txBody>
      </p:sp>
      <p:sp>
        <p:nvSpPr>
          <p:cNvPr id="164" name="Google Shape;164;p4"/>
          <p:cNvSpPr/>
          <p:nvPr/>
        </p:nvSpPr>
        <p:spPr>
          <a:xfrm>
            <a:off x="4412944" y="1742119"/>
            <a:ext cx="1378442"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65" name="Google Shape;165;p4"/>
          <p:cNvSpPr/>
          <p:nvPr/>
        </p:nvSpPr>
        <p:spPr>
          <a:xfrm>
            <a:off x="4481866" y="1764979"/>
            <a:ext cx="1240598" cy="343389"/>
          </a:xfrm>
          <a:prstGeom prst="rect">
            <a:avLst/>
          </a:prstGeom>
          <a:solidFill>
            <a:srgbClr val="FFD6CA"/>
          </a:solidFill>
          <a:ln>
            <a:noFill/>
          </a:ln>
        </p:spPr>
        <p:txBody>
          <a:bodyPr spcFirstLastPara="1" wrap="square" lIns="0" tIns="0" rIns="0" bIns="0" anchor="ctr" anchorCtr="0">
            <a:noAutofit/>
          </a:bodyPr>
          <a:lstStyle/>
          <a:p>
            <a:pPr>
              <a:buClr>
                <a:srgbClr val="D6D6D6"/>
              </a:buClr>
              <a:buSzPts val="950"/>
            </a:pPr>
            <a:r>
              <a:rPr lang="en-US" sz="1000" dirty="0">
                <a:latin typeface="Arial" pitchFamily="34" charset="0"/>
                <a:ea typeface="Arial" pitchFamily="34" charset="-122"/>
                <a:cs typeface="Arial" pitchFamily="34" charset="-120"/>
              </a:rPr>
              <a:t>Calibration set</a:t>
            </a:r>
            <a:endParaRPr lang="en-US" sz="1000" dirty="0">
              <a:latin typeface="Arial" charset="0"/>
              <a:ea typeface="Arial" charset="0"/>
              <a:cs typeface="Arial" charset="0"/>
            </a:endParaRPr>
          </a:p>
          <a:p>
            <a:pPr marL="0" marR="0" lvl="0" indent="0" algn="l" rtl="0">
              <a:spcBef>
                <a:spcPts val="0"/>
              </a:spcBef>
              <a:spcAft>
                <a:spcPts val="0"/>
              </a:spcAft>
              <a:buClr>
                <a:srgbClr val="D6D6D6"/>
              </a:buClr>
              <a:buSzPts val="950"/>
              <a:buFont typeface="Arial"/>
              <a:buNone/>
            </a:pPr>
            <a:endParaRPr sz="950" dirty="0">
              <a:latin typeface="Helvetica Neue"/>
              <a:ea typeface="Helvetica Neue"/>
              <a:cs typeface="Helvetica Neue"/>
              <a:sym typeface="Helvetica Neue"/>
            </a:endParaRPr>
          </a:p>
        </p:txBody>
      </p:sp>
      <p:sp>
        <p:nvSpPr>
          <p:cNvPr id="166" name="Google Shape;166;p4"/>
          <p:cNvSpPr/>
          <p:nvPr/>
        </p:nvSpPr>
        <p:spPr>
          <a:xfrm>
            <a:off x="5791387" y="1742119"/>
            <a:ext cx="3032573"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67" name="Google Shape;167;p4"/>
          <p:cNvSpPr/>
          <p:nvPr/>
        </p:nvSpPr>
        <p:spPr>
          <a:xfrm>
            <a:off x="5860309" y="1742119"/>
            <a:ext cx="2894729"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dirty="0">
                <a:latin typeface="Helvetica Neue"/>
                <a:ea typeface="Helvetica Neue"/>
                <a:cs typeface="Helvetica Neue"/>
                <a:sym typeface="Helvetica Neue"/>
              </a:rPr>
              <a:t>Needs calibration data; marginal guarantee</a:t>
            </a:r>
          </a:p>
        </p:txBody>
      </p:sp>
      <p:sp>
        <p:nvSpPr>
          <p:cNvPr id="168" name="Google Shape;168;p4"/>
          <p:cNvSpPr/>
          <p:nvPr/>
        </p:nvSpPr>
        <p:spPr>
          <a:xfrm>
            <a:off x="381000" y="2085508"/>
            <a:ext cx="2067664"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69" name="Google Shape;169;p4"/>
          <p:cNvSpPr/>
          <p:nvPr/>
        </p:nvSpPr>
        <p:spPr>
          <a:xfrm>
            <a:off x="449922" y="2146469"/>
            <a:ext cx="1929819" cy="343389"/>
          </a:xfrm>
          <a:prstGeom prst="rect">
            <a:avLst/>
          </a:prstGeom>
          <a:solidFill>
            <a:srgbClr val="FFD6CA"/>
          </a:solidFill>
          <a:ln>
            <a:noFill/>
          </a:ln>
        </p:spPr>
        <p:txBody>
          <a:bodyPr spcFirstLastPara="1" wrap="square" lIns="0" tIns="0" rIns="0" bIns="0" anchor="ctr" anchorCtr="0">
            <a:noAutofit/>
          </a:bodyPr>
          <a:lstStyle/>
          <a:p>
            <a:pPr>
              <a:buClr>
                <a:srgbClr val="FFFFFF"/>
              </a:buClr>
              <a:buSzPts val="1050"/>
            </a:pPr>
            <a:r>
              <a:rPr lang="en-US" sz="1050" b="1" dirty="0">
                <a:latin typeface="Helvetica Neue"/>
              </a:rPr>
              <a:t>Budget Forcing (s1)</a:t>
            </a:r>
          </a:p>
          <a:p>
            <a:pPr marL="0" indent="0">
              <a:buNone/>
            </a:pPr>
            <a:endParaRPr lang="en-US" sz="1050" dirty="0">
              <a:latin typeface="Arial" charset="0"/>
              <a:ea typeface="Arial" charset="0"/>
              <a:cs typeface="Arial" charset="0"/>
            </a:endParaRPr>
          </a:p>
        </p:txBody>
      </p:sp>
      <p:sp>
        <p:nvSpPr>
          <p:cNvPr id="170" name="Google Shape;170;p4"/>
          <p:cNvSpPr/>
          <p:nvPr/>
        </p:nvSpPr>
        <p:spPr>
          <a:xfrm>
            <a:off x="2448664" y="2085508"/>
            <a:ext cx="1964280"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71" name="Google Shape;171;p4"/>
          <p:cNvSpPr/>
          <p:nvPr/>
        </p:nvSpPr>
        <p:spPr>
          <a:xfrm>
            <a:off x="2517586" y="2085508"/>
            <a:ext cx="1826436"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a:latin typeface="Helvetica Neue"/>
                <a:ea typeface="Helvetica Neue"/>
                <a:cs typeface="Helvetica Neue"/>
                <a:sym typeface="Helvetica Neue"/>
              </a:rPr>
              <a:t>Fixed token cap</a:t>
            </a:r>
            <a:endParaRPr sz="950">
              <a:latin typeface="Helvetica Neue"/>
              <a:ea typeface="Helvetica Neue"/>
              <a:cs typeface="Helvetica Neue"/>
              <a:sym typeface="Helvetica Neue"/>
            </a:endParaRPr>
          </a:p>
        </p:txBody>
      </p:sp>
      <p:sp>
        <p:nvSpPr>
          <p:cNvPr id="172" name="Google Shape;172;p4"/>
          <p:cNvSpPr/>
          <p:nvPr/>
        </p:nvSpPr>
        <p:spPr>
          <a:xfrm>
            <a:off x="4412944" y="2085508"/>
            <a:ext cx="1378442"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73" name="Google Shape;173;p4"/>
          <p:cNvSpPr/>
          <p:nvPr/>
        </p:nvSpPr>
        <p:spPr>
          <a:xfrm>
            <a:off x="4481866" y="2085508"/>
            <a:ext cx="1240598" cy="343389"/>
          </a:xfrm>
          <a:prstGeom prst="rect">
            <a:avLst/>
          </a:prstGeom>
          <a:solidFill>
            <a:srgbClr val="FFD6CA"/>
          </a:solidFill>
          <a:ln>
            <a:noFill/>
          </a:ln>
        </p:spPr>
        <p:txBody>
          <a:bodyPr spcFirstLastPara="1" wrap="square" lIns="0" tIns="0" rIns="0" bIns="0" anchor="ctr" anchorCtr="0">
            <a:noAutofit/>
          </a:bodyPr>
          <a:lstStyle/>
          <a:p>
            <a:pPr marL="0" indent="0">
              <a:buNone/>
            </a:pPr>
            <a:r>
              <a:rPr lang="en-US" sz="1000" dirty="0">
                <a:latin typeface="Arial" pitchFamily="34" charset="0"/>
                <a:ea typeface="Arial" pitchFamily="34" charset="-122"/>
                <a:cs typeface="Arial" pitchFamily="34" charset="-120"/>
              </a:rPr>
              <a:t>NO (fixed cap)</a:t>
            </a:r>
            <a:endParaRPr lang="en-US" sz="1000" dirty="0">
              <a:latin typeface="Arial" charset="0"/>
              <a:ea typeface="Arial" charset="0"/>
              <a:cs typeface="Arial" charset="0"/>
            </a:endParaRPr>
          </a:p>
        </p:txBody>
      </p:sp>
      <p:sp>
        <p:nvSpPr>
          <p:cNvPr id="174" name="Google Shape;174;p4"/>
          <p:cNvSpPr/>
          <p:nvPr/>
        </p:nvSpPr>
        <p:spPr>
          <a:xfrm>
            <a:off x="5791387" y="2085508"/>
            <a:ext cx="3032573"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75" name="Google Shape;175;p4"/>
          <p:cNvSpPr/>
          <p:nvPr/>
        </p:nvSpPr>
        <p:spPr>
          <a:xfrm>
            <a:off x="5860309" y="2085508"/>
            <a:ext cx="2894729"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dirty="0">
                <a:latin typeface="Helvetica Neue"/>
                <a:ea typeface="Helvetica Neue"/>
                <a:cs typeface="Helvetica Neue"/>
                <a:sym typeface="Helvetica Neue"/>
              </a:rPr>
              <a:t>Fixed</a:t>
            </a:r>
            <a:endParaRPr sz="950" dirty="0">
              <a:latin typeface="Helvetica Neue"/>
              <a:ea typeface="Helvetica Neue"/>
              <a:cs typeface="Helvetica Neue"/>
              <a:sym typeface="Helvetica Neue"/>
            </a:endParaRPr>
          </a:p>
        </p:txBody>
      </p:sp>
      <p:sp>
        <p:nvSpPr>
          <p:cNvPr id="176" name="Google Shape;176;p4"/>
          <p:cNvSpPr/>
          <p:nvPr/>
        </p:nvSpPr>
        <p:spPr>
          <a:xfrm>
            <a:off x="381000" y="2428897"/>
            <a:ext cx="2067664"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77" name="Google Shape;177;p4"/>
          <p:cNvSpPr/>
          <p:nvPr/>
        </p:nvSpPr>
        <p:spPr>
          <a:xfrm>
            <a:off x="449922" y="2428897"/>
            <a:ext cx="1929819" cy="343389"/>
          </a:xfrm>
          <a:prstGeom prst="rect">
            <a:avLst/>
          </a:prstGeom>
          <a:solidFill>
            <a:srgbClr val="FFD6CA"/>
          </a:solidFill>
          <a:ln>
            <a:noFill/>
          </a:ln>
        </p:spPr>
        <p:txBody>
          <a:bodyPr spcFirstLastPara="1" wrap="square" lIns="0" tIns="0" rIns="0" bIns="0" anchor="ctr" anchorCtr="0">
            <a:noAutofit/>
          </a:bodyPr>
          <a:lstStyle/>
          <a:p>
            <a:pPr>
              <a:buClr>
                <a:srgbClr val="FFFFFF"/>
              </a:buClr>
              <a:buSzPts val="1050"/>
            </a:pPr>
            <a:r>
              <a:rPr lang="en-US" sz="1050" b="1" dirty="0" err="1">
                <a:latin typeface="Helvetica Neue"/>
                <a:sym typeface="Helvetica Neue"/>
              </a:rPr>
              <a:t>DiffAdapt</a:t>
            </a:r>
            <a:r>
              <a:rPr lang="en-US" sz="1050" b="1" dirty="0">
                <a:latin typeface="Helvetica Neue"/>
                <a:sym typeface="Helvetica Neue"/>
              </a:rPr>
              <a:t> (difficulty classifier)</a:t>
            </a:r>
          </a:p>
        </p:txBody>
      </p:sp>
      <p:sp>
        <p:nvSpPr>
          <p:cNvPr id="178" name="Google Shape;178;p4"/>
          <p:cNvSpPr/>
          <p:nvPr/>
        </p:nvSpPr>
        <p:spPr>
          <a:xfrm>
            <a:off x="2448664" y="2428897"/>
            <a:ext cx="1964280"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79" name="Google Shape;179;p4"/>
          <p:cNvSpPr/>
          <p:nvPr/>
        </p:nvSpPr>
        <p:spPr>
          <a:xfrm>
            <a:off x="2517586" y="2428897"/>
            <a:ext cx="1826436"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a:latin typeface="Helvetica Neue"/>
                <a:ea typeface="Helvetica Neue"/>
                <a:cs typeface="Helvetica Neue"/>
                <a:sym typeface="Helvetica Neue"/>
              </a:rPr>
              <a:t>Predictive, difficulty-driven</a:t>
            </a:r>
            <a:endParaRPr sz="950">
              <a:latin typeface="Helvetica Neue"/>
              <a:ea typeface="Helvetica Neue"/>
              <a:cs typeface="Helvetica Neue"/>
              <a:sym typeface="Helvetica Neue"/>
            </a:endParaRPr>
          </a:p>
        </p:txBody>
      </p:sp>
      <p:sp>
        <p:nvSpPr>
          <p:cNvPr id="180" name="Google Shape;180;p4"/>
          <p:cNvSpPr/>
          <p:nvPr/>
        </p:nvSpPr>
        <p:spPr>
          <a:xfrm>
            <a:off x="4412944" y="2428897"/>
            <a:ext cx="1378442"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81" name="Google Shape;181;p4"/>
          <p:cNvSpPr/>
          <p:nvPr/>
        </p:nvSpPr>
        <p:spPr>
          <a:xfrm>
            <a:off x="4481866" y="2428897"/>
            <a:ext cx="1240598" cy="343389"/>
          </a:xfrm>
          <a:prstGeom prst="rect">
            <a:avLst/>
          </a:prstGeom>
          <a:solidFill>
            <a:srgbClr val="FFD6CA"/>
          </a:solidFill>
          <a:ln>
            <a:noFill/>
          </a:ln>
        </p:spPr>
        <p:txBody>
          <a:bodyPr spcFirstLastPara="1" wrap="square" lIns="0" tIns="0" rIns="0" bIns="0" anchor="ctr" anchorCtr="0">
            <a:noAutofit/>
          </a:bodyPr>
          <a:lstStyle/>
          <a:p>
            <a:pPr marL="0" indent="0">
              <a:buNone/>
            </a:pPr>
            <a:r>
              <a:rPr lang="en-US" sz="1000" dirty="0">
                <a:latin typeface="Arial" pitchFamily="34" charset="0"/>
                <a:ea typeface="Arial" pitchFamily="34" charset="-122"/>
                <a:cs typeface="Arial" pitchFamily="34" charset="-120"/>
              </a:rPr>
              <a:t>probe per model</a:t>
            </a:r>
            <a:endParaRPr lang="en-US" sz="1000" dirty="0">
              <a:latin typeface="Arial" charset="0"/>
              <a:ea typeface="Arial" charset="0"/>
              <a:cs typeface="Arial" charset="0"/>
            </a:endParaRPr>
          </a:p>
        </p:txBody>
      </p:sp>
      <p:sp>
        <p:nvSpPr>
          <p:cNvPr id="182" name="Google Shape;182;p4"/>
          <p:cNvSpPr/>
          <p:nvPr/>
        </p:nvSpPr>
        <p:spPr>
          <a:xfrm>
            <a:off x="5791387" y="2428897"/>
            <a:ext cx="3032573"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83" name="Google Shape;183;p4"/>
          <p:cNvSpPr/>
          <p:nvPr/>
        </p:nvSpPr>
        <p:spPr>
          <a:xfrm>
            <a:off x="5860309" y="2428897"/>
            <a:ext cx="2894729"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dirty="0">
                <a:latin typeface="Helvetica Neue"/>
                <a:ea typeface="Helvetica Neue"/>
                <a:cs typeface="Helvetica Neue"/>
                <a:sym typeface="Helvetica Neue"/>
              </a:rPr>
              <a:t>Per-model classifier training required, discrete</a:t>
            </a:r>
          </a:p>
        </p:txBody>
      </p:sp>
      <p:sp>
        <p:nvSpPr>
          <p:cNvPr id="184" name="Google Shape;184;p4"/>
          <p:cNvSpPr/>
          <p:nvPr/>
        </p:nvSpPr>
        <p:spPr>
          <a:xfrm>
            <a:off x="381000" y="2772286"/>
            <a:ext cx="2067664"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85" name="Google Shape;185;p4"/>
          <p:cNvSpPr/>
          <p:nvPr/>
        </p:nvSpPr>
        <p:spPr>
          <a:xfrm>
            <a:off x="449922" y="2772286"/>
            <a:ext cx="1929819" cy="343389"/>
          </a:xfrm>
          <a:prstGeom prst="rect">
            <a:avLst/>
          </a:prstGeom>
          <a:solidFill>
            <a:srgbClr val="FFD6CA"/>
          </a:solidFill>
          <a:ln>
            <a:noFill/>
          </a:ln>
        </p:spPr>
        <p:txBody>
          <a:bodyPr spcFirstLastPara="1" wrap="square" lIns="0" tIns="0" rIns="0" bIns="0" anchor="ctr" anchorCtr="0">
            <a:noAutofit/>
          </a:bodyPr>
          <a:lstStyle/>
          <a:p>
            <a:pPr>
              <a:buClr>
                <a:srgbClr val="FFFFFF"/>
              </a:buClr>
              <a:buSzPts val="1050"/>
            </a:pPr>
            <a:r>
              <a:rPr lang="en-US" sz="1050" b="1" dirty="0">
                <a:latin typeface="Helvetica Neue"/>
                <a:sym typeface="Helvetica Neue"/>
              </a:rPr>
              <a:t>Learned Routers</a:t>
            </a:r>
            <a:endParaRPr sz="1050" b="1" dirty="0">
              <a:latin typeface="Helvetica Neue"/>
              <a:sym typeface="Helvetica Neue"/>
            </a:endParaRPr>
          </a:p>
        </p:txBody>
      </p:sp>
      <p:sp>
        <p:nvSpPr>
          <p:cNvPr id="186" name="Google Shape;186;p4"/>
          <p:cNvSpPr/>
          <p:nvPr/>
        </p:nvSpPr>
        <p:spPr>
          <a:xfrm>
            <a:off x="2448664" y="2772286"/>
            <a:ext cx="1964280"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87" name="Google Shape;187;p4"/>
          <p:cNvSpPr/>
          <p:nvPr/>
        </p:nvSpPr>
        <p:spPr>
          <a:xfrm>
            <a:off x="2517586" y="2772286"/>
            <a:ext cx="1826436"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a:latin typeface="Helvetica Neue"/>
                <a:ea typeface="Helvetica Neue"/>
                <a:cs typeface="Helvetica Neue"/>
                <a:sym typeface="Helvetica Neue"/>
              </a:rPr>
              <a:t>Predictive, trained</a:t>
            </a:r>
            <a:endParaRPr sz="950">
              <a:latin typeface="Helvetica Neue"/>
              <a:ea typeface="Helvetica Neue"/>
              <a:cs typeface="Helvetica Neue"/>
              <a:sym typeface="Helvetica Neue"/>
            </a:endParaRPr>
          </a:p>
        </p:txBody>
      </p:sp>
      <p:sp>
        <p:nvSpPr>
          <p:cNvPr id="188" name="Google Shape;188;p4"/>
          <p:cNvSpPr/>
          <p:nvPr/>
        </p:nvSpPr>
        <p:spPr>
          <a:xfrm>
            <a:off x="4412944" y="2772286"/>
            <a:ext cx="1378442"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89" name="Google Shape;189;p4"/>
          <p:cNvSpPr/>
          <p:nvPr/>
        </p:nvSpPr>
        <p:spPr>
          <a:xfrm>
            <a:off x="4481866" y="2772286"/>
            <a:ext cx="1240598" cy="343389"/>
          </a:xfrm>
          <a:prstGeom prst="rect">
            <a:avLst/>
          </a:prstGeom>
          <a:solidFill>
            <a:srgbClr val="FFD6CA"/>
          </a:solidFill>
          <a:ln>
            <a:noFill/>
          </a:ln>
        </p:spPr>
        <p:txBody>
          <a:bodyPr spcFirstLastPara="1" wrap="square" lIns="0" tIns="0" rIns="0" bIns="0" anchor="ctr" anchorCtr="0">
            <a:noAutofit/>
          </a:bodyPr>
          <a:lstStyle/>
          <a:p>
            <a:pPr marL="0" indent="0">
              <a:buNone/>
            </a:pPr>
            <a:r>
              <a:rPr lang="en-US" sz="1000" dirty="0">
                <a:latin typeface="Arial" pitchFamily="34" charset="0"/>
                <a:ea typeface="Arial" pitchFamily="34" charset="-122"/>
                <a:cs typeface="Arial" pitchFamily="34" charset="-120"/>
              </a:rPr>
              <a:t>Per model/task</a:t>
            </a:r>
            <a:endParaRPr lang="en-US" sz="1000" dirty="0">
              <a:latin typeface="Arial" charset="0"/>
              <a:ea typeface="Arial" charset="0"/>
              <a:cs typeface="Arial" charset="0"/>
            </a:endParaRPr>
          </a:p>
        </p:txBody>
      </p:sp>
      <p:sp>
        <p:nvSpPr>
          <p:cNvPr id="190" name="Google Shape;190;p4"/>
          <p:cNvSpPr/>
          <p:nvPr/>
        </p:nvSpPr>
        <p:spPr>
          <a:xfrm>
            <a:off x="5791387" y="2772286"/>
            <a:ext cx="3032573"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91" name="Google Shape;191;p4"/>
          <p:cNvSpPr/>
          <p:nvPr/>
        </p:nvSpPr>
        <p:spPr>
          <a:xfrm>
            <a:off x="5860309" y="2772286"/>
            <a:ext cx="2894729"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dirty="0">
                <a:latin typeface="Helvetica Neue"/>
                <a:ea typeface="Helvetica Neue"/>
                <a:cs typeface="Helvetica Neue"/>
                <a:sym typeface="Helvetica Neue"/>
              </a:rPr>
              <a:t>Untested generalization</a:t>
            </a:r>
          </a:p>
        </p:txBody>
      </p:sp>
      <p:sp>
        <p:nvSpPr>
          <p:cNvPr id="192" name="Google Shape;192;p4"/>
          <p:cNvSpPr/>
          <p:nvPr/>
        </p:nvSpPr>
        <p:spPr>
          <a:xfrm>
            <a:off x="381000" y="3108055"/>
            <a:ext cx="2075626" cy="351763"/>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93" name="Google Shape;193;p4"/>
          <p:cNvSpPr/>
          <p:nvPr/>
        </p:nvSpPr>
        <p:spPr>
          <a:xfrm>
            <a:off x="449922" y="3207116"/>
            <a:ext cx="1929819" cy="183367"/>
          </a:xfrm>
          <a:prstGeom prst="rect">
            <a:avLst/>
          </a:prstGeom>
          <a:solidFill>
            <a:srgbClr val="FFD6CA"/>
          </a:solidFill>
          <a:ln>
            <a:noFill/>
          </a:ln>
        </p:spPr>
        <p:txBody>
          <a:bodyPr spcFirstLastPara="1" wrap="square" lIns="0" tIns="0" rIns="0" bIns="0" anchor="ctr" anchorCtr="0">
            <a:noAutofit/>
          </a:bodyPr>
          <a:lstStyle/>
          <a:p>
            <a:pPr>
              <a:buClr>
                <a:srgbClr val="FFFFFF"/>
              </a:buClr>
              <a:buSzPts val="1050"/>
            </a:pPr>
            <a:r>
              <a:rPr lang="en-US" sz="1050" b="1" dirty="0">
                <a:latin typeface="Helvetica Neue"/>
                <a:sym typeface="Helvetica Neue"/>
              </a:rPr>
              <a:t>TOPS </a:t>
            </a:r>
          </a:p>
          <a:p>
            <a:pPr marL="0" marR="0" lvl="0" indent="0" algn="l" rtl="0">
              <a:spcBef>
                <a:spcPts val="0"/>
              </a:spcBef>
              <a:spcAft>
                <a:spcPts val="0"/>
              </a:spcAft>
              <a:buClr>
                <a:srgbClr val="FFFFFF"/>
              </a:buClr>
              <a:buSzPts val="1050"/>
              <a:buFont typeface="Arial"/>
              <a:buNone/>
            </a:pPr>
            <a:endParaRPr sz="1050" dirty="0">
              <a:latin typeface="Helvetica Neue"/>
              <a:ea typeface="Helvetica Neue"/>
              <a:cs typeface="Helvetica Neue"/>
              <a:sym typeface="Helvetica Neue"/>
            </a:endParaRPr>
          </a:p>
        </p:txBody>
      </p:sp>
      <p:sp>
        <p:nvSpPr>
          <p:cNvPr id="194" name="Google Shape;194;p4"/>
          <p:cNvSpPr/>
          <p:nvPr/>
        </p:nvSpPr>
        <p:spPr>
          <a:xfrm>
            <a:off x="2448664" y="3115675"/>
            <a:ext cx="1964280"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95" name="Google Shape;195;p4"/>
          <p:cNvSpPr/>
          <p:nvPr/>
        </p:nvSpPr>
        <p:spPr>
          <a:xfrm>
            <a:off x="2517586" y="3115675"/>
            <a:ext cx="1826436"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a:latin typeface="Helvetica Neue"/>
                <a:ea typeface="Helvetica Neue"/>
                <a:cs typeface="Helvetica Neue"/>
                <a:sym typeface="Helvetica Neue"/>
              </a:rPr>
              <a:t>Trained length-conditioning</a:t>
            </a:r>
            <a:endParaRPr sz="950">
              <a:latin typeface="Helvetica Neue"/>
              <a:ea typeface="Helvetica Neue"/>
              <a:cs typeface="Helvetica Neue"/>
              <a:sym typeface="Helvetica Neue"/>
            </a:endParaRPr>
          </a:p>
        </p:txBody>
      </p:sp>
      <p:sp>
        <p:nvSpPr>
          <p:cNvPr id="196" name="Google Shape;196;p4"/>
          <p:cNvSpPr/>
          <p:nvPr/>
        </p:nvSpPr>
        <p:spPr>
          <a:xfrm>
            <a:off x="4412944" y="3115675"/>
            <a:ext cx="1378442"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97" name="Google Shape;197;p4"/>
          <p:cNvSpPr/>
          <p:nvPr/>
        </p:nvSpPr>
        <p:spPr>
          <a:xfrm>
            <a:off x="4481866" y="3115675"/>
            <a:ext cx="1240598" cy="343389"/>
          </a:xfrm>
          <a:prstGeom prst="rect">
            <a:avLst/>
          </a:prstGeom>
          <a:solidFill>
            <a:srgbClr val="FFD6CA"/>
          </a:solidFill>
          <a:ln>
            <a:noFill/>
          </a:ln>
        </p:spPr>
        <p:txBody>
          <a:bodyPr spcFirstLastPara="1" wrap="square" lIns="0" tIns="0" rIns="0" bIns="0" anchor="ctr" anchorCtr="0">
            <a:noAutofit/>
          </a:bodyPr>
          <a:lstStyle/>
          <a:p>
            <a:pPr marL="0" indent="0">
              <a:buNone/>
            </a:pPr>
            <a:r>
              <a:rPr lang="en-US" sz="1000" dirty="0">
                <a:latin typeface="Arial" pitchFamily="34" charset="0"/>
                <a:ea typeface="Arial" pitchFamily="34" charset="-122"/>
                <a:cs typeface="Arial" pitchFamily="34" charset="-120"/>
              </a:rPr>
              <a:t>SFT per model</a:t>
            </a:r>
            <a:endParaRPr lang="en-US" sz="1000" dirty="0">
              <a:latin typeface="Arial" charset="0"/>
              <a:ea typeface="Arial" charset="0"/>
              <a:cs typeface="Arial" charset="0"/>
            </a:endParaRPr>
          </a:p>
        </p:txBody>
      </p:sp>
      <p:sp>
        <p:nvSpPr>
          <p:cNvPr id="198" name="Google Shape;198;p4"/>
          <p:cNvSpPr/>
          <p:nvPr/>
        </p:nvSpPr>
        <p:spPr>
          <a:xfrm>
            <a:off x="5791387" y="3115675"/>
            <a:ext cx="3032573" cy="343389"/>
          </a:xfrm>
          <a:prstGeom prst="rect">
            <a:avLst/>
          </a:prstGeom>
          <a:solidFill>
            <a:srgbClr val="FFD6CA"/>
          </a:solidFill>
          <a:ln w="9525"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Helvetica Neue"/>
              <a:ea typeface="Helvetica Neue"/>
              <a:cs typeface="Helvetica Neue"/>
              <a:sym typeface="Helvetica Neue"/>
            </a:endParaRPr>
          </a:p>
        </p:txBody>
      </p:sp>
      <p:sp>
        <p:nvSpPr>
          <p:cNvPr id="199" name="Google Shape;199;p4"/>
          <p:cNvSpPr/>
          <p:nvPr/>
        </p:nvSpPr>
        <p:spPr>
          <a:xfrm>
            <a:off x="5860309" y="3115675"/>
            <a:ext cx="2894729" cy="343389"/>
          </a:xfrm>
          <a:prstGeom prst="rect">
            <a:avLst/>
          </a:prstGeom>
          <a:solidFill>
            <a:srgbClr val="FFD6CA"/>
          </a:solid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dirty="0">
                <a:latin typeface="Helvetica Neue"/>
                <a:ea typeface="Helvetica Neue"/>
                <a:cs typeface="Helvetica Neue"/>
                <a:sym typeface="Helvetica Neue"/>
              </a:rPr>
              <a:t>Coarse granularity (domain, not instance)</a:t>
            </a:r>
          </a:p>
        </p:txBody>
      </p:sp>
    </p:spTree>
    <p:extLst>
      <p:ext uri="{BB962C8B-B14F-4D97-AF65-F5344CB8AC3E}">
        <p14:creationId xmlns:p14="http://schemas.microsoft.com/office/powerpoint/2010/main" val="918315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40947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2000" b="1" dirty="0">
                <a:solidFill>
                  <a:srgbClr val="FF7900"/>
                </a:solidFill>
                <a:latin typeface="Helvetica Neue"/>
                <a:sym typeface="Arial"/>
              </a:rPr>
              <a:t>3</a:t>
            </a: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 </a:t>
            </a:r>
            <a:r>
              <a:rPr lang="en-US" sz="2000" b="1" dirty="0">
                <a:solidFill>
                  <a:srgbClr val="FF6600"/>
                </a:solidFill>
                <a:latin typeface="Arial" pitchFamily="34" charset="0"/>
                <a:ea typeface="Arial" pitchFamily="34" charset="-122"/>
                <a:cs typeface="Arial" pitchFamily="34" charset="-120"/>
              </a:rPr>
              <a:t>Methodology</a:t>
            </a:r>
            <a:endPar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1300" b="1" dirty="0">
                <a:solidFill>
                  <a:srgbClr val="FF7900"/>
                </a:solidFill>
                <a:latin typeface="Helvetica Neue"/>
                <a:sym typeface="Arial"/>
              </a:rPr>
              <a:t>3</a:t>
            </a:r>
            <a:r>
              <a:rPr kumimoji="0" lang="en-US" sz="1300" b="1" i="0" u="none" strike="noStrike" kern="1200" cap="none" spc="0" normalizeH="0" baseline="0" noProof="0" dirty="0">
                <a:ln>
                  <a:noFill/>
                </a:ln>
                <a:solidFill>
                  <a:srgbClr val="FF7900"/>
                </a:solidFill>
                <a:effectLst/>
                <a:uLnTx/>
                <a:uFillTx/>
                <a:latin typeface="Helvetica Neue"/>
                <a:ea typeface="+mn-ea"/>
                <a:cs typeface="+mn-cs"/>
                <a:sym typeface="Arial"/>
              </a:rPr>
              <a:t>.1 </a:t>
            </a:r>
            <a:r>
              <a:rPr lang="en-US" sz="1400" b="1" dirty="0">
                <a:solidFill>
                  <a:srgbClr val="FF6600"/>
                </a:solidFill>
                <a:latin typeface="Arial" pitchFamily="34" charset="0"/>
                <a:ea typeface="Arial" pitchFamily="34" charset="-122"/>
                <a:cs typeface="Arial" pitchFamily="34" charset="-120"/>
              </a:rPr>
              <a:t>INVESTIGATION</a:t>
            </a:r>
            <a:endParaRPr kumimoji="0" lang="en-US" sz="1300" b="1" i="0" u="none" strike="noStrike" kern="1200" cap="none" spc="0" normalizeH="0" baseline="0" noProof="0" dirty="0">
              <a:ln>
                <a:noFill/>
              </a:ln>
              <a:solidFill>
                <a:srgbClr val="FF7900"/>
              </a:solidFill>
              <a:effectLst/>
              <a:uLnTx/>
              <a:uFillTx/>
              <a:latin typeface="Helvetica Neue"/>
              <a:ea typeface="+mn-ea"/>
              <a:cs typeface="+mn-cs"/>
              <a:sym typeface="Arial"/>
            </a:endParaRPr>
          </a:p>
        </p:txBody>
      </p:sp>
      <p:sp>
        <p:nvSpPr>
          <p:cNvPr id="3" name="Text 1"/>
          <p:cNvSpPr txBox="1"/>
          <p:nvPr/>
        </p:nvSpPr>
        <p:spPr>
          <a:xfrm>
            <a:off x="320040" y="997660"/>
            <a:ext cx="8503920" cy="427280"/>
          </a:xfrm>
          <a:prstGeom prst="rect">
            <a:avLst/>
          </a:prstGeom>
          <a:noFill/>
          <a:ln/>
        </p:spPr>
        <p:txBody>
          <a:bodyPr wrap="square" lIns="0" tIns="0" rIns="0" bIns="0" rtlCol="0" anchor="t"/>
          <a:lstStyle/>
          <a:p>
            <a:pPr>
              <a:spcAft>
                <a:spcPts val="800"/>
              </a:spcAft>
              <a:buSzPct val="100000"/>
            </a:pPr>
            <a:r>
              <a:rPr lang="en-US" sz="1200" dirty="0">
                <a:solidFill>
                  <a:srgbClr val="FFFFFF"/>
                </a:solidFill>
                <a:latin typeface="Arial" pitchFamily="34" charset="0"/>
                <a:ea typeface="Arial" pitchFamily="34" charset="-122"/>
                <a:cs typeface="Arial" pitchFamily="34" charset="-120"/>
              </a:rPr>
              <a:t>Building in stages — each hypothesis widens the scope of the previous, from confirming the phenomenon exists, to testing how far it generalizes, to isolating what predicts it within each family. Each stage must hold before the next is worth testing.</a:t>
            </a:r>
            <a:endParaRPr lang="en-US" sz="1200" dirty="0"/>
          </a:p>
          <a:p>
            <a:pPr marL="177800" indent="-177800">
              <a:spcAft>
                <a:spcPts val="600"/>
              </a:spcAft>
              <a:buSzPct val="100000"/>
              <a:buChar char="●"/>
            </a:pPr>
            <a:r>
              <a:rPr lang="en-US" sz="1200" b="1" dirty="0">
                <a:solidFill>
                  <a:srgbClr val="FF6600"/>
                </a:solidFill>
                <a:latin typeface="Arial" pitchFamily="34" charset="0"/>
                <a:ea typeface="Arial" pitchFamily="34" charset="-122"/>
                <a:cs typeface="Arial" pitchFamily="34" charset="-120"/>
              </a:rPr>
              <a:t>H1. </a:t>
            </a:r>
            <a:r>
              <a:rPr lang="en-US" sz="1200" dirty="0">
                <a:solidFill>
                  <a:srgbClr val="FFFFFF"/>
                </a:solidFill>
                <a:latin typeface="Arial" pitchFamily="34" charset="0"/>
                <a:ea typeface="Arial" pitchFamily="34" charset="-122"/>
                <a:cs typeface="Arial" pitchFamily="34" charset="-120"/>
              </a:rPr>
              <a:t>Poor test-time compute allocation harms performance — underthinking on hard problems, overthinking on easy ones. Tested via statistically controlled compute–accuracy curves (≥ 5 samples per compute level), checking for saturation or an inverted-U pattern.</a:t>
            </a:r>
            <a:endParaRPr lang="en-US" sz="1200" dirty="0"/>
          </a:p>
          <a:p>
            <a:pPr marL="177800" indent="-177800">
              <a:spcAft>
                <a:spcPts val="600"/>
              </a:spcAft>
              <a:buSzPct val="100000"/>
              <a:buChar char="●"/>
            </a:pPr>
            <a:r>
              <a:rPr lang="en-US" sz="1200" b="1" dirty="0">
                <a:solidFill>
                  <a:srgbClr val="FF6600"/>
                </a:solidFill>
                <a:latin typeface="Arial" pitchFamily="34" charset="0"/>
                <a:ea typeface="Arial" pitchFamily="34" charset="-122"/>
                <a:cs typeface="Arial" pitchFamily="34" charset="-120"/>
              </a:rPr>
              <a:t>H2. </a:t>
            </a:r>
            <a:r>
              <a:rPr lang="en-US" sz="1200" dirty="0">
                <a:solidFill>
                  <a:srgbClr val="FFFFFF"/>
                </a:solidFill>
                <a:latin typeface="Arial" pitchFamily="34" charset="0"/>
                <a:ea typeface="Arial" pitchFamily="34" charset="-122"/>
                <a:cs typeface="Arial" pitchFamily="34" charset="-120"/>
              </a:rPr>
              <a:t>This holds across model families rather than being model-specific. Tested for whether curve shape — saturating, inverted-U, or monotonic — is consistent across at least three model families. If not, rules need re-fitting.</a:t>
            </a:r>
            <a:endParaRPr lang="en-US" sz="1200" dirty="0"/>
          </a:p>
          <a:p>
            <a:pPr marL="177800" indent="-177800">
              <a:spcAft>
                <a:spcPts val="600"/>
              </a:spcAft>
              <a:buSzPct val="100000"/>
              <a:buChar char="●"/>
            </a:pPr>
            <a:r>
              <a:rPr lang="en-US" sz="1200" b="1" dirty="0">
                <a:solidFill>
                  <a:srgbClr val="FF6600"/>
                </a:solidFill>
                <a:latin typeface="Arial" pitchFamily="34" charset="0"/>
                <a:ea typeface="Arial" pitchFamily="34" charset="-122"/>
                <a:cs typeface="Arial" pitchFamily="34" charset="-120"/>
              </a:rPr>
              <a:t>H3.</a:t>
            </a:r>
            <a:r>
              <a:rPr lang="en-US" sz="1200" dirty="0">
                <a:solidFill>
                  <a:srgbClr val="FFFFFF"/>
                </a:solidFill>
                <a:latin typeface="Arial" pitchFamily="34" charset="0"/>
                <a:ea typeface="Arial" pitchFamily="34" charset="-122"/>
                <a:cs typeface="Arial" pitchFamily="34" charset="-120"/>
              </a:rPr>
              <a:t> Reasoning traces exhibit identifiable textual patterns associated with reasoning progress and correctness. Tested via discourse-role transitions, answer development, reasoning-length patterns, and semantic similarities across correct and incorrect traces.</a:t>
            </a:r>
          </a:p>
          <a:p>
            <a:pPr marL="177800" indent="-177800">
              <a:spcAft>
                <a:spcPts val="500"/>
              </a:spcAft>
              <a:buSzPct val="100000"/>
              <a:buChar char="●"/>
            </a:pPr>
            <a:r>
              <a:rPr lang="en-US" sz="1200" b="1" dirty="0">
                <a:solidFill>
                  <a:srgbClr val="FF6600"/>
                </a:solidFill>
                <a:latin typeface="Arial" pitchFamily="34" charset="0"/>
                <a:ea typeface="Arial" pitchFamily="34" charset="-122"/>
                <a:cs typeface="Arial" pitchFamily="34" charset="-120"/>
              </a:rPr>
              <a:t>H4. </a:t>
            </a:r>
            <a:r>
              <a:rPr lang="en-US" sz="1200" dirty="0">
                <a:solidFill>
                  <a:srgbClr val="FFFFFF"/>
                </a:solidFill>
                <a:latin typeface="Arial" pitchFamily="34" charset="0"/>
                <a:cs typeface="Arial" pitchFamily="34" charset="-120"/>
              </a:rPr>
              <a:t>Test-time compute allocation is reflected in token-level probability distributions and uncertainty. Tested via logit distributions, token probabilities, entropy, and related measures across compute levels to identify patterns associated with reasoning efficiency and correctness.</a:t>
            </a:r>
          </a:p>
          <a:p>
            <a:pPr marL="177800" indent="-177800">
              <a:spcAft>
                <a:spcPts val="500"/>
              </a:spcAft>
              <a:buSzPct val="100000"/>
              <a:buChar char="●"/>
            </a:pPr>
            <a:endParaRPr lang="en-US" sz="1200" dirty="0"/>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716609" y="3718560"/>
            <a:ext cx="1252305" cy="382016"/>
          </a:xfrm>
          <a:prstGeom prst="roundRect">
            <a:avLst>
              <a:gd name="adj" fmla="val 10909"/>
            </a:avLst>
          </a:prstGeom>
          <a:solidFill>
            <a:srgbClr val="000000"/>
          </a:solidFill>
          <a:ln w="15875">
            <a:solidFill>
              <a:srgbClr val="FF6600"/>
            </a:solidFill>
            <a:prstDash val="solid"/>
          </a:ln>
        </p:spPr>
      </p:sp>
      <p:sp>
        <p:nvSpPr>
          <p:cNvPr id="33" name="Shape 1"/>
          <p:cNvSpPr/>
          <p:nvPr/>
        </p:nvSpPr>
        <p:spPr>
          <a:xfrm>
            <a:off x="556260" y="4100576"/>
            <a:ext cx="680806" cy="382016"/>
          </a:xfrm>
          <a:prstGeom prst="roundRect">
            <a:avLst>
              <a:gd name="adj" fmla="val 10909"/>
            </a:avLst>
          </a:prstGeom>
          <a:solidFill>
            <a:srgbClr val="000000"/>
          </a:solidFill>
          <a:ln w="15875">
            <a:solidFill>
              <a:srgbClr val="FF6600"/>
            </a:solidFill>
            <a:prstDash val="solid"/>
          </a:ln>
        </p:spPr>
      </p:sp>
      <p:sp>
        <p:nvSpPr>
          <p:cNvPr id="34" name="Text 2"/>
          <p:cNvSpPr txBox="1"/>
          <p:nvPr/>
        </p:nvSpPr>
        <p:spPr>
          <a:xfrm>
            <a:off x="599259" y="4189984"/>
            <a:ext cx="590594" cy="292608"/>
          </a:xfrm>
          <a:prstGeom prst="rect">
            <a:avLst/>
          </a:prstGeom>
          <a:noFill/>
          <a:ln/>
        </p:spPr>
        <p:txBody>
          <a:bodyPr wrap="square" lIns="0" tIns="0" rIns="0" bIns="0" rtlCol="0" anchor="t"/>
          <a:lstStyle/>
          <a:p>
            <a:pPr marL="0" indent="0" algn="ctr">
              <a:buNone/>
            </a:pPr>
            <a:r>
              <a:rPr lang="en-US" sz="1300" b="1" dirty="0">
                <a:solidFill>
                  <a:srgbClr val="FFFFFF"/>
                </a:solidFill>
                <a:latin typeface="Arial" pitchFamily="34" charset="0"/>
                <a:ea typeface="Arial" pitchFamily="34" charset="-122"/>
                <a:cs typeface="Arial" pitchFamily="34" charset="-120"/>
              </a:rPr>
              <a:t>H1</a:t>
            </a:r>
            <a:endParaRPr lang="en-US" sz="1300" dirty="0"/>
          </a:p>
        </p:txBody>
      </p:sp>
      <p:sp>
        <p:nvSpPr>
          <p:cNvPr id="35" name="Shape 3"/>
          <p:cNvSpPr/>
          <p:nvPr/>
        </p:nvSpPr>
        <p:spPr>
          <a:xfrm>
            <a:off x="1237066" y="4291584"/>
            <a:ext cx="200659" cy="0"/>
          </a:xfrm>
          <a:prstGeom prst="line">
            <a:avLst/>
          </a:prstGeom>
          <a:noFill/>
          <a:ln w="19050">
            <a:solidFill>
              <a:srgbClr val="FF6600"/>
            </a:solidFill>
            <a:prstDash val="solid"/>
            <a:tailEnd type="triangle"/>
          </a:ln>
        </p:spPr>
      </p:sp>
      <p:sp>
        <p:nvSpPr>
          <p:cNvPr id="36" name="Shape 4"/>
          <p:cNvSpPr/>
          <p:nvPr/>
        </p:nvSpPr>
        <p:spPr>
          <a:xfrm>
            <a:off x="1437725" y="4100576"/>
            <a:ext cx="680806" cy="382016"/>
          </a:xfrm>
          <a:prstGeom prst="roundRect">
            <a:avLst>
              <a:gd name="adj" fmla="val 10909"/>
            </a:avLst>
          </a:prstGeom>
          <a:solidFill>
            <a:srgbClr val="000000"/>
          </a:solidFill>
          <a:ln w="15875">
            <a:solidFill>
              <a:srgbClr val="FF6600"/>
            </a:solidFill>
            <a:prstDash val="solid"/>
          </a:ln>
        </p:spPr>
      </p:sp>
      <p:sp>
        <p:nvSpPr>
          <p:cNvPr id="37" name="Text 5"/>
          <p:cNvSpPr txBox="1"/>
          <p:nvPr/>
        </p:nvSpPr>
        <p:spPr>
          <a:xfrm>
            <a:off x="1480724" y="4189983"/>
            <a:ext cx="594804" cy="292607"/>
          </a:xfrm>
          <a:prstGeom prst="rect">
            <a:avLst/>
          </a:prstGeom>
          <a:noFill/>
          <a:ln/>
        </p:spPr>
        <p:txBody>
          <a:bodyPr wrap="square" lIns="0" tIns="0" rIns="0" bIns="0" rtlCol="0" anchor="t"/>
          <a:lstStyle/>
          <a:p>
            <a:pPr marL="0" indent="0" algn="ctr">
              <a:buNone/>
            </a:pPr>
            <a:r>
              <a:rPr lang="en-US" sz="1300" b="1" dirty="0">
                <a:solidFill>
                  <a:srgbClr val="FFFFFF"/>
                </a:solidFill>
                <a:latin typeface="Arial" pitchFamily="34" charset="0"/>
                <a:ea typeface="Arial" pitchFamily="34" charset="-122"/>
                <a:cs typeface="Arial" pitchFamily="34" charset="-120"/>
              </a:rPr>
              <a:t>H2</a:t>
            </a:r>
            <a:endParaRPr lang="en-US" sz="1300" dirty="0"/>
          </a:p>
        </p:txBody>
      </p:sp>
      <p:sp>
        <p:nvSpPr>
          <p:cNvPr id="38" name="Shape 6"/>
          <p:cNvSpPr/>
          <p:nvPr/>
        </p:nvSpPr>
        <p:spPr>
          <a:xfrm>
            <a:off x="2118530" y="4291584"/>
            <a:ext cx="200659" cy="0"/>
          </a:xfrm>
          <a:prstGeom prst="line">
            <a:avLst/>
          </a:prstGeom>
          <a:noFill/>
          <a:ln w="19050">
            <a:solidFill>
              <a:srgbClr val="FF6600"/>
            </a:solidFill>
            <a:prstDash val="solid"/>
            <a:tailEnd type="triangle"/>
          </a:ln>
        </p:spPr>
      </p:sp>
      <p:sp>
        <p:nvSpPr>
          <p:cNvPr id="39" name="Shape 7"/>
          <p:cNvSpPr/>
          <p:nvPr/>
        </p:nvSpPr>
        <p:spPr>
          <a:xfrm>
            <a:off x="2319189" y="4100576"/>
            <a:ext cx="680806" cy="382016"/>
          </a:xfrm>
          <a:prstGeom prst="roundRect">
            <a:avLst>
              <a:gd name="adj" fmla="val 10909"/>
            </a:avLst>
          </a:prstGeom>
          <a:solidFill>
            <a:srgbClr val="000000"/>
          </a:solidFill>
          <a:ln w="15875">
            <a:solidFill>
              <a:srgbClr val="FF6600"/>
            </a:solidFill>
            <a:prstDash val="solid"/>
          </a:ln>
        </p:spPr>
      </p:sp>
      <p:sp>
        <p:nvSpPr>
          <p:cNvPr id="40" name="Text 8"/>
          <p:cNvSpPr txBox="1"/>
          <p:nvPr/>
        </p:nvSpPr>
        <p:spPr>
          <a:xfrm>
            <a:off x="2362187" y="4189984"/>
            <a:ext cx="594809" cy="292606"/>
          </a:xfrm>
          <a:prstGeom prst="rect">
            <a:avLst/>
          </a:prstGeom>
          <a:noFill/>
          <a:ln/>
        </p:spPr>
        <p:txBody>
          <a:bodyPr wrap="square" lIns="0" tIns="0" rIns="0" bIns="0" rtlCol="0" anchor="t"/>
          <a:lstStyle/>
          <a:p>
            <a:pPr marL="0" indent="0" algn="ctr">
              <a:buNone/>
            </a:pPr>
            <a:r>
              <a:rPr lang="en-US" sz="1300" b="1" dirty="0">
                <a:solidFill>
                  <a:srgbClr val="FFFFFF"/>
                </a:solidFill>
                <a:latin typeface="Arial" pitchFamily="34" charset="0"/>
                <a:ea typeface="Arial" pitchFamily="34" charset="-122"/>
                <a:cs typeface="Arial" pitchFamily="34" charset="-120"/>
              </a:rPr>
              <a:t>H3</a:t>
            </a:r>
            <a:endParaRPr lang="en-US" sz="1300" dirty="0"/>
          </a:p>
        </p:txBody>
      </p:sp>
      <p:sp>
        <p:nvSpPr>
          <p:cNvPr id="41" name="Shape 9"/>
          <p:cNvSpPr/>
          <p:nvPr/>
        </p:nvSpPr>
        <p:spPr>
          <a:xfrm>
            <a:off x="2999995" y="4291584"/>
            <a:ext cx="200659" cy="0"/>
          </a:xfrm>
          <a:prstGeom prst="line">
            <a:avLst/>
          </a:prstGeom>
          <a:noFill/>
          <a:ln w="19050">
            <a:solidFill>
              <a:srgbClr val="FF6600"/>
            </a:solidFill>
            <a:prstDash val="solid"/>
            <a:tailEnd type="triangle"/>
          </a:ln>
        </p:spPr>
      </p:sp>
      <p:sp>
        <p:nvSpPr>
          <p:cNvPr id="42" name="Shape 10"/>
          <p:cNvSpPr/>
          <p:nvPr/>
        </p:nvSpPr>
        <p:spPr>
          <a:xfrm>
            <a:off x="3200654" y="4100576"/>
            <a:ext cx="680806" cy="382016"/>
          </a:xfrm>
          <a:prstGeom prst="roundRect">
            <a:avLst>
              <a:gd name="adj" fmla="val 10909"/>
            </a:avLst>
          </a:prstGeom>
          <a:solidFill>
            <a:srgbClr val="000000"/>
          </a:solidFill>
          <a:ln w="15875">
            <a:solidFill>
              <a:srgbClr val="FF6600"/>
            </a:solidFill>
            <a:prstDash val="solid"/>
          </a:ln>
        </p:spPr>
      </p:sp>
      <p:sp>
        <p:nvSpPr>
          <p:cNvPr id="43" name="Text 11"/>
          <p:cNvSpPr txBox="1"/>
          <p:nvPr/>
        </p:nvSpPr>
        <p:spPr>
          <a:xfrm>
            <a:off x="3243653" y="4189984"/>
            <a:ext cx="594804" cy="382016"/>
          </a:xfrm>
          <a:prstGeom prst="rect">
            <a:avLst/>
          </a:prstGeom>
          <a:noFill/>
          <a:ln/>
        </p:spPr>
        <p:txBody>
          <a:bodyPr wrap="square" lIns="0" tIns="0" rIns="0" bIns="0" rtlCol="0" anchor="t"/>
          <a:lstStyle/>
          <a:p>
            <a:pPr marL="0" indent="0" algn="ctr">
              <a:buNone/>
            </a:pPr>
            <a:r>
              <a:rPr lang="en-US" sz="1300" b="1" dirty="0">
                <a:solidFill>
                  <a:srgbClr val="FFFFFF"/>
                </a:solidFill>
                <a:latin typeface="Arial" pitchFamily="34" charset="0"/>
                <a:ea typeface="Arial" pitchFamily="34" charset="-122"/>
                <a:cs typeface="Arial" pitchFamily="34" charset="-120"/>
              </a:rPr>
              <a:t>H4</a:t>
            </a:r>
            <a:endParaRPr lang="en-US" sz="1300" dirty="0"/>
          </a:p>
        </p:txBody>
      </p:sp>
      <p:sp>
        <p:nvSpPr>
          <p:cNvPr id="47" name="Text 16"/>
          <p:cNvSpPr txBox="1"/>
          <p:nvPr/>
        </p:nvSpPr>
        <p:spPr>
          <a:xfrm>
            <a:off x="4759609" y="3673297"/>
            <a:ext cx="1209302" cy="427279"/>
          </a:xfrm>
          <a:prstGeom prst="rect">
            <a:avLst/>
          </a:prstGeom>
          <a:noFill/>
          <a:ln/>
        </p:spPr>
        <p:txBody>
          <a:bodyPr wrap="square" lIns="0" tIns="0" rIns="0" bIns="0" rtlCol="0" anchor="t"/>
          <a:lstStyle/>
          <a:p>
            <a:pPr marL="0" indent="0" algn="ctr">
              <a:buNone/>
            </a:pPr>
            <a:endParaRPr lang="en-US" sz="1050" b="1" dirty="0">
              <a:solidFill>
                <a:srgbClr val="FFFFFF"/>
              </a:solidFill>
              <a:latin typeface="Arial" pitchFamily="34" charset="0"/>
              <a:ea typeface="Arial" pitchFamily="34" charset="-122"/>
              <a:cs typeface="Arial" pitchFamily="34" charset="-120"/>
            </a:endParaRPr>
          </a:p>
          <a:p>
            <a:pPr marL="0" indent="0" algn="ctr">
              <a:buNone/>
            </a:pPr>
            <a:r>
              <a:rPr lang="en-US" sz="1300" b="1" dirty="0">
                <a:solidFill>
                  <a:srgbClr val="FFFFFF"/>
                </a:solidFill>
                <a:latin typeface="Arial" pitchFamily="34" charset="0"/>
                <a:ea typeface="Arial" pitchFamily="34" charset="-122"/>
                <a:cs typeface="Arial" pitchFamily="34" charset="-120"/>
              </a:rPr>
              <a:t>(reactive)</a:t>
            </a:r>
            <a:endParaRPr lang="en-US" sz="1300" dirty="0"/>
          </a:p>
        </p:txBody>
      </p:sp>
      <p:sp>
        <p:nvSpPr>
          <p:cNvPr id="48" name="Shape 17"/>
          <p:cNvSpPr/>
          <p:nvPr/>
        </p:nvSpPr>
        <p:spPr>
          <a:xfrm>
            <a:off x="4716610" y="4482592"/>
            <a:ext cx="1252304" cy="382016"/>
          </a:xfrm>
          <a:prstGeom prst="roundRect">
            <a:avLst>
              <a:gd name="adj" fmla="val 10909"/>
            </a:avLst>
          </a:prstGeom>
          <a:solidFill>
            <a:srgbClr val="000000"/>
          </a:solidFill>
          <a:ln w="15875">
            <a:solidFill>
              <a:srgbClr val="FF6600"/>
            </a:solidFill>
            <a:prstDash val="solid"/>
          </a:ln>
        </p:spPr>
      </p:sp>
      <p:sp>
        <p:nvSpPr>
          <p:cNvPr id="49" name="Text 18"/>
          <p:cNvSpPr txBox="1"/>
          <p:nvPr/>
        </p:nvSpPr>
        <p:spPr>
          <a:xfrm>
            <a:off x="4759608" y="4431791"/>
            <a:ext cx="1209306" cy="432818"/>
          </a:xfrm>
          <a:prstGeom prst="rect">
            <a:avLst/>
          </a:prstGeom>
          <a:noFill/>
          <a:ln/>
        </p:spPr>
        <p:txBody>
          <a:bodyPr wrap="square" lIns="0" tIns="0" rIns="0" bIns="0" rtlCol="0" anchor="t"/>
          <a:lstStyle/>
          <a:p>
            <a:pPr marL="0" indent="0" algn="ctr">
              <a:buNone/>
            </a:pPr>
            <a:endParaRPr lang="en-US" sz="1050" dirty="0"/>
          </a:p>
          <a:p>
            <a:pPr algn="ctr"/>
            <a:r>
              <a:rPr lang="en-US" sz="1300" b="1" dirty="0">
                <a:solidFill>
                  <a:srgbClr val="FFFFFF"/>
                </a:solidFill>
                <a:latin typeface="Arial" pitchFamily="34" charset="0"/>
                <a:cs typeface="Arial" pitchFamily="34" charset="-120"/>
              </a:rPr>
              <a:t>(predictive)</a:t>
            </a:r>
          </a:p>
        </p:txBody>
      </p:sp>
      <p:sp>
        <p:nvSpPr>
          <p:cNvPr id="52" name="Shape 21"/>
          <p:cNvSpPr/>
          <p:nvPr/>
        </p:nvSpPr>
        <p:spPr>
          <a:xfrm>
            <a:off x="7014517" y="4049776"/>
            <a:ext cx="1252306" cy="382016"/>
          </a:xfrm>
          <a:prstGeom prst="roundRect">
            <a:avLst>
              <a:gd name="adj" fmla="val 10909"/>
            </a:avLst>
          </a:prstGeom>
          <a:solidFill>
            <a:srgbClr val="000000"/>
          </a:solidFill>
          <a:ln w="19050">
            <a:solidFill>
              <a:srgbClr val="FF6600"/>
            </a:solidFill>
            <a:prstDash val="solid"/>
          </a:ln>
        </p:spPr>
      </p:sp>
      <p:sp>
        <p:nvSpPr>
          <p:cNvPr id="53" name="Text 22"/>
          <p:cNvSpPr txBox="1"/>
          <p:nvPr/>
        </p:nvSpPr>
        <p:spPr>
          <a:xfrm>
            <a:off x="7057515" y="4077559"/>
            <a:ext cx="1209308" cy="354231"/>
          </a:xfrm>
          <a:prstGeom prst="rect">
            <a:avLst/>
          </a:prstGeom>
          <a:noFill/>
          <a:ln/>
        </p:spPr>
        <p:txBody>
          <a:bodyPr wrap="square" lIns="0" tIns="0" rIns="0" bIns="0" rtlCol="0" anchor="t"/>
          <a:lstStyle/>
          <a:p>
            <a:pPr algn="ctr"/>
            <a:r>
              <a:rPr lang="en-US" sz="1050" b="1" dirty="0">
                <a:solidFill>
                  <a:srgbClr val="FFFFFF"/>
                </a:solidFill>
                <a:latin typeface="Arial" pitchFamily="34" charset="0"/>
                <a:cs typeface="Arial" pitchFamily="34" charset="-120"/>
              </a:rPr>
              <a:t>Development</a:t>
            </a:r>
          </a:p>
        </p:txBody>
      </p:sp>
      <p:sp>
        <p:nvSpPr>
          <p:cNvPr id="6" name="Shape 9">
            <a:extLst>
              <a:ext uri="{FF2B5EF4-FFF2-40B4-BE49-F238E27FC236}">
                <a16:creationId xmlns:a16="http://schemas.microsoft.com/office/drawing/2014/main" id="{00356466-D125-8E6E-1106-91697E7CA77E}"/>
              </a:ext>
            </a:extLst>
          </p:cNvPr>
          <p:cNvSpPr/>
          <p:nvPr/>
        </p:nvSpPr>
        <p:spPr>
          <a:xfrm>
            <a:off x="4008120" y="3887724"/>
            <a:ext cx="708489" cy="0"/>
          </a:xfrm>
          <a:prstGeom prst="line">
            <a:avLst/>
          </a:prstGeom>
          <a:noFill/>
          <a:ln w="19050">
            <a:solidFill>
              <a:srgbClr val="FF6600"/>
            </a:solidFill>
            <a:prstDash val="solid"/>
            <a:tailEnd type="triangle"/>
          </a:ln>
        </p:spPr>
        <p:txBody>
          <a:bodyPr/>
          <a:lstStyle/>
          <a:p>
            <a:endParaRPr lang="en-US" dirty="0"/>
          </a:p>
        </p:txBody>
      </p:sp>
      <p:sp>
        <p:nvSpPr>
          <p:cNvPr id="7" name="Shape 9">
            <a:extLst>
              <a:ext uri="{FF2B5EF4-FFF2-40B4-BE49-F238E27FC236}">
                <a16:creationId xmlns:a16="http://schemas.microsoft.com/office/drawing/2014/main" id="{7892B8F5-F2D7-F5D4-D4DF-4C76E1D96701}"/>
              </a:ext>
            </a:extLst>
          </p:cNvPr>
          <p:cNvSpPr/>
          <p:nvPr/>
        </p:nvSpPr>
        <p:spPr>
          <a:xfrm>
            <a:off x="4008120" y="4636008"/>
            <a:ext cx="708489" cy="0"/>
          </a:xfrm>
          <a:prstGeom prst="line">
            <a:avLst/>
          </a:prstGeom>
          <a:noFill/>
          <a:ln w="19050">
            <a:solidFill>
              <a:srgbClr val="FF6600"/>
            </a:solidFill>
            <a:prstDash val="solid"/>
            <a:tailEnd type="triangle"/>
          </a:ln>
        </p:spPr>
      </p:sp>
      <p:sp>
        <p:nvSpPr>
          <p:cNvPr id="9" name="Shape 9">
            <a:extLst>
              <a:ext uri="{FF2B5EF4-FFF2-40B4-BE49-F238E27FC236}">
                <a16:creationId xmlns:a16="http://schemas.microsoft.com/office/drawing/2014/main" id="{41CB776C-7CB0-1B09-69BB-CC99601FC858}"/>
              </a:ext>
            </a:extLst>
          </p:cNvPr>
          <p:cNvSpPr/>
          <p:nvPr/>
        </p:nvSpPr>
        <p:spPr>
          <a:xfrm>
            <a:off x="5968914" y="3896868"/>
            <a:ext cx="1023512" cy="382016"/>
          </a:xfrm>
          <a:prstGeom prst="line">
            <a:avLst/>
          </a:prstGeom>
          <a:noFill/>
          <a:ln w="19050">
            <a:solidFill>
              <a:srgbClr val="FF6600"/>
            </a:solidFill>
            <a:prstDash val="solid"/>
            <a:tailEnd type="triangle"/>
          </a:ln>
        </p:spPr>
      </p:sp>
      <p:sp>
        <p:nvSpPr>
          <p:cNvPr id="10" name="Shape 9">
            <a:extLst>
              <a:ext uri="{FF2B5EF4-FFF2-40B4-BE49-F238E27FC236}">
                <a16:creationId xmlns:a16="http://schemas.microsoft.com/office/drawing/2014/main" id="{C4FDE003-0C00-CCCD-0AE9-0DF782EA3914}"/>
              </a:ext>
            </a:extLst>
          </p:cNvPr>
          <p:cNvSpPr/>
          <p:nvPr/>
        </p:nvSpPr>
        <p:spPr>
          <a:xfrm flipV="1">
            <a:off x="5968912" y="4300726"/>
            <a:ext cx="1040083" cy="382015"/>
          </a:xfrm>
          <a:prstGeom prst="line">
            <a:avLst/>
          </a:prstGeom>
          <a:noFill/>
          <a:ln w="19050">
            <a:solidFill>
              <a:srgbClr val="FF6600"/>
            </a:solidFill>
            <a:prstDash val="solid"/>
            <a:tailEnd type="triangle"/>
          </a:ln>
        </p:spPr>
      </p:sp>
      <p:cxnSp>
        <p:nvCxnSpPr>
          <p:cNvPr id="12" name="Straight Connector 11">
            <a:extLst>
              <a:ext uri="{FF2B5EF4-FFF2-40B4-BE49-F238E27FC236}">
                <a16:creationId xmlns:a16="http://schemas.microsoft.com/office/drawing/2014/main" id="{293162A4-5701-B2D7-D57F-78DD577382F7}"/>
              </a:ext>
            </a:extLst>
          </p:cNvPr>
          <p:cNvCxnSpPr>
            <a:cxnSpLocks/>
            <a:stCxn id="6" idx="0"/>
            <a:endCxn id="7" idx="0"/>
          </p:cNvCxnSpPr>
          <p:nvPr/>
        </p:nvCxnSpPr>
        <p:spPr>
          <a:xfrm>
            <a:off x="4008120" y="3887724"/>
            <a:ext cx="0" cy="748284"/>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55AA8E3-D620-942B-912B-909B4419494A}"/>
              </a:ext>
            </a:extLst>
          </p:cNvPr>
          <p:cNvCxnSpPr>
            <a:cxnSpLocks/>
          </p:cNvCxnSpPr>
          <p:nvPr/>
        </p:nvCxnSpPr>
        <p:spPr>
          <a:xfrm flipH="1" flipV="1">
            <a:off x="3881460" y="4276344"/>
            <a:ext cx="126660" cy="9141"/>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26" name="Shape 24"/>
          <p:cNvSpPr/>
          <p:nvPr/>
        </p:nvSpPr>
        <p:spPr>
          <a:xfrm>
            <a:off x="3933444" y="4968240"/>
            <a:ext cx="5035296" cy="0"/>
          </a:xfrm>
          <a:prstGeom prst="line">
            <a:avLst/>
          </a:prstGeom>
          <a:noFill/>
          <a:ln w="25400">
            <a:solidFill>
              <a:srgbClr val="FFFFFF"/>
            </a:solidFill>
            <a:prstDash val="solid"/>
          </a:ln>
        </p:spPr>
        <p:txBody>
          <a:bodyPr/>
          <a:lstStyle/>
          <a:p>
            <a:endParaRPr lang="en-US" dirty="0"/>
          </a:p>
        </p:txBody>
      </p:sp>
      <p:sp>
        <p:nvSpPr>
          <p:cNvPr id="23" name="TextBox 22">
            <a:extLst>
              <a:ext uri="{FF2B5EF4-FFF2-40B4-BE49-F238E27FC236}">
                <a16:creationId xmlns:a16="http://schemas.microsoft.com/office/drawing/2014/main" id="{0B1375A4-B4AC-6E49-C890-02BCCA86A3F9}"/>
              </a:ext>
            </a:extLst>
          </p:cNvPr>
          <p:cNvSpPr txBox="1"/>
          <p:nvPr/>
        </p:nvSpPr>
        <p:spPr>
          <a:xfrm flipH="1">
            <a:off x="6225192" y="4718327"/>
            <a:ext cx="2873197" cy="246221"/>
          </a:xfrm>
          <a:prstGeom prst="rect">
            <a:avLst/>
          </a:prstGeom>
          <a:noFill/>
        </p:spPr>
        <p:txBody>
          <a:bodyPr wrap="square">
            <a:spAutoFit/>
          </a:bodyPr>
          <a:lstStyle/>
          <a:p>
            <a:r>
              <a:rPr lang="en-US" sz="1000" i="1" dirty="0">
                <a:solidFill>
                  <a:prstClr val="white"/>
                </a:solidFill>
                <a:latin typeface="Consolas" panose="020B0609020204030204" pitchFamily="49" charset="0"/>
              </a:rPr>
              <a:t>To be determined based on the findings</a:t>
            </a:r>
          </a:p>
        </p:txBody>
      </p:sp>
    </p:spTree>
    <p:extLst>
      <p:ext uri="{BB962C8B-B14F-4D97-AF65-F5344CB8AC3E}">
        <p14:creationId xmlns:p14="http://schemas.microsoft.com/office/powerpoint/2010/main" val="3637202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137160"/>
            <a:ext cx="8503920" cy="566928"/>
          </a:xfrm>
          <a:prstGeom prst="rect">
            <a:avLst/>
          </a:prstGeom>
          <a:noFill/>
          <a:ln/>
        </p:spPr>
        <p:txBody>
          <a:bodyPr wrap="square" lIns="0" tIns="0" rIns="0" bIns="0" rtlCol="0" anchor="t"/>
          <a:lstStyle/>
          <a:p>
            <a:pPr marL="0" indent="0" algn="l">
              <a:buNone/>
            </a:pPr>
            <a:endParaRPr lang="en-US" sz="2500" dirty="0"/>
          </a:p>
        </p:txBody>
      </p:sp>
      <p:sp>
        <p:nvSpPr>
          <p:cNvPr id="3" name="Text 1"/>
          <p:cNvSpPr txBox="1"/>
          <p:nvPr/>
        </p:nvSpPr>
        <p:spPr>
          <a:xfrm>
            <a:off x="320040" y="960120"/>
            <a:ext cx="8503920" cy="502920"/>
          </a:xfrm>
          <a:prstGeom prst="rect">
            <a:avLst/>
          </a:prstGeom>
          <a:noFill/>
          <a:ln/>
        </p:spPr>
        <p:txBody>
          <a:bodyPr wrap="square" lIns="0" tIns="0" rIns="0" bIns="0" rtlCol="0" anchor="t"/>
          <a:lstStyle/>
          <a:p>
            <a:pPr marL="0" indent="0">
              <a:buNone/>
            </a:pPr>
            <a:r>
              <a:rPr lang="en-US" sz="1200" dirty="0">
                <a:solidFill>
                  <a:srgbClr val="FFFFFF"/>
                </a:solidFill>
                <a:latin typeface="Arial" pitchFamily="34" charset="0"/>
                <a:ea typeface="Arial" pitchFamily="34" charset="-122"/>
                <a:cs typeface="Arial" pitchFamily="34" charset="-120"/>
              </a:rPr>
              <a:t>Four components combine into a single pipeline — each stage covers the previous stage's blind spot. Stages 1–3 target the predictive side (deciding a budget before generation); Stage 4 targets the reactive side (deciding, during generation, whether to stop). Cheap checks run on every query; the costly reactive check runs only on flagged cases.</a:t>
            </a:r>
            <a:endParaRPr lang="en-US" sz="1200" dirty="0"/>
          </a:p>
        </p:txBody>
      </p:sp>
      <p:sp>
        <p:nvSpPr>
          <p:cNvPr id="29" name="Text 27"/>
          <p:cNvSpPr txBox="1"/>
          <p:nvPr/>
        </p:nvSpPr>
        <p:spPr>
          <a:xfrm>
            <a:off x="320040" y="1752600"/>
            <a:ext cx="8503920" cy="502920"/>
          </a:xfrm>
          <a:prstGeom prst="rect">
            <a:avLst/>
          </a:prstGeom>
          <a:noFill/>
          <a:ln/>
        </p:spPr>
        <p:txBody>
          <a:bodyPr wrap="square" lIns="0" tIns="0" rIns="0" bIns="0" rtlCol="0" anchor="t"/>
          <a:lstStyle/>
          <a:p>
            <a:pPr marL="0" indent="0" algn="ctr">
              <a:buNone/>
            </a:pPr>
            <a:endParaRPr lang="en-US" sz="1100" dirty="0"/>
          </a:p>
        </p:txBody>
      </p:sp>
      <p:sp>
        <p:nvSpPr>
          <p:cNvPr id="30" name="Text 28"/>
          <p:cNvSpPr txBox="1"/>
          <p:nvPr/>
        </p:nvSpPr>
        <p:spPr>
          <a:xfrm>
            <a:off x="320040" y="3728720"/>
            <a:ext cx="8503920" cy="1005840"/>
          </a:xfrm>
          <a:prstGeom prst="rect">
            <a:avLst/>
          </a:prstGeom>
          <a:noFill/>
          <a:ln/>
        </p:spPr>
        <p:txBody>
          <a:bodyPr wrap="square" lIns="0" tIns="0" rIns="0" bIns="0" rtlCol="0" anchor="t"/>
          <a:lstStyle/>
          <a:p>
            <a:pPr algn="ctr">
              <a:spcBef>
                <a:spcPts val="0"/>
              </a:spcBef>
              <a:spcAft>
                <a:spcPts val="0"/>
              </a:spcAft>
            </a:pPr>
            <a:r>
              <a:rPr lang="en-US" sz="1200" b="1" dirty="0">
                <a:solidFill>
                  <a:schemeClr val="bg1"/>
                </a:solidFill>
                <a:latin typeface="Consolas" panose="020B0609020204030204" pitchFamily="49" charset="0"/>
              </a:rPr>
              <a:t>Worked example.</a:t>
            </a:r>
          </a:p>
          <a:p>
            <a:pPr algn="ctr">
              <a:spcBef>
                <a:spcPts val="0"/>
              </a:spcBef>
              <a:spcAft>
                <a:spcPts val="0"/>
              </a:spcAft>
            </a:pPr>
            <a:r>
              <a:rPr lang="en-US" sz="1200" dirty="0">
                <a:solidFill>
                  <a:srgbClr val="FFFFFF"/>
                </a:solidFill>
                <a:latin typeface="Arial" pitchFamily="34" charset="0"/>
                <a:cs typeface="Arial" pitchFamily="34" charset="-120"/>
              </a:rPr>
              <a:t> difficulty 0.72, 70B model → theoretical estimate C₀ = 1,200 tokens → predictive correction ΔC = +150 → flagged long-tail → reactive gate confirms → final budget = 1,800 tokens, traceable at every step. Here the theoretical formula alone gives 1,200 tokens and the learned correction lifts it to 1,350; because this query is flagged as long-tail, the reactive layer overrides that value and sets 1,800. Every number traces back to the stage that produced it.</a:t>
            </a:r>
          </a:p>
          <a:p>
            <a:pPr marL="177800" indent="-177800" algn="ctr">
              <a:spcAft>
                <a:spcPts val="300"/>
              </a:spcAft>
              <a:buSzPct val="100000"/>
              <a:buChar char="●"/>
            </a:pPr>
            <a:endParaRPr lang="en-US" sz="1100" dirty="0">
              <a:solidFill>
                <a:srgbClr val="FFFFFF"/>
              </a:solidFill>
              <a:latin typeface="Arial" pitchFamily="34" charset="0"/>
              <a:cs typeface="Arial" pitchFamily="34" charset="-120"/>
            </a:endParaRPr>
          </a:p>
        </p:txBody>
      </p:sp>
      <p:sp>
        <p:nvSpPr>
          <p:cNvPr id="31" name="Text 29"/>
          <p:cNvSpPr txBox="1"/>
          <p:nvPr/>
        </p:nvSpPr>
        <p:spPr>
          <a:xfrm>
            <a:off x="320040" y="4864608"/>
            <a:ext cx="1828800" cy="182880"/>
          </a:xfrm>
          <a:prstGeom prst="rect">
            <a:avLst/>
          </a:prstGeom>
          <a:noFill/>
          <a:ln/>
        </p:spPr>
        <p:txBody>
          <a:bodyPr wrap="square" lIns="0" tIns="0" rIns="0" bIns="0" rtlCol="0" anchor="ctr"/>
          <a:lstStyle/>
          <a:p>
            <a:pPr marL="0" indent="0" algn="l">
              <a:buNone/>
            </a:pPr>
            <a:r>
              <a:rPr lang="en-US" sz="800" b="1" dirty="0">
                <a:solidFill>
                  <a:srgbClr val="FF6600"/>
                </a:solidFill>
                <a:latin typeface="Arial" pitchFamily="34" charset="0"/>
                <a:ea typeface="Arial" pitchFamily="34" charset="-122"/>
                <a:cs typeface="Arial" pitchFamily="34" charset="-120"/>
              </a:rPr>
              <a:t>Orange Restricted</a:t>
            </a:r>
            <a:endParaRPr lang="en-US" sz="800" dirty="0"/>
          </a:p>
        </p:txBody>
      </p:sp>
      <p:sp>
        <p:nvSpPr>
          <p:cNvPr id="34" name="Text 0">
            <a:extLst>
              <a:ext uri="{FF2B5EF4-FFF2-40B4-BE49-F238E27FC236}">
                <a16:creationId xmlns:a16="http://schemas.microsoft.com/office/drawing/2014/main" id="{9F8E4AFC-BAB9-09E6-A8AF-EB937DE9DD0C}"/>
              </a:ext>
            </a:extLst>
          </p:cNvPr>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2000" b="1" dirty="0">
                <a:solidFill>
                  <a:srgbClr val="FF7900"/>
                </a:solidFill>
                <a:latin typeface="Helvetica Neue"/>
                <a:sym typeface="Arial"/>
              </a:rPr>
              <a:t>3</a:t>
            </a: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 </a:t>
            </a:r>
            <a:r>
              <a:rPr lang="en-US" sz="2000" b="1" dirty="0">
                <a:solidFill>
                  <a:srgbClr val="FF6600"/>
                </a:solidFill>
                <a:latin typeface="Arial" pitchFamily="34" charset="0"/>
                <a:ea typeface="Arial" pitchFamily="34" charset="-122"/>
                <a:cs typeface="Arial" pitchFamily="34" charset="-120"/>
              </a:rPr>
              <a:t>Methodology</a:t>
            </a:r>
            <a:endPar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1300" b="1" dirty="0">
                <a:solidFill>
                  <a:srgbClr val="FF7900"/>
                </a:solidFill>
                <a:latin typeface="Helvetica Neue"/>
                <a:sym typeface="Arial"/>
              </a:rPr>
              <a:t>3</a:t>
            </a:r>
            <a:r>
              <a:rPr kumimoji="0" lang="en-US" sz="1300" b="1" i="0" u="none" strike="noStrike" kern="1200" cap="none" spc="0" normalizeH="0" baseline="0" noProof="0" dirty="0">
                <a:ln>
                  <a:noFill/>
                </a:ln>
                <a:solidFill>
                  <a:srgbClr val="FF7900"/>
                </a:solidFill>
                <a:effectLst/>
                <a:uLnTx/>
                <a:uFillTx/>
                <a:latin typeface="Helvetica Neue"/>
                <a:ea typeface="+mn-ea"/>
                <a:cs typeface="+mn-cs"/>
                <a:sym typeface="Arial"/>
              </a:rPr>
              <a:t>.2 THE PROPOSED APPROACH</a:t>
            </a:r>
          </a:p>
        </p:txBody>
      </p:sp>
      <p:grpSp>
        <p:nvGrpSpPr>
          <p:cNvPr id="39" name="Group 38">
            <a:extLst>
              <a:ext uri="{FF2B5EF4-FFF2-40B4-BE49-F238E27FC236}">
                <a16:creationId xmlns:a16="http://schemas.microsoft.com/office/drawing/2014/main" id="{E9F74B8E-83FF-5557-84DE-E8D4B8864BCD}"/>
              </a:ext>
            </a:extLst>
          </p:cNvPr>
          <p:cNvGrpSpPr/>
          <p:nvPr/>
        </p:nvGrpSpPr>
        <p:grpSpPr>
          <a:xfrm>
            <a:off x="320041" y="1493004"/>
            <a:ext cx="8610600" cy="2123956"/>
            <a:chOff x="111189" y="2376924"/>
            <a:chExt cx="11392850" cy="2396304"/>
          </a:xfrm>
        </p:grpSpPr>
        <p:grpSp>
          <p:nvGrpSpPr>
            <p:cNvPr id="40" name="Group 39">
              <a:extLst>
                <a:ext uri="{FF2B5EF4-FFF2-40B4-BE49-F238E27FC236}">
                  <a16:creationId xmlns:a16="http://schemas.microsoft.com/office/drawing/2014/main" id="{56462C75-D66B-B6F7-5111-AD09222D5C49}"/>
                </a:ext>
              </a:extLst>
            </p:cNvPr>
            <p:cNvGrpSpPr/>
            <p:nvPr/>
          </p:nvGrpSpPr>
          <p:grpSpPr>
            <a:xfrm>
              <a:off x="111189" y="2606050"/>
              <a:ext cx="1602000" cy="960000"/>
              <a:chOff x="1182111" y="2606050"/>
              <a:chExt cx="1602000" cy="960000"/>
            </a:xfrm>
          </p:grpSpPr>
          <p:sp>
            <p:nvSpPr>
              <p:cNvPr id="261" name="Google Shape;261;p7"/>
              <p:cNvSpPr/>
              <p:nvPr/>
            </p:nvSpPr>
            <p:spPr>
              <a:xfrm>
                <a:off x="1182111" y="2606050"/>
                <a:ext cx="1602000" cy="960000"/>
              </a:xfrm>
              <a:prstGeom prst="roundRect">
                <a:avLst>
                  <a:gd name="adj" fmla="val 5714"/>
                </a:avLst>
              </a:prstGeom>
              <a:solidFill>
                <a:srgbClr val="FFD6CA"/>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7"/>
              <p:cNvSpPr/>
              <p:nvPr/>
            </p:nvSpPr>
            <p:spPr>
              <a:xfrm>
                <a:off x="1319271" y="2697480"/>
                <a:ext cx="12801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50"/>
                  <a:buFont typeface="Arial"/>
                  <a:buNone/>
                </a:pPr>
                <a:r>
                  <a:rPr lang="en-US" sz="1150" b="1" dirty="0">
                    <a:latin typeface="Helvetica Neue"/>
                    <a:ea typeface="Helvetica Neue"/>
                    <a:cs typeface="Helvetica Neue"/>
                    <a:sym typeface="Helvetica Neue"/>
                  </a:rPr>
                  <a:t>Input</a:t>
                </a:r>
                <a:endParaRPr sz="1150" dirty="0">
                  <a:latin typeface="Helvetica Neue"/>
                  <a:ea typeface="Helvetica Neue"/>
                  <a:cs typeface="Helvetica Neue"/>
                  <a:sym typeface="Helvetica Neue"/>
                </a:endParaRPr>
              </a:p>
            </p:txBody>
          </p:sp>
          <p:sp>
            <p:nvSpPr>
              <p:cNvPr id="263" name="Google Shape;263;p7"/>
              <p:cNvSpPr/>
              <p:nvPr/>
            </p:nvSpPr>
            <p:spPr>
              <a:xfrm>
                <a:off x="1319271" y="3154680"/>
                <a:ext cx="1280100" cy="3840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D6D6D6"/>
                  </a:buClr>
                  <a:buSzPts val="950"/>
                  <a:buFont typeface="Arial"/>
                  <a:buNone/>
                </a:pPr>
                <a:r>
                  <a:rPr lang="en-US" sz="950" dirty="0">
                    <a:latin typeface="Helvetica Neue"/>
                    <a:ea typeface="Helvetica Neue"/>
                    <a:cs typeface="Helvetica Neue"/>
                    <a:sym typeface="Helvetica Neue"/>
                  </a:rPr>
                  <a:t>Question + model params</a:t>
                </a:r>
                <a:endParaRPr sz="950" dirty="0">
                  <a:latin typeface="Helvetica Neue"/>
                  <a:ea typeface="Helvetica Neue"/>
                  <a:cs typeface="Helvetica Neue"/>
                  <a:sym typeface="Helvetica Neue"/>
                </a:endParaRPr>
              </a:p>
            </p:txBody>
          </p:sp>
        </p:grpSp>
        <p:sp>
          <p:nvSpPr>
            <p:cNvPr id="264" name="Google Shape;264;p7"/>
            <p:cNvSpPr/>
            <p:nvPr/>
          </p:nvSpPr>
          <p:spPr>
            <a:xfrm>
              <a:off x="3870369" y="2606050"/>
              <a:ext cx="1602000" cy="960000"/>
            </a:xfrm>
            <a:prstGeom prst="roundRect">
              <a:avLst>
                <a:gd name="adj" fmla="val 5714"/>
              </a:avLst>
            </a:prstGeom>
            <a:solidFill>
              <a:srgbClr val="FFD6CA"/>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7"/>
            <p:cNvSpPr/>
            <p:nvPr/>
          </p:nvSpPr>
          <p:spPr>
            <a:xfrm>
              <a:off x="4007522" y="2697475"/>
              <a:ext cx="10905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50"/>
                <a:buFont typeface="Arial"/>
                <a:buNone/>
              </a:pPr>
              <a:r>
                <a:rPr lang="en-US" sz="1150" b="1" dirty="0">
                  <a:latin typeface="Helvetica Neue"/>
                  <a:ea typeface="Helvetica Neue"/>
                  <a:cs typeface="Helvetica Neue"/>
                  <a:sym typeface="Helvetica Neue"/>
                </a:rPr>
                <a:t>Theoretical</a:t>
              </a:r>
              <a:endParaRPr sz="1150" dirty="0">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1150"/>
                <a:buFont typeface="Arial"/>
                <a:buNone/>
              </a:pPr>
              <a:r>
                <a:rPr lang="en-US" sz="1150" b="1" dirty="0">
                  <a:latin typeface="Helvetica Neue"/>
                  <a:ea typeface="Helvetica Neue"/>
                  <a:cs typeface="Helvetica Neue"/>
                  <a:sym typeface="Helvetica Neue"/>
                </a:rPr>
                <a:t>Estimate</a:t>
              </a:r>
              <a:endParaRPr sz="1150" dirty="0">
                <a:latin typeface="Helvetica Neue"/>
                <a:ea typeface="Helvetica Neue"/>
                <a:cs typeface="Helvetica Neue"/>
                <a:sym typeface="Helvetica Neue"/>
              </a:endParaRPr>
            </a:p>
          </p:txBody>
        </p:sp>
        <p:sp>
          <p:nvSpPr>
            <p:cNvPr id="266" name="Google Shape;266;p7"/>
            <p:cNvSpPr/>
            <p:nvPr/>
          </p:nvSpPr>
          <p:spPr>
            <a:xfrm>
              <a:off x="3994079" y="3154675"/>
              <a:ext cx="1419249" cy="3840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D6D6D6"/>
                </a:buClr>
                <a:buSzPts val="950"/>
                <a:buFont typeface="Arial"/>
                <a:buNone/>
              </a:pPr>
              <a:r>
                <a:rPr lang="en-US" sz="950" dirty="0">
                  <a:latin typeface="Helvetica Neue"/>
                  <a:ea typeface="Helvetica Neue"/>
                  <a:cs typeface="Helvetica Neue"/>
                  <a:sym typeface="Helvetica Neue"/>
                </a:rPr>
                <a:t>C₀ = f(difficulty, params) </a:t>
              </a:r>
              <a:endParaRPr sz="950" dirty="0">
                <a:latin typeface="Helvetica Neue"/>
                <a:ea typeface="Helvetica Neue"/>
                <a:cs typeface="Helvetica Neue"/>
                <a:sym typeface="Helvetica Neue"/>
              </a:endParaRPr>
            </a:p>
          </p:txBody>
        </p:sp>
        <p:sp>
          <p:nvSpPr>
            <p:cNvPr id="270" name="Google Shape;270;p7"/>
            <p:cNvSpPr/>
            <p:nvPr/>
          </p:nvSpPr>
          <p:spPr>
            <a:xfrm>
              <a:off x="3550324" y="2880360"/>
              <a:ext cx="3201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A9A9A"/>
                </a:buClr>
                <a:buSzPts val="2000"/>
                <a:buFont typeface="Arial"/>
                <a:buNone/>
              </a:pPr>
              <a:r>
                <a:rPr lang="en-US" sz="2000" dirty="0">
                  <a:solidFill>
                    <a:srgbClr val="9A9A9A"/>
                  </a:solidFill>
                  <a:latin typeface="Arial"/>
                  <a:ea typeface="Arial"/>
                  <a:cs typeface="Arial"/>
                  <a:sym typeface="Arial"/>
                </a:rPr>
                <a:t>→</a:t>
              </a:r>
              <a:endParaRPr sz="2000" dirty="0">
                <a:solidFill>
                  <a:schemeClr val="lt1"/>
                </a:solidFill>
                <a:latin typeface="Calibri"/>
                <a:ea typeface="Calibri"/>
                <a:cs typeface="Calibri"/>
                <a:sym typeface="Calibri"/>
              </a:endParaRPr>
            </a:p>
          </p:txBody>
        </p:sp>
        <p:grpSp>
          <p:nvGrpSpPr>
            <p:cNvPr id="41" name="Group 40">
              <a:extLst>
                <a:ext uri="{FF2B5EF4-FFF2-40B4-BE49-F238E27FC236}">
                  <a16:creationId xmlns:a16="http://schemas.microsoft.com/office/drawing/2014/main" id="{BB46C2AB-D552-EBEA-7B21-C345E9768298}"/>
                </a:ext>
              </a:extLst>
            </p:cNvPr>
            <p:cNvGrpSpPr/>
            <p:nvPr/>
          </p:nvGrpSpPr>
          <p:grpSpPr>
            <a:xfrm>
              <a:off x="5432614" y="2613346"/>
              <a:ext cx="2115563" cy="960000"/>
              <a:chOff x="6061789" y="2613346"/>
              <a:chExt cx="2115563" cy="960000"/>
            </a:xfrm>
          </p:grpSpPr>
          <p:sp>
            <p:nvSpPr>
              <p:cNvPr id="267" name="Google Shape;267;p7"/>
              <p:cNvSpPr/>
              <p:nvPr/>
            </p:nvSpPr>
            <p:spPr>
              <a:xfrm>
                <a:off x="6374077" y="2613346"/>
                <a:ext cx="1602000" cy="960000"/>
              </a:xfrm>
              <a:prstGeom prst="roundRect">
                <a:avLst>
                  <a:gd name="adj" fmla="val 5714"/>
                </a:avLst>
              </a:prstGeom>
              <a:solidFill>
                <a:srgbClr val="FFD6CA"/>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7"/>
              <p:cNvSpPr/>
              <p:nvPr/>
            </p:nvSpPr>
            <p:spPr>
              <a:xfrm>
                <a:off x="6486730" y="2697474"/>
                <a:ext cx="1446929"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50"/>
                  <a:buFont typeface="Arial"/>
                  <a:buNone/>
                </a:pPr>
                <a:r>
                  <a:rPr lang="en-US" sz="1150" b="1" dirty="0">
                    <a:latin typeface="Helvetica Neue"/>
                    <a:ea typeface="Helvetica Neue"/>
                    <a:cs typeface="Helvetica Neue"/>
                    <a:sym typeface="Helvetica Neue"/>
                  </a:rPr>
                  <a:t>Predictive</a:t>
                </a:r>
                <a:endParaRPr sz="1150" dirty="0">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1150"/>
                  <a:buFont typeface="Arial"/>
                  <a:buNone/>
                </a:pPr>
                <a:r>
                  <a:rPr lang="en-US" sz="1150" b="1" dirty="0">
                    <a:latin typeface="Helvetica Neue"/>
                    <a:ea typeface="Helvetica Neue"/>
                    <a:cs typeface="Helvetica Neue"/>
                    <a:sym typeface="Helvetica Neue"/>
                  </a:rPr>
                  <a:t>Correction</a:t>
                </a:r>
                <a:endParaRPr sz="1150" dirty="0">
                  <a:latin typeface="Helvetica Neue"/>
                  <a:ea typeface="Helvetica Neue"/>
                  <a:cs typeface="Helvetica Neue"/>
                  <a:sym typeface="Helvetica Neue"/>
                </a:endParaRPr>
              </a:p>
            </p:txBody>
          </p:sp>
          <p:sp>
            <p:nvSpPr>
              <p:cNvPr id="269" name="Google Shape;269;p7"/>
              <p:cNvSpPr/>
              <p:nvPr/>
            </p:nvSpPr>
            <p:spPr>
              <a:xfrm>
                <a:off x="6486729" y="3154675"/>
                <a:ext cx="1690623" cy="3840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D6D6D6"/>
                  </a:buClr>
                  <a:buSzPts val="950"/>
                  <a:buFont typeface="Arial"/>
                  <a:buNone/>
                </a:pPr>
                <a:r>
                  <a:rPr lang="en-US" sz="950" dirty="0">
                    <a:latin typeface="Helvetica Neue"/>
                    <a:ea typeface="Helvetica Neue"/>
                    <a:cs typeface="Helvetica Neue"/>
                    <a:sym typeface="Helvetica Neue"/>
                  </a:rPr>
                  <a:t>ΔC = g(C₀, features)</a:t>
                </a:r>
                <a:endParaRPr sz="950" dirty="0">
                  <a:latin typeface="Helvetica Neue"/>
                  <a:ea typeface="Helvetica Neue"/>
                  <a:cs typeface="Helvetica Neue"/>
                  <a:sym typeface="Helvetica Neue"/>
                </a:endParaRPr>
              </a:p>
              <a:p>
                <a:pPr marL="0" marR="0" lvl="0" indent="0" algn="l" rtl="0">
                  <a:lnSpc>
                    <a:spcPct val="105000"/>
                  </a:lnSpc>
                  <a:spcBef>
                    <a:spcPts val="0"/>
                  </a:spcBef>
                  <a:spcAft>
                    <a:spcPts val="0"/>
                  </a:spcAft>
                  <a:buClr>
                    <a:srgbClr val="D6D6D6"/>
                  </a:buClr>
                  <a:buSzPts val="950"/>
                  <a:buFont typeface="Arial"/>
                  <a:buNone/>
                </a:pPr>
                <a:r>
                  <a:rPr lang="en-US" sz="950" dirty="0">
                    <a:latin typeface="Helvetica Neue"/>
                    <a:ea typeface="Helvetica Neue"/>
                    <a:cs typeface="Helvetica Neue"/>
                    <a:sym typeface="Helvetica Neue"/>
                  </a:rPr>
                  <a:t>learned residual</a:t>
                </a:r>
                <a:endParaRPr sz="950" dirty="0">
                  <a:latin typeface="Helvetica Neue"/>
                  <a:ea typeface="Helvetica Neue"/>
                  <a:cs typeface="Helvetica Neue"/>
                  <a:sym typeface="Helvetica Neue"/>
                </a:endParaRPr>
              </a:p>
            </p:txBody>
          </p:sp>
          <p:sp>
            <p:nvSpPr>
              <p:cNvPr id="271" name="Google Shape;271;p7"/>
              <p:cNvSpPr/>
              <p:nvPr/>
            </p:nvSpPr>
            <p:spPr>
              <a:xfrm>
                <a:off x="6061789" y="2880360"/>
                <a:ext cx="3201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A9A9A"/>
                  </a:buClr>
                  <a:buSzPts val="2000"/>
                  <a:buFont typeface="Arial"/>
                  <a:buNone/>
                </a:pPr>
                <a:r>
                  <a:rPr lang="en-US" sz="2000">
                    <a:solidFill>
                      <a:srgbClr val="9A9A9A"/>
                    </a:solidFill>
                    <a:latin typeface="Arial"/>
                    <a:ea typeface="Arial"/>
                    <a:cs typeface="Arial"/>
                    <a:sym typeface="Arial"/>
                  </a:rPr>
                  <a:t>→</a:t>
                </a:r>
                <a:endParaRPr sz="2000">
                  <a:solidFill>
                    <a:schemeClr val="dk1"/>
                  </a:solidFill>
                  <a:latin typeface="Calibri"/>
                  <a:ea typeface="Calibri"/>
                  <a:cs typeface="Calibri"/>
                  <a:sym typeface="Calibri"/>
                </a:endParaRPr>
              </a:p>
            </p:txBody>
          </p:sp>
        </p:grpSp>
        <p:sp>
          <p:nvSpPr>
            <p:cNvPr id="272" name="Google Shape;272;p7"/>
            <p:cNvSpPr/>
            <p:nvPr/>
          </p:nvSpPr>
          <p:spPr>
            <a:xfrm>
              <a:off x="7643811" y="2468880"/>
              <a:ext cx="1691700" cy="1234500"/>
            </a:xfrm>
            <a:prstGeom prst="diamond">
              <a:avLst/>
            </a:prstGeom>
            <a:solidFill>
              <a:srgbClr val="1F1409"/>
            </a:solidFill>
            <a:ln w="15875" cap="flat" cmpd="sng">
              <a:solidFill>
                <a:srgbClr val="FF7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7"/>
            <p:cNvSpPr/>
            <p:nvPr/>
          </p:nvSpPr>
          <p:spPr>
            <a:xfrm>
              <a:off x="7643811" y="2507907"/>
              <a:ext cx="1691700" cy="1234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7900"/>
                </a:buClr>
                <a:buSzPts val="1050"/>
                <a:buFont typeface="Arial"/>
                <a:buNone/>
              </a:pPr>
              <a:r>
                <a:rPr lang="en-US" sz="1050" b="1" dirty="0">
                  <a:solidFill>
                    <a:schemeClr val="bg1"/>
                  </a:solidFill>
                  <a:latin typeface="Helvetica Neue"/>
                  <a:ea typeface="Helvetica Neue"/>
                  <a:cs typeface="Helvetica Neue"/>
                  <a:sym typeface="Helvetica Neue"/>
                </a:rPr>
                <a:t>Long-tail /</a:t>
              </a:r>
              <a:endParaRPr sz="1050" dirty="0">
                <a:solidFill>
                  <a:schemeClr val="bg1"/>
                </a:solidFill>
                <a:latin typeface="Helvetica Neue"/>
                <a:ea typeface="Helvetica Neue"/>
                <a:cs typeface="Helvetica Neue"/>
                <a:sym typeface="Helvetica Neue"/>
              </a:endParaRPr>
            </a:p>
            <a:p>
              <a:pPr marL="0" marR="0" lvl="0" indent="0" algn="ctr" rtl="0">
                <a:spcBef>
                  <a:spcPts val="0"/>
                </a:spcBef>
                <a:spcAft>
                  <a:spcPts val="0"/>
                </a:spcAft>
                <a:buClr>
                  <a:srgbClr val="FF7900"/>
                </a:buClr>
                <a:buSzPts val="1050"/>
                <a:buFont typeface="Arial"/>
                <a:buNone/>
              </a:pPr>
              <a:r>
                <a:rPr lang="en-US" sz="1050" b="1" dirty="0">
                  <a:solidFill>
                    <a:schemeClr val="bg1"/>
                  </a:solidFill>
                  <a:latin typeface="Helvetica Neue"/>
                  <a:ea typeface="Helvetica Neue"/>
                  <a:cs typeface="Helvetica Neue"/>
                  <a:sym typeface="Helvetica Neue"/>
                </a:rPr>
                <a:t>misjudged</a:t>
              </a:r>
              <a:endParaRPr sz="1050" dirty="0">
                <a:solidFill>
                  <a:schemeClr val="bg1"/>
                </a:solidFill>
                <a:latin typeface="Helvetica Neue"/>
                <a:ea typeface="Helvetica Neue"/>
                <a:cs typeface="Helvetica Neue"/>
                <a:sym typeface="Helvetica Neue"/>
              </a:endParaRPr>
            </a:p>
            <a:p>
              <a:pPr marL="0" marR="0" lvl="0" indent="0" algn="ctr" rtl="0">
                <a:spcBef>
                  <a:spcPts val="0"/>
                </a:spcBef>
                <a:spcAft>
                  <a:spcPts val="0"/>
                </a:spcAft>
                <a:buClr>
                  <a:srgbClr val="FF7900"/>
                </a:buClr>
                <a:buSzPts val="1050"/>
                <a:buFont typeface="Arial"/>
                <a:buNone/>
              </a:pPr>
              <a:r>
                <a:rPr lang="en-US" sz="1050" b="1" dirty="0">
                  <a:solidFill>
                    <a:schemeClr val="bg1"/>
                  </a:solidFill>
                  <a:latin typeface="Helvetica Neue"/>
                  <a:ea typeface="Helvetica Neue"/>
                  <a:cs typeface="Helvetica Neue"/>
                  <a:sym typeface="Helvetica Neue"/>
                </a:rPr>
                <a:t>case?</a:t>
              </a:r>
              <a:endParaRPr sz="1050" dirty="0">
                <a:solidFill>
                  <a:schemeClr val="bg1"/>
                </a:solidFill>
                <a:latin typeface="Helvetica Neue"/>
                <a:ea typeface="Helvetica Neue"/>
                <a:cs typeface="Helvetica Neue"/>
                <a:sym typeface="Helvetica Neue"/>
              </a:endParaRPr>
            </a:p>
          </p:txBody>
        </p:sp>
        <p:sp>
          <p:nvSpPr>
            <p:cNvPr id="274" name="Google Shape;274;p7"/>
            <p:cNvSpPr/>
            <p:nvPr/>
          </p:nvSpPr>
          <p:spPr>
            <a:xfrm>
              <a:off x="7323771" y="2880360"/>
              <a:ext cx="3201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A9A9A"/>
                </a:buClr>
                <a:buSzPts val="2000"/>
                <a:buFont typeface="Arial"/>
                <a:buNone/>
              </a:pPr>
              <a:r>
                <a:rPr lang="en-US" sz="2000">
                  <a:solidFill>
                    <a:srgbClr val="9A9A9A"/>
                  </a:solidFill>
                  <a:latin typeface="Arial"/>
                  <a:ea typeface="Arial"/>
                  <a:cs typeface="Arial"/>
                  <a:sym typeface="Arial"/>
                </a:rPr>
                <a:t>→</a:t>
              </a:r>
              <a:endParaRPr sz="2000">
                <a:solidFill>
                  <a:schemeClr val="dk1"/>
                </a:solidFill>
                <a:latin typeface="Calibri"/>
                <a:ea typeface="Calibri"/>
                <a:cs typeface="Calibri"/>
                <a:sym typeface="Calibri"/>
              </a:endParaRPr>
            </a:p>
          </p:txBody>
        </p:sp>
        <p:sp>
          <p:nvSpPr>
            <p:cNvPr id="275" name="Google Shape;275;p7"/>
            <p:cNvSpPr/>
            <p:nvPr/>
          </p:nvSpPr>
          <p:spPr>
            <a:xfrm>
              <a:off x="9987534" y="2377440"/>
              <a:ext cx="1508700" cy="1417200"/>
            </a:xfrm>
            <a:prstGeom prst="roundRect">
              <a:avLst>
                <a:gd name="adj" fmla="val 3871"/>
              </a:avLst>
            </a:prstGeom>
            <a:solidFill>
              <a:srgbClr val="FF7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7"/>
            <p:cNvSpPr/>
            <p:nvPr/>
          </p:nvSpPr>
          <p:spPr>
            <a:xfrm>
              <a:off x="9995339" y="2376924"/>
              <a:ext cx="1508700" cy="141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0000"/>
                </a:buClr>
                <a:buSzPts val="1200"/>
                <a:buFont typeface="Arial"/>
                <a:buNone/>
              </a:pPr>
              <a:r>
                <a:rPr lang="en-US" sz="1200" b="1">
                  <a:solidFill>
                    <a:srgbClr val="000000"/>
                  </a:solidFill>
                  <a:latin typeface="Helvetica Neue"/>
                  <a:ea typeface="Helvetica Neue"/>
                  <a:cs typeface="Helvetica Neue"/>
                  <a:sym typeface="Helvetica Neue"/>
                </a:rPr>
                <a:t>Final</a:t>
              </a:r>
              <a:endParaRPr sz="1200">
                <a:solidFill>
                  <a:schemeClr val="dk1"/>
                </a:solidFill>
                <a:latin typeface="Helvetica Neue"/>
                <a:ea typeface="Helvetica Neue"/>
                <a:cs typeface="Helvetica Neue"/>
                <a:sym typeface="Helvetica Neue"/>
              </a:endParaRPr>
            </a:p>
            <a:p>
              <a:pPr marL="0" marR="0" lvl="0" indent="0" algn="ctr" rtl="0">
                <a:spcBef>
                  <a:spcPts val="0"/>
                </a:spcBef>
                <a:spcAft>
                  <a:spcPts val="0"/>
                </a:spcAft>
                <a:buClr>
                  <a:srgbClr val="000000"/>
                </a:buClr>
                <a:buSzPts val="1200"/>
                <a:buFont typeface="Arial"/>
                <a:buNone/>
              </a:pPr>
              <a:r>
                <a:rPr lang="en-US" sz="1200" b="1">
                  <a:solidFill>
                    <a:srgbClr val="000000"/>
                  </a:solidFill>
                  <a:latin typeface="Helvetica Neue"/>
                  <a:ea typeface="Helvetica Neue"/>
                  <a:cs typeface="Helvetica Neue"/>
                  <a:sym typeface="Helvetica Neue"/>
                </a:rPr>
                <a:t>Compute</a:t>
              </a:r>
              <a:endParaRPr sz="1200">
                <a:solidFill>
                  <a:schemeClr val="dk1"/>
                </a:solidFill>
                <a:latin typeface="Helvetica Neue"/>
                <a:ea typeface="Helvetica Neue"/>
                <a:cs typeface="Helvetica Neue"/>
                <a:sym typeface="Helvetica Neue"/>
              </a:endParaRPr>
            </a:p>
            <a:p>
              <a:pPr marL="0" marR="0" lvl="0" indent="0" algn="ctr" rtl="0">
                <a:spcBef>
                  <a:spcPts val="0"/>
                </a:spcBef>
                <a:spcAft>
                  <a:spcPts val="0"/>
                </a:spcAft>
                <a:buClr>
                  <a:srgbClr val="000000"/>
                </a:buClr>
                <a:buSzPts val="1200"/>
                <a:buFont typeface="Arial"/>
                <a:buNone/>
              </a:pPr>
              <a:r>
                <a:rPr lang="en-US" sz="1200" b="1">
                  <a:solidFill>
                    <a:srgbClr val="000000"/>
                  </a:solidFill>
                  <a:latin typeface="Helvetica Neue"/>
                  <a:ea typeface="Helvetica Neue"/>
                  <a:cs typeface="Helvetica Neue"/>
                  <a:sym typeface="Helvetica Neue"/>
                </a:rPr>
                <a:t>Budget</a:t>
              </a:r>
              <a:endParaRPr sz="1200">
                <a:solidFill>
                  <a:schemeClr val="dk1"/>
                </a:solidFill>
                <a:latin typeface="Helvetica Neue"/>
                <a:ea typeface="Helvetica Neue"/>
                <a:cs typeface="Helvetica Neue"/>
                <a:sym typeface="Helvetica Neue"/>
              </a:endParaRPr>
            </a:p>
          </p:txBody>
        </p:sp>
        <p:sp>
          <p:nvSpPr>
            <p:cNvPr id="277" name="Google Shape;277;p7"/>
            <p:cNvSpPr/>
            <p:nvPr/>
          </p:nvSpPr>
          <p:spPr>
            <a:xfrm>
              <a:off x="9457637" y="2843046"/>
              <a:ext cx="5487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9A9A"/>
                </a:buClr>
                <a:buSzPts val="900"/>
                <a:buFont typeface="Arial"/>
                <a:buNone/>
              </a:pPr>
              <a:r>
                <a:rPr lang="en-US" sz="900" i="1">
                  <a:solidFill>
                    <a:srgbClr val="9A9A9A"/>
                  </a:solidFill>
                  <a:latin typeface="Arial"/>
                  <a:ea typeface="Arial"/>
                  <a:cs typeface="Arial"/>
                  <a:sym typeface="Arial"/>
                </a:rPr>
                <a:t>no</a:t>
              </a:r>
              <a:endParaRPr sz="900">
                <a:solidFill>
                  <a:schemeClr val="dk1"/>
                </a:solidFill>
                <a:latin typeface="Calibri"/>
                <a:ea typeface="Calibri"/>
                <a:cs typeface="Calibri"/>
                <a:sym typeface="Calibri"/>
              </a:endParaRPr>
            </a:p>
          </p:txBody>
        </p:sp>
        <p:cxnSp>
          <p:nvCxnSpPr>
            <p:cNvPr id="278" name="Google Shape;278;p7"/>
            <p:cNvCxnSpPr/>
            <p:nvPr/>
          </p:nvCxnSpPr>
          <p:spPr>
            <a:xfrm>
              <a:off x="8489631" y="3703320"/>
              <a:ext cx="0" cy="292500"/>
            </a:xfrm>
            <a:prstGeom prst="straightConnector1">
              <a:avLst/>
            </a:prstGeom>
            <a:noFill/>
            <a:ln w="12700" cap="flat" cmpd="sng">
              <a:solidFill>
                <a:srgbClr val="9A9A9A"/>
              </a:solidFill>
              <a:prstDash val="solid"/>
              <a:round/>
              <a:headEnd type="none" w="sm" len="sm"/>
              <a:tailEnd type="triangle" w="med" len="med"/>
            </a:ln>
          </p:spPr>
        </p:cxnSp>
        <p:sp>
          <p:nvSpPr>
            <p:cNvPr id="279" name="Google Shape;279;p7"/>
            <p:cNvSpPr/>
            <p:nvPr/>
          </p:nvSpPr>
          <p:spPr>
            <a:xfrm>
              <a:off x="8544495" y="3696320"/>
              <a:ext cx="5487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9A9A"/>
                </a:buClr>
                <a:buSzPts val="900"/>
                <a:buFont typeface="Arial"/>
                <a:buNone/>
              </a:pPr>
              <a:r>
                <a:rPr lang="en-US" sz="900" i="1">
                  <a:solidFill>
                    <a:srgbClr val="9A9A9A"/>
                  </a:solidFill>
                  <a:latin typeface="Arial"/>
                  <a:ea typeface="Arial"/>
                  <a:cs typeface="Arial"/>
                  <a:sym typeface="Arial"/>
                </a:rPr>
                <a:t>yes</a:t>
              </a:r>
              <a:endParaRPr sz="900">
                <a:solidFill>
                  <a:schemeClr val="dk1"/>
                </a:solidFill>
                <a:latin typeface="Calibri"/>
                <a:ea typeface="Calibri"/>
                <a:cs typeface="Calibri"/>
                <a:sym typeface="Calibri"/>
              </a:endParaRPr>
            </a:p>
          </p:txBody>
        </p:sp>
        <p:sp>
          <p:nvSpPr>
            <p:cNvPr id="280" name="Google Shape;280;p7"/>
            <p:cNvSpPr/>
            <p:nvPr/>
          </p:nvSpPr>
          <p:spPr>
            <a:xfrm>
              <a:off x="7438071" y="3995928"/>
              <a:ext cx="2103000" cy="777300"/>
            </a:xfrm>
            <a:prstGeom prst="roundRect">
              <a:avLst>
                <a:gd name="adj" fmla="val 7059"/>
              </a:avLst>
            </a:prstGeom>
            <a:solidFill>
              <a:srgbClr val="FFD6CA"/>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7"/>
            <p:cNvSpPr/>
            <p:nvPr/>
          </p:nvSpPr>
          <p:spPr>
            <a:xfrm>
              <a:off x="7575231" y="4087368"/>
              <a:ext cx="18288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Arial"/>
                <a:buNone/>
              </a:pPr>
              <a:r>
                <a:rPr lang="en-US" sz="1050" b="1" dirty="0">
                  <a:latin typeface="Helvetica Neue"/>
                  <a:ea typeface="Helvetica Neue"/>
                  <a:cs typeface="Helvetica Neue"/>
                  <a:sym typeface="Helvetica Neue"/>
                </a:rPr>
                <a:t>RL Residual Correction</a:t>
              </a:r>
              <a:endParaRPr sz="1050" dirty="0">
                <a:latin typeface="Helvetica Neue"/>
                <a:ea typeface="Helvetica Neue"/>
                <a:cs typeface="Helvetica Neue"/>
                <a:sym typeface="Helvetica Neue"/>
              </a:endParaRPr>
            </a:p>
          </p:txBody>
        </p:sp>
        <p:sp>
          <p:nvSpPr>
            <p:cNvPr id="282" name="Google Shape;282;p7"/>
            <p:cNvSpPr/>
            <p:nvPr/>
          </p:nvSpPr>
          <p:spPr>
            <a:xfrm>
              <a:off x="7575231" y="4379976"/>
              <a:ext cx="18288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6D6D6"/>
                </a:buClr>
                <a:buSzPts val="950"/>
                <a:buFont typeface="Arial"/>
                <a:buNone/>
              </a:pPr>
              <a:r>
                <a:rPr lang="en-US" sz="950">
                  <a:latin typeface="Helvetica Neue"/>
                  <a:ea typeface="Helvetica Neue"/>
                  <a:cs typeface="Helvetica Neue"/>
                  <a:sym typeface="Helvetica Neue"/>
                </a:rPr>
                <a:t>Overrides C₀ + ΔC for this case only</a:t>
              </a:r>
              <a:endParaRPr sz="950">
                <a:latin typeface="Helvetica Neue"/>
                <a:ea typeface="Helvetica Neue"/>
                <a:cs typeface="Helvetica Neue"/>
                <a:sym typeface="Helvetica Neue"/>
              </a:endParaRPr>
            </a:p>
          </p:txBody>
        </p:sp>
        <p:cxnSp>
          <p:nvCxnSpPr>
            <p:cNvPr id="285" name="Google Shape;285;p7"/>
            <p:cNvCxnSpPr/>
            <p:nvPr/>
          </p:nvCxnSpPr>
          <p:spPr>
            <a:xfrm rot="10800000" flipH="1">
              <a:off x="9354798" y="3083118"/>
              <a:ext cx="569700" cy="7800"/>
            </a:xfrm>
            <a:prstGeom prst="straightConnector1">
              <a:avLst/>
            </a:prstGeom>
            <a:noFill/>
            <a:ln w="9525" cap="flat" cmpd="sng">
              <a:solidFill>
                <a:srgbClr val="9A9A9A"/>
              </a:solidFill>
              <a:prstDash val="solid"/>
              <a:round/>
              <a:headEnd type="none" w="med" len="med"/>
              <a:tailEnd type="triangle" w="med" len="med"/>
            </a:ln>
          </p:spPr>
        </p:cxnSp>
        <p:grpSp>
          <p:nvGrpSpPr>
            <p:cNvPr id="42" name="Group 41">
              <a:extLst>
                <a:ext uri="{FF2B5EF4-FFF2-40B4-BE49-F238E27FC236}">
                  <a16:creationId xmlns:a16="http://schemas.microsoft.com/office/drawing/2014/main" id="{50951743-CE69-E147-E5D3-20F236A2AF78}"/>
                </a:ext>
              </a:extLst>
            </p:cNvPr>
            <p:cNvGrpSpPr/>
            <p:nvPr/>
          </p:nvGrpSpPr>
          <p:grpSpPr>
            <a:xfrm>
              <a:off x="1973547" y="2623271"/>
              <a:ext cx="1602000" cy="960000"/>
              <a:chOff x="1182111" y="2606050"/>
              <a:chExt cx="1602000" cy="960000"/>
            </a:xfrm>
          </p:grpSpPr>
          <p:sp>
            <p:nvSpPr>
              <p:cNvPr id="44" name="Google Shape;261;p7">
                <a:extLst>
                  <a:ext uri="{FF2B5EF4-FFF2-40B4-BE49-F238E27FC236}">
                    <a16:creationId xmlns:a16="http://schemas.microsoft.com/office/drawing/2014/main" id="{7E8CE55F-B731-AAEE-C51B-02F5F9120D12}"/>
                  </a:ext>
                </a:extLst>
              </p:cNvPr>
              <p:cNvSpPr/>
              <p:nvPr/>
            </p:nvSpPr>
            <p:spPr>
              <a:xfrm>
                <a:off x="1182111" y="2606050"/>
                <a:ext cx="1602000" cy="960000"/>
              </a:xfrm>
              <a:prstGeom prst="roundRect">
                <a:avLst>
                  <a:gd name="adj" fmla="val 5714"/>
                </a:avLst>
              </a:prstGeom>
              <a:solidFill>
                <a:srgbClr val="FFD6CA"/>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62;p7">
                <a:extLst>
                  <a:ext uri="{FF2B5EF4-FFF2-40B4-BE49-F238E27FC236}">
                    <a16:creationId xmlns:a16="http://schemas.microsoft.com/office/drawing/2014/main" id="{6E81AA32-E99C-E00B-A53E-A15642F90264}"/>
                  </a:ext>
                </a:extLst>
              </p:cNvPr>
              <p:cNvSpPr/>
              <p:nvPr/>
            </p:nvSpPr>
            <p:spPr>
              <a:xfrm>
                <a:off x="1319271" y="2697480"/>
                <a:ext cx="12801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50"/>
                  <a:buFont typeface="Arial"/>
                  <a:buNone/>
                </a:pPr>
                <a:r>
                  <a:rPr lang="en-US" sz="1150" b="1" dirty="0">
                    <a:latin typeface="Helvetica Neue"/>
                    <a:ea typeface="Helvetica Neue"/>
                    <a:cs typeface="Helvetica Neue"/>
                    <a:sym typeface="Helvetica Neue"/>
                  </a:rPr>
                  <a:t>Difficulty probe</a:t>
                </a:r>
                <a:endParaRPr sz="1150" dirty="0">
                  <a:latin typeface="Helvetica Neue"/>
                  <a:ea typeface="Helvetica Neue"/>
                  <a:cs typeface="Helvetica Neue"/>
                  <a:sym typeface="Helvetica Neue"/>
                </a:endParaRPr>
              </a:p>
            </p:txBody>
          </p:sp>
          <p:sp>
            <p:nvSpPr>
              <p:cNvPr id="46" name="Google Shape;263;p7">
                <a:extLst>
                  <a:ext uri="{FF2B5EF4-FFF2-40B4-BE49-F238E27FC236}">
                    <a16:creationId xmlns:a16="http://schemas.microsoft.com/office/drawing/2014/main" id="{D78881B8-DB63-15C6-8663-B880EA33E8C9}"/>
                  </a:ext>
                </a:extLst>
              </p:cNvPr>
              <p:cNvSpPr/>
              <p:nvPr/>
            </p:nvSpPr>
            <p:spPr>
              <a:xfrm>
                <a:off x="1319271" y="3154680"/>
                <a:ext cx="1280100" cy="3840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D6D6D6"/>
                  </a:buClr>
                  <a:buSzPts val="950"/>
                  <a:buFont typeface="Arial"/>
                  <a:buNone/>
                </a:pPr>
                <a:endParaRPr sz="950" dirty="0">
                  <a:solidFill>
                    <a:schemeClr val="lt1"/>
                  </a:solidFill>
                  <a:latin typeface="Helvetica Neue"/>
                  <a:ea typeface="Helvetica Neue"/>
                  <a:cs typeface="Helvetica Neue"/>
                  <a:sym typeface="Helvetica Neue"/>
                </a:endParaRPr>
              </a:p>
            </p:txBody>
          </p:sp>
        </p:grpSp>
        <p:sp>
          <p:nvSpPr>
            <p:cNvPr id="43" name="Google Shape;270;p7">
              <a:extLst>
                <a:ext uri="{FF2B5EF4-FFF2-40B4-BE49-F238E27FC236}">
                  <a16:creationId xmlns:a16="http://schemas.microsoft.com/office/drawing/2014/main" id="{47581CC3-8317-3EF6-6AD1-50E96874A801}"/>
                </a:ext>
              </a:extLst>
            </p:cNvPr>
            <p:cNvSpPr/>
            <p:nvPr/>
          </p:nvSpPr>
          <p:spPr>
            <a:xfrm>
              <a:off x="1664197" y="2873369"/>
              <a:ext cx="3201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A9A9A"/>
                </a:buClr>
                <a:buSzPts val="2000"/>
                <a:buFont typeface="Arial"/>
                <a:buNone/>
              </a:pPr>
              <a:r>
                <a:rPr lang="en-US" sz="2000" dirty="0">
                  <a:solidFill>
                    <a:srgbClr val="9A9A9A"/>
                  </a:solidFill>
                  <a:latin typeface="Arial"/>
                  <a:ea typeface="Arial"/>
                  <a:cs typeface="Arial"/>
                  <a:sym typeface="Arial"/>
                </a:rPr>
                <a:t>→</a:t>
              </a:r>
              <a:endParaRPr sz="2000" dirty="0">
                <a:solidFill>
                  <a:schemeClr val="lt1"/>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137160"/>
            <a:ext cx="8503920" cy="566928"/>
          </a:xfrm>
          <a:prstGeom prst="rect">
            <a:avLst/>
          </a:prstGeom>
          <a:noFill/>
          <a:ln/>
        </p:spPr>
        <p:txBody>
          <a:bodyPr wrap="square" lIns="0" tIns="0" rIns="0" bIns="0" rtlCol="0" anchor="t"/>
          <a:lstStyle/>
          <a:p>
            <a:pPr marL="0" indent="0" algn="l">
              <a:buNone/>
            </a:pPr>
            <a:endParaRPr lang="en-US" sz="2500" dirty="0"/>
          </a:p>
        </p:txBody>
      </p:sp>
      <p:sp>
        <p:nvSpPr>
          <p:cNvPr id="3" name="Text 1"/>
          <p:cNvSpPr txBox="1"/>
          <p:nvPr/>
        </p:nvSpPr>
        <p:spPr>
          <a:xfrm>
            <a:off x="320040" y="1231392"/>
            <a:ext cx="4160520" cy="288036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rgbClr val="FF7900"/>
                </a:solidFill>
                <a:latin typeface="Helvetica Neue"/>
              </a:rPr>
              <a:t>Stage 1. Cheap Difficulty Signal Extraction</a:t>
            </a:r>
          </a:p>
          <a:p>
            <a:pPr marL="457200" lvl="1" indent="-228600">
              <a:spcAft>
                <a:spcPts val="400"/>
              </a:spcAft>
              <a:buSzPct val="100000"/>
              <a:buChar char="•"/>
            </a:pPr>
            <a:r>
              <a:rPr lang="en-US" sz="950" dirty="0">
                <a:solidFill>
                  <a:srgbClr val="FFFFFF"/>
                </a:solidFill>
                <a:latin typeface="Arial" pitchFamily="34" charset="0"/>
                <a:ea typeface="Arial" pitchFamily="34" charset="-122"/>
                <a:cs typeface="Arial" pitchFamily="34" charset="-120"/>
              </a:rPr>
              <a:t>Before any budget estimate, run a short, fixed-cost probe on the query — far cheaper than solving the problem itself</a:t>
            </a:r>
            <a:endParaRPr lang="en-US" sz="1150" dirty="0"/>
          </a:p>
          <a:p>
            <a:pPr marL="457200" lvl="1" indent="-228600">
              <a:spcAft>
                <a:spcPts val="400"/>
              </a:spcAft>
              <a:buSzPct val="100000"/>
              <a:buChar char="•"/>
            </a:pPr>
            <a:r>
              <a:rPr lang="en-US" sz="900" dirty="0">
                <a:solidFill>
                  <a:srgbClr val="FFFFFF"/>
                </a:solidFill>
                <a:latin typeface="Arial" pitchFamily="34" charset="0"/>
                <a:ea typeface="Arial" pitchFamily="34" charset="-122"/>
                <a:cs typeface="Arial" pitchFamily="34" charset="-120"/>
              </a:rPr>
              <a:t>(a) A short forced-CoT prefix (64–128 tokens) whose token-probability entropy trajectory is read out, in the style of DiffAdapt's U-shaped signal — the shape of the trajectory, not one value, carries the signal</a:t>
            </a:r>
            <a:endParaRPr lang="en-US" sz="1150" dirty="0"/>
          </a:p>
          <a:p>
            <a:pPr marL="457200" lvl="1" indent="-228600">
              <a:spcAft>
                <a:spcPts val="400"/>
              </a:spcAft>
              <a:buSzPct val="100000"/>
              <a:buChar char="•"/>
            </a:pPr>
            <a:r>
              <a:rPr lang="en-US" sz="900" dirty="0">
                <a:solidFill>
                  <a:srgbClr val="FFFFFF"/>
                </a:solidFill>
                <a:latin typeface="Arial" pitchFamily="34" charset="0"/>
                <a:ea typeface="Arial" pitchFamily="34" charset="-122"/>
                <a:cs typeface="Arial" pitchFamily="34" charset="-120"/>
              </a:rPr>
              <a:t>(b) The base model's final hidden state after reading the question only — no generation yet — fed to a small trained classifier; the classifier outputs a difficulty label or score</a:t>
            </a:r>
            <a:endParaRPr lang="en-US" sz="1150" dirty="0"/>
          </a:p>
          <a:p>
            <a:pPr marL="457200" lvl="1" indent="-228600">
              <a:spcAft>
                <a:spcPts val="400"/>
              </a:spcAft>
              <a:buSzPct val="100000"/>
              <a:buChar char="•"/>
            </a:pPr>
            <a:r>
              <a:rPr lang="en-US" sz="900" dirty="0">
                <a:solidFill>
                  <a:srgbClr val="FFFFFF"/>
                </a:solidFill>
                <a:latin typeface="Arial" pitchFamily="34" charset="0"/>
                <a:ea typeface="Arial" pitchFamily="34" charset="-122"/>
                <a:cs typeface="Arial" pitchFamily="34" charset="-120"/>
              </a:rPr>
              <a:t>Both cost a small, fixed number of extra tokens or a single forward pass, avoiding the chicken-and-egg problem of needing difficulty before any computation has happened</a:t>
            </a:r>
            <a:endParaRPr lang="en-US" sz="1150" dirty="0"/>
          </a:p>
          <a:p>
            <a:pPr marL="457200" lvl="1" indent="-228600">
              <a:spcAft>
                <a:spcPts val="500"/>
              </a:spcAft>
              <a:buSzPct val="100000"/>
              <a:buChar char="•"/>
            </a:pPr>
            <a:r>
              <a:rPr lang="en-US" sz="900" dirty="0">
                <a:solidFill>
                  <a:srgbClr val="FFFFFF"/>
                </a:solidFill>
                <a:latin typeface="Arial" pitchFamily="34" charset="0"/>
                <a:ea typeface="Arial" pitchFamily="34" charset="-122"/>
                <a:cs typeface="Arial" pitchFamily="34" charset="-120"/>
              </a:rPr>
              <a:t>Produces a cheap difficulty proxy d̂, reused to seed the predictive baseline (Stage 2) and as a candidate feature for the reactive signal (Stage 4) — computed once, so no stage pays for difficulty twice</a:t>
            </a:r>
            <a:endParaRPr lang="en-US" sz="1150" dirty="0"/>
          </a:p>
        </p:txBody>
      </p:sp>
      <p:sp>
        <p:nvSpPr>
          <p:cNvPr id="4" name="Shape 2"/>
          <p:cNvSpPr/>
          <p:nvPr/>
        </p:nvSpPr>
        <p:spPr>
          <a:xfrm>
            <a:off x="320040" y="3794760"/>
            <a:ext cx="1988820" cy="868680"/>
          </a:xfrm>
          <a:prstGeom prst="roundRect">
            <a:avLst>
              <a:gd name="adj" fmla="val 6316"/>
            </a:avLst>
          </a:prstGeom>
          <a:solidFill>
            <a:srgbClr val="000000"/>
          </a:solidFill>
          <a:ln w="12700">
            <a:solidFill>
              <a:srgbClr val="FF6600"/>
            </a:solidFill>
            <a:prstDash val="solid"/>
          </a:ln>
        </p:spPr>
      </p:sp>
      <p:sp>
        <p:nvSpPr>
          <p:cNvPr id="5" name="Text 3"/>
          <p:cNvSpPr txBox="1"/>
          <p:nvPr/>
        </p:nvSpPr>
        <p:spPr>
          <a:xfrm>
            <a:off x="374904" y="3873448"/>
            <a:ext cx="1879092" cy="201168"/>
          </a:xfrm>
          <a:prstGeom prst="rect">
            <a:avLst/>
          </a:prstGeom>
          <a:noFill/>
          <a:ln/>
        </p:spPr>
        <p:txBody>
          <a:bodyPr wrap="square" lIns="0" tIns="0" rIns="0" bIns="0" rtlCol="0" anchor="t"/>
          <a:lstStyle/>
          <a:p>
            <a:pPr marL="0" indent="0" algn="ctr">
              <a:buNone/>
            </a:pPr>
            <a:r>
              <a:rPr lang="en-US" sz="900" b="1" dirty="0">
                <a:solidFill>
                  <a:srgbClr val="FFFFFF"/>
                </a:solidFill>
                <a:latin typeface="Arial" pitchFamily="34" charset="0"/>
                <a:ea typeface="Arial" pitchFamily="34" charset="-122"/>
                <a:cs typeface="Arial" pitchFamily="34" charset="-120"/>
              </a:rPr>
              <a:t>Option A</a:t>
            </a:r>
            <a:endParaRPr lang="en-US" sz="900" dirty="0"/>
          </a:p>
        </p:txBody>
      </p:sp>
      <p:sp>
        <p:nvSpPr>
          <p:cNvPr id="6" name="Text 4"/>
          <p:cNvSpPr txBox="1"/>
          <p:nvPr/>
        </p:nvSpPr>
        <p:spPr>
          <a:xfrm>
            <a:off x="374904" y="4123224"/>
            <a:ext cx="1879092" cy="548640"/>
          </a:xfrm>
          <a:prstGeom prst="rect">
            <a:avLst/>
          </a:prstGeom>
          <a:noFill/>
          <a:ln/>
        </p:spPr>
        <p:txBody>
          <a:bodyPr wrap="square" lIns="0" tIns="0" rIns="0" bIns="0" rtlCol="0" anchor="t"/>
          <a:lstStyle/>
          <a:p>
            <a:pPr marL="0" indent="0" algn="ctr">
              <a:lnSpc>
                <a:spcPct val="105000"/>
              </a:lnSpc>
              <a:buNone/>
            </a:pPr>
            <a:r>
              <a:rPr lang="en-US" sz="800" dirty="0">
                <a:solidFill>
                  <a:srgbClr val="FFFFFF"/>
                </a:solidFill>
                <a:latin typeface="Arial" pitchFamily="34" charset="0"/>
                <a:ea typeface="Arial" pitchFamily="34" charset="-122"/>
                <a:cs typeface="Arial" pitchFamily="34" charset="-120"/>
              </a:rPr>
              <a:t>Forced-CoT prefix</a:t>
            </a:r>
            <a:endParaRPr lang="en-US" sz="800" dirty="0"/>
          </a:p>
          <a:p>
            <a:pPr marL="0" indent="0" algn="ctr">
              <a:lnSpc>
                <a:spcPct val="105000"/>
              </a:lnSpc>
              <a:buNone/>
            </a:pPr>
            <a:r>
              <a:rPr lang="en-US" sz="800" dirty="0">
                <a:solidFill>
                  <a:srgbClr val="FFFFFF"/>
                </a:solidFill>
                <a:latin typeface="Arial" pitchFamily="34" charset="0"/>
                <a:ea typeface="Arial" pitchFamily="34" charset="-122"/>
                <a:cs typeface="Arial" pitchFamily="34" charset="-120"/>
              </a:rPr>
              <a:t>→ entropy trajectory</a:t>
            </a:r>
            <a:endParaRPr lang="en-US" sz="800" dirty="0"/>
          </a:p>
        </p:txBody>
      </p:sp>
      <p:sp>
        <p:nvSpPr>
          <p:cNvPr id="7" name="Shape 5"/>
          <p:cNvSpPr/>
          <p:nvPr/>
        </p:nvSpPr>
        <p:spPr>
          <a:xfrm>
            <a:off x="2491740" y="3794760"/>
            <a:ext cx="1988820" cy="868680"/>
          </a:xfrm>
          <a:prstGeom prst="roundRect">
            <a:avLst>
              <a:gd name="adj" fmla="val 6316"/>
            </a:avLst>
          </a:prstGeom>
          <a:solidFill>
            <a:srgbClr val="000000"/>
          </a:solidFill>
          <a:ln w="12700">
            <a:solidFill>
              <a:srgbClr val="FF6600"/>
            </a:solidFill>
            <a:prstDash val="solid"/>
          </a:ln>
        </p:spPr>
      </p:sp>
      <p:sp>
        <p:nvSpPr>
          <p:cNvPr id="8" name="Text 6"/>
          <p:cNvSpPr txBox="1"/>
          <p:nvPr/>
        </p:nvSpPr>
        <p:spPr>
          <a:xfrm>
            <a:off x="2546604" y="3855400"/>
            <a:ext cx="1879092" cy="201168"/>
          </a:xfrm>
          <a:prstGeom prst="rect">
            <a:avLst/>
          </a:prstGeom>
          <a:noFill/>
          <a:ln/>
        </p:spPr>
        <p:txBody>
          <a:bodyPr wrap="square" lIns="0" tIns="0" rIns="0" bIns="0" rtlCol="0" anchor="t"/>
          <a:lstStyle/>
          <a:p>
            <a:pPr marL="0" indent="0" algn="ctr">
              <a:buNone/>
            </a:pPr>
            <a:r>
              <a:rPr lang="en-US" sz="900" b="1" dirty="0">
                <a:solidFill>
                  <a:srgbClr val="FFFFFF"/>
                </a:solidFill>
                <a:latin typeface="Arial" pitchFamily="34" charset="0"/>
                <a:ea typeface="Arial" pitchFamily="34" charset="-122"/>
                <a:cs typeface="Arial" pitchFamily="34" charset="-120"/>
              </a:rPr>
              <a:t>Option B</a:t>
            </a:r>
            <a:endParaRPr lang="en-US" sz="900" dirty="0"/>
          </a:p>
        </p:txBody>
      </p:sp>
      <p:sp>
        <p:nvSpPr>
          <p:cNvPr id="9" name="Text 7"/>
          <p:cNvSpPr txBox="1"/>
          <p:nvPr/>
        </p:nvSpPr>
        <p:spPr>
          <a:xfrm>
            <a:off x="2546604" y="4099160"/>
            <a:ext cx="1879092" cy="548640"/>
          </a:xfrm>
          <a:prstGeom prst="rect">
            <a:avLst/>
          </a:prstGeom>
          <a:noFill/>
          <a:ln/>
        </p:spPr>
        <p:txBody>
          <a:bodyPr wrap="square" lIns="0" tIns="0" rIns="0" bIns="0" rtlCol="0" anchor="t"/>
          <a:lstStyle/>
          <a:p>
            <a:pPr marL="0" indent="0" algn="ctr">
              <a:lnSpc>
                <a:spcPct val="105000"/>
              </a:lnSpc>
              <a:buNone/>
            </a:pPr>
            <a:r>
              <a:rPr lang="en-US" sz="800" dirty="0">
                <a:solidFill>
                  <a:srgbClr val="FFFFFF"/>
                </a:solidFill>
                <a:latin typeface="Arial" pitchFamily="34" charset="0"/>
                <a:ea typeface="Arial" pitchFamily="34" charset="-122"/>
                <a:cs typeface="Arial" pitchFamily="34" charset="-120"/>
              </a:rPr>
              <a:t>Hidden state</a:t>
            </a:r>
            <a:endParaRPr lang="en-US" sz="800" dirty="0"/>
          </a:p>
          <a:p>
            <a:pPr marL="0" indent="0" algn="ctr">
              <a:lnSpc>
                <a:spcPct val="105000"/>
              </a:lnSpc>
              <a:buNone/>
            </a:pPr>
            <a:r>
              <a:rPr lang="en-US" sz="800" dirty="0">
                <a:solidFill>
                  <a:srgbClr val="FFFFFF"/>
                </a:solidFill>
                <a:latin typeface="Arial" pitchFamily="34" charset="0"/>
                <a:ea typeface="Arial" pitchFamily="34" charset="-122"/>
                <a:cs typeface="Arial" pitchFamily="34" charset="-120"/>
              </a:rPr>
              <a:t>→ trained classifier</a:t>
            </a:r>
            <a:endParaRPr lang="en-US" sz="800" dirty="0"/>
          </a:p>
        </p:txBody>
      </p:sp>
      <p:sp>
        <p:nvSpPr>
          <p:cNvPr id="10" name="Text 8"/>
          <p:cNvSpPr txBox="1"/>
          <p:nvPr/>
        </p:nvSpPr>
        <p:spPr>
          <a:xfrm>
            <a:off x="4754880" y="1274064"/>
            <a:ext cx="4069080" cy="3389376"/>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rgbClr val="FF7900"/>
                </a:solidFill>
                <a:latin typeface="Helvetica Neue"/>
              </a:rPr>
              <a:t>Stage 2. Calibrated Theoretical Baseline</a:t>
            </a:r>
          </a:p>
          <a:p>
            <a:pPr marL="457200" lvl="1" indent="-228600">
              <a:spcAft>
                <a:spcPts val="400"/>
              </a:spcAft>
              <a:buSzPct val="100000"/>
              <a:buChar char="•"/>
            </a:pPr>
            <a:r>
              <a:rPr lang="en-US" sz="950" dirty="0">
                <a:solidFill>
                  <a:srgbClr val="FFFFFF"/>
                </a:solidFill>
                <a:latin typeface="Arial" pitchFamily="34" charset="0"/>
                <a:ea typeface="Arial" pitchFamily="34" charset="-122"/>
                <a:cs typeface="Arial" pitchFamily="34" charset="-120"/>
              </a:rPr>
              <a:t>A scaling-law fit, C₀ = A · d̂^β + C_min, where A, β, and C_min are fit per model family from a modest calibration set — A scales how fast compute grows with d̂, β sets curvature, C_min is the floor</a:t>
            </a:r>
            <a:endParaRPr lang="en-US" sz="1150" dirty="0"/>
          </a:p>
          <a:p>
            <a:pPr marL="457200" lvl="1" indent="-228600">
              <a:spcAft>
                <a:spcPts val="400"/>
              </a:spcAft>
              <a:buSzPct val="100000"/>
              <a:buChar char="•"/>
            </a:pPr>
            <a:r>
              <a:rPr lang="en-US" sz="900" dirty="0">
                <a:solidFill>
                  <a:srgbClr val="FFFFFF"/>
                </a:solidFill>
                <a:latin typeface="Arial" pitchFamily="34" charset="0"/>
                <a:ea typeface="Arial" pitchFamily="34" charset="-122"/>
                <a:cs typeface="Arial" pitchFamily="34" charset="-120"/>
              </a:rPr>
              <a:t>Grounded in compute-optimal scaling curves (accuracy rising, then saturating, with compute) and the marginal-value principle from learned-router work, i.e., diminishing returns beyond a point</a:t>
            </a:r>
            <a:endParaRPr lang="en-US" sz="1150" dirty="0"/>
          </a:p>
          <a:p>
            <a:pPr marL="457200" lvl="1" indent="-228600">
              <a:spcAft>
                <a:spcPts val="500"/>
              </a:spcAft>
              <a:buSzPct val="100000"/>
              <a:buChar char="•"/>
            </a:pPr>
            <a:r>
              <a:rPr lang="en-US" sz="900" dirty="0">
                <a:solidFill>
                  <a:srgbClr val="FFFFFF"/>
                </a:solidFill>
                <a:latin typeface="Arial" pitchFamily="34" charset="0"/>
                <a:ea typeface="Arial" pitchFamily="34" charset="-122"/>
                <a:cs typeface="Arial" pitchFamily="34" charset="-120"/>
              </a:rPr>
              <a:t>Only three free parameters per model family → needs little calibration data, stays interpretable, and gives every downstream stage a sane starting point instead of starting from zero</a:t>
            </a:r>
            <a:endParaRPr lang="en-US" sz="1150" dirty="0"/>
          </a:p>
        </p:txBody>
      </p:sp>
      <p:sp>
        <p:nvSpPr>
          <p:cNvPr id="11" name="Shape 9"/>
          <p:cNvSpPr/>
          <p:nvPr/>
        </p:nvSpPr>
        <p:spPr>
          <a:xfrm>
            <a:off x="4754880" y="3246120"/>
            <a:ext cx="4069080" cy="1417320"/>
          </a:xfrm>
          <a:prstGeom prst="roundRect">
            <a:avLst>
              <a:gd name="adj" fmla="val 3871"/>
            </a:avLst>
          </a:prstGeom>
          <a:solidFill>
            <a:srgbClr val="000000"/>
          </a:solidFill>
          <a:ln w="12700">
            <a:solidFill>
              <a:srgbClr val="FF6600"/>
            </a:solidFill>
            <a:prstDash val="solid"/>
          </a:ln>
        </p:spPr>
      </p:sp>
      <p:sp>
        <p:nvSpPr>
          <p:cNvPr id="12" name="Text 10"/>
          <p:cNvSpPr txBox="1"/>
          <p:nvPr/>
        </p:nvSpPr>
        <p:spPr>
          <a:xfrm>
            <a:off x="4864608" y="3300984"/>
            <a:ext cx="3849624" cy="219456"/>
          </a:xfrm>
          <a:prstGeom prst="rect">
            <a:avLst/>
          </a:prstGeom>
          <a:noFill/>
          <a:ln/>
        </p:spPr>
        <p:txBody>
          <a:bodyPr wrap="square" lIns="0" tIns="0" rIns="0" bIns="0" rtlCol="0" anchor="ctr"/>
          <a:lstStyle/>
          <a:p>
            <a:pPr marL="0" indent="0">
              <a:buNone/>
            </a:pPr>
            <a:r>
              <a:rPr lang="en-US" sz="900" b="1" dirty="0">
                <a:solidFill>
                  <a:srgbClr val="FF6600"/>
                </a:solidFill>
                <a:latin typeface="Arial" pitchFamily="34" charset="0"/>
                <a:ea typeface="Arial" pitchFamily="34" charset="-122"/>
                <a:cs typeface="Arial" pitchFamily="34" charset="-120"/>
              </a:rPr>
              <a:t>C₀ = A·d̂^β + C_min</a:t>
            </a:r>
            <a:endParaRPr lang="en-US" sz="900" dirty="0"/>
          </a:p>
        </p:txBody>
      </p:sp>
      <p:sp>
        <p:nvSpPr>
          <p:cNvPr id="13" name="Shape 11"/>
          <p:cNvSpPr/>
          <p:nvPr/>
        </p:nvSpPr>
        <p:spPr>
          <a:xfrm>
            <a:off x="5120640" y="3584448"/>
            <a:ext cx="0" cy="822960"/>
          </a:xfrm>
          <a:prstGeom prst="line">
            <a:avLst/>
          </a:prstGeom>
          <a:noFill/>
          <a:ln w="12700">
            <a:solidFill>
              <a:srgbClr val="FFFFFF"/>
            </a:solidFill>
            <a:prstDash val="solid"/>
          </a:ln>
        </p:spPr>
      </p:sp>
      <p:sp>
        <p:nvSpPr>
          <p:cNvPr id="14" name="Shape 12"/>
          <p:cNvSpPr/>
          <p:nvPr/>
        </p:nvSpPr>
        <p:spPr>
          <a:xfrm>
            <a:off x="5120640" y="4407408"/>
            <a:ext cx="3474720" cy="0"/>
          </a:xfrm>
          <a:prstGeom prst="line">
            <a:avLst/>
          </a:prstGeom>
          <a:noFill/>
          <a:ln w="12700">
            <a:solidFill>
              <a:srgbClr val="FFFFFF"/>
            </a:solidFill>
            <a:prstDash val="solid"/>
          </a:ln>
        </p:spPr>
      </p:sp>
      <p:sp>
        <p:nvSpPr>
          <p:cNvPr id="15" name="Shape 13"/>
          <p:cNvSpPr/>
          <p:nvPr/>
        </p:nvSpPr>
        <p:spPr>
          <a:xfrm flipV="1">
            <a:off x="5120640" y="4226357"/>
            <a:ext cx="1042416" cy="139903"/>
          </a:xfrm>
          <a:prstGeom prst="line">
            <a:avLst/>
          </a:prstGeom>
          <a:noFill/>
          <a:ln w="25400">
            <a:solidFill>
              <a:srgbClr val="FF6600"/>
            </a:solidFill>
            <a:prstDash val="solid"/>
          </a:ln>
        </p:spPr>
      </p:sp>
      <p:sp>
        <p:nvSpPr>
          <p:cNvPr id="16" name="Shape 14"/>
          <p:cNvSpPr/>
          <p:nvPr/>
        </p:nvSpPr>
        <p:spPr>
          <a:xfrm flipV="1">
            <a:off x="6163056" y="3995928"/>
            <a:ext cx="1042416" cy="230429"/>
          </a:xfrm>
          <a:prstGeom prst="line">
            <a:avLst/>
          </a:prstGeom>
          <a:noFill/>
          <a:ln w="25400">
            <a:solidFill>
              <a:srgbClr val="FF6600"/>
            </a:solidFill>
            <a:prstDash val="solid"/>
          </a:ln>
        </p:spPr>
      </p:sp>
      <p:sp>
        <p:nvSpPr>
          <p:cNvPr id="17" name="Shape 15"/>
          <p:cNvSpPr/>
          <p:nvPr/>
        </p:nvSpPr>
        <p:spPr>
          <a:xfrm flipV="1">
            <a:off x="7205472" y="3790188"/>
            <a:ext cx="694944" cy="205740"/>
          </a:xfrm>
          <a:prstGeom prst="line">
            <a:avLst/>
          </a:prstGeom>
          <a:noFill/>
          <a:ln w="25400">
            <a:solidFill>
              <a:srgbClr val="FF6600"/>
            </a:solidFill>
            <a:prstDash val="solid"/>
          </a:ln>
        </p:spPr>
      </p:sp>
      <p:sp>
        <p:nvSpPr>
          <p:cNvPr id="18" name="Shape 16"/>
          <p:cNvSpPr/>
          <p:nvPr/>
        </p:nvSpPr>
        <p:spPr>
          <a:xfrm flipV="1">
            <a:off x="7900416" y="3625596"/>
            <a:ext cx="694944" cy="164592"/>
          </a:xfrm>
          <a:prstGeom prst="line">
            <a:avLst/>
          </a:prstGeom>
          <a:noFill/>
          <a:ln w="25400">
            <a:solidFill>
              <a:srgbClr val="FF6600"/>
            </a:solidFill>
            <a:prstDash val="solid"/>
          </a:ln>
        </p:spPr>
      </p:sp>
      <p:sp>
        <p:nvSpPr>
          <p:cNvPr id="19" name="Text 17"/>
          <p:cNvSpPr txBox="1"/>
          <p:nvPr/>
        </p:nvSpPr>
        <p:spPr>
          <a:xfrm>
            <a:off x="6400800" y="4434840"/>
            <a:ext cx="914400" cy="164592"/>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difficulty (d̂)</a:t>
            </a:r>
            <a:endParaRPr lang="en-US" sz="750" dirty="0"/>
          </a:p>
        </p:txBody>
      </p:sp>
      <p:sp>
        <p:nvSpPr>
          <p:cNvPr id="20" name="Text 18"/>
          <p:cNvSpPr txBox="1"/>
          <p:nvPr/>
        </p:nvSpPr>
        <p:spPr>
          <a:xfrm>
            <a:off x="320040" y="4864608"/>
            <a:ext cx="1828800" cy="182880"/>
          </a:xfrm>
          <a:prstGeom prst="rect">
            <a:avLst/>
          </a:prstGeom>
          <a:noFill/>
          <a:ln/>
        </p:spPr>
        <p:txBody>
          <a:bodyPr wrap="square" lIns="0" tIns="0" rIns="0" bIns="0" rtlCol="0" anchor="ctr"/>
          <a:lstStyle/>
          <a:p>
            <a:pPr marL="0" indent="0" algn="l">
              <a:buNone/>
            </a:pPr>
            <a:r>
              <a:rPr lang="en-US" sz="800" b="1" dirty="0">
                <a:solidFill>
                  <a:srgbClr val="FF6600"/>
                </a:solidFill>
                <a:latin typeface="Arial" pitchFamily="34" charset="0"/>
                <a:ea typeface="Arial" pitchFamily="34" charset="-122"/>
                <a:cs typeface="Arial" pitchFamily="34" charset="-120"/>
              </a:rPr>
              <a:t>Orange Restricted</a:t>
            </a:r>
            <a:endParaRPr lang="en-US" sz="800" dirty="0"/>
          </a:p>
        </p:txBody>
      </p:sp>
      <p:sp>
        <p:nvSpPr>
          <p:cNvPr id="23" name="Text 0">
            <a:extLst>
              <a:ext uri="{FF2B5EF4-FFF2-40B4-BE49-F238E27FC236}">
                <a16:creationId xmlns:a16="http://schemas.microsoft.com/office/drawing/2014/main" id="{638B0010-06CA-9A34-5474-92101EE15333}"/>
              </a:ext>
            </a:extLst>
          </p:cNvPr>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2000" b="1" dirty="0">
                <a:solidFill>
                  <a:srgbClr val="FF7900"/>
                </a:solidFill>
                <a:latin typeface="Helvetica Neue"/>
                <a:sym typeface="Arial"/>
              </a:rPr>
              <a:t>3</a:t>
            </a: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 </a:t>
            </a:r>
            <a:r>
              <a:rPr lang="en-US" sz="2000" b="1" dirty="0">
                <a:solidFill>
                  <a:srgbClr val="FF6600"/>
                </a:solidFill>
                <a:latin typeface="Arial" pitchFamily="34" charset="0"/>
                <a:ea typeface="Arial" pitchFamily="34" charset="-122"/>
                <a:cs typeface="Arial" pitchFamily="34" charset="-120"/>
              </a:rPr>
              <a:t>Methodology</a:t>
            </a:r>
            <a:endPar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1300" b="1" dirty="0">
                <a:solidFill>
                  <a:srgbClr val="FF7900"/>
                </a:solidFill>
                <a:latin typeface="Helvetica Neue"/>
                <a:sym typeface="Arial"/>
              </a:rPr>
              <a:t>3</a:t>
            </a:r>
            <a:r>
              <a:rPr kumimoji="0" lang="en-US" sz="1300" b="1" i="0" u="none" strike="noStrike" kern="1200" cap="none" spc="0" normalizeH="0" baseline="0" noProof="0" dirty="0">
                <a:ln>
                  <a:noFill/>
                </a:ln>
                <a:solidFill>
                  <a:srgbClr val="FF7900"/>
                </a:solidFill>
                <a:effectLst/>
                <a:uLnTx/>
                <a:uFillTx/>
                <a:latin typeface="Helvetica Neue"/>
                <a:ea typeface="+mn-ea"/>
                <a:cs typeface="+mn-cs"/>
                <a:sym typeface="Arial"/>
              </a:rPr>
              <a:t>.2 THE PROPOSED APPROACH IN DETAILS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137160"/>
            <a:ext cx="8503920" cy="566928"/>
          </a:xfrm>
          <a:prstGeom prst="rect">
            <a:avLst/>
          </a:prstGeom>
          <a:noFill/>
          <a:ln/>
        </p:spPr>
        <p:txBody>
          <a:bodyPr wrap="square" lIns="0" tIns="0" rIns="0" bIns="0" rtlCol="0" anchor="t"/>
          <a:lstStyle/>
          <a:p>
            <a:pPr marL="0" indent="0" algn="l">
              <a:buNone/>
            </a:pPr>
            <a:endParaRPr lang="en-US" sz="2500" dirty="0"/>
          </a:p>
        </p:txBody>
      </p:sp>
      <p:sp>
        <p:nvSpPr>
          <p:cNvPr id="3" name="Text 1"/>
          <p:cNvSpPr txBox="1"/>
          <p:nvPr/>
        </p:nvSpPr>
        <p:spPr>
          <a:xfrm>
            <a:off x="320040" y="1115568"/>
            <a:ext cx="8503920" cy="2880360"/>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rgbClr val="FF7900"/>
                </a:solidFill>
                <a:latin typeface="Helvetica Neue"/>
              </a:rPr>
              <a:t>Stage 3. Predictive Correction</a:t>
            </a:r>
          </a:p>
          <a:p>
            <a:pPr marL="457200" lvl="1" indent="-228600">
              <a:spcAft>
                <a:spcPts val="400"/>
              </a:spcAft>
              <a:buSzPct val="100000"/>
              <a:buChar char="•"/>
            </a:pPr>
            <a:r>
              <a:rPr lang="en-US" sz="950" dirty="0">
                <a:solidFill>
                  <a:srgbClr val="FFFFFF"/>
                </a:solidFill>
                <a:latin typeface="Arial" pitchFamily="34" charset="0"/>
                <a:ea typeface="Arial" pitchFamily="34" charset="-122"/>
                <a:cs typeface="Arial" pitchFamily="34" charset="-120"/>
              </a:rPr>
              <a:t>ΔC = g(C₀, x), where x = {entropy trajectory from Stage 1, hidden-state probe output, optionally one extra short self-consistency sample}</a:t>
            </a:r>
            <a:endParaRPr lang="en-US" sz="1100" dirty="0"/>
          </a:p>
          <a:p>
            <a:pPr marL="457200" lvl="1" indent="-228600">
              <a:spcAft>
                <a:spcPts val="400"/>
              </a:spcAft>
              <a:buSzPct val="100000"/>
              <a:buChar char="•"/>
            </a:pPr>
            <a:r>
              <a:rPr lang="en-US" sz="950" dirty="0">
                <a:solidFill>
                  <a:srgbClr val="FFFFFF"/>
                </a:solidFill>
                <a:latin typeface="Arial" pitchFamily="34" charset="0"/>
                <a:ea typeface="Arial" pitchFamily="34" charset="-122"/>
                <a:cs typeface="Arial" pitchFamily="34" charset="-120"/>
              </a:rPr>
              <a:t>g is a lightweight regression model (not a full retraining of the base LLM) trained on the residual between C₀ and the empirically optimal compute measured during the Methodology A experiments — it only learns the correction on top of Stage 2's starting point</a:t>
            </a:r>
            <a:endParaRPr lang="en-US" sz="1100" dirty="0"/>
          </a:p>
          <a:p>
            <a:pPr marL="457200" lvl="1" indent="-228600">
              <a:spcAft>
                <a:spcPts val="800"/>
              </a:spcAft>
              <a:buSzPct val="100000"/>
              <a:buChar char="•"/>
            </a:pPr>
            <a:r>
              <a:rPr lang="en-US" sz="950" dirty="0">
                <a:solidFill>
                  <a:srgbClr val="FFFFFF"/>
                </a:solidFill>
                <a:latin typeface="Arial" pitchFamily="34" charset="0"/>
                <a:ea typeface="Arial" pitchFamily="34" charset="-122"/>
                <a:cs typeface="Arial" pitchFamily="34" charset="-120"/>
              </a:rPr>
              <a:t>Compared directly against DiffAdapt's probe and Damani's marginal-value predictor in the evaluation, since all three occupy the same predictive slot in the pipeline</a:t>
            </a:r>
            <a:endParaRPr lang="en-US" sz="1100" dirty="0"/>
          </a:p>
          <a:p>
            <a:pPr marL="177800" indent="-177800">
              <a:spcAft>
                <a:spcPts val="400"/>
              </a:spcAft>
              <a:buSzPct val="100000"/>
              <a:buChar char="●"/>
            </a:pPr>
            <a:r>
              <a:rPr lang="en-US" sz="1200" b="1" dirty="0">
                <a:solidFill>
                  <a:srgbClr val="FF7900"/>
                </a:solidFill>
                <a:latin typeface="Helvetica Neue"/>
              </a:rPr>
              <a:t>Stage 4. Reactive Exception Layer with a Statistical Guarantee</a:t>
            </a:r>
          </a:p>
          <a:p>
            <a:pPr marL="457200" lvl="1" indent="-228600">
              <a:spcAft>
                <a:spcPts val="400"/>
              </a:spcAft>
              <a:buSzPct val="100000"/>
              <a:buChar char="•"/>
            </a:pPr>
            <a:r>
              <a:rPr lang="en-US" sz="950" dirty="0">
                <a:solidFill>
                  <a:srgbClr val="FFFFFF"/>
                </a:solidFill>
                <a:latin typeface="Arial" pitchFamily="34" charset="0"/>
                <a:ea typeface="Arial" pitchFamily="34" charset="-122"/>
                <a:cs typeface="Arial" pitchFamily="34" charset="-120"/>
              </a:rPr>
              <a:t>Stages 1–3 fix a budget before generation starts; Stage 4 watches the generation as it happens for the subset of queries where the pre-set budget is likely wrong — this keeps costly monitoring off queries the baseline already handles</a:t>
            </a:r>
            <a:endParaRPr lang="en-US" sz="1100" dirty="0"/>
          </a:p>
          <a:p>
            <a:pPr marL="457200" lvl="1" indent="-228600">
              <a:spcAft>
                <a:spcPts val="400"/>
              </a:spcAft>
              <a:buSzPct val="100000"/>
              <a:buChar char="•"/>
            </a:pPr>
            <a:r>
              <a:rPr lang="en-US" sz="950" b="1" dirty="0">
                <a:solidFill>
                  <a:srgbClr val="FFFFFF"/>
                </a:solidFill>
                <a:latin typeface="Arial" pitchFamily="34" charset="0"/>
                <a:ea typeface="Arial" pitchFamily="34" charset="-122"/>
                <a:cs typeface="Arial" pitchFamily="34" charset="-120"/>
              </a:rPr>
              <a:t>A better reactive signal is tested, not assumed: </a:t>
            </a:r>
            <a:r>
              <a:rPr lang="en-US" sz="950" dirty="0">
                <a:solidFill>
                  <a:srgbClr val="FFFFFF"/>
                </a:solidFill>
                <a:latin typeface="Arial" pitchFamily="34" charset="0"/>
                <a:ea typeface="Arial" pitchFamily="34" charset="-122"/>
                <a:cs typeface="Arial" pitchFamily="34" charset="-120"/>
              </a:rPr>
              <a:t>evaluates the same hidden-state-derived indicator investigated in the reactive track as the stopping trigger, on calibration (ECE) and stopping accuracy against confidence/entropy baselines</a:t>
            </a:r>
            <a:endParaRPr lang="en-US" sz="1100" dirty="0"/>
          </a:p>
          <a:p>
            <a:pPr marL="457200" lvl="1" indent="-228600">
              <a:spcAft>
                <a:spcPts val="500"/>
              </a:spcAft>
              <a:buSzPct val="100000"/>
              <a:buChar char="•"/>
            </a:pPr>
            <a:r>
              <a:rPr lang="en-US" sz="950" b="1" dirty="0">
                <a:solidFill>
                  <a:srgbClr val="FFFFFF"/>
                </a:solidFill>
                <a:latin typeface="Arial" pitchFamily="34" charset="0"/>
                <a:ea typeface="Arial" pitchFamily="34" charset="-122"/>
                <a:cs typeface="Arial" pitchFamily="34" charset="-120"/>
              </a:rPr>
              <a:t>The trigger is calibrated, not hand-tuned: </a:t>
            </a:r>
            <a:r>
              <a:rPr lang="en-US" sz="950" dirty="0">
                <a:solidFill>
                  <a:srgbClr val="FFFFFF"/>
                </a:solidFill>
                <a:latin typeface="Arial" pitchFamily="34" charset="0"/>
                <a:ea typeface="Arial" pitchFamily="34" charset="-122"/>
                <a:cs typeface="Arial" pitchFamily="34" charset="-120"/>
              </a:rPr>
              <a:t>Learn-Then-Test conformal risk control derives an upper threshold (stop when confident) and a lower threshold (pre-emptively stop likely-unsolvable queries) with a finite-sample guarantee that stopping error stays below α — overriding C₀ + ΔC only for the flagged long-tail cases — the lower threshold covers queries a confidence-only rule would never stop</a:t>
            </a:r>
            <a:endParaRPr lang="en-US" sz="1100" dirty="0"/>
          </a:p>
        </p:txBody>
      </p:sp>
      <p:sp>
        <p:nvSpPr>
          <p:cNvPr id="4" name="Shape 2"/>
          <p:cNvSpPr/>
          <p:nvPr/>
        </p:nvSpPr>
        <p:spPr>
          <a:xfrm>
            <a:off x="320040" y="3840480"/>
            <a:ext cx="8503920" cy="868680"/>
          </a:xfrm>
          <a:prstGeom prst="roundRect">
            <a:avLst>
              <a:gd name="adj" fmla="val 6316"/>
            </a:avLst>
          </a:prstGeom>
          <a:solidFill>
            <a:srgbClr val="000000"/>
          </a:solidFill>
          <a:ln w="12700">
            <a:solidFill>
              <a:srgbClr val="FF6600"/>
            </a:solidFill>
            <a:prstDash val="solid"/>
          </a:ln>
        </p:spPr>
      </p:sp>
      <p:sp>
        <p:nvSpPr>
          <p:cNvPr id="5" name="Text 3"/>
          <p:cNvSpPr txBox="1"/>
          <p:nvPr/>
        </p:nvSpPr>
        <p:spPr>
          <a:xfrm>
            <a:off x="429768" y="3886200"/>
            <a:ext cx="8284464" cy="182880"/>
          </a:xfrm>
          <a:prstGeom prst="rect">
            <a:avLst/>
          </a:prstGeom>
          <a:noFill/>
          <a:ln/>
        </p:spPr>
        <p:txBody>
          <a:bodyPr wrap="square" lIns="0" tIns="0" rIns="0" bIns="0" rtlCol="0" anchor="ctr"/>
          <a:lstStyle/>
          <a:p>
            <a:pPr marL="0" indent="0">
              <a:buNone/>
            </a:pPr>
            <a:r>
              <a:rPr lang="en-US" sz="850" b="1" dirty="0">
                <a:solidFill>
                  <a:srgbClr val="FF6600"/>
                </a:solidFill>
                <a:latin typeface="Arial" pitchFamily="34" charset="0"/>
                <a:ea typeface="Arial" pitchFamily="34" charset="-122"/>
                <a:cs typeface="Arial" pitchFamily="34" charset="-120"/>
              </a:rPr>
              <a:t>Generation timeline with conformal thresholds</a:t>
            </a:r>
            <a:endParaRPr lang="en-US" sz="850" dirty="0"/>
          </a:p>
        </p:txBody>
      </p:sp>
      <p:sp>
        <p:nvSpPr>
          <p:cNvPr id="6" name="Shape 4"/>
          <p:cNvSpPr/>
          <p:nvPr/>
        </p:nvSpPr>
        <p:spPr>
          <a:xfrm>
            <a:off x="777240" y="4407408"/>
            <a:ext cx="7589520" cy="0"/>
          </a:xfrm>
          <a:prstGeom prst="line">
            <a:avLst/>
          </a:prstGeom>
          <a:noFill/>
          <a:ln w="19050">
            <a:solidFill>
              <a:srgbClr val="FFFFFF"/>
            </a:solidFill>
            <a:prstDash val="solid"/>
          </a:ln>
        </p:spPr>
      </p:sp>
      <p:sp>
        <p:nvSpPr>
          <p:cNvPr id="7" name="Shape 5"/>
          <p:cNvSpPr/>
          <p:nvPr/>
        </p:nvSpPr>
        <p:spPr>
          <a:xfrm>
            <a:off x="5938114" y="4242816"/>
            <a:ext cx="0" cy="164592"/>
          </a:xfrm>
          <a:prstGeom prst="line">
            <a:avLst/>
          </a:prstGeom>
          <a:noFill/>
          <a:ln w="19050">
            <a:solidFill>
              <a:srgbClr val="FF6600"/>
            </a:solidFill>
            <a:prstDash val="dash"/>
          </a:ln>
        </p:spPr>
      </p:sp>
      <p:sp>
        <p:nvSpPr>
          <p:cNvPr id="8" name="Text 6"/>
          <p:cNvSpPr txBox="1"/>
          <p:nvPr/>
        </p:nvSpPr>
        <p:spPr>
          <a:xfrm>
            <a:off x="5435194" y="4023360"/>
            <a:ext cx="1097280" cy="256032"/>
          </a:xfrm>
          <a:prstGeom prst="rect">
            <a:avLst/>
          </a:prstGeom>
          <a:noFill/>
          <a:ln/>
        </p:spPr>
        <p:txBody>
          <a:bodyPr wrap="square" lIns="0" tIns="0" rIns="0" bIns="0" rtlCol="0" anchor="ctr"/>
          <a:lstStyle/>
          <a:p>
            <a:pPr marL="0" indent="0" algn="ctr">
              <a:buNone/>
            </a:pPr>
            <a:r>
              <a:rPr lang="en-US" sz="700" dirty="0">
                <a:solidFill>
                  <a:srgbClr val="FF6600"/>
                </a:solidFill>
                <a:latin typeface="Arial" pitchFamily="34" charset="0"/>
                <a:ea typeface="Arial" pitchFamily="34" charset="-122"/>
                <a:cs typeface="Arial" pitchFamily="34" charset="-120"/>
              </a:rPr>
              <a:t>lower threshold</a:t>
            </a:r>
            <a:endParaRPr lang="en-US" sz="700" dirty="0"/>
          </a:p>
          <a:p>
            <a:pPr marL="0" indent="0" algn="ctr">
              <a:buNone/>
            </a:pPr>
            <a:r>
              <a:rPr lang="en-US" sz="700" dirty="0">
                <a:solidFill>
                  <a:srgbClr val="FF6600"/>
                </a:solidFill>
                <a:latin typeface="Arial" pitchFamily="34" charset="0"/>
                <a:ea typeface="Arial" pitchFamily="34" charset="-122"/>
                <a:cs typeface="Arial" pitchFamily="34" charset="-120"/>
              </a:rPr>
              <a:t>(pre-emptive stop)</a:t>
            </a:r>
            <a:endParaRPr lang="en-US" sz="700" dirty="0"/>
          </a:p>
        </p:txBody>
      </p:sp>
      <p:sp>
        <p:nvSpPr>
          <p:cNvPr id="9" name="Shape 7"/>
          <p:cNvSpPr/>
          <p:nvPr/>
        </p:nvSpPr>
        <p:spPr>
          <a:xfrm>
            <a:off x="3433572" y="4242816"/>
            <a:ext cx="0" cy="164592"/>
          </a:xfrm>
          <a:prstGeom prst="line">
            <a:avLst/>
          </a:prstGeom>
          <a:noFill/>
          <a:ln w="19050">
            <a:solidFill>
              <a:srgbClr val="FF6600"/>
            </a:solidFill>
            <a:prstDash val="dash"/>
          </a:ln>
        </p:spPr>
      </p:sp>
      <p:sp>
        <p:nvSpPr>
          <p:cNvPr id="10" name="Text 8"/>
          <p:cNvSpPr txBox="1"/>
          <p:nvPr/>
        </p:nvSpPr>
        <p:spPr>
          <a:xfrm>
            <a:off x="2884932" y="4023360"/>
            <a:ext cx="1188720" cy="256032"/>
          </a:xfrm>
          <a:prstGeom prst="rect">
            <a:avLst/>
          </a:prstGeom>
          <a:noFill/>
          <a:ln/>
        </p:spPr>
        <p:txBody>
          <a:bodyPr wrap="square" lIns="0" tIns="0" rIns="0" bIns="0" rtlCol="0" anchor="ctr"/>
          <a:lstStyle/>
          <a:p>
            <a:pPr marL="0" indent="0" algn="ctr">
              <a:buNone/>
            </a:pPr>
            <a:r>
              <a:rPr lang="en-US" sz="700" dirty="0">
                <a:solidFill>
                  <a:srgbClr val="FF6600"/>
                </a:solidFill>
                <a:latin typeface="Arial" pitchFamily="34" charset="0"/>
                <a:ea typeface="Arial" pitchFamily="34" charset="-122"/>
                <a:cs typeface="Arial" pitchFamily="34" charset="-120"/>
              </a:rPr>
              <a:t>upper threshold</a:t>
            </a:r>
            <a:endParaRPr lang="en-US" sz="700" dirty="0"/>
          </a:p>
          <a:p>
            <a:pPr marL="0" indent="0" algn="ctr">
              <a:buNone/>
            </a:pPr>
            <a:r>
              <a:rPr lang="en-US" sz="700" dirty="0">
                <a:solidFill>
                  <a:srgbClr val="FF6600"/>
                </a:solidFill>
                <a:latin typeface="Arial" pitchFamily="34" charset="0"/>
                <a:ea typeface="Arial" pitchFamily="34" charset="-122"/>
                <a:cs typeface="Arial" pitchFamily="34" charset="-120"/>
              </a:rPr>
              <a:t>(stop when confident)</a:t>
            </a:r>
            <a:endParaRPr lang="en-US" sz="700" dirty="0"/>
          </a:p>
        </p:txBody>
      </p:sp>
      <p:sp>
        <p:nvSpPr>
          <p:cNvPr id="11" name="Text 9"/>
          <p:cNvSpPr txBox="1"/>
          <p:nvPr/>
        </p:nvSpPr>
        <p:spPr>
          <a:xfrm>
            <a:off x="320040" y="4864608"/>
            <a:ext cx="1828800" cy="182880"/>
          </a:xfrm>
          <a:prstGeom prst="rect">
            <a:avLst/>
          </a:prstGeom>
          <a:noFill/>
          <a:ln/>
        </p:spPr>
        <p:txBody>
          <a:bodyPr wrap="square" lIns="0" tIns="0" rIns="0" bIns="0" rtlCol="0" anchor="ctr"/>
          <a:lstStyle/>
          <a:p>
            <a:pPr marL="0" indent="0" algn="l">
              <a:buNone/>
            </a:pPr>
            <a:r>
              <a:rPr lang="en-US" sz="800" b="1" dirty="0">
                <a:solidFill>
                  <a:srgbClr val="FF6600"/>
                </a:solidFill>
                <a:latin typeface="Arial" pitchFamily="34" charset="0"/>
                <a:ea typeface="Arial" pitchFamily="34" charset="-122"/>
                <a:cs typeface="Arial" pitchFamily="34" charset="-120"/>
              </a:rPr>
              <a:t>Orange Restricted</a:t>
            </a:r>
            <a:endParaRPr lang="en-US" sz="800" dirty="0"/>
          </a:p>
        </p:txBody>
      </p:sp>
      <p:sp>
        <p:nvSpPr>
          <p:cNvPr id="12" name="Text 0">
            <a:extLst>
              <a:ext uri="{FF2B5EF4-FFF2-40B4-BE49-F238E27FC236}">
                <a16:creationId xmlns:a16="http://schemas.microsoft.com/office/drawing/2014/main" id="{EA728A91-AC16-2DCE-931E-B3087F0C76D3}"/>
              </a:ext>
            </a:extLst>
          </p:cNvPr>
          <p:cNvSpPr txBox="1"/>
          <p:nvPr/>
        </p:nvSpPr>
        <p:spPr>
          <a:xfrm>
            <a:off x="320040" y="401858"/>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2000" b="1" dirty="0">
                <a:solidFill>
                  <a:srgbClr val="FF7900"/>
                </a:solidFill>
                <a:latin typeface="Helvetica Neue"/>
                <a:sym typeface="Arial"/>
              </a:rPr>
              <a:t>3</a:t>
            </a:r>
            <a:r>
              <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rPr>
              <a:t>. </a:t>
            </a:r>
            <a:r>
              <a:rPr lang="en-US" sz="2000" b="1" dirty="0">
                <a:solidFill>
                  <a:srgbClr val="FF6600"/>
                </a:solidFill>
                <a:latin typeface="Arial" pitchFamily="34" charset="0"/>
                <a:ea typeface="Arial" pitchFamily="34" charset="-122"/>
                <a:cs typeface="Arial" pitchFamily="34" charset="-120"/>
              </a:rPr>
              <a:t>Methodology</a:t>
            </a:r>
            <a:endParaRPr kumimoji="0" lang="en-US" sz="2000" b="1" i="0" u="none" strike="noStrike" kern="1200" cap="none" spc="0" normalizeH="0" baseline="0" noProof="0" dirty="0">
              <a:ln>
                <a:noFill/>
              </a:ln>
              <a:solidFill>
                <a:srgbClr val="FF7900"/>
              </a:solidFill>
              <a:effectLst/>
              <a:uLnTx/>
              <a:uFillTx/>
              <a:latin typeface="Helvetica Neue"/>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1300" b="1" dirty="0">
                <a:solidFill>
                  <a:srgbClr val="FF7900"/>
                </a:solidFill>
                <a:latin typeface="Helvetica Neue"/>
                <a:sym typeface="Arial"/>
              </a:rPr>
              <a:t>3</a:t>
            </a:r>
            <a:r>
              <a:rPr kumimoji="0" lang="en-US" sz="1300" b="1" i="0" u="none" strike="noStrike" kern="1200" cap="none" spc="0" normalizeH="0" baseline="0" noProof="0" dirty="0">
                <a:ln>
                  <a:noFill/>
                </a:ln>
                <a:solidFill>
                  <a:srgbClr val="FF7900"/>
                </a:solidFill>
                <a:effectLst/>
                <a:uLnTx/>
                <a:uFillTx/>
                <a:latin typeface="Helvetica Neue"/>
                <a:ea typeface="+mn-ea"/>
                <a:cs typeface="+mn-cs"/>
                <a:sym typeface="Arial"/>
              </a:rPr>
              <a:t>.2 THE PROPOSED APPROACH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000000"/>
        </a:solidFill>
        <a:effectLst/>
      </p:bgPr>
    </p:bg>
    <p:spTree>
      <p:nvGrpSpPr>
        <p:cNvPr id="1" name="Shape 290"/>
        <p:cNvGrpSpPr/>
        <p:nvPr/>
      </p:nvGrpSpPr>
      <p:grpSpPr>
        <a:xfrm>
          <a:off x="0" y="0"/>
          <a:ext cx="0" cy="0"/>
          <a:chOff x="0" y="0"/>
          <a:chExt cx="0" cy="0"/>
        </a:xfrm>
      </p:grpSpPr>
      <p:sp>
        <p:nvSpPr>
          <p:cNvPr id="294" name="Google Shape;294;p8"/>
          <p:cNvSpPr/>
          <p:nvPr/>
        </p:nvSpPr>
        <p:spPr>
          <a:xfrm>
            <a:off x="342900" y="329183"/>
            <a:ext cx="7886700" cy="219456"/>
          </a:xfrm>
          <a:prstGeom prst="rect">
            <a:avLst/>
          </a:prstGeom>
          <a:noFill/>
          <a:ln>
            <a:noFill/>
          </a:ln>
        </p:spPr>
        <p:txBody>
          <a:bodyPr spcFirstLastPara="1" wrap="square" lIns="0" tIns="0" rIns="0" bIns="0" anchor="ctr" anchorCtr="0">
            <a:noAutofit/>
          </a:bodyPr>
          <a:lstStyle/>
          <a:p>
            <a:pPr>
              <a:buClr>
                <a:srgbClr val="FF7900"/>
              </a:buClr>
              <a:buSzPts val="1500"/>
              <a:defRPr/>
            </a:pPr>
            <a:r>
              <a:rPr lang="en-US" sz="2000" b="1" dirty="0">
                <a:solidFill>
                  <a:srgbClr val="FF7900"/>
                </a:solidFill>
                <a:latin typeface="Helvetica Neue"/>
                <a:sym typeface="Helvetica Neue"/>
              </a:rPr>
              <a:t>4. TIMELINE</a:t>
            </a:r>
            <a:endParaRPr sz="2000" b="1" dirty="0">
              <a:solidFill>
                <a:srgbClr val="FF7900"/>
              </a:solidFill>
              <a:latin typeface="Helvetica Neue"/>
              <a:sym typeface="Helvetica Neue"/>
            </a:endParaRPr>
          </a:p>
        </p:txBody>
      </p:sp>
      <p:sp>
        <p:nvSpPr>
          <p:cNvPr id="295" name="Google Shape;295;p8"/>
          <p:cNvSpPr/>
          <p:nvPr/>
        </p:nvSpPr>
        <p:spPr>
          <a:xfrm>
            <a:off x="342900" y="664620"/>
            <a:ext cx="8435340" cy="425196"/>
          </a:xfrm>
          <a:prstGeom prst="rect">
            <a:avLst/>
          </a:prstGeom>
          <a:noFill/>
          <a:ln>
            <a:noFill/>
          </a:ln>
        </p:spPr>
        <p:txBody>
          <a:bodyPr spcFirstLastPara="1" wrap="square" lIns="0" tIns="0" rIns="0" bIns="0" anchor="ctr" anchorCtr="0">
            <a:noAutofit/>
          </a:bodyPr>
          <a:lstStyle/>
          <a:p>
            <a:pPr defTabSz="685800">
              <a:buClr>
                <a:srgbClr val="FFFFFF"/>
              </a:buClr>
              <a:buSzPts val="2600"/>
            </a:pPr>
            <a:r>
              <a:rPr lang="en-US" sz="1500" b="1" kern="0" dirty="0">
                <a:solidFill>
                  <a:srgbClr val="FFFFFF"/>
                </a:solidFill>
                <a:latin typeface="Helvetica Neue"/>
                <a:ea typeface="Helvetica Neue"/>
                <a:cs typeface="Helvetica Neue"/>
                <a:sym typeface="Helvetica Neue"/>
              </a:rPr>
              <a:t>10-week research plan</a:t>
            </a:r>
            <a:endParaRPr sz="1500" kern="0" dirty="0">
              <a:solidFill>
                <a:srgbClr val="FFFFFF"/>
              </a:solidFill>
              <a:latin typeface="Helvetica Neue"/>
              <a:ea typeface="Helvetica Neue"/>
              <a:cs typeface="Helvetica Neue"/>
              <a:sym typeface="Helvetica Neue"/>
            </a:endParaRPr>
          </a:p>
        </p:txBody>
      </p:sp>
      <p:sp>
        <p:nvSpPr>
          <p:cNvPr id="296" name="Google Shape;296;p8"/>
          <p:cNvSpPr/>
          <p:nvPr/>
        </p:nvSpPr>
        <p:spPr>
          <a:xfrm>
            <a:off x="342900" y="4855464"/>
            <a:ext cx="4114800" cy="205650"/>
          </a:xfrm>
          <a:prstGeom prst="rect">
            <a:avLst/>
          </a:prstGeom>
          <a:noFill/>
          <a:ln>
            <a:noFill/>
          </a:ln>
        </p:spPr>
        <p:txBody>
          <a:bodyPr spcFirstLastPara="1" wrap="square" lIns="0" tIns="0" rIns="0" bIns="0" anchor="ctr" anchorCtr="0">
            <a:noAutofit/>
          </a:bodyPr>
          <a:lstStyle/>
          <a:p>
            <a:pPr defTabSz="685800">
              <a:buClr>
                <a:srgbClr val="9A9A9A"/>
              </a:buClr>
              <a:buSzPts val="1000"/>
            </a:pPr>
            <a:r>
              <a:rPr lang="en-US" sz="750" kern="0">
                <a:solidFill>
                  <a:srgbClr val="9A9A9A"/>
                </a:solidFill>
                <a:latin typeface="Helvetica Neue"/>
                <a:ea typeface="Helvetica Neue"/>
                <a:cs typeface="Helvetica Neue"/>
                <a:sym typeface="Helvetica Neue"/>
              </a:rPr>
              <a:t>Dynamic Test-Time Compute Allocation</a:t>
            </a:r>
            <a:endParaRPr sz="750" kern="0">
              <a:solidFill>
                <a:srgbClr val="FFFFFF"/>
              </a:solidFill>
              <a:latin typeface="Helvetica Neue"/>
              <a:ea typeface="Helvetica Neue"/>
              <a:cs typeface="Helvetica Neue"/>
              <a:sym typeface="Helvetica Neue"/>
            </a:endParaRPr>
          </a:p>
        </p:txBody>
      </p:sp>
      <p:sp>
        <p:nvSpPr>
          <p:cNvPr id="297" name="Google Shape;297;p8"/>
          <p:cNvSpPr/>
          <p:nvPr/>
        </p:nvSpPr>
        <p:spPr>
          <a:xfrm>
            <a:off x="8320811" y="4855464"/>
            <a:ext cx="480060" cy="205740"/>
          </a:xfrm>
          <a:prstGeom prst="rect">
            <a:avLst/>
          </a:prstGeom>
          <a:noFill/>
          <a:ln>
            <a:noFill/>
          </a:ln>
        </p:spPr>
        <p:txBody>
          <a:bodyPr spcFirstLastPara="1" wrap="square" lIns="0" tIns="0" rIns="0" bIns="0" anchor="ctr" anchorCtr="0">
            <a:noAutofit/>
          </a:bodyPr>
          <a:lstStyle/>
          <a:p>
            <a:pPr algn="r" defTabSz="685800">
              <a:buClr>
                <a:srgbClr val="9A9A9A"/>
              </a:buClr>
              <a:buSzPts val="1000"/>
            </a:pPr>
            <a:r>
              <a:rPr lang="en-US" sz="750" kern="0">
                <a:solidFill>
                  <a:srgbClr val="9A9A9A"/>
                </a:solidFill>
                <a:latin typeface="Helvetica Neue"/>
                <a:ea typeface="Helvetica Neue"/>
                <a:cs typeface="Helvetica Neue"/>
                <a:sym typeface="Helvetica Neue"/>
              </a:rPr>
              <a:t>08</a:t>
            </a:r>
            <a:endParaRPr sz="750" kern="0">
              <a:solidFill>
                <a:srgbClr val="FFFFFF"/>
              </a:solidFill>
              <a:latin typeface="Helvetica Neue"/>
              <a:ea typeface="Helvetica Neue"/>
              <a:cs typeface="Helvetica Neue"/>
              <a:sym typeface="Helvetica Neue"/>
            </a:endParaRPr>
          </a:p>
        </p:txBody>
      </p:sp>
      <p:graphicFrame>
        <p:nvGraphicFramePr>
          <p:cNvPr id="298" name="Google Shape;298;p8"/>
          <p:cNvGraphicFramePr/>
          <p:nvPr>
            <p:extLst>
              <p:ext uri="{D42A27DB-BD31-4B8C-83A1-F6EECF244321}">
                <p14:modId xmlns:p14="http://schemas.microsoft.com/office/powerpoint/2010/main" val="2828592903"/>
              </p:ext>
            </p:extLst>
          </p:nvPr>
        </p:nvGraphicFramePr>
        <p:xfrm>
          <a:off x="377190" y="1263314"/>
          <a:ext cx="8401050" cy="2160270"/>
        </p:xfrm>
        <a:graphic>
          <a:graphicData uri="http://schemas.openxmlformats.org/drawingml/2006/chart">
            <c:chart xmlns:c="http://schemas.openxmlformats.org/drawingml/2006/chart" xmlns:r="http://schemas.openxmlformats.org/officeDocument/2006/relationships" r:id="rId3"/>
          </a:graphicData>
        </a:graphic>
      </p:graphicFrame>
      <p:sp>
        <p:nvSpPr>
          <p:cNvPr id="299" name="Google Shape;299;p8"/>
          <p:cNvSpPr/>
          <p:nvPr/>
        </p:nvSpPr>
        <p:spPr>
          <a:xfrm>
            <a:off x="377190" y="3669030"/>
            <a:ext cx="8366760" cy="1303020"/>
          </a:xfrm>
          <a:prstGeom prst="rect">
            <a:avLst/>
          </a:prstGeom>
          <a:noFill/>
          <a:ln>
            <a:noFill/>
          </a:ln>
        </p:spPr>
        <p:txBody>
          <a:bodyPr spcFirstLastPara="1" wrap="square" lIns="68569" tIns="34275" rIns="68569" bIns="34275" anchor="t" anchorCtr="0">
            <a:noAutofit/>
          </a:bodyPr>
          <a:lstStyle/>
          <a:p>
            <a:pPr marL="133350" lvl="1" defTabSz="685800">
              <a:buClr>
                <a:srgbClr val="D6D6D6"/>
              </a:buClr>
              <a:buSzPts val="1050"/>
            </a:pPr>
            <a:r>
              <a:rPr lang="en-US" sz="1000" kern="0" dirty="0">
                <a:solidFill>
                  <a:srgbClr val="D6D6D6"/>
                </a:solidFill>
                <a:latin typeface="Helvetica Neue"/>
                <a:ea typeface="Helvetica Neue"/>
                <a:cs typeface="Helvetica Neue"/>
                <a:sym typeface="Helvetica Neue"/>
              </a:rPr>
              <a:t>W1&amp;2 : single-model, single-task compute–performance curves; confirm under/overthinking exists (the H1 baseline).</a:t>
            </a:r>
            <a:endParaRPr lang="en-US" sz="1000" kern="0" dirty="0">
              <a:solidFill>
                <a:srgbClr val="FFFFFF"/>
              </a:solidFill>
              <a:latin typeface="Helvetica Neue"/>
              <a:ea typeface="Helvetica Neue"/>
              <a:cs typeface="Helvetica Neue"/>
              <a:sym typeface="Helvetica Neue"/>
            </a:endParaRPr>
          </a:p>
          <a:p>
            <a:pPr marL="133350" lvl="1" defTabSz="685800">
              <a:spcBef>
                <a:spcPts val="375"/>
              </a:spcBef>
              <a:buClr>
                <a:srgbClr val="D6D6D6"/>
              </a:buClr>
              <a:buSzPts val="1050"/>
            </a:pPr>
            <a:r>
              <a:rPr lang="en-US" sz="1000" kern="0" dirty="0">
                <a:solidFill>
                  <a:srgbClr val="D6D6D6"/>
                </a:solidFill>
                <a:latin typeface="Helvetica Neue"/>
                <a:ea typeface="Helvetica Neue"/>
                <a:cs typeface="Helvetica Neue"/>
                <a:sym typeface="Helvetica Neue"/>
              </a:rPr>
              <a:t>W3&amp;4 : repeat the H1 protocol across model families and sizes (H2): does the curve shape hold beyond one model?</a:t>
            </a:r>
            <a:endParaRPr lang="en-US" sz="1000" kern="0" dirty="0">
              <a:solidFill>
                <a:srgbClr val="FFFFFF"/>
              </a:solidFill>
              <a:latin typeface="Helvetica Neue"/>
              <a:ea typeface="Helvetica Neue"/>
              <a:cs typeface="Helvetica Neue"/>
              <a:sym typeface="Helvetica Neue"/>
            </a:endParaRPr>
          </a:p>
          <a:p>
            <a:pPr marL="133350" lvl="1" defTabSz="685800">
              <a:spcBef>
                <a:spcPts val="375"/>
              </a:spcBef>
              <a:buClr>
                <a:srgbClr val="D6D6D6"/>
              </a:buClr>
              <a:buSzPts val="1050"/>
            </a:pPr>
            <a:r>
              <a:rPr lang="en-US" sz="1000" kern="0" dirty="0">
                <a:solidFill>
                  <a:srgbClr val="D6D6D6"/>
                </a:solidFill>
                <a:latin typeface="Helvetica Neue"/>
                <a:ea typeface="Helvetica Neue"/>
                <a:cs typeface="Helvetica Neue"/>
                <a:sym typeface="Helvetica Neue"/>
              </a:rPr>
              <a:t>W5&amp;6 : cross-task generalization tests; derive the theoretical allocation equation (H3); fit A, β, C_min.</a:t>
            </a:r>
            <a:endParaRPr lang="en-US" sz="1000" kern="0" dirty="0">
              <a:solidFill>
                <a:srgbClr val="FFFFFF"/>
              </a:solidFill>
              <a:latin typeface="Helvetica Neue"/>
              <a:ea typeface="Helvetica Neue"/>
              <a:cs typeface="Helvetica Neue"/>
              <a:sym typeface="Helvetica Neue"/>
            </a:endParaRPr>
          </a:p>
          <a:p>
            <a:pPr marL="133350" lvl="1" defTabSz="685800">
              <a:spcBef>
                <a:spcPts val="375"/>
              </a:spcBef>
              <a:buClr>
                <a:srgbClr val="D6D6D6"/>
              </a:buClr>
              <a:buSzPts val="1050"/>
            </a:pPr>
            <a:r>
              <a:rPr lang="en-US" sz="1000" kern="0" dirty="0" err="1">
                <a:solidFill>
                  <a:srgbClr val="D6D6D6"/>
                </a:solidFill>
                <a:latin typeface="Helvetica Neue"/>
                <a:ea typeface="Helvetica Neue"/>
                <a:cs typeface="Helvetica Neue"/>
                <a:sym typeface="Helvetica Neue"/>
              </a:rPr>
              <a:t>Wk</a:t>
            </a:r>
            <a:r>
              <a:rPr lang="en-US" sz="1000" kern="0" dirty="0">
                <a:solidFill>
                  <a:srgbClr val="D6D6D6"/>
                </a:solidFill>
                <a:latin typeface="Helvetica Neue"/>
                <a:ea typeface="Helvetica Neue"/>
                <a:cs typeface="Helvetica Neue"/>
                <a:sym typeface="Helvetica Neue"/>
              </a:rPr>
              <a:t> 7&amp;8 : train and evaluate the predictive correction layer on top of the theoretical estimate — compared with DiffAdapt.</a:t>
            </a:r>
            <a:endParaRPr lang="en-US" sz="1000" kern="0" dirty="0">
              <a:solidFill>
                <a:srgbClr val="FFFFFF"/>
              </a:solidFill>
              <a:latin typeface="Helvetica Neue"/>
              <a:ea typeface="Helvetica Neue"/>
              <a:cs typeface="Helvetica Neue"/>
              <a:sym typeface="Helvetica Neue"/>
            </a:endParaRPr>
          </a:p>
          <a:p>
            <a:pPr marL="133350" lvl="1" defTabSz="685800">
              <a:spcBef>
                <a:spcPts val="375"/>
              </a:spcBef>
              <a:buClr>
                <a:srgbClr val="D6D6D6"/>
              </a:buClr>
              <a:buSzPts val="1050"/>
            </a:pPr>
            <a:r>
              <a:rPr lang="en-US" sz="1000" kern="0" dirty="0" err="1">
                <a:solidFill>
                  <a:srgbClr val="D6D6D6"/>
                </a:solidFill>
                <a:latin typeface="Helvetica Neue"/>
                <a:ea typeface="Helvetica Neue"/>
                <a:cs typeface="Helvetica Neue"/>
                <a:sym typeface="Helvetica Neue"/>
              </a:rPr>
              <a:t>Wk</a:t>
            </a:r>
            <a:r>
              <a:rPr lang="en-US" sz="1000" kern="0" dirty="0">
                <a:solidFill>
                  <a:srgbClr val="D6D6D6"/>
                </a:solidFill>
                <a:latin typeface="Helvetica Neue"/>
                <a:ea typeface="Helvetica Neue"/>
                <a:cs typeface="Helvetica Neue"/>
                <a:sym typeface="Helvetica Neue"/>
              </a:rPr>
              <a:t> 9&amp;10 : RL residual policy; assemble the full pipeline; write-up and defense prep.</a:t>
            </a:r>
            <a:endParaRPr lang="en-US" sz="1000" kern="0" dirty="0">
              <a:solidFill>
                <a:srgbClr val="FFFFFF"/>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338328" y="137160"/>
            <a:ext cx="0" cy="4828032"/>
          </a:xfrm>
          <a:prstGeom prst="line">
            <a:avLst/>
          </a:prstGeom>
          <a:noFill/>
          <a:ln w="53975">
            <a:solidFill>
              <a:srgbClr val="FF6600"/>
            </a:solidFill>
            <a:prstDash val="solid"/>
          </a:ln>
        </p:spPr>
      </p:sp>
      <p:sp>
        <p:nvSpPr>
          <p:cNvPr id="3" name="Text 1"/>
          <p:cNvSpPr txBox="1"/>
          <p:nvPr/>
        </p:nvSpPr>
        <p:spPr>
          <a:xfrm>
            <a:off x="530352" y="384048"/>
            <a:ext cx="2743200" cy="777240"/>
          </a:xfrm>
          <a:prstGeom prst="rect">
            <a:avLst/>
          </a:prstGeom>
          <a:noFill/>
          <a:ln/>
        </p:spPr>
        <p:txBody>
          <a:bodyPr wrap="square" lIns="0" tIns="0" rIns="0" bIns="0" rtlCol="0" anchor="t"/>
          <a:lstStyle/>
          <a:p>
            <a:pPr marL="0" indent="0">
              <a:lnSpc>
                <a:spcPts val="2400"/>
              </a:lnSpc>
              <a:buNone/>
            </a:pPr>
            <a:r>
              <a:rPr lang="en-US" sz="2000" dirty="0">
                <a:solidFill>
                  <a:srgbClr val="FF6600"/>
                </a:solidFill>
                <a:latin typeface="Arial" pitchFamily="34" charset="0"/>
                <a:ea typeface="Arial" pitchFamily="34" charset="-122"/>
                <a:cs typeface="Arial" pitchFamily="34" charset="-120"/>
              </a:rPr>
              <a:t>Orange</a:t>
            </a:r>
          </a:p>
          <a:p>
            <a:pPr marL="0" indent="0">
              <a:lnSpc>
                <a:spcPts val="2400"/>
              </a:lnSpc>
              <a:buNone/>
            </a:pPr>
            <a:r>
              <a:rPr lang="en-US" sz="2000" dirty="0">
                <a:solidFill>
                  <a:srgbClr val="FFFFFF"/>
                </a:solidFill>
                <a:latin typeface="Arial" pitchFamily="34" charset="0"/>
                <a:ea typeface="Arial" pitchFamily="34" charset="-122"/>
                <a:cs typeface="Arial" pitchFamily="34" charset="-120"/>
              </a:rPr>
              <a:t>Innovation</a:t>
            </a:r>
            <a:endParaRPr lang="en-US" sz="2000" dirty="0"/>
          </a:p>
        </p:txBody>
      </p:sp>
      <p:sp>
        <p:nvSpPr>
          <p:cNvPr id="4" name="Text 2"/>
          <p:cNvSpPr txBox="1"/>
          <p:nvPr/>
        </p:nvSpPr>
        <p:spPr>
          <a:xfrm>
            <a:off x="868680" y="2011680"/>
            <a:ext cx="7315200" cy="1280160"/>
          </a:xfrm>
          <a:prstGeom prst="rect">
            <a:avLst/>
          </a:prstGeom>
          <a:noFill/>
          <a:ln/>
        </p:spPr>
        <p:txBody>
          <a:bodyPr wrap="square" lIns="0" tIns="0" rIns="0" bIns="0" rtlCol="0" anchor="t"/>
          <a:lstStyle/>
          <a:p>
            <a:pPr>
              <a:lnSpc>
                <a:spcPct val="105000"/>
              </a:lnSpc>
            </a:pPr>
            <a:r>
              <a:rPr lang="en-US" sz="3000" dirty="0">
                <a:solidFill>
                  <a:srgbClr val="FFFFFF"/>
                </a:solidFill>
                <a:latin typeface="Arial" pitchFamily="34" charset="0"/>
                <a:cs typeface="Arial" pitchFamily="34" charset="-120"/>
              </a:rPr>
              <a:t>Data Collection for H’s</a:t>
            </a:r>
          </a:p>
        </p:txBody>
      </p:sp>
      <p:sp>
        <p:nvSpPr>
          <p:cNvPr id="5" name="Shape 3"/>
          <p:cNvSpPr/>
          <p:nvPr/>
        </p:nvSpPr>
        <p:spPr>
          <a:xfrm>
            <a:off x="8229600" y="4233672"/>
            <a:ext cx="612648" cy="612648"/>
          </a:xfrm>
          <a:prstGeom prst="rect">
            <a:avLst/>
          </a:prstGeom>
          <a:solidFill>
            <a:srgbClr val="FF6600"/>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233415"/>
            <a:ext cx="8503920" cy="566928"/>
          </a:xfrm>
          <a:prstGeom prst="rect">
            <a:avLst/>
          </a:prstGeom>
          <a:noFill/>
          <a:ln/>
        </p:spPr>
        <p:txBody>
          <a:bodyPr wrap="square" lIns="0" tIns="0" rIns="0" bIns="0" rtlCol="0" anchor="t"/>
          <a:lstStyle/>
          <a:p>
            <a:pPr>
              <a:buClr>
                <a:srgbClr val="FF7900"/>
              </a:buClr>
              <a:buSzPts val="1500"/>
              <a:defRPr/>
            </a:pPr>
            <a:r>
              <a:rPr lang="en-US" sz="1900" b="1" dirty="0">
                <a:solidFill>
                  <a:srgbClr val="FF7900"/>
                </a:solidFill>
                <a:latin typeface="Helvetica Neue"/>
              </a:rPr>
              <a:t>Controlled Multi-Model Data Collection</a:t>
            </a: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1500" b="1" dirty="0">
                <a:solidFill>
                  <a:srgbClr val="FF7900"/>
                </a:solidFill>
                <a:latin typeface="Helvetica Neue"/>
                <a:sym typeface="Arial"/>
              </a:rPr>
              <a:t>1. Setup</a:t>
            </a:r>
          </a:p>
        </p:txBody>
      </p:sp>
      <p:sp>
        <p:nvSpPr>
          <p:cNvPr id="3" name="Text 1"/>
          <p:cNvSpPr txBox="1"/>
          <p:nvPr/>
        </p:nvSpPr>
        <p:spPr>
          <a:xfrm>
            <a:off x="320040" y="945603"/>
            <a:ext cx="8503920" cy="3711742"/>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800"/>
              </a:spcBef>
              <a:spcAft>
                <a:spcPts val="800"/>
              </a:spcAft>
              <a:buClrTx/>
              <a:buSzPct val="100000"/>
              <a:buFontTx/>
              <a:buChar char="●"/>
              <a:tabLst/>
              <a:defRPr/>
            </a:pPr>
            <a:r>
              <a:rPr lang="en-US" sz="1200" b="1" dirty="0">
                <a:solidFill>
                  <a:srgbClr val="FF7900"/>
                </a:solidFill>
                <a:latin typeface="Helvetica Neue"/>
              </a:rPr>
              <a:t>Purpose</a:t>
            </a:r>
            <a:r>
              <a:rPr kumimoji="0" lang="en-US" sz="13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 </a:t>
            </a:r>
            <a:r>
              <a:rPr lang="en-US" sz="1200" dirty="0">
                <a:solidFill>
                  <a:srgbClr val="FFFFFF"/>
                </a:solidFill>
                <a:latin typeface="Arial" pitchFamily="34" charset="0"/>
                <a:cs typeface="Arial" pitchFamily="34" charset="-120"/>
              </a:rPr>
              <a:t>Build a controlled, multi-model dataset to empirically test the research hypotheses (H1 and H2) by investigating how reasoning compute affects model accuracy, reasoning behavior, and computational cost.</a:t>
            </a:r>
          </a:p>
          <a:p>
            <a:pPr marL="177800" marR="0" lvl="0" indent="-177800" algn="l" defTabSz="914400" rtl="0" eaLnBrk="1" fontAlgn="auto" latinLnBrk="0" hangingPunct="1">
              <a:lnSpc>
                <a:spcPct val="100000"/>
              </a:lnSpc>
              <a:spcBef>
                <a:spcPts val="0"/>
              </a:spcBef>
              <a:spcAft>
                <a:spcPts val="400"/>
              </a:spcAft>
              <a:buClrTx/>
              <a:buSzPct val="100000"/>
              <a:buFontTx/>
              <a:buChar char="●"/>
              <a:tabLst/>
              <a:defRPr/>
            </a:pPr>
            <a:r>
              <a:rPr kumimoji="0" lang="en-US" sz="1200" b="1" i="0" u="none" strike="noStrike" kern="1200" cap="none" spc="0" normalizeH="0" baseline="0" noProof="0" dirty="0">
                <a:ln>
                  <a:noFill/>
                </a:ln>
                <a:solidFill>
                  <a:srgbClr val="FF7900"/>
                </a:solidFill>
                <a:effectLst/>
                <a:uLnTx/>
                <a:uFillTx/>
                <a:latin typeface="Helvetica Neue"/>
                <a:ea typeface="+mn-ea"/>
                <a:cs typeface="+mn-cs"/>
              </a:rPr>
              <a:t>Problem and Requirements.</a:t>
            </a:r>
            <a:r>
              <a:rPr kumimoji="0" lang="en-US" sz="13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t>
            </a:r>
            <a:r>
              <a:rPr lang="en-US" sz="1200" dirty="0">
                <a:solidFill>
                  <a:srgbClr val="FFFFFF"/>
                </a:solidFill>
                <a:latin typeface="Arial" pitchFamily="34" charset="0"/>
                <a:cs typeface="Arial" pitchFamily="34" charset="-120"/>
              </a:rPr>
              <a:t>The proposed hypothesis examines how accuracy changes with thinking compute. Testing this requires controlling compute rather than observing it, since reasoning length is otherwise confounded with question difficulty. This requires six key components:</a:t>
            </a:r>
          </a:p>
          <a:p>
            <a:pPr marL="457200" marR="0" lvl="1" indent="-228600" algn="l" defTabSz="914400" rtl="0" eaLnBrk="1" fontAlgn="auto" latinLnBrk="0" hangingPunct="1">
              <a:lnSpc>
                <a:spcPct val="100000"/>
              </a:lnSpc>
              <a:spcBef>
                <a:spcPts val="0"/>
              </a:spcBef>
              <a:spcAft>
                <a:spcPts val="300"/>
              </a:spcAft>
              <a:buClrTx/>
              <a:buSzPct val="100000"/>
              <a:buFontTx/>
              <a:buChar char="•"/>
              <a:tabLst/>
              <a:defRPr/>
            </a:pPr>
            <a:r>
              <a:rPr lang="en-US" sz="1100" b="1" dirty="0">
                <a:solidFill>
                  <a:schemeClr val="bg1"/>
                </a:solidFill>
                <a:latin typeface="Consolas" panose="020B0609020204030204" pitchFamily="49" charset="0"/>
              </a:rPr>
              <a:t>A verifiable decoding-time cap </a:t>
            </a:r>
            <a:r>
              <a:rPr lang="en-US" sz="1100" dirty="0">
                <a:solidFill>
                  <a:srgbClr val="FFFFFF"/>
                </a:solidFill>
                <a:latin typeface="Arial" pitchFamily="34" charset="0"/>
                <a:cs typeface="Arial" pitchFamily="34" charset="-120"/>
              </a:rPr>
              <a:t>that ends reasoning at a requested budget regardless of what the model "wants". A cap that fails silently produces plausible but meaningless curves, so it is backed by a </a:t>
            </a: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tokenizer pre-flight, a pilot run and a live canary that prove it works</a:t>
            </a:r>
          </a:p>
          <a:p>
            <a:pPr marL="457200" marR="0" lvl="1" indent="-228600" algn="l" defTabSz="914400" rtl="0" eaLnBrk="1" fontAlgn="auto" latinLnBrk="0" hangingPunct="1">
              <a:lnSpc>
                <a:spcPct val="100000"/>
              </a:lnSpc>
              <a:spcBef>
                <a:spcPts val="0"/>
              </a:spcBef>
              <a:spcAft>
                <a:spcPts val="300"/>
              </a:spcAft>
              <a:buClrTx/>
              <a:buSzPct val="100000"/>
              <a:buFontTx/>
              <a:buChar char="•"/>
              <a:tabLst/>
              <a:defRPr/>
            </a:pPr>
            <a:r>
              <a:rPr lang="en-US" sz="1100" b="1" dirty="0">
                <a:solidFill>
                  <a:schemeClr val="bg1"/>
                </a:solidFill>
                <a:latin typeface="Consolas" panose="020B0609020204030204" pitchFamily="49" charset="0"/>
              </a:rPr>
              <a:t>Seven compute levels </a:t>
            </a:r>
            <a:r>
              <a:rPr lang="en-US" sz="1100" dirty="0">
                <a:solidFill>
                  <a:srgbClr val="FFFFFF"/>
                </a:solidFill>
                <a:latin typeface="Arial" pitchFamily="34" charset="0"/>
                <a:cs typeface="Arial" pitchFamily="34" charset="-120"/>
              </a:rPr>
              <a:t>(0 to 8,192 tokens, log-spaced), so the analysis sees the shape of the curve (rise, saturation or decline) and not just a line between two points.</a:t>
            </a:r>
          </a:p>
          <a:p>
            <a:pPr marL="457200" marR="0" lvl="1" indent="-228600" algn="l" defTabSz="914400" rtl="0" eaLnBrk="1" fontAlgn="auto" latinLnBrk="0" hangingPunct="1">
              <a:lnSpc>
                <a:spcPct val="100000"/>
              </a:lnSpc>
              <a:spcBef>
                <a:spcPts val="0"/>
              </a:spcBef>
              <a:spcAft>
                <a:spcPts val="300"/>
              </a:spcAft>
              <a:buClrTx/>
              <a:buSzPct val="100000"/>
              <a:buFontTx/>
              <a:buChar char="•"/>
              <a:tabLst/>
              <a:defRPr/>
            </a:pPr>
            <a:r>
              <a:rPr lang="en-US" sz="1100" b="1" dirty="0">
                <a:solidFill>
                  <a:schemeClr val="bg1"/>
                </a:solidFill>
                <a:latin typeface="Consolas" panose="020B0609020204030204" pitchFamily="49" charset="0"/>
              </a:rPr>
              <a:t>Nine benchmarks </a:t>
            </a:r>
            <a:r>
              <a:rPr lang="en-US" sz="1100" dirty="0">
                <a:solidFill>
                  <a:srgbClr val="FFFFFF"/>
                </a:solidFill>
                <a:latin typeface="Arial" pitchFamily="34" charset="0"/>
                <a:cs typeface="Arial" pitchFamily="34" charset="-120"/>
              </a:rPr>
              <a:t> across three assumed difficulty tiers and six task types, so a trend is not mistaken for a property of one test</a:t>
            </a:r>
          </a:p>
          <a:p>
            <a:pPr marL="457200" marR="0" lvl="1" indent="-228600" algn="l" defTabSz="914400" rtl="0" eaLnBrk="1" fontAlgn="auto" latinLnBrk="0" hangingPunct="1">
              <a:lnSpc>
                <a:spcPct val="100000"/>
              </a:lnSpc>
              <a:spcBef>
                <a:spcPts val="0"/>
              </a:spcBef>
              <a:spcAft>
                <a:spcPts val="300"/>
              </a:spcAft>
              <a:buClrTx/>
              <a:buSzPct val="100000"/>
              <a:buFontTx/>
              <a:buChar char="•"/>
              <a:tabLst/>
              <a:defRPr/>
            </a:pPr>
            <a:r>
              <a:rPr lang="en-US" sz="1100" b="1" dirty="0">
                <a:solidFill>
                  <a:schemeClr val="bg1"/>
                </a:solidFill>
                <a:latin typeface="Consolas" panose="020B0609020204030204" pitchFamily="49" charset="0"/>
              </a:rPr>
              <a:t>Three models under one protocol</a:t>
            </a:r>
            <a:r>
              <a:rPr lang="en-US" sz="1100" dirty="0">
                <a:solidFill>
                  <a:srgbClr val="FFFFFF"/>
                </a:solidFill>
                <a:latin typeface="Arial" pitchFamily="34" charset="0"/>
                <a:cs typeface="Arial" pitchFamily="34" charset="-120"/>
              </a:rPr>
              <a:t>, differing in size, architecture and training, so a pattern is not mistaken for a property of one system.</a:t>
            </a:r>
          </a:p>
          <a:p>
            <a:pPr marL="457200" marR="0" lvl="1" indent="-228600" algn="l" defTabSz="914400" rtl="0" eaLnBrk="1" fontAlgn="auto" latinLnBrk="0" hangingPunct="1">
              <a:lnSpc>
                <a:spcPct val="100000"/>
              </a:lnSpc>
              <a:spcBef>
                <a:spcPts val="0"/>
              </a:spcBef>
              <a:spcAft>
                <a:spcPts val="300"/>
              </a:spcAft>
              <a:buClrTx/>
              <a:buSzPct val="100000"/>
              <a:buFontTx/>
              <a:buChar char="•"/>
              <a:tabLst/>
              <a:defRPr/>
            </a:pPr>
            <a:r>
              <a:rPr lang="en-US" sz="1100" b="1" dirty="0">
                <a:solidFill>
                  <a:schemeClr val="bg1"/>
                </a:solidFill>
                <a:latin typeface="Consolas" panose="020B0609020204030204" pitchFamily="49" charset="0"/>
              </a:rPr>
              <a:t>Five samples per question and budget</a:t>
            </a:r>
            <a:r>
              <a:rPr lang="en-US" sz="1100" dirty="0">
                <a:solidFill>
                  <a:srgbClr val="FFFFFF"/>
                </a:solidFill>
                <a:latin typeface="Arial" pitchFamily="34" charset="0"/>
                <a:cs typeface="Arial" pitchFamily="34" charset="-120"/>
              </a:rPr>
              <a:t>, so that sampling noise can be measured: per-question pass rates and variability replace a single lucky or unlucky draw</a:t>
            </a:r>
          </a:p>
          <a:p>
            <a:pPr marL="457200" marR="0" lvl="1" indent="-228600" algn="l" defTabSz="914400" rtl="0" eaLnBrk="1" fontAlgn="auto" latinLnBrk="0" hangingPunct="1">
              <a:lnSpc>
                <a:spcPct val="100000"/>
              </a:lnSpc>
              <a:spcBef>
                <a:spcPts val="0"/>
              </a:spcBef>
              <a:spcAft>
                <a:spcPts val="300"/>
              </a:spcAft>
              <a:buClrTx/>
              <a:buSzPct val="100000"/>
              <a:buFontTx/>
              <a:buChar char="•"/>
              <a:tabLst/>
              <a:defRPr/>
            </a:pPr>
            <a:r>
              <a:rPr lang="en-US" sz="1100" b="1" dirty="0">
                <a:solidFill>
                  <a:schemeClr val="bg1"/>
                </a:solidFill>
                <a:latin typeface="Consolas" panose="020B0609020204030204" pitchFamily="49" charset="0"/>
              </a:rPr>
              <a:t>A resumable pipeline </a:t>
            </a:r>
            <a:r>
              <a:rPr lang="en-US" sz="1100" dirty="0">
                <a:solidFill>
                  <a:srgbClr val="FFFFFF"/>
                </a:solidFill>
                <a:latin typeface="Arial" pitchFamily="34" charset="0"/>
                <a:cs typeface="Arial" pitchFamily="34" charset="-120"/>
              </a:rPr>
              <a:t>that survives hours of unattended GPU time on shared hardware and records enough per call to support paired same-question comparisons across budgets .</a:t>
            </a: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5328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591555"/>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lang="en-US" sz="1500" b="1" dirty="0">
                <a:solidFill>
                  <a:srgbClr val="FF7900"/>
                </a:solidFill>
                <a:latin typeface="Helvetica Neue"/>
                <a:sym typeface="Arial"/>
              </a:rPr>
              <a:t>2</a:t>
            </a:r>
            <a:r>
              <a:rPr kumimoji="0" lang="en-US" sz="1500" b="1" i="0" u="none" strike="noStrike" kern="1200" cap="none" spc="0" normalizeH="0" baseline="0" noProof="0" dirty="0">
                <a:ln>
                  <a:noFill/>
                </a:ln>
                <a:solidFill>
                  <a:srgbClr val="FF7900"/>
                </a:solidFill>
                <a:effectLst/>
                <a:uLnTx/>
                <a:uFillTx/>
                <a:latin typeface="Helvetica Neue"/>
                <a:ea typeface="+mn-ea"/>
                <a:cs typeface="+mn-cs"/>
                <a:sym typeface="Arial"/>
              </a:rPr>
              <a:t>. Design at a glance</a:t>
            </a:r>
          </a:p>
        </p:txBody>
      </p:sp>
      <p:sp>
        <p:nvSpPr>
          <p:cNvPr id="3" name="Text 1"/>
          <p:cNvSpPr txBox="1"/>
          <p:nvPr/>
        </p:nvSpPr>
        <p:spPr>
          <a:xfrm>
            <a:off x="320040" y="860259"/>
            <a:ext cx="8503920" cy="3711742"/>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800"/>
              </a:spcBef>
              <a:spcAft>
                <a:spcPts val="800"/>
              </a:spcAft>
              <a:buClrTx/>
              <a:buSzPct val="100000"/>
              <a:buFontTx/>
              <a:buChar char="●"/>
              <a:tabLst/>
              <a:defRPr/>
            </a:pPr>
            <a:endPar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design_table"/>
          <p:cNvGraphicFramePr>
            <a:graphicFrameLocks noGrp="1"/>
          </p:cNvGraphicFramePr>
          <p:nvPr/>
        </p:nvGraphicFramePr>
        <p:xfrm>
          <a:off x="289561" y="960120"/>
          <a:ext cx="8534399" cy="3323123"/>
        </p:xfrm>
        <a:graphic>
          <a:graphicData uri="http://schemas.openxmlformats.org/drawingml/2006/table">
            <a:tbl>
              <a:tblPr/>
              <a:tblGrid>
                <a:gridCol w="1664839">
                  <a:extLst>
                    <a:ext uri="{9D8B030D-6E8A-4147-A177-3AD203B41FA5}">
                      <a16:colId xmlns:a16="http://schemas.microsoft.com/office/drawing/2014/main" val="20000"/>
                    </a:ext>
                  </a:extLst>
                </a:gridCol>
                <a:gridCol w="3952912">
                  <a:extLst>
                    <a:ext uri="{9D8B030D-6E8A-4147-A177-3AD203B41FA5}">
                      <a16:colId xmlns:a16="http://schemas.microsoft.com/office/drawing/2014/main" val="20001"/>
                    </a:ext>
                  </a:extLst>
                </a:gridCol>
                <a:gridCol w="2916648">
                  <a:extLst>
                    <a:ext uri="{9D8B030D-6E8A-4147-A177-3AD203B41FA5}">
                      <a16:colId xmlns:a16="http://schemas.microsoft.com/office/drawing/2014/main" val="20002"/>
                    </a:ext>
                  </a:extLst>
                </a:gridCol>
              </a:tblGrid>
              <a:tr h="339805">
                <a:tc>
                  <a:txBody>
                    <a:bodyPr/>
                    <a:lstStyle/>
                    <a:p>
                      <a:pPr marL="0" indent="0">
                        <a:buNone/>
                      </a:pPr>
                      <a:r>
                        <a:rPr lang="en-US" sz="1100" b="1" dirty="0">
                          <a:solidFill>
                            <a:srgbClr val="000000"/>
                          </a:solidFill>
                          <a:latin typeface="Arial" pitchFamily="34" charset="0"/>
                          <a:ea typeface="Arial" pitchFamily="34" charset="-122"/>
                          <a:cs typeface="Arial" pitchFamily="34" charset="-120"/>
                        </a:rPr>
                        <a:t>Element</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buNone/>
                      </a:pPr>
                      <a:r>
                        <a:rPr lang="en-US" sz="1100" b="1" dirty="0">
                          <a:solidFill>
                            <a:srgbClr val="000000"/>
                          </a:solidFill>
                          <a:latin typeface="Arial" pitchFamily="34" charset="0"/>
                          <a:ea typeface="Arial" pitchFamily="34" charset="-122"/>
                          <a:cs typeface="Arial" pitchFamily="34" charset="-120"/>
                        </a:rPr>
                        <a:t>Setting</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buNone/>
                      </a:pPr>
                      <a:r>
                        <a:rPr lang="en-US" sz="1100" b="1" dirty="0">
                          <a:solidFill>
                            <a:srgbClr val="000000"/>
                          </a:solidFill>
                          <a:latin typeface="Arial" pitchFamily="34" charset="0"/>
                          <a:ea typeface="Arial" pitchFamily="34" charset="-122"/>
                          <a:cs typeface="Arial" pitchFamily="34" charset="-120"/>
                        </a:rPr>
                        <a:t>Why</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extLst>
                  <a:ext uri="{0D108BD9-81ED-4DB2-BD59-A6C34878D82A}">
                    <a16:rowId xmlns:a16="http://schemas.microsoft.com/office/drawing/2014/main" val="10000"/>
                  </a:ext>
                </a:extLst>
              </a:tr>
              <a:tr h="443629">
                <a:tc>
                  <a:txBody>
                    <a:bodyPr/>
                    <a:lstStyle/>
                    <a:p>
                      <a:pPr marL="0" indent="0">
                        <a:buNone/>
                      </a:pPr>
                      <a:r>
                        <a:rPr lang="en-US" sz="1100" b="1" dirty="0">
                          <a:solidFill>
                            <a:srgbClr val="000000"/>
                          </a:solidFill>
                          <a:latin typeface="Arial" pitchFamily="34" charset="0"/>
                          <a:ea typeface="Arial" pitchFamily="34" charset="-122"/>
                          <a:cs typeface="Arial" pitchFamily="34" charset="-120"/>
                        </a:rPr>
                        <a:t>Models</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LFM2.5-2.6B, Qwen3-0.6B, DeepSeek-R1-Distill-Llama-8B</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One notebook, one MODEL_KEY switch: identical protocol by construction</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extLst>
                  <a:ext uri="{0D108BD9-81ED-4DB2-BD59-A6C34878D82A}">
                    <a16:rowId xmlns:a16="http://schemas.microsoft.com/office/drawing/2014/main" val="10001"/>
                  </a:ext>
                </a:extLst>
              </a:tr>
              <a:tr h="474436">
                <a:tc>
                  <a:txBody>
                    <a:bodyPr/>
                    <a:lstStyle/>
                    <a:p>
                      <a:pPr marL="0" indent="0">
                        <a:buNone/>
                      </a:pPr>
                      <a:r>
                        <a:rPr lang="en-US" sz="1100" b="1" dirty="0">
                          <a:solidFill>
                            <a:srgbClr val="000000"/>
                          </a:solidFill>
                          <a:latin typeface="Arial" pitchFamily="34" charset="0"/>
                          <a:ea typeface="Arial" pitchFamily="34" charset="-122"/>
                          <a:cs typeface="Arial" pitchFamily="34" charset="-120"/>
                        </a:rPr>
                        <a:t>Independent variable</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Thinking budget ∈ {0, 256, 512, 1024, 2048, 4096, 8192}, enforced at decoding time</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Compute is imposed, not observed</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extLst>
                  <a:ext uri="{0D108BD9-81ED-4DB2-BD59-A6C34878D82A}">
                    <a16:rowId xmlns:a16="http://schemas.microsoft.com/office/drawing/2014/main" val="10002"/>
                  </a:ext>
                </a:extLst>
              </a:tr>
              <a:tr h="443629">
                <a:tc>
                  <a:txBody>
                    <a:bodyPr/>
                    <a:lstStyle/>
                    <a:p>
                      <a:pPr marL="0" indent="0">
                        <a:buNone/>
                      </a:pPr>
                      <a:r>
                        <a:rPr lang="en-US" sz="1100" b="1" dirty="0">
                          <a:solidFill>
                            <a:srgbClr val="000000"/>
                          </a:solidFill>
                          <a:latin typeface="Arial" pitchFamily="34" charset="0"/>
                          <a:ea typeface="Arial" pitchFamily="34" charset="-122"/>
                          <a:cs typeface="Arial" pitchFamily="34" charset="-120"/>
                        </a:rPr>
                        <a:t>Benchmarks</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9 benchmarks, 3 assumed difficulty tiers, 6 task types</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Domain-dependent returns need task diversity</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extLst>
                  <a:ext uri="{0D108BD9-81ED-4DB2-BD59-A6C34878D82A}">
                    <a16:rowId xmlns:a16="http://schemas.microsoft.com/office/drawing/2014/main" val="10003"/>
                  </a:ext>
                </a:extLst>
              </a:tr>
              <a:tr h="443629">
                <a:tc>
                  <a:txBody>
                    <a:bodyPr/>
                    <a:lstStyle/>
                    <a:p>
                      <a:pPr marL="0" indent="0">
                        <a:buNone/>
                      </a:pPr>
                      <a:r>
                        <a:rPr lang="en-US" sz="1100" b="1" dirty="0">
                          <a:solidFill>
                            <a:srgbClr val="000000"/>
                          </a:solidFill>
                          <a:latin typeface="Arial" pitchFamily="34" charset="0"/>
                          <a:ea typeface="Arial" pitchFamily="34" charset="-122"/>
                          <a:cs typeface="Arial" pitchFamily="34" charset="-120"/>
                        </a:rPr>
                        <a:t>Questions</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Up to 100 per benchmark (AIME 2025: 30)</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Cost bound: calls scale linearly with questions</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extLst>
                  <a:ext uri="{0D108BD9-81ED-4DB2-BD59-A6C34878D82A}">
                    <a16:rowId xmlns:a16="http://schemas.microsoft.com/office/drawing/2014/main" val="10004"/>
                  </a:ext>
                </a:extLst>
              </a:tr>
              <a:tr h="392665">
                <a:tc>
                  <a:txBody>
                    <a:bodyPr/>
                    <a:lstStyle/>
                    <a:p>
                      <a:pPr marL="0" indent="0">
                        <a:buNone/>
                      </a:pPr>
                      <a:r>
                        <a:rPr lang="en-US" sz="1100" b="1" dirty="0">
                          <a:solidFill>
                            <a:srgbClr val="000000"/>
                          </a:solidFill>
                          <a:latin typeface="Arial" pitchFamily="34" charset="0"/>
                          <a:ea typeface="Arial" pitchFamily="34" charset="-122"/>
                          <a:cs typeface="Arial" pitchFamily="34" charset="-120"/>
                        </a:rPr>
                        <a:t>Samples</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5 per (question, budget), temperature 0.7</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Measures noise; T &gt; 0 so samples differ</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extLst>
                  <a:ext uri="{0D108BD9-81ED-4DB2-BD59-A6C34878D82A}">
                    <a16:rowId xmlns:a16="http://schemas.microsoft.com/office/drawing/2014/main" val="10005"/>
                  </a:ext>
                </a:extLst>
              </a:tr>
              <a:tr h="392665">
                <a:tc>
                  <a:txBody>
                    <a:bodyPr/>
                    <a:lstStyle/>
                    <a:p>
                      <a:pPr marL="0" indent="0">
                        <a:buNone/>
                      </a:pPr>
                      <a:r>
                        <a:rPr lang="en-US" sz="1100" b="1" dirty="0">
                          <a:solidFill>
                            <a:srgbClr val="000000"/>
                          </a:solidFill>
                          <a:latin typeface="Arial" pitchFamily="34" charset="0"/>
                          <a:ea typeface="Arial" pitchFamily="34" charset="-122"/>
                          <a:cs typeface="Arial" pitchFamily="34" charset="-120"/>
                        </a:rPr>
                        <a:t>Serving</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vLLM + budget fork on Kaggle 2×T4</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Per-request logits-processor hook</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extLst>
                  <a:ext uri="{0D108BD9-81ED-4DB2-BD59-A6C34878D82A}">
                    <a16:rowId xmlns:a16="http://schemas.microsoft.com/office/drawing/2014/main" val="10006"/>
                  </a:ext>
                </a:extLst>
              </a:tr>
              <a:tr h="392665">
                <a:tc>
                  <a:txBody>
                    <a:bodyPr/>
                    <a:lstStyle/>
                    <a:p>
                      <a:pPr marL="0" indent="0">
                        <a:buNone/>
                      </a:pPr>
                      <a:r>
                        <a:rPr lang="en-US" sz="1100" b="1" dirty="0">
                          <a:solidFill>
                            <a:srgbClr val="000000"/>
                          </a:solidFill>
                          <a:latin typeface="Arial" pitchFamily="34" charset="0"/>
                          <a:ea typeface="Arial" pitchFamily="34" charset="-122"/>
                          <a:cs typeface="Arial" pitchFamily="34" charset="-120"/>
                        </a:rPr>
                        <a:t>Output</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One CSV row per call, 17 columns</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Every call addressable and pairable</a:t>
                      </a:r>
                      <a:endParaRPr lang="en-US" sz="1100" dirty="0">
                        <a:latin typeface="Arial" charset="0"/>
                        <a:ea typeface="Arial" charset="0"/>
                        <a:cs typeface="Arial" charset="0"/>
                      </a:endParaRPr>
                    </a:p>
                  </a:txBody>
                  <a:tcPr marT="36576" marB="36576"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20931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233415"/>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1500" b="1" i="0" u="none" strike="noStrike" kern="1200" cap="none" spc="0" normalizeH="0" baseline="0" noProof="0" dirty="0">
                <a:ln>
                  <a:noFill/>
                </a:ln>
                <a:solidFill>
                  <a:srgbClr val="FF7900"/>
                </a:solidFill>
                <a:effectLst/>
                <a:uLnTx/>
                <a:uFillTx/>
                <a:latin typeface="Helvetica Neue"/>
                <a:ea typeface="+mn-ea"/>
                <a:cs typeface="+mn-cs"/>
                <a:sym typeface="Arial"/>
              </a:rPr>
              <a:t>3. </a:t>
            </a:r>
            <a:r>
              <a:rPr lang="en-US" sz="1500" b="1" dirty="0">
                <a:solidFill>
                  <a:srgbClr val="FF7900"/>
                </a:solidFill>
                <a:latin typeface="Helvetica Neue"/>
                <a:sym typeface="Arial"/>
              </a:rPr>
              <a:t>Design deep dive</a:t>
            </a:r>
            <a:endParaRPr kumimoji="0" lang="en-US" sz="1500" b="1" i="0" u="none" strike="noStrike" kern="1200" cap="none" spc="0" normalizeH="0" baseline="0" noProof="0" dirty="0">
              <a:ln>
                <a:noFill/>
              </a:ln>
              <a:solidFill>
                <a:srgbClr val="FF7900"/>
              </a:solidFill>
              <a:effectLst/>
              <a:uLnTx/>
              <a:uFillTx/>
              <a:latin typeface="Helvetica Neue"/>
              <a:ea typeface="+mn-ea"/>
              <a:cs typeface="+mn-cs"/>
              <a:sym typeface="Arial"/>
            </a:endParaRPr>
          </a:p>
        </p:txBody>
      </p:sp>
      <p:sp>
        <p:nvSpPr>
          <p:cNvPr id="3" name="Text 1"/>
          <p:cNvSpPr txBox="1"/>
          <p:nvPr/>
        </p:nvSpPr>
        <p:spPr>
          <a:xfrm>
            <a:off x="365760" y="603504"/>
            <a:ext cx="8458200" cy="4053841"/>
          </a:xfrm>
          <a:prstGeom prst="rect">
            <a:avLst/>
          </a:prstGeom>
          <a:noFill/>
          <a:ln/>
        </p:spPr>
        <p:txBody>
          <a:bodyPr wrap="square" lIns="0" tIns="0" rIns="0" bIns="0" rtlCol="0" anchor="t"/>
          <a:lstStyle/>
          <a:p>
            <a:pPr marR="0" lvl="0" algn="l" defTabSz="914400" rtl="0" eaLnBrk="1" fontAlgn="auto" latinLnBrk="0" hangingPunct="1">
              <a:lnSpc>
                <a:spcPct val="100000"/>
              </a:lnSpc>
              <a:spcBef>
                <a:spcPts val="800"/>
              </a:spcBef>
              <a:spcAft>
                <a:spcPts val="800"/>
              </a:spcAft>
              <a:buClrTx/>
              <a:buSzPct val="100000"/>
              <a:tabLst/>
              <a:defRPr/>
            </a:pPr>
            <a:r>
              <a:rPr lang="en-US" sz="1400" b="1" dirty="0">
                <a:solidFill>
                  <a:srgbClr val="FF7900"/>
                </a:solidFill>
                <a:latin typeface="Helvetica Neue"/>
              </a:rPr>
              <a:t>3.1 </a:t>
            </a:r>
            <a:r>
              <a:rPr kumimoji="0" lang="en-US" sz="1400" b="1" i="0" u="none" strike="noStrike" kern="1200" cap="none" spc="0" normalizeH="0" baseline="0" noProof="0" dirty="0">
                <a:ln>
                  <a:noFill/>
                </a:ln>
                <a:solidFill>
                  <a:srgbClr val="FF7900"/>
                </a:solidFill>
                <a:effectLst/>
                <a:uLnTx/>
                <a:uFillTx/>
                <a:latin typeface="Helvetica Neue"/>
                <a:ea typeface="+mn-ea"/>
                <a:cs typeface="+mn-cs"/>
              </a:rPr>
              <a:t>Explicit control over reasoning compute</a:t>
            </a:r>
            <a:r>
              <a:rPr kumimoji="0" lang="en-US" sz="14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 </a:t>
            </a:r>
          </a:p>
          <a:p>
            <a:pPr marL="177800" marR="0" lvl="0" indent="-177800" algn="l" defTabSz="914400" rtl="0" eaLnBrk="1" fontAlgn="auto" latinLnBrk="0" hangingPunct="1">
              <a:lnSpc>
                <a:spcPct val="100000"/>
              </a:lnSpc>
              <a:spcAft>
                <a:spcPts val="800"/>
              </a:spcAft>
              <a:buClrTx/>
              <a:buSzPct val="100000"/>
              <a:buFontTx/>
              <a:buChar char="●"/>
              <a:tabLst/>
              <a:defRPr/>
            </a:pPr>
            <a:r>
              <a:rPr kumimoji="0" lang="en-US" sz="1200" b="1" i="0" u="none" strike="noStrike" kern="1200" cap="none" spc="0" normalizeH="0" baseline="0" noProof="0" dirty="0">
                <a:ln>
                  <a:noFill/>
                </a:ln>
                <a:solidFill>
                  <a:srgbClr val="FF7900"/>
                </a:solidFill>
                <a:effectLst/>
                <a:uLnTx/>
                <a:uFillTx/>
                <a:latin typeface="Helvetica Neue"/>
                <a:ea typeface="+mn-ea"/>
                <a:cs typeface="+mn-cs"/>
              </a:rPr>
              <a:t>the cause of the whole stage.</a:t>
            </a:r>
            <a:r>
              <a:rPr kumimoji="0" lang="en-US" sz="13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t>
            </a:r>
            <a:r>
              <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If compute is merely observed (the model decides how long to think), it is entangled with question difficulty: hard questions both think longer and fail more, so "longer thinking correlates with failure" can arise even if more compute helps every question. A causal-style comparison needs the same question answered under different, externally imposed compute conditions. The mechanism turns reasoning length into an independent variable.</a:t>
            </a:r>
          </a:p>
          <a:p>
            <a:pPr marL="177800" indent="-177800">
              <a:spcAft>
                <a:spcPts val="800"/>
              </a:spcAft>
              <a:buSzPct val="100000"/>
              <a:buFontTx/>
              <a:buChar char="●"/>
              <a:defRPr/>
            </a:pPr>
            <a:r>
              <a:rPr lang="en-US" sz="1200" b="1" dirty="0">
                <a:solidFill>
                  <a:srgbClr val="FF7900"/>
                </a:solidFill>
                <a:latin typeface="Helvetica Neue"/>
              </a:rPr>
              <a:t>The mechanism of capping</a:t>
            </a:r>
            <a:r>
              <a:rPr kumimoji="0" lang="en-US" sz="1200" b="1" i="0" u="none" strike="noStrike" kern="1200" cap="none" spc="0" normalizeH="0" baseline="0" noProof="0" dirty="0">
                <a:ln>
                  <a:noFill/>
                </a:ln>
                <a:solidFill>
                  <a:srgbClr val="FF7900"/>
                </a:solidFill>
                <a:effectLst/>
                <a:uLnTx/>
                <a:uFillTx/>
                <a:latin typeface="Helvetica Neue"/>
                <a:ea typeface="+mn-ea"/>
                <a:cs typeface="+mn-cs"/>
              </a:rPr>
              <a:t>.</a:t>
            </a:r>
            <a:r>
              <a:rPr kumimoji="0" lang="en-US" sz="13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t>
            </a:r>
            <a:r>
              <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A decoding-time cap controls compute directly, unlike prompt-based instructions that confound reasoning ability with instruction following and alter the prompt distribution.</a:t>
            </a:r>
          </a:p>
          <a:p>
            <a:pPr>
              <a:spcAft>
                <a:spcPts val="800"/>
              </a:spcAft>
              <a:buSzPct val="100000"/>
              <a:defRPr/>
            </a:pPr>
            <a:endPar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Table 0"/>
          <p:cNvGraphicFramePr>
            <a:graphicFrameLocks noGrp="1"/>
          </p:cNvGraphicFramePr>
          <p:nvPr>
            <p:extLst>
              <p:ext uri="{D42A27DB-BD31-4B8C-83A1-F6EECF244321}">
                <p14:modId xmlns:p14="http://schemas.microsoft.com/office/powerpoint/2010/main" val="1478535622"/>
              </p:ext>
            </p:extLst>
          </p:nvPr>
        </p:nvGraphicFramePr>
        <p:xfrm>
          <a:off x="416560" y="2255520"/>
          <a:ext cx="8361680" cy="2600960"/>
        </p:xfrm>
        <a:graphic>
          <a:graphicData uri="http://schemas.openxmlformats.org/drawingml/2006/table">
            <a:tbl>
              <a:tblPr/>
              <a:tblGrid>
                <a:gridCol w="1658515">
                  <a:extLst>
                    <a:ext uri="{9D8B030D-6E8A-4147-A177-3AD203B41FA5}">
                      <a16:colId xmlns:a16="http://schemas.microsoft.com/office/drawing/2014/main" val="20000"/>
                    </a:ext>
                  </a:extLst>
                </a:gridCol>
                <a:gridCol w="3938973">
                  <a:extLst>
                    <a:ext uri="{9D8B030D-6E8A-4147-A177-3AD203B41FA5}">
                      <a16:colId xmlns:a16="http://schemas.microsoft.com/office/drawing/2014/main" val="20001"/>
                    </a:ext>
                  </a:extLst>
                </a:gridCol>
                <a:gridCol w="2764192">
                  <a:extLst>
                    <a:ext uri="{9D8B030D-6E8A-4147-A177-3AD203B41FA5}">
                      <a16:colId xmlns:a16="http://schemas.microsoft.com/office/drawing/2014/main" val="20002"/>
                    </a:ext>
                  </a:extLst>
                </a:gridCol>
              </a:tblGrid>
              <a:tr h="305995">
                <a:tc>
                  <a:txBody>
                    <a:bodyPr/>
                    <a:lstStyle/>
                    <a:p>
                      <a:pPr marL="0" indent="0">
                        <a:buNone/>
                      </a:pPr>
                      <a:r>
                        <a:rPr lang="en-US" sz="1300" b="1" dirty="0">
                          <a:solidFill>
                            <a:srgbClr val="000000"/>
                          </a:solidFill>
                          <a:latin typeface="Arial" pitchFamily="34" charset="0"/>
                          <a:ea typeface="Arial" pitchFamily="34" charset="-122"/>
                          <a:cs typeface="Arial" pitchFamily="34" charset="-120"/>
                        </a:rPr>
                        <a:t>Component</a:t>
                      </a:r>
                      <a:endParaRPr lang="en-US" sz="13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7900"/>
                    </a:solidFill>
                  </a:tcPr>
                </a:tc>
                <a:tc>
                  <a:txBody>
                    <a:bodyPr/>
                    <a:lstStyle/>
                    <a:p>
                      <a:pPr marL="0" indent="0">
                        <a:buNone/>
                      </a:pPr>
                      <a:r>
                        <a:rPr lang="en-US" sz="1300" b="1" dirty="0">
                          <a:solidFill>
                            <a:srgbClr val="000000"/>
                          </a:solidFill>
                          <a:latin typeface="Arial" pitchFamily="34" charset="0"/>
                          <a:ea typeface="Arial" pitchFamily="34" charset="-122"/>
                          <a:cs typeface="Arial" pitchFamily="34" charset="-120"/>
                        </a:rPr>
                        <a:t>What it does</a:t>
                      </a:r>
                      <a:endParaRPr lang="en-US" sz="13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7900"/>
                    </a:solidFill>
                  </a:tcPr>
                </a:tc>
                <a:tc>
                  <a:txBody>
                    <a:bodyPr/>
                    <a:lstStyle/>
                    <a:p>
                      <a:pPr marL="0" indent="0">
                        <a:buNone/>
                      </a:pPr>
                      <a:r>
                        <a:rPr lang="en-US" sz="1300" b="1" dirty="0">
                          <a:solidFill>
                            <a:srgbClr val="000000"/>
                          </a:solidFill>
                          <a:latin typeface="Arial" pitchFamily="34" charset="0"/>
                          <a:ea typeface="Arial" pitchFamily="34" charset="-122"/>
                          <a:cs typeface="Arial" pitchFamily="34" charset="-120"/>
                        </a:rPr>
                        <a:t>Why</a:t>
                      </a:r>
                      <a:endParaRPr lang="en-US" sz="13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7900"/>
                    </a:solidFill>
                  </a:tcPr>
                </a:tc>
                <a:extLst>
                  <a:ext uri="{0D108BD9-81ED-4DB2-BD59-A6C34878D82A}">
                    <a16:rowId xmlns:a16="http://schemas.microsoft.com/office/drawing/2014/main" val="10000"/>
                  </a:ext>
                </a:extLst>
              </a:tr>
              <a:tr h="458993">
                <a:tc>
                  <a:txBody>
                    <a:bodyPr/>
                    <a:lstStyle/>
                    <a:p>
                      <a:pPr marL="0" indent="0">
                        <a:buNone/>
                      </a:pPr>
                      <a:r>
                        <a:rPr lang="en-US" sz="1100" b="1" dirty="0">
                          <a:solidFill>
                            <a:srgbClr val="000000"/>
                          </a:solidFill>
                          <a:latin typeface="Arial" pitchFamily="34" charset="0"/>
                          <a:ea typeface="Arial" pitchFamily="34" charset="-122"/>
                          <a:cs typeface="Arial" pitchFamily="34" charset="-120"/>
                        </a:rPr>
                        <a:t>1. Per-request budget</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tc>
                  <a:txBody>
                    <a:bodyPr/>
                    <a:lstStyle/>
                    <a:p>
                      <a:pPr marL="0" indent="0">
                        <a:buNone/>
                      </a:pPr>
                      <a:r>
                        <a:rPr lang="en-US" sz="1100" dirty="0">
                          <a:solidFill>
                            <a:srgbClr val="000000"/>
                          </a:solidFill>
                          <a:latin typeface="Consolas" pitchFamily="34" charset="0"/>
                          <a:ea typeface="Consolas" pitchFamily="34" charset="-122"/>
                          <a:cs typeface="Consolas" pitchFamily="34" charset="-120"/>
                        </a:rPr>
                        <a:t>max_thinking_tokens</a:t>
                      </a:r>
                      <a:r>
                        <a:rPr lang="en-US" sz="1100" dirty="0">
                          <a:solidFill>
                            <a:srgbClr val="000000"/>
                          </a:solidFill>
                          <a:latin typeface="Arial" pitchFamily="34" charset="0"/>
                          <a:ea typeface="Arial" pitchFamily="34" charset="-122"/>
                          <a:cs typeface="Arial" pitchFamily="34" charset="-120"/>
                        </a:rPr>
                        <a:t> sent with every request</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Budget varies per call, so the grid can be shuffled and interleaved</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extLst>
                  <a:ext uri="{0D108BD9-81ED-4DB2-BD59-A6C34878D82A}">
                    <a16:rowId xmlns:a16="http://schemas.microsoft.com/office/drawing/2014/main" val="10001"/>
                  </a:ext>
                </a:extLst>
              </a:tr>
              <a:tr h="458993">
                <a:tc>
                  <a:txBody>
                    <a:bodyPr/>
                    <a:lstStyle/>
                    <a:p>
                      <a:pPr marL="0" indent="0">
                        <a:buNone/>
                      </a:pPr>
                      <a:r>
                        <a:rPr lang="en-US" sz="1100" b="1" dirty="0">
                          <a:solidFill>
                            <a:srgbClr val="000000"/>
                          </a:solidFill>
                          <a:latin typeface="Arial" pitchFamily="34" charset="0"/>
                          <a:ea typeface="Arial" pitchFamily="34" charset="-122"/>
                          <a:cs typeface="Arial" pitchFamily="34" charset="-120"/>
                        </a:rPr>
                        <a:t>2. Logits processor</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Counts thinking tokens; at </a:t>
                      </a:r>
                      <a:r>
                        <a:rPr lang="en-US" sz="1100" dirty="0">
                          <a:solidFill>
                            <a:srgbClr val="000000"/>
                          </a:solidFill>
                          <a:latin typeface="Consolas" pitchFamily="34" charset="0"/>
                          <a:ea typeface="Consolas" pitchFamily="34" charset="-122"/>
                          <a:cs typeface="Consolas" pitchFamily="34" charset="-120"/>
                        </a:rPr>
                        <a:t>budget − 1</a:t>
                      </a:r>
                      <a:r>
                        <a:rPr lang="en-US" sz="1100" dirty="0">
                          <a:solidFill>
                            <a:srgbClr val="000000"/>
                          </a:solidFill>
                          <a:latin typeface="Arial" pitchFamily="34" charset="0"/>
                          <a:ea typeface="Arial" pitchFamily="34" charset="-122"/>
                          <a:cs typeface="Arial" pitchFamily="34" charset="-120"/>
                        </a:rPr>
                        <a:t> forces a newline, then the closing token</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Only the serving layer guarantees the cap</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extLst>
                  <a:ext uri="{0D108BD9-81ED-4DB2-BD59-A6C34878D82A}">
                    <a16:rowId xmlns:a16="http://schemas.microsoft.com/office/drawing/2014/main" val="10002"/>
                  </a:ext>
                </a:extLst>
              </a:tr>
              <a:tr h="458993">
                <a:tc>
                  <a:txBody>
                    <a:bodyPr/>
                    <a:lstStyle/>
                    <a:p>
                      <a:pPr marL="0" indent="0">
                        <a:buNone/>
                      </a:pPr>
                      <a:r>
                        <a:rPr lang="en-US" sz="1100" b="1" dirty="0">
                          <a:solidFill>
                            <a:srgbClr val="000000"/>
                          </a:solidFill>
                          <a:latin typeface="Arial" pitchFamily="34" charset="0"/>
                          <a:ea typeface="Arial" pitchFamily="34" charset="-122"/>
                          <a:cs typeface="Arial" pitchFamily="34" charset="-120"/>
                        </a:rPr>
                        <a:t>3. Budget 0</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Closes the thinking segment immediately</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Same baseline for all 3 models, no native switch</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extLst>
                  <a:ext uri="{0D108BD9-81ED-4DB2-BD59-A6C34878D82A}">
                    <a16:rowId xmlns:a16="http://schemas.microsoft.com/office/drawing/2014/main" val="10003"/>
                  </a:ext>
                </a:extLst>
              </a:tr>
              <a:tr h="458993">
                <a:tc>
                  <a:txBody>
                    <a:bodyPr/>
                    <a:lstStyle/>
                    <a:p>
                      <a:pPr marL="0" indent="0">
                        <a:buNone/>
                      </a:pPr>
                      <a:r>
                        <a:rPr lang="en-US" sz="1100" b="1" dirty="0">
                          <a:solidFill>
                            <a:srgbClr val="000000"/>
                          </a:solidFill>
                          <a:latin typeface="Arial" pitchFamily="34" charset="0"/>
                          <a:ea typeface="Arial" pitchFamily="34" charset="-122"/>
                          <a:cs typeface="Arial" pitchFamily="34" charset="-120"/>
                        </a:rPr>
                        <a:t>4. Hard length limit</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tc>
                  <a:txBody>
                    <a:bodyPr/>
                    <a:lstStyle/>
                    <a:p>
                      <a:pPr marL="0" indent="0">
                        <a:buNone/>
                      </a:pPr>
                      <a:r>
                        <a:rPr lang="en-US" sz="1100" dirty="0">
                          <a:solidFill>
                            <a:srgbClr val="000000"/>
                          </a:solidFill>
                          <a:latin typeface="Consolas" pitchFamily="34" charset="0"/>
                          <a:ea typeface="Consolas" pitchFamily="34" charset="-122"/>
                          <a:cs typeface="Consolas" pitchFamily="34" charset="-120"/>
                        </a:rPr>
                        <a:t>min(max(2000, budget + 800), max_model_len − 256)</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At least 800 tokens left for the answer</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extLst>
                  <a:ext uri="{0D108BD9-81ED-4DB2-BD59-A6C34878D82A}">
                    <a16:rowId xmlns:a16="http://schemas.microsoft.com/office/drawing/2014/main" val="10004"/>
                  </a:ext>
                </a:extLst>
              </a:tr>
              <a:tr h="458993">
                <a:tc>
                  <a:txBody>
                    <a:bodyPr/>
                    <a:lstStyle/>
                    <a:p>
                      <a:pPr marL="0" indent="0">
                        <a:buNone/>
                      </a:pPr>
                      <a:r>
                        <a:rPr lang="en-US" sz="1100" b="1" dirty="0">
                          <a:solidFill>
                            <a:srgbClr val="000000"/>
                          </a:solidFill>
                          <a:latin typeface="Arial" pitchFamily="34" charset="0"/>
                          <a:ea typeface="Arial" pitchFamily="34" charset="-122"/>
                          <a:cs typeface="Arial" pitchFamily="34" charset="-120"/>
                        </a:rPr>
                        <a:t>5. Visible boundaries</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tc>
                  <a:txBody>
                    <a:bodyPr/>
                    <a:lstStyle/>
                    <a:p>
                      <a:pPr marL="0" indent="0">
                        <a:buNone/>
                      </a:pPr>
                      <a:r>
                        <a:rPr lang="en-US" sz="1100" dirty="0">
                          <a:solidFill>
                            <a:srgbClr val="000000"/>
                          </a:solidFill>
                          <a:latin typeface="Consolas" pitchFamily="34" charset="0"/>
                          <a:ea typeface="Consolas" pitchFamily="34" charset="-122"/>
                          <a:cs typeface="Consolas" pitchFamily="34" charset="-120"/>
                        </a:rPr>
                        <a:t>skip_special_tokens=False</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Needed to split answer from reasoning</a:t>
                      </a:r>
                      <a:endParaRPr lang="en-US" sz="1100" dirty="0">
                        <a:latin typeface="Arial" charset="0"/>
                        <a:ea typeface="Arial" charset="0"/>
                        <a:cs typeface="Arial" charset="0"/>
                      </a:endParaRPr>
                    </a:p>
                  </a:txBody>
                  <a:tcPr marL="109728" marR="109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D5C3"/>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40830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233415"/>
            <a:ext cx="8503920" cy="36196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endParaRPr kumimoji="0" lang="en-US" sz="1500" b="1" i="0" u="none" strike="noStrike" kern="1200" cap="none" spc="0" normalizeH="0" baseline="0" noProof="0" dirty="0">
              <a:ln>
                <a:noFill/>
              </a:ln>
              <a:solidFill>
                <a:srgbClr val="FF7900"/>
              </a:solidFill>
              <a:effectLst/>
              <a:uLnTx/>
              <a:uFillTx/>
              <a:latin typeface="Helvetica Neue"/>
              <a:ea typeface="+mn-ea"/>
              <a:cs typeface="+mn-cs"/>
              <a:sym typeface="Arial"/>
            </a:endParaRPr>
          </a:p>
        </p:txBody>
      </p:sp>
      <p:sp>
        <p:nvSpPr>
          <p:cNvPr id="3" name="Text 1"/>
          <p:cNvSpPr txBox="1"/>
          <p:nvPr/>
        </p:nvSpPr>
        <p:spPr>
          <a:xfrm>
            <a:off x="365760" y="287020"/>
            <a:ext cx="8458200" cy="4370326"/>
          </a:xfrm>
          <a:prstGeom prst="rect">
            <a:avLst/>
          </a:prstGeom>
          <a:noFill/>
          <a:ln/>
        </p:spPr>
        <p:txBody>
          <a:bodyPr wrap="square" lIns="0" tIns="0" rIns="0" bIns="0" rtlCol="0" anchor="t"/>
          <a:lstStyle/>
          <a:p>
            <a:pPr marR="0" lvl="0" algn="l" defTabSz="914400" rtl="0" eaLnBrk="1" fontAlgn="auto" latinLnBrk="0" hangingPunct="1">
              <a:lnSpc>
                <a:spcPct val="100000"/>
              </a:lnSpc>
              <a:spcBef>
                <a:spcPts val="800"/>
              </a:spcBef>
              <a:spcAft>
                <a:spcPts val="800"/>
              </a:spcAft>
              <a:buClrTx/>
              <a:buSzPct val="100000"/>
              <a:tabLst/>
              <a:defRPr/>
            </a:pPr>
            <a:r>
              <a:rPr lang="en-US" sz="1400" b="1" dirty="0">
                <a:solidFill>
                  <a:srgbClr val="FF7900"/>
                </a:solidFill>
                <a:latin typeface="Helvetica Neue"/>
              </a:rPr>
              <a:t>3</a:t>
            </a:r>
            <a:r>
              <a:rPr kumimoji="0" lang="en-US" sz="1400" b="1" i="0" u="none" strike="noStrike" kern="1200" cap="none" spc="0" normalizeH="0" baseline="0" noProof="0" dirty="0">
                <a:ln>
                  <a:noFill/>
                </a:ln>
                <a:solidFill>
                  <a:srgbClr val="FF7900"/>
                </a:solidFill>
                <a:effectLst/>
                <a:uLnTx/>
                <a:uFillTx/>
                <a:latin typeface="Helvetica Neue"/>
                <a:ea typeface="+mn-ea"/>
                <a:cs typeface="+mn-cs"/>
              </a:rPr>
              <a:t>.2. </a:t>
            </a:r>
            <a:r>
              <a:rPr lang="en-US" sz="1400" b="1" dirty="0">
                <a:solidFill>
                  <a:srgbClr val="FF7900"/>
                </a:solidFill>
                <a:latin typeface="Helvetica Neue"/>
              </a:rPr>
              <a:t>Different levels of reasoning</a:t>
            </a:r>
            <a:endParaRPr kumimoji="0" lang="en-US" sz="1400" b="1" i="0" u="none" strike="noStrike" kern="1200" cap="none" spc="0" normalizeH="0" baseline="0" noProof="0" dirty="0">
              <a:ln>
                <a:noFill/>
              </a:ln>
              <a:solidFill>
                <a:srgbClr val="FF7900"/>
              </a:solidFill>
              <a:effectLst/>
              <a:uLnTx/>
              <a:uFillTx/>
              <a:latin typeface="Helvetica Neue"/>
              <a:ea typeface="+mn-ea"/>
              <a:cs typeface="+mn-cs"/>
            </a:endParaRPr>
          </a:p>
          <a:p>
            <a:pPr marL="177800" marR="0" lvl="0" indent="-177800" algn="l" defTabSz="914400" rtl="0" eaLnBrk="1" fontAlgn="auto" latinLnBrk="0" hangingPunct="1">
              <a:lnSpc>
                <a:spcPct val="100000"/>
              </a:lnSpc>
              <a:spcBef>
                <a:spcPts val="800"/>
              </a:spcBef>
              <a:spcAft>
                <a:spcPts val="800"/>
              </a:spcAft>
              <a:buClrTx/>
              <a:buSzPct val="100000"/>
              <a:buFontTx/>
              <a:buChar char="●"/>
              <a:tabLst/>
              <a:defRPr/>
            </a:pPr>
            <a:r>
              <a:rPr kumimoji="0" lang="en-US" sz="1200" b="1" i="0" u="none" strike="noStrike" kern="1200" cap="none" spc="0" normalizeH="0" baseline="0" noProof="0" dirty="0">
                <a:ln>
                  <a:noFill/>
                </a:ln>
                <a:solidFill>
                  <a:srgbClr val="FF7900"/>
                </a:solidFill>
                <a:effectLst/>
                <a:uLnTx/>
                <a:uFillTx/>
                <a:latin typeface="Helvetica Neue"/>
                <a:ea typeface="+mn-ea"/>
                <a:cs typeface="+mn-cs"/>
              </a:rPr>
              <a:t>Compute levels. </a:t>
            </a:r>
            <a:r>
              <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We test seven thinking budgets (0, 256, 512, 1,024, 2,048, 4,096, 8,192 tokens) on a doubling scale. One or two points cannot show the shape of the accuracy–compute relationship; seven let us see whether accuracy rises, saturates or declines, and where under-thinking gives way to diminishing returns. Doubling gives equal relative steps, and budget 0 is the no-thinking baseline.</a:t>
            </a:r>
          </a:p>
          <a:p>
            <a:pPr marL="177800" marR="0" lvl="0" indent="-177800" algn="l" defTabSz="914400" rtl="0" eaLnBrk="1" fontAlgn="auto" latinLnBrk="0" hangingPunct="1">
              <a:lnSpc>
                <a:spcPct val="100000"/>
              </a:lnSpc>
              <a:spcBef>
                <a:spcPts val="800"/>
              </a:spcBef>
              <a:spcAft>
                <a:spcPts val="400"/>
              </a:spcAft>
              <a:buClrTx/>
              <a:buSzPct val="100000"/>
              <a:buFontTx/>
              <a:buChar char="●"/>
              <a:tabLst/>
              <a:defRPr/>
            </a:pPr>
            <a:r>
              <a:rPr lang="en-US" sz="1200" b="1" dirty="0">
                <a:solidFill>
                  <a:srgbClr val="FF7900"/>
                </a:solidFill>
                <a:latin typeface="Helvetica Neue"/>
              </a:rPr>
              <a:t>Limitation _</a:t>
            </a:r>
            <a:r>
              <a:rPr lang="en-US" sz="1200" b="1" dirty="0">
                <a:solidFill>
                  <a:srgbClr val="FFFFFF"/>
                </a:solidFill>
                <a:latin typeface="Arial" pitchFamily="34" charset="0"/>
                <a:cs typeface="Arial" pitchFamily="34" charset="-120"/>
              </a:rPr>
              <a:t> Sampling effect : </a:t>
            </a:r>
            <a:r>
              <a:rPr lang="en-US" sz="1200" dirty="0">
                <a:solidFill>
                  <a:srgbClr val="FFFFFF"/>
                </a:solidFill>
                <a:latin typeface="Arial" pitchFamily="34" charset="0"/>
                <a:cs typeface="Arial" pitchFamily="34" charset="-120"/>
              </a:rPr>
              <a:t>Each (question, budget) cell is an independent call, so differences between levels mix the compute effect with sampling noise at T = 0.7.</a:t>
            </a:r>
          </a:p>
          <a:p>
            <a:pPr marL="285750" marR="0" lvl="0" indent="-114300" algn="l" defTabSz="914400" rtl="0" eaLnBrk="1" fontAlgn="auto" latinLnBrk="0" hangingPunct="1">
              <a:lnSpc>
                <a:spcPct val="100000"/>
              </a:lnSpc>
              <a:spcBef>
                <a:spcPts val="200"/>
              </a:spcBef>
              <a:spcAft>
                <a:spcPts val="200"/>
              </a:spcAft>
              <a:buClrTx/>
              <a:buSzPct val="100000"/>
              <a:buFontTx/>
              <a:buChar char="●"/>
              <a:tabLst/>
              <a:defRPr/>
            </a:pPr>
            <a:r>
              <a:rPr lang="en-US" sz="1200" dirty="0">
                <a:solidFill>
                  <a:srgbClr val="FFFFFF"/>
                </a:solidFill>
                <a:latin typeface="Arial" pitchFamily="34" charset="0"/>
                <a:cs typeface="Arial" pitchFamily="34" charset="-120"/>
              </a:rPr>
              <a:t> </a:t>
            </a:r>
            <a:r>
              <a:rPr lang="en-US" sz="1200" b="1" dirty="0">
                <a:solidFill>
                  <a:srgbClr val="FFFFFF"/>
                </a:solidFill>
                <a:latin typeface="Arial" pitchFamily="34" charset="0"/>
                <a:cs typeface="Arial" pitchFamily="34" charset="-120"/>
              </a:rPr>
              <a:t>A different design </a:t>
            </a:r>
            <a:r>
              <a:rPr lang="en-US" sz="1200" dirty="0">
                <a:solidFill>
                  <a:srgbClr val="FFFFFF"/>
                </a:solidFill>
                <a:latin typeface="Arial" pitchFamily="34" charset="0"/>
                <a:cs typeface="Arial" pitchFamily="34" charset="-120"/>
              </a:rPr>
              <a:t>would generate each question once at the longest level and cut that trace to get every shorter level.</a:t>
            </a:r>
          </a:p>
          <a:p>
            <a:pPr marL="285750" marR="0" lvl="0" indent="-114300" algn="l" defTabSz="914400" rtl="0" eaLnBrk="1" fontAlgn="auto" latinLnBrk="0" hangingPunct="1">
              <a:lnSpc>
                <a:spcPct val="100000"/>
              </a:lnSpc>
              <a:spcBef>
                <a:spcPts val="200"/>
              </a:spcBef>
              <a:spcAft>
                <a:spcPts val="200"/>
              </a:spcAft>
              <a:buClrTx/>
              <a:buSzPct val="100000"/>
              <a:buFontTx/>
              <a:buChar char="●"/>
              <a:tabLst/>
              <a:defRPr/>
            </a:pPr>
            <a:r>
              <a:rPr lang="en-US" sz="1200" b="1" dirty="0">
                <a:solidFill>
                  <a:srgbClr val="FFFFFF"/>
                </a:solidFill>
                <a:latin typeface="Arial" pitchFamily="34" charset="0"/>
                <a:cs typeface="Arial" pitchFamily="34" charset="-120"/>
              </a:rPr>
              <a:t> Limitation of the alternative </a:t>
            </a:r>
          </a:p>
          <a:p>
            <a:pPr marL="342900" marR="0" lvl="0" indent="114300" algn="l" defTabSz="914400" rtl="0" eaLnBrk="1" fontAlgn="auto" latinLnBrk="0" hangingPunct="1">
              <a:lnSpc>
                <a:spcPct val="100000"/>
              </a:lnSpc>
              <a:spcBef>
                <a:spcPts val="200"/>
              </a:spcBef>
              <a:spcAft>
                <a:spcPts val="200"/>
              </a:spcAft>
              <a:buClrTx/>
              <a:buSzPct val="100000"/>
              <a:buFontTx/>
              <a:buChar char="-"/>
              <a:tabLst/>
              <a:defRPr/>
            </a:pPr>
            <a:r>
              <a:rPr lang="en-US" sz="1100" b="1" dirty="0">
                <a:solidFill>
                  <a:srgbClr val="FFFFFF"/>
                </a:solidFill>
                <a:latin typeface="Arial" pitchFamily="34" charset="0"/>
                <a:cs typeface="Arial" pitchFamily="34" charset="-120"/>
              </a:rPr>
              <a:t>Unrepresentative samples: </a:t>
            </a:r>
            <a:r>
              <a:rPr lang="en-US" sz="1100" dirty="0">
                <a:solidFill>
                  <a:srgbClr val="FFFFFF"/>
                </a:solidFill>
                <a:latin typeface="Arial" pitchFamily="34" charset="0"/>
                <a:cs typeface="Arial" pitchFamily="34" charset="-120"/>
              </a:rPr>
              <a:t>The longest traces may contain loops or early reasoning errors, making them less representative of typical model behavior.</a:t>
            </a:r>
          </a:p>
          <a:p>
            <a:pPr marL="342900" marR="0" lvl="0" indent="114300" algn="l" defTabSz="914400" rtl="0" eaLnBrk="1" fontAlgn="auto" latinLnBrk="0" hangingPunct="1">
              <a:lnSpc>
                <a:spcPct val="100000"/>
              </a:lnSpc>
              <a:spcBef>
                <a:spcPts val="200"/>
              </a:spcBef>
              <a:spcAft>
                <a:spcPts val="200"/>
              </a:spcAft>
              <a:buClrTx/>
              <a:buSzPct val="100000"/>
              <a:buFontTx/>
              <a:buChar char="-"/>
              <a:tabLst/>
              <a:defRPr/>
            </a:pPr>
            <a:r>
              <a:rPr lang="en-US" sz="1100" b="1" dirty="0">
                <a:solidFill>
                  <a:srgbClr val="FFFFFF"/>
                </a:solidFill>
                <a:latin typeface="Arial" pitchFamily="34" charset="0"/>
                <a:cs typeface="Arial" pitchFamily="34" charset="-120"/>
              </a:rPr>
              <a:t>Truncated, not measured: </a:t>
            </a:r>
            <a:r>
              <a:rPr lang="en-US" sz="1100" dirty="0">
                <a:solidFill>
                  <a:srgbClr val="FFFFFF"/>
                </a:solidFill>
                <a:latin typeface="Arial" pitchFamily="34" charset="0"/>
                <a:cs typeface="Arial" pitchFamily="34" charset="-120"/>
              </a:rPr>
              <a:t>Shorter levels are extracted from a longer trace rather than independently generated, so they may not reflect how the model reasons under a smaller budget.</a:t>
            </a:r>
            <a:endParaRPr lang="en-US" sz="1100" b="1" dirty="0">
              <a:solidFill>
                <a:srgbClr val="FF7900"/>
              </a:solidFill>
              <a:latin typeface="Helvetica Neue"/>
            </a:endParaRPr>
          </a:p>
          <a:p>
            <a:pPr marL="285750" indent="-114300">
              <a:spcBef>
                <a:spcPts val="200"/>
              </a:spcBef>
              <a:spcAft>
                <a:spcPts val="200"/>
              </a:spcAft>
              <a:buSzPct val="100000"/>
              <a:buFontTx/>
              <a:buChar char="●"/>
              <a:defRPr/>
            </a:pPr>
            <a:r>
              <a:rPr lang="en-US" sz="1200" b="1" dirty="0">
                <a:solidFill>
                  <a:srgbClr val="FFFFFF"/>
                </a:solidFill>
                <a:latin typeface="Arial" pitchFamily="34" charset="0"/>
                <a:cs typeface="Arial" pitchFamily="34" charset="-120"/>
              </a:rPr>
              <a:t> Mitigation. </a:t>
            </a:r>
            <a:r>
              <a:rPr lang="en-US" sz="1200" dirty="0">
                <a:solidFill>
                  <a:srgbClr val="FFFFFF"/>
                </a:solidFill>
                <a:latin typeface="Arial" pitchFamily="34" charset="0"/>
                <a:cs typeface="Arial" pitchFamily="34" charset="-120"/>
              </a:rPr>
              <a:t>We control the sampling effect statistically: 5 samples per cell, with bootstrap confidence intervals over questions. A difference between levels is interpreted only when its interval excludes zero.</a:t>
            </a:r>
          </a:p>
          <a:p>
            <a:pPr marR="0" lvl="0" algn="l" defTabSz="914400" rtl="0" eaLnBrk="1" fontAlgn="auto" latinLnBrk="0" hangingPunct="1">
              <a:lnSpc>
                <a:spcPct val="100000"/>
              </a:lnSpc>
              <a:spcBef>
                <a:spcPts val="800"/>
              </a:spcBef>
              <a:spcAft>
                <a:spcPts val="800"/>
              </a:spcAft>
              <a:buClrTx/>
              <a:buSzPct val="100000"/>
              <a:tabLst/>
              <a:defRPr/>
            </a:pPr>
            <a:endPar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a:p>
            <a:pPr marR="0" lvl="0" algn="l" defTabSz="914400" rtl="0" eaLnBrk="1" fontAlgn="auto" latinLnBrk="0" hangingPunct="1">
              <a:lnSpc>
                <a:spcPct val="100000"/>
              </a:lnSpc>
              <a:spcBef>
                <a:spcPts val="800"/>
              </a:spcBef>
              <a:spcAft>
                <a:spcPts val="800"/>
              </a:spcAft>
              <a:buClrTx/>
              <a:buSzPct val="100000"/>
              <a:tabLst/>
              <a:defRPr/>
            </a:pPr>
            <a:endPar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a:p>
            <a:pPr marL="0" marR="0" lvl="0" indent="0" algn="l" defTabSz="914400" rtl="0" eaLnBrk="1" fontAlgn="auto" latinLnBrk="0" hangingPunct="1">
              <a:lnSpc>
                <a:spcPct val="100000"/>
              </a:lnSpc>
              <a:spcBef>
                <a:spcPts val="0"/>
              </a:spcBef>
              <a:spcAft>
                <a:spcPts val="800"/>
              </a:spcAft>
              <a:buClrTx/>
              <a:buSzPct val="100000"/>
              <a:buFontTx/>
              <a:buNone/>
              <a:tabLst/>
              <a:defRPr/>
            </a:pPr>
            <a:endPar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1062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411480" y="205740"/>
            <a:ext cx="8298180" cy="342900"/>
          </a:xfrm>
          <a:prstGeom prst="rect">
            <a:avLst/>
          </a:prstGeom>
          <a:noFill/>
          <a:ln/>
        </p:spPr>
        <p:txBody>
          <a:bodyPr wrap="square" lIns="0" tIns="0" rIns="0" bIns="0" rtlCol="0" anchor="ctr"/>
          <a:lstStyle/>
          <a:p>
            <a:pPr>
              <a:spcBef>
                <a:spcPts val="800"/>
              </a:spcBef>
              <a:spcAft>
                <a:spcPts val="800"/>
              </a:spcAft>
              <a:buSzPct val="100000"/>
              <a:defRPr/>
            </a:pPr>
            <a:r>
              <a:rPr lang="en-US" sz="1400" b="1" dirty="0">
                <a:solidFill>
                  <a:srgbClr val="FF7900"/>
                </a:solidFill>
                <a:latin typeface="Helvetica Neue"/>
              </a:rPr>
              <a:t>3.3 Benchmark Selection &amp; Task Diversity</a:t>
            </a:r>
          </a:p>
        </p:txBody>
      </p:sp>
      <p:sp>
        <p:nvSpPr>
          <p:cNvPr id="3" name="Text 1"/>
          <p:cNvSpPr txBox="1"/>
          <p:nvPr/>
        </p:nvSpPr>
        <p:spPr>
          <a:xfrm>
            <a:off x="411480" y="617220"/>
            <a:ext cx="8298180" cy="480060"/>
          </a:xfrm>
          <a:prstGeom prst="rect">
            <a:avLst/>
          </a:prstGeom>
          <a:noFill/>
          <a:ln/>
        </p:spPr>
        <p:txBody>
          <a:bodyPr wrap="square" lIns="0" tIns="0" rIns="0" bIns="0" rtlCol="0" anchor="t"/>
          <a:lstStyle/>
          <a:p>
            <a:pPr marL="177800" indent="-177800">
              <a:spcBef>
                <a:spcPts val="800"/>
              </a:spcBef>
              <a:spcAft>
                <a:spcPts val="800"/>
              </a:spcAft>
              <a:buSzPct val="100000"/>
              <a:buFontTx/>
              <a:buChar char="●"/>
              <a:defRPr/>
            </a:pPr>
            <a:r>
              <a:rPr lang="en-US" sz="1200" b="1" dirty="0">
                <a:solidFill>
                  <a:srgbClr val="FF7900"/>
                </a:solidFill>
                <a:latin typeface="Helvetica Neue"/>
              </a:rPr>
              <a:t>Why nine benchmarks, and why different types and difficulties? </a:t>
            </a:r>
            <a:r>
              <a:rPr lang="en-US" sz="1200" dirty="0">
                <a:solidFill>
                  <a:srgbClr val="FFFFFF"/>
                </a:solidFill>
                <a:latin typeface="Arial" pitchFamily="34" charset="0"/>
                <a:cs typeface="Arial" pitchFamily="34" charset="-120"/>
              </a:rPr>
              <a:t>The research question is whether a thinking budget is good, not whether a model is good at one test. A single benchmark would only tell us how that one task scales, so we deliberately vary both the type of task and its difficulty.</a:t>
            </a:r>
          </a:p>
          <a:p>
            <a:pPr marL="177800" marR="0" lvl="0" indent="-177800" algn="l" defTabSz="914400" rtl="0" eaLnBrk="1" fontAlgn="auto" latinLnBrk="0" hangingPunct="1">
              <a:lnSpc>
                <a:spcPct val="100000"/>
              </a:lnSpc>
              <a:spcBef>
                <a:spcPts val="800"/>
              </a:spcBef>
              <a:spcAft>
                <a:spcPts val="800"/>
              </a:spcAft>
              <a:buClrTx/>
              <a:buSzPct val="100000"/>
              <a:buFontTx/>
              <a:buChar char="●"/>
              <a:tabLst/>
              <a:defRPr/>
            </a:pPr>
            <a:r>
              <a:rPr kumimoji="0" lang="en-US" sz="1200" b="1" i="0" u="none" strike="noStrike" kern="1200" cap="none" spc="0" normalizeH="0" baseline="0" noProof="0" dirty="0">
                <a:ln>
                  <a:noFill/>
                </a:ln>
                <a:solidFill>
                  <a:srgbClr val="FF7900"/>
                </a:solidFill>
                <a:effectLst/>
                <a:uLnTx/>
                <a:uFillTx/>
                <a:latin typeface="Helvetica Neue"/>
                <a:ea typeface="+mn-ea"/>
                <a:cs typeface="+mn-cs"/>
              </a:rPr>
              <a:t>. </a:t>
            </a:r>
            <a:r>
              <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We test seven thinking budgets (0, 256, 512, 1,024, 2,048, 4,096, 8,192 tokens) on a doubling scale. One or two points cannot show the shape of the accuracy–compute relationship; seven let us see whether accuracy rises, saturates or declines, and where under-thinking gives way to diminishing returns. Doubling gives equal relative steps, and budget 0 is the no-thinking baseline.</a:t>
            </a:r>
          </a:p>
          <a:p>
            <a:pPr defTabSz="685800"/>
            <a:endParaRPr lang="en-US" sz="975" dirty="0">
              <a:solidFill>
                <a:prstClr val="black"/>
              </a:solidFill>
              <a:latin typeface="Calibri" panose="020F0502020204030204"/>
            </a:endParaRPr>
          </a:p>
        </p:txBody>
      </p:sp>
      <p:graphicFrame>
        <p:nvGraphicFramePr>
          <p:cNvPr id="4" name="Table 0"/>
          <p:cNvGraphicFramePr>
            <a:graphicFrameLocks noGrp="1"/>
          </p:cNvGraphicFramePr>
          <p:nvPr>
            <p:extLst>
              <p:ext uri="{D42A27DB-BD31-4B8C-83A1-F6EECF244321}">
                <p14:modId xmlns:p14="http://schemas.microsoft.com/office/powerpoint/2010/main" val="73910079"/>
              </p:ext>
            </p:extLst>
          </p:nvPr>
        </p:nvGraphicFramePr>
        <p:xfrm>
          <a:off x="411480" y="1239012"/>
          <a:ext cx="8298180" cy="2266190"/>
        </p:xfrm>
        <a:graphic>
          <a:graphicData uri="http://schemas.openxmlformats.org/drawingml/2006/table">
            <a:tbl>
              <a:tblPr/>
              <a:tblGrid>
                <a:gridCol w="1371600">
                  <a:extLst>
                    <a:ext uri="{9D8B030D-6E8A-4147-A177-3AD203B41FA5}">
                      <a16:colId xmlns:a16="http://schemas.microsoft.com/office/drawing/2014/main" val="20000"/>
                    </a:ext>
                  </a:extLst>
                </a:gridCol>
                <a:gridCol w="11658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198882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tblGrid>
              <a:tr h="226619">
                <a:tc>
                  <a:txBody>
                    <a:bodyPr/>
                    <a:lstStyle/>
                    <a:p>
                      <a:pPr marL="0" indent="0">
                        <a:buNone/>
                      </a:pPr>
                      <a:r>
                        <a:rPr lang="en-US" sz="800" b="1" dirty="0">
                          <a:solidFill>
                            <a:srgbClr val="000000"/>
                          </a:solidFill>
                          <a:latin typeface="Arial" pitchFamily="34" charset="0"/>
                          <a:ea typeface="Arial" pitchFamily="34" charset="-122"/>
                          <a:cs typeface="Arial" pitchFamily="34" charset="-120"/>
                        </a:rPr>
                        <a:t>Benchmark</a:t>
                      </a:r>
                      <a:endParaRPr lang="en-US" sz="8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solidFill>
                  </a:tcPr>
                </a:tc>
                <a:tc>
                  <a:txBody>
                    <a:bodyPr/>
                    <a:lstStyle/>
                    <a:p>
                      <a:pPr marL="0" indent="0">
                        <a:buNone/>
                      </a:pPr>
                      <a:r>
                        <a:rPr lang="en-US" sz="800" b="1" dirty="0">
                          <a:solidFill>
                            <a:srgbClr val="000000"/>
                          </a:solidFill>
                          <a:latin typeface="Arial" pitchFamily="34" charset="0"/>
                          <a:ea typeface="Arial" pitchFamily="34" charset="-122"/>
                          <a:cs typeface="Arial" pitchFamily="34" charset="-120"/>
                        </a:rPr>
                        <a:t>Task type</a:t>
                      </a:r>
                      <a:endParaRPr lang="en-US" sz="8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solidFill>
                  </a:tcPr>
                </a:tc>
                <a:tc>
                  <a:txBody>
                    <a:bodyPr/>
                    <a:lstStyle/>
                    <a:p>
                      <a:pPr marL="0" indent="0">
                        <a:buNone/>
                      </a:pPr>
                      <a:r>
                        <a:rPr lang="en-US" sz="800" b="1" dirty="0">
                          <a:solidFill>
                            <a:srgbClr val="000000"/>
                          </a:solidFill>
                          <a:latin typeface="Arial" pitchFamily="34" charset="0"/>
                          <a:ea typeface="Arial" pitchFamily="34" charset="-122"/>
                          <a:cs typeface="Arial" pitchFamily="34" charset="-120"/>
                        </a:rPr>
                        <a:t>What it probes</a:t>
                      </a:r>
                      <a:endParaRPr lang="en-US" sz="8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solidFill>
                  </a:tcPr>
                </a:tc>
                <a:tc>
                  <a:txBody>
                    <a:bodyPr/>
                    <a:lstStyle/>
                    <a:p>
                      <a:pPr marL="0" indent="0">
                        <a:buNone/>
                      </a:pPr>
                      <a:r>
                        <a:rPr lang="en-US" sz="800" b="1" dirty="0">
                          <a:solidFill>
                            <a:srgbClr val="000000"/>
                          </a:solidFill>
                          <a:latin typeface="Arial" pitchFamily="34" charset="0"/>
                          <a:ea typeface="Arial" pitchFamily="34" charset="-122"/>
                          <a:cs typeface="Arial" pitchFamily="34" charset="-120"/>
                        </a:rPr>
                        <a:t>Tier</a:t>
                      </a:r>
                      <a:endParaRPr lang="en-US" sz="8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solidFill>
                  </a:tcPr>
                </a:tc>
                <a:tc>
                  <a:txBody>
                    <a:bodyPr/>
                    <a:lstStyle/>
                    <a:p>
                      <a:pPr marL="0" indent="0">
                        <a:buNone/>
                      </a:pPr>
                      <a:r>
                        <a:rPr lang="en-US" sz="800" b="1" dirty="0">
                          <a:solidFill>
                            <a:srgbClr val="000000"/>
                          </a:solidFill>
                          <a:latin typeface="Arial" pitchFamily="34" charset="0"/>
                          <a:ea typeface="Arial" pitchFamily="34" charset="-122"/>
                          <a:cs typeface="Arial" pitchFamily="34" charset="-120"/>
                        </a:rPr>
                        <a:t>Tier effect</a:t>
                      </a:r>
                      <a:endParaRPr lang="en-US" sz="8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solidFill>
                  </a:tcPr>
                </a:tc>
                <a:tc>
                  <a:txBody>
                    <a:bodyPr/>
                    <a:lstStyle/>
                    <a:p>
                      <a:pPr marL="0" indent="0">
                        <a:buNone/>
                      </a:pPr>
                      <a:r>
                        <a:rPr lang="en-US" sz="800" b="1" dirty="0">
                          <a:solidFill>
                            <a:srgbClr val="000000"/>
                          </a:solidFill>
                          <a:latin typeface="Arial" pitchFamily="34" charset="0"/>
                          <a:ea typeface="Arial" pitchFamily="34" charset="-122"/>
                          <a:cs typeface="Arial" pitchFamily="34" charset="-120"/>
                        </a:rPr>
                        <a:t>Answer format</a:t>
                      </a:r>
                      <a:endParaRPr lang="en-US" sz="8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7900"/>
                    </a:solidFill>
                  </a:tcPr>
                </a:tc>
                <a:extLst>
                  <a:ext uri="{0D108BD9-81ED-4DB2-BD59-A6C34878D82A}">
                    <a16:rowId xmlns:a16="http://schemas.microsoft.com/office/drawing/2014/main" val="10000"/>
                  </a:ext>
                </a:extLst>
              </a:tr>
              <a:tr h="226619">
                <a:tc>
                  <a:txBody>
                    <a:bodyPr/>
                    <a:lstStyle/>
                    <a:p>
                      <a:pPr marL="0" indent="0">
                        <a:buNone/>
                      </a:pPr>
                      <a:r>
                        <a:rPr lang="en-US" sz="700" b="1" dirty="0">
                          <a:solidFill>
                            <a:srgbClr val="000000"/>
                          </a:solidFill>
                          <a:latin typeface="Arial" pitchFamily="34" charset="0"/>
                          <a:ea typeface="Arial" pitchFamily="34" charset="-122"/>
                          <a:cs typeface="Arial" pitchFamily="34" charset="-120"/>
                        </a:rPr>
                        <a:t>GSM8K</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Math</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Multi-step deduction; benefits from long reasoning</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Easy</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Near ceiling; only shows saturation</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Open-ended</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extLst>
                  <a:ext uri="{0D108BD9-81ED-4DB2-BD59-A6C34878D82A}">
                    <a16:rowId xmlns:a16="http://schemas.microsoft.com/office/drawing/2014/main" val="10001"/>
                  </a:ext>
                </a:extLst>
              </a:tr>
              <a:tr h="226619">
                <a:tc>
                  <a:txBody>
                    <a:bodyPr/>
                    <a:lstStyle/>
                    <a:p>
                      <a:pPr marL="0" indent="0">
                        <a:buNone/>
                      </a:pPr>
                      <a:r>
                        <a:rPr lang="en-US" sz="700" b="1" dirty="0">
                          <a:solidFill>
                            <a:srgbClr val="000000"/>
                          </a:solidFill>
                          <a:latin typeface="Arial" pitchFamily="34" charset="0"/>
                          <a:ea typeface="Arial" pitchFamily="34" charset="-122"/>
                          <a:cs typeface="Arial" pitchFamily="34" charset="-120"/>
                        </a:rPr>
                        <a:t>MMLU-Redux</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Knowledge recall</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Thinking may add little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Easy</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Near ceiling; only shows saturation</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Multiple-choice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extLst>
                  <a:ext uri="{0D108BD9-81ED-4DB2-BD59-A6C34878D82A}">
                    <a16:rowId xmlns:a16="http://schemas.microsoft.com/office/drawing/2014/main" val="10002"/>
                  </a:ext>
                </a:extLst>
              </a:tr>
              <a:tr h="226619">
                <a:tc>
                  <a:txBody>
                    <a:bodyPr/>
                    <a:lstStyle/>
                    <a:p>
                      <a:pPr marL="0" indent="0">
                        <a:buNone/>
                      </a:pPr>
                      <a:r>
                        <a:rPr lang="en-US" sz="700" b="1" dirty="0">
                          <a:solidFill>
                            <a:srgbClr val="000000"/>
                          </a:solidFill>
                          <a:latin typeface="Arial" pitchFamily="34" charset="0"/>
                          <a:ea typeface="Arial" pitchFamily="34" charset="-122"/>
                          <a:cs typeface="Arial" pitchFamily="34" charset="-120"/>
                        </a:rPr>
                        <a:t>IFEval</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Instruction following</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Reasoning as planning under format constraints</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Easy</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Near ceiling; only shows saturation</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Open-ended</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extLst>
                  <a:ext uri="{0D108BD9-81ED-4DB2-BD59-A6C34878D82A}">
                    <a16:rowId xmlns:a16="http://schemas.microsoft.com/office/drawing/2014/main" val="10003"/>
                  </a:ext>
                </a:extLst>
              </a:tr>
              <a:tr h="226619">
                <a:tc>
                  <a:txBody>
                    <a:bodyPr/>
                    <a:lstStyle/>
                    <a:p>
                      <a:pPr marL="0" indent="0">
                        <a:buNone/>
                      </a:pPr>
                      <a:r>
                        <a:rPr lang="en-US" sz="700" b="1" dirty="0">
                          <a:solidFill>
                            <a:srgbClr val="000000"/>
                          </a:solidFill>
                          <a:latin typeface="Arial" pitchFamily="34" charset="0"/>
                          <a:ea typeface="Arial" pitchFamily="34" charset="-122"/>
                          <a:cs typeface="Arial" pitchFamily="34" charset="-120"/>
                        </a:rPr>
                        <a:t>MATH</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Math</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Multi-step deduction; benefits from long reasoning</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Medium</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Room to improve in tested range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Open-ended</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extLst>
                  <a:ext uri="{0D108BD9-81ED-4DB2-BD59-A6C34878D82A}">
                    <a16:rowId xmlns:a16="http://schemas.microsoft.com/office/drawing/2014/main" val="10004"/>
                  </a:ext>
                </a:extLst>
              </a:tr>
              <a:tr h="226619">
                <a:tc>
                  <a:txBody>
                    <a:bodyPr/>
                    <a:lstStyle/>
                    <a:p>
                      <a:pPr marL="0" indent="0">
                        <a:buNone/>
                      </a:pPr>
                      <a:r>
                        <a:rPr lang="en-US" sz="700" b="1" dirty="0">
                          <a:solidFill>
                            <a:srgbClr val="000000"/>
                          </a:solidFill>
                          <a:latin typeface="Arial" pitchFamily="34" charset="0"/>
                          <a:ea typeface="Arial" pitchFamily="34" charset="-122"/>
                          <a:cs typeface="Arial" pitchFamily="34" charset="-120"/>
                        </a:rPr>
                        <a:t>MMLU-Pro</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Knowledge recall</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Thinking may add little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Medium</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Room to improve in tested range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Multiple-choice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extLst>
                  <a:ext uri="{0D108BD9-81ED-4DB2-BD59-A6C34878D82A}">
                    <a16:rowId xmlns:a16="http://schemas.microsoft.com/office/drawing/2014/main" val="10005"/>
                  </a:ext>
                </a:extLst>
              </a:tr>
              <a:tr h="226619">
                <a:tc>
                  <a:txBody>
                    <a:bodyPr/>
                    <a:lstStyle/>
                    <a:p>
                      <a:pPr marL="0" indent="0">
                        <a:buNone/>
                      </a:pPr>
                      <a:r>
                        <a:rPr lang="en-US" sz="700" b="1" dirty="0">
                          <a:solidFill>
                            <a:srgbClr val="000000"/>
                          </a:solidFill>
                          <a:latin typeface="Arial" pitchFamily="34" charset="0"/>
                          <a:ea typeface="Arial" pitchFamily="34" charset="-122"/>
                          <a:cs typeface="Arial" pitchFamily="34" charset="-120"/>
                        </a:rPr>
                        <a:t>BFCL v4 simple_python</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Tool use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Almost no deliberation: can thinking hurt?</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Medium</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Room to improve in tested range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Open-ended</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extLst>
                  <a:ext uri="{0D108BD9-81ED-4DB2-BD59-A6C34878D82A}">
                    <a16:rowId xmlns:a16="http://schemas.microsoft.com/office/drawing/2014/main" val="10006"/>
                  </a:ext>
                </a:extLst>
              </a:tr>
              <a:tr h="226619">
                <a:tc>
                  <a:txBody>
                    <a:bodyPr/>
                    <a:lstStyle/>
                    <a:p>
                      <a:pPr marL="0" indent="0">
                        <a:buNone/>
                      </a:pPr>
                      <a:r>
                        <a:rPr lang="en-US" sz="700" b="1" dirty="0">
                          <a:solidFill>
                            <a:srgbClr val="000000"/>
                          </a:solidFill>
                          <a:latin typeface="Arial" pitchFamily="34" charset="0"/>
                          <a:ea typeface="Arial" pitchFamily="34" charset="-122"/>
                          <a:cs typeface="Arial" pitchFamily="34" charset="-120"/>
                        </a:rPr>
                        <a:t>AIME 2025</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Math</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Multi-step deduction; benefits from long reasoning</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Hard</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Shows nothing until budget is large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Open-ended</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extLst>
                  <a:ext uri="{0D108BD9-81ED-4DB2-BD59-A6C34878D82A}">
                    <a16:rowId xmlns:a16="http://schemas.microsoft.com/office/drawing/2014/main" val="10007"/>
                  </a:ext>
                </a:extLst>
              </a:tr>
              <a:tr h="226619">
                <a:tc>
                  <a:txBody>
                    <a:bodyPr/>
                    <a:lstStyle/>
                    <a:p>
                      <a:pPr marL="0" indent="0">
                        <a:buNone/>
                      </a:pPr>
                      <a:r>
                        <a:rPr lang="en-US" sz="700" b="1" dirty="0">
                          <a:solidFill>
                            <a:srgbClr val="000000"/>
                          </a:solidFill>
                          <a:latin typeface="Arial" pitchFamily="34" charset="0"/>
                          <a:ea typeface="Arial" pitchFamily="34" charset="-122"/>
                          <a:cs typeface="Arial" pitchFamily="34" charset="-120"/>
                        </a:rPr>
                        <a:t>GPQA-Diamond</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Expert science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PhD-level reasoning</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Hard</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Shows nothing until budget is large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Multiple-choice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extLst>
                  <a:ext uri="{0D108BD9-81ED-4DB2-BD59-A6C34878D82A}">
                    <a16:rowId xmlns:a16="http://schemas.microsoft.com/office/drawing/2014/main" val="10008"/>
                  </a:ext>
                </a:extLst>
              </a:tr>
              <a:tr h="226619">
                <a:tc>
                  <a:txBody>
                    <a:bodyPr/>
                    <a:lstStyle/>
                    <a:p>
                      <a:pPr marL="0" indent="0">
                        <a:buNone/>
                      </a:pPr>
                      <a:r>
                        <a:rPr lang="en-US" sz="700" b="1" dirty="0">
                          <a:solidFill>
                            <a:srgbClr val="000000"/>
                          </a:solidFill>
                          <a:latin typeface="Arial" pitchFamily="34" charset="0"/>
                          <a:ea typeface="Arial" pitchFamily="34" charset="-122"/>
                          <a:cs typeface="Arial" pitchFamily="34" charset="-120"/>
                        </a:rPr>
                        <a:t>LiveCodeBench v6</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Coding</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Program synthesis with executable verification</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Hard</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Shows nothing until budget is large</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Open-ended</a:t>
                      </a:r>
                      <a:endParaRPr lang="en-US" sz="700" dirty="0">
                        <a:latin typeface="Arial" charset="0"/>
                        <a:ea typeface="Arial" charset="0"/>
                        <a:cs typeface="Arial" charset="0"/>
                      </a:endParaRPr>
                    </a:p>
                  </a:txBody>
                  <a:tcPr marL="54864" marR="54864" marT="20574" marB="205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D5C3"/>
                    </a:solidFill>
                  </a:tcPr>
                </a:tc>
                <a:extLst>
                  <a:ext uri="{0D108BD9-81ED-4DB2-BD59-A6C34878D82A}">
                    <a16:rowId xmlns:a16="http://schemas.microsoft.com/office/drawing/2014/main" val="10009"/>
                  </a:ext>
                </a:extLst>
              </a:tr>
            </a:tbl>
          </a:graphicData>
        </a:graphic>
      </p:graphicFrame>
      <p:sp>
        <p:nvSpPr>
          <p:cNvPr id="5" name="Text 2"/>
          <p:cNvSpPr txBox="1"/>
          <p:nvPr/>
        </p:nvSpPr>
        <p:spPr>
          <a:xfrm>
            <a:off x="411480" y="3552444"/>
            <a:ext cx="8298180" cy="1165860"/>
          </a:xfrm>
          <a:prstGeom prst="rect">
            <a:avLst/>
          </a:prstGeom>
          <a:noFill/>
          <a:ln/>
        </p:spPr>
        <p:txBody>
          <a:bodyPr wrap="square" lIns="0" tIns="0" rIns="0" bIns="0" rtlCol="0" anchor="t"/>
          <a:lstStyle/>
          <a:p>
            <a:pPr marL="177800" indent="-177800">
              <a:spcBef>
                <a:spcPts val="800"/>
              </a:spcBef>
              <a:spcAft>
                <a:spcPts val="800"/>
              </a:spcAft>
              <a:buSzPct val="100000"/>
              <a:buFontTx/>
              <a:buChar char="●"/>
              <a:defRPr/>
            </a:pPr>
            <a:r>
              <a:rPr lang="en-US" sz="1200" b="1" dirty="0">
                <a:solidFill>
                  <a:srgbClr val="FF7900"/>
                </a:solidFill>
                <a:latin typeface="Helvetica Neue"/>
              </a:rPr>
              <a:t>How diversity matters for compute allocation</a:t>
            </a:r>
          </a:p>
          <a:p>
            <a:pPr marL="171450" indent="-171450">
              <a:spcAft>
                <a:spcPts val="400"/>
              </a:spcAft>
              <a:buFontTx/>
              <a:buChar char="-"/>
            </a:pPr>
            <a:r>
              <a:rPr lang="en-US" sz="1200" b="1" dirty="0">
                <a:solidFill>
                  <a:srgbClr val="FFFFFF"/>
                </a:solidFill>
                <a:latin typeface="Arial" pitchFamily="34" charset="0"/>
                <a:cs typeface="Arial" pitchFamily="34" charset="-120"/>
              </a:rPr>
              <a:t>Different performance ceilings</a:t>
            </a:r>
            <a:r>
              <a:rPr lang="en-US" sz="1200" dirty="0">
                <a:solidFill>
                  <a:srgbClr val="FFFFFF"/>
                </a:solidFill>
                <a:latin typeface="Arial" pitchFamily="34" charset="0"/>
                <a:cs typeface="Arial" pitchFamily="34" charset="-120"/>
              </a:rPr>
              <a:t>. Near-ceiling tasks may show saturation, while harder tasks may require larger budgets. A budget sufficient for GSM8K may be insufficient for AIME.</a:t>
            </a:r>
          </a:p>
          <a:p>
            <a:pPr marL="171450" indent="-171450">
              <a:spcAft>
                <a:spcPts val="400"/>
              </a:spcAft>
              <a:buFontTx/>
              <a:buChar char="-"/>
            </a:pPr>
            <a:r>
              <a:rPr lang="en-US" sz="1200" b="1" dirty="0">
                <a:solidFill>
                  <a:srgbClr val="FFFFFF"/>
                </a:solidFill>
                <a:latin typeface="Arial" pitchFamily="34" charset="0"/>
                <a:cs typeface="Arial" pitchFamily="34" charset="-120"/>
              </a:rPr>
              <a:t>Different compute demands: </a:t>
            </a:r>
            <a:r>
              <a:rPr lang="en-US" sz="1200" dirty="0">
                <a:solidFill>
                  <a:srgbClr val="FFFFFF"/>
                </a:solidFill>
                <a:latin typeface="Arial" pitchFamily="34" charset="0"/>
                <a:cs typeface="Arial" pitchFamily="34" charset="-120"/>
              </a:rPr>
              <a:t>Some tasks require little reasoning, while others use most of the available budget.</a:t>
            </a:r>
          </a:p>
          <a:p>
            <a:pPr marL="171450" indent="-171450">
              <a:spcAft>
                <a:spcPts val="400"/>
              </a:spcAft>
              <a:buFontTx/>
              <a:buChar char="-"/>
            </a:pPr>
            <a:r>
              <a:rPr lang="en-US" sz="1200" b="1" dirty="0">
                <a:solidFill>
                  <a:srgbClr val="FFFFFF"/>
                </a:solidFill>
                <a:latin typeface="Arial" pitchFamily="34" charset="0"/>
                <a:cs typeface="Arial" pitchFamily="34" charset="-120"/>
              </a:rPr>
              <a:t>Answer-format sensitivity: </a:t>
            </a:r>
            <a:r>
              <a:rPr lang="en-US" sz="1200" dirty="0">
                <a:solidFill>
                  <a:srgbClr val="FFFFFF"/>
                </a:solidFill>
                <a:latin typeface="Arial" pitchFamily="34" charset="0"/>
                <a:cs typeface="Arial" pitchFamily="34" charset="-120"/>
              </a:rPr>
              <a:t>Grading rules can make correctness sensitive to answer formatting, potentially affecting measured accuracy across budgets. [Inferred risk]</a:t>
            </a:r>
          </a:p>
          <a:p>
            <a:br>
              <a:rPr lang="en-US" sz="1000" b="0" dirty="0">
                <a:solidFill>
                  <a:srgbClr val="BBBEBF"/>
                </a:solidFill>
                <a:effectLst/>
                <a:latin typeface="Consolas" panose="020B0609020204030204" pitchFamily="49" charset="0"/>
              </a:rPr>
            </a:br>
            <a:endParaRPr lang="en-US" sz="1000" b="0" dirty="0">
              <a:solidFill>
                <a:srgbClr val="BBBEBF"/>
              </a:solidFill>
              <a:effectLst/>
              <a:latin typeface="Consolas" panose="020B0609020204030204" pitchFamily="49" charset="0"/>
            </a:endParaRPr>
          </a:p>
          <a:p>
            <a:pPr marL="177800" indent="-177800">
              <a:spcBef>
                <a:spcPts val="800"/>
              </a:spcBef>
              <a:spcAft>
                <a:spcPts val="800"/>
              </a:spcAft>
              <a:buSzPct val="100000"/>
              <a:buFontTx/>
              <a:buChar char="●"/>
              <a:defRPr/>
            </a:pPr>
            <a:endParaRPr lang="en-US" sz="1000" b="1" dirty="0">
              <a:solidFill>
                <a:srgbClr val="FF7900"/>
              </a:solidFill>
              <a:latin typeface="Helvetica Neue"/>
              <a:cs typeface="Arial" pitchFamily="34" charset="-120"/>
            </a:endParaRPr>
          </a:p>
          <a:p>
            <a:pPr marL="177800" indent="-177800">
              <a:spcBef>
                <a:spcPts val="800"/>
              </a:spcBef>
              <a:spcAft>
                <a:spcPts val="800"/>
              </a:spcAft>
              <a:buSzPct val="100000"/>
              <a:buFontTx/>
              <a:buChar char="●"/>
              <a:defRPr/>
            </a:pPr>
            <a:endParaRPr lang="en-US" sz="1000" dirty="0">
              <a:solidFill>
                <a:srgbClr val="FFFFFF"/>
              </a:solidFill>
              <a:latin typeface="Arial" pitchFamily="34" charset="0"/>
              <a:cs typeface="Arial" pitchFamily="34" charset="-12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411480" y="205740"/>
            <a:ext cx="8298180" cy="342900"/>
          </a:xfrm>
          <a:prstGeom prst="rect">
            <a:avLst/>
          </a:prstGeom>
          <a:noFill/>
          <a:ln/>
        </p:spPr>
        <p:txBody>
          <a:bodyPr wrap="square" lIns="0" tIns="0" rIns="0" bIns="0" rtlCol="0" anchor="ctr"/>
          <a:lstStyle/>
          <a:p>
            <a:pPr>
              <a:spcBef>
                <a:spcPts val="800"/>
              </a:spcBef>
              <a:spcAft>
                <a:spcPts val="800"/>
              </a:spcAft>
              <a:buSzPct val="100000"/>
              <a:defRPr/>
            </a:pPr>
            <a:r>
              <a:rPr lang="en-US" sz="1400" b="1" dirty="0">
                <a:solidFill>
                  <a:srgbClr val="FF7900"/>
                </a:solidFill>
                <a:latin typeface="Helvetica Neue"/>
              </a:rPr>
              <a:t>3.4 Model Selection: Three Families, One Protocol</a:t>
            </a:r>
          </a:p>
        </p:txBody>
      </p:sp>
      <p:sp>
        <p:nvSpPr>
          <p:cNvPr id="3" name="Text 1"/>
          <p:cNvSpPr txBox="1"/>
          <p:nvPr/>
        </p:nvSpPr>
        <p:spPr>
          <a:xfrm>
            <a:off x="411480" y="651510"/>
            <a:ext cx="8298180" cy="178308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800"/>
              </a:spcBef>
              <a:spcAft>
                <a:spcPts val="800"/>
              </a:spcAft>
              <a:buClrTx/>
              <a:buSzPct val="100000"/>
              <a:buFontTx/>
              <a:buChar char="●"/>
              <a:tabLst/>
              <a:defRPr/>
            </a:pPr>
            <a:r>
              <a:rPr kumimoji="0" lang="en-US" sz="1200" b="1" i="0" u="none" strike="noStrike" kern="1200" cap="none" spc="0" normalizeH="0" baseline="0" noProof="0" dirty="0">
                <a:ln>
                  <a:noFill/>
                </a:ln>
                <a:solidFill>
                  <a:srgbClr val="FF7900"/>
                </a:solidFill>
                <a:effectLst/>
                <a:uLnTx/>
                <a:uFillTx/>
                <a:latin typeface="Helvetica Neue"/>
                <a:ea typeface="+mn-ea"/>
                <a:cs typeface="+mn-cs"/>
              </a:rPr>
              <a:t>Why different families? </a:t>
            </a:r>
            <a:r>
              <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A curve from a single model only tells us how that one system behaves. The real question is whether over- and under-thinking are properties of the method (spending compute on reasoning) or of one model's size, architecture or training. So we picked three models that differ on all three axes, and H2 requires at least three families anyway.</a:t>
            </a:r>
          </a:p>
          <a:p>
            <a:pPr marL="177800" indent="-177800">
              <a:spcBef>
                <a:spcPts val="800"/>
              </a:spcBef>
              <a:spcAft>
                <a:spcPts val="800"/>
              </a:spcAft>
              <a:buSzPct val="100000"/>
              <a:buFontTx/>
              <a:buChar char="●"/>
              <a:defRPr/>
            </a:pPr>
            <a:r>
              <a:rPr lang="en-US" sz="1200" b="1" dirty="0">
                <a:solidFill>
                  <a:srgbClr val="FF7900"/>
                </a:solidFill>
                <a:latin typeface="Helvetica Neue"/>
              </a:rPr>
              <a:t>What we care about and what we don’t. </a:t>
            </a:r>
            <a:r>
              <a:rPr lang="en-US" sz="1200" dirty="0">
                <a:solidFill>
                  <a:srgbClr val="FFFFFF"/>
                </a:solidFill>
                <a:latin typeface="Arial" pitchFamily="34" charset="0"/>
                <a:cs typeface="Arial" pitchFamily="34" charset="-120"/>
              </a:rPr>
              <a:t>We are not trying to rank the models or to find out how accurate each one is: absolute accuracy depends on model size, training data and each benchmark's grader, and it says little about how compute is used. What we want to see is the shape of the curve itself and the </a:t>
            </a:r>
            <a:r>
              <a:rPr lang="en-US" sz="1200" dirty="0" err="1">
                <a:solidFill>
                  <a:srgbClr val="FFFFFF"/>
                </a:solidFill>
                <a:latin typeface="Arial" pitchFamily="34" charset="0"/>
                <a:cs typeface="Arial" pitchFamily="34" charset="-120"/>
              </a:rPr>
              <a:t>behaviour</a:t>
            </a:r>
            <a:r>
              <a:rPr lang="en-US" sz="1200" dirty="0">
                <a:solidFill>
                  <a:srgbClr val="FFFFFF"/>
                </a:solidFill>
                <a:latin typeface="Arial" pitchFamily="34" charset="0"/>
                <a:cs typeface="Arial" pitchFamily="34" charset="-120"/>
              </a:rPr>
              <a:t> behind it: does accuracy rise, saturate or decline as the budget grows, where does it stop paying off, does the model loop at long budgets, does it skip reasoning at all.</a:t>
            </a:r>
          </a:p>
          <a:p>
            <a:pPr marL="177800" indent="-177800">
              <a:spcBef>
                <a:spcPts val="800"/>
              </a:spcBef>
              <a:spcAft>
                <a:spcPts val="800"/>
              </a:spcAft>
              <a:buSzPct val="100000"/>
              <a:buFontTx/>
              <a:buChar char="●"/>
              <a:defRPr/>
            </a:pPr>
            <a:r>
              <a:rPr lang="en-US" sz="1200" b="1" dirty="0">
                <a:solidFill>
                  <a:srgbClr val="FF7900"/>
                </a:solidFill>
                <a:latin typeface="Helvetica Neue"/>
              </a:rPr>
              <a:t>gain? </a:t>
            </a:r>
            <a:r>
              <a:rPr lang="en-US" sz="1200" dirty="0">
                <a:solidFill>
                  <a:srgbClr val="FFFFFF"/>
                </a:solidFill>
                <a:latin typeface="Arial" pitchFamily="34" charset="0"/>
                <a:cs typeface="Arial" pitchFamily="34" charset="-120"/>
              </a:rPr>
              <a:t>If the same shape shows up in families that differ in size, architecture and training, it is a property of how reasoning compute behaves, not a quirk of one system: a weak model and a strong one can still draw the same curve. If the shapes differ, the differences point at what to look at next. Because all three run in one notebook with one MODEL_KEY switch, T = 0.7, no system prompt and the same budgets and graders, a difference between them comes from the model and not from the setup. The claim stays limited to these three models (see the limitations that follow).</a:t>
            </a:r>
          </a:p>
          <a:p>
            <a:pPr marL="177800" indent="-177800">
              <a:spcBef>
                <a:spcPts val="800"/>
              </a:spcBef>
              <a:spcAft>
                <a:spcPts val="800"/>
              </a:spcAft>
              <a:buSzPct val="100000"/>
              <a:buFontTx/>
              <a:buChar char="●"/>
              <a:defRPr/>
            </a:pPr>
            <a:endParaRPr lang="en-US" sz="1200" dirty="0">
              <a:solidFill>
                <a:srgbClr val="FFFFFF"/>
              </a:solidFill>
              <a:latin typeface="Arial" pitchFamily="34" charset="0"/>
              <a:cs typeface="Arial" pitchFamily="34" charset="-120"/>
            </a:endParaRPr>
          </a:p>
          <a:p>
            <a:pPr marL="177800" marR="0" lvl="0" indent="-177800" algn="l" defTabSz="914400" rtl="0" eaLnBrk="1" fontAlgn="auto" latinLnBrk="0" hangingPunct="1">
              <a:lnSpc>
                <a:spcPct val="100000"/>
              </a:lnSpc>
              <a:spcBef>
                <a:spcPts val="800"/>
              </a:spcBef>
              <a:spcAft>
                <a:spcPts val="800"/>
              </a:spcAft>
              <a:buClrTx/>
              <a:buSzPct val="100000"/>
              <a:buFontTx/>
              <a:buChar char="●"/>
              <a:tabLst/>
              <a:defRPr/>
            </a:pPr>
            <a:endPar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a:p>
            <a:pPr marL="177800" marR="0" lvl="0" indent="-177800" algn="l" defTabSz="914400" rtl="0" eaLnBrk="1" fontAlgn="auto" latinLnBrk="0" hangingPunct="1">
              <a:lnSpc>
                <a:spcPct val="100000"/>
              </a:lnSpc>
              <a:spcBef>
                <a:spcPts val="800"/>
              </a:spcBef>
              <a:spcAft>
                <a:spcPts val="800"/>
              </a:spcAft>
              <a:buClrTx/>
              <a:buSzPct val="100000"/>
              <a:buFontTx/>
              <a:buChar char="●"/>
              <a:tabLst/>
              <a:defRPr/>
            </a:pPr>
            <a:endParaRPr kumimoji="0" lang="en-US" sz="120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a:p>
            <a:pPr defTabSz="685800"/>
            <a:endParaRPr lang="en-US" sz="1200" dirty="0">
              <a:solidFill>
                <a:srgbClr val="FFFFFF"/>
              </a:solidFill>
              <a:latin typeface="Arial" pitchFamily="34" charset="0"/>
              <a:cs typeface="Arial" pitchFamily="34" charset="-120"/>
            </a:endParaRPr>
          </a:p>
        </p:txBody>
      </p:sp>
      <p:sp>
        <p:nvSpPr>
          <p:cNvPr id="16" name="Text 14"/>
          <p:cNvSpPr txBox="1"/>
          <p:nvPr/>
        </p:nvSpPr>
        <p:spPr>
          <a:xfrm>
            <a:off x="411480" y="4766310"/>
            <a:ext cx="2743200" cy="205740"/>
          </a:xfrm>
          <a:prstGeom prst="rect">
            <a:avLst/>
          </a:prstGeom>
          <a:noFill/>
          <a:ln/>
        </p:spPr>
        <p:txBody>
          <a:bodyPr wrap="square" lIns="0" tIns="0" rIns="0" bIns="0" rtlCol="0" anchor="ctr"/>
          <a:lstStyle/>
          <a:p>
            <a:pPr defTabSz="685800"/>
            <a:r>
              <a:rPr lang="en-US" sz="975" b="1" dirty="0">
                <a:solidFill>
                  <a:srgbClr val="FF7900"/>
                </a:solidFill>
                <a:latin typeface="Arial" pitchFamily="34" charset="0"/>
                <a:ea typeface="Arial" pitchFamily="34" charset="-122"/>
                <a:cs typeface="Arial" pitchFamily="34" charset="-120"/>
              </a:rPr>
              <a:t>Orange Restricted</a:t>
            </a:r>
            <a:endParaRPr lang="en-US" sz="975" dirty="0">
              <a:solidFill>
                <a:prstClr val="black"/>
              </a:solidFill>
              <a:latin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 1"/>
          <p:cNvSpPr txBox="1"/>
          <p:nvPr/>
        </p:nvSpPr>
        <p:spPr>
          <a:xfrm>
            <a:off x="411480" y="345186"/>
            <a:ext cx="8298180" cy="205740"/>
          </a:xfrm>
          <a:prstGeom prst="rect">
            <a:avLst/>
          </a:prstGeom>
          <a:noFill/>
          <a:ln/>
        </p:spPr>
        <p:txBody>
          <a:bodyPr wrap="square" lIns="0" tIns="0" rIns="0" bIns="0" rtlCol="0" anchor="ctr"/>
          <a:lstStyle/>
          <a:p>
            <a:pPr marL="177800" indent="-177800">
              <a:spcBef>
                <a:spcPts val="800"/>
              </a:spcBef>
              <a:spcAft>
                <a:spcPts val="800"/>
              </a:spcAft>
              <a:buSzPct val="100000"/>
              <a:buFontTx/>
              <a:buChar char="●"/>
              <a:defRPr/>
            </a:pPr>
            <a:r>
              <a:rPr lang="en-US" sz="1200" b="1" dirty="0">
                <a:solidFill>
                  <a:srgbClr val="FF7900"/>
                </a:solidFill>
                <a:latin typeface="Helvetica Neue"/>
              </a:rPr>
              <a:t>The 3 models : </a:t>
            </a:r>
            <a:r>
              <a:rPr lang="en-US" sz="1000" dirty="0">
                <a:solidFill>
                  <a:srgbClr val="FFFFFF"/>
                </a:solidFill>
                <a:latin typeface="Arial" pitchFamily="34" charset="0"/>
                <a:ea typeface="Arial" pitchFamily="34" charset="-122"/>
                <a:cs typeface="Arial" pitchFamily="34" charset="-120"/>
              </a:rPr>
              <a:t>Same protocol for all three: T = 0.7, no system prompt, fp16, 32,768 context, same budgets and graders</a:t>
            </a:r>
            <a:endParaRPr lang="en-US" sz="1000" dirty="0"/>
          </a:p>
          <a:p>
            <a:pPr marL="177800" marR="0" lvl="0" indent="-177800" algn="l" defTabSz="914400" rtl="0" eaLnBrk="1" fontAlgn="auto" latinLnBrk="0" hangingPunct="1">
              <a:lnSpc>
                <a:spcPct val="100000"/>
              </a:lnSpc>
              <a:spcBef>
                <a:spcPts val="800"/>
              </a:spcBef>
              <a:spcAft>
                <a:spcPts val="800"/>
              </a:spcAft>
              <a:buClrTx/>
              <a:buSzPct val="100000"/>
              <a:buFontTx/>
              <a:buChar char="●"/>
              <a:tabLst/>
              <a:defRPr/>
            </a:pPr>
            <a:endParaRPr lang="en-US" sz="1000" dirty="0">
              <a:solidFill>
                <a:srgbClr val="FFFFFF"/>
              </a:solidFill>
              <a:latin typeface="Arial" pitchFamily="34" charset="0"/>
              <a:cs typeface="Arial" pitchFamily="34" charset="-120"/>
            </a:endParaRPr>
          </a:p>
        </p:txBody>
      </p:sp>
      <p:sp>
        <p:nvSpPr>
          <p:cNvPr id="16" name="Text 14"/>
          <p:cNvSpPr txBox="1"/>
          <p:nvPr/>
        </p:nvSpPr>
        <p:spPr>
          <a:xfrm>
            <a:off x="411480" y="4930902"/>
            <a:ext cx="2743200" cy="205740"/>
          </a:xfrm>
          <a:prstGeom prst="rect">
            <a:avLst/>
          </a:prstGeom>
          <a:noFill/>
          <a:ln/>
        </p:spPr>
        <p:txBody>
          <a:bodyPr wrap="square" lIns="0" tIns="0" rIns="0" bIns="0" rtlCol="0" anchor="ctr"/>
          <a:lstStyle/>
          <a:p>
            <a:pPr defTabSz="685800"/>
            <a:endParaRPr lang="en-US" sz="975" dirty="0">
              <a:solidFill>
                <a:prstClr val="black"/>
              </a:solidFill>
              <a:latin typeface="Calibri" panose="020F0502020204030204"/>
            </a:endParaRPr>
          </a:p>
        </p:txBody>
      </p:sp>
      <p:pic>
        <p:nvPicPr>
          <p:cNvPr id="22" name="Picture 21">
            <a:extLst>
              <a:ext uri="{FF2B5EF4-FFF2-40B4-BE49-F238E27FC236}">
                <a16:creationId xmlns:a16="http://schemas.microsoft.com/office/drawing/2014/main" id="{9FA450CA-97CF-24FA-CB88-0C2BA7184005}"/>
              </a:ext>
            </a:extLst>
          </p:cNvPr>
          <p:cNvPicPr>
            <a:picLocks noChangeAspect="1"/>
          </p:cNvPicPr>
          <p:nvPr/>
        </p:nvPicPr>
        <p:blipFill>
          <a:blip r:embed="rId3"/>
          <a:stretch>
            <a:fillRect/>
          </a:stretch>
        </p:blipFill>
        <p:spPr>
          <a:xfrm>
            <a:off x="414337" y="441388"/>
            <a:ext cx="8315325" cy="2200275"/>
          </a:xfrm>
          <a:prstGeom prst="rect">
            <a:avLst/>
          </a:prstGeom>
        </p:spPr>
      </p:pic>
      <p:sp>
        <p:nvSpPr>
          <p:cNvPr id="24" name="TextBox 23">
            <a:extLst>
              <a:ext uri="{FF2B5EF4-FFF2-40B4-BE49-F238E27FC236}">
                <a16:creationId xmlns:a16="http://schemas.microsoft.com/office/drawing/2014/main" id="{BB28BC22-E3DF-4067-D9C4-C7D9E636760A}"/>
              </a:ext>
            </a:extLst>
          </p:cNvPr>
          <p:cNvSpPr txBox="1"/>
          <p:nvPr/>
        </p:nvSpPr>
        <p:spPr>
          <a:xfrm>
            <a:off x="298513" y="2858572"/>
            <a:ext cx="8315325" cy="276999"/>
          </a:xfrm>
          <a:prstGeom prst="rect">
            <a:avLst/>
          </a:prstGeom>
          <a:noFill/>
        </p:spPr>
        <p:txBody>
          <a:bodyPr wrap="square">
            <a:spAutoFit/>
          </a:bodyPr>
          <a:lstStyle/>
          <a:p>
            <a:pPr>
              <a:spcBef>
                <a:spcPts val="800"/>
              </a:spcBef>
              <a:spcAft>
                <a:spcPts val="800"/>
              </a:spcAft>
              <a:buSzPct val="100000"/>
              <a:buFontTx/>
              <a:buChar char="●"/>
              <a:defRPr/>
            </a:pPr>
            <a:r>
              <a:rPr lang="en-US" sz="1200" b="1" dirty="0">
                <a:solidFill>
                  <a:srgbClr val="FF7900"/>
                </a:solidFill>
                <a:latin typeface="Helvetica Neue"/>
              </a:rPr>
              <a:t>  Limitations and Mitigations </a:t>
            </a:r>
          </a:p>
        </p:txBody>
      </p:sp>
      <p:sp>
        <p:nvSpPr>
          <p:cNvPr id="25" name="Text 1"/>
          <p:cNvSpPr txBox="1"/>
          <p:nvPr/>
        </p:nvSpPr>
        <p:spPr>
          <a:xfrm>
            <a:off x="411480" y="3144774"/>
            <a:ext cx="4046220" cy="205740"/>
          </a:xfrm>
          <a:prstGeom prst="rect">
            <a:avLst/>
          </a:prstGeom>
          <a:noFill/>
          <a:ln/>
        </p:spPr>
        <p:txBody>
          <a:bodyPr wrap="square" lIns="0" tIns="0" rIns="0" bIns="0" rtlCol="0" anchor="ctr"/>
          <a:lstStyle/>
          <a:p>
            <a:pPr defTabSz="685800"/>
            <a:r>
              <a:rPr lang="en-US" sz="1050" b="1" dirty="0">
                <a:solidFill>
                  <a:srgbClr val="FF7900"/>
                </a:solidFill>
                <a:latin typeface="Arial" pitchFamily="34" charset="0"/>
                <a:ea typeface="Arial" pitchFamily="34" charset="-122"/>
                <a:cs typeface="Arial" pitchFamily="34" charset="-120"/>
              </a:rPr>
              <a:t>Limitations: why the models are not perfectly comparable</a:t>
            </a:r>
            <a:endParaRPr lang="en-US" sz="1050" dirty="0">
              <a:solidFill>
                <a:prstClr val="black"/>
              </a:solidFill>
              <a:latin typeface="Calibri" panose="020F0502020204030204"/>
            </a:endParaRPr>
          </a:p>
        </p:txBody>
      </p:sp>
      <p:sp>
        <p:nvSpPr>
          <p:cNvPr id="26" name="Text 2"/>
          <p:cNvSpPr txBox="1"/>
          <p:nvPr/>
        </p:nvSpPr>
        <p:spPr>
          <a:xfrm>
            <a:off x="4663440" y="3144774"/>
            <a:ext cx="4046220" cy="205740"/>
          </a:xfrm>
          <a:prstGeom prst="rect">
            <a:avLst/>
          </a:prstGeom>
          <a:noFill/>
          <a:ln/>
        </p:spPr>
        <p:txBody>
          <a:bodyPr wrap="square" lIns="0" tIns="0" rIns="0" bIns="0" rtlCol="0" anchor="ctr"/>
          <a:lstStyle/>
          <a:p>
            <a:pPr defTabSz="685800"/>
            <a:r>
              <a:rPr lang="en-US" sz="1050" b="1" dirty="0">
                <a:solidFill>
                  <a:srgbClr val="FF7900"/>
                </a:solidFill>
                <a:latin typeface="Arial" pitchFamily="34" charset="0"/>
                <a:ea typeface="Arial" pitchFamily="34" charset="-122"/>
                <a:cs typeface="Arial" pitchFamily="34" charset="-120"/>
              </a:rPr>
              <a:t>Mitigations: how we carry them into the analysis</a:t>
            </a:r>
            <a:endParaRPr lang="en-US" sz="1050" dirty="0">
              <a:solidFill>
                <a:prstClr val="black"/>
              </a:solidFill>
              <a:latin typeface="Calibri" panose="020F0502020204030204"/>
            </a:endParaRPr>
          </a:p>
        </p:txBody>
      </p:sp>
      <p:sp>
        <p:nvSpPr>
          <p:cNvPr id="27" name="Shape 3"/>
          <p:cNvSpPr/>
          <p:nvPr/>
        </p:nvSpPr>
        <p:spPr>
          <a:xfrm>
            <a:off x="411480" y="3419094"/>
            <a:ext cx="8298180" cy="0"/>
          </a:xfrm>
          <a:prstGeom prst="line">
            <a:avLst/>
          </a:prstGeom>
          <a:noFill/>
          <a:ln w="9525">
            <a:solidFill>
              <a:srgbClr val="5A2A00"/>
            </a:solidFill>
            <a:prstDash val="solid"/>
          </a:ln>
        </p:spPr>
      </p:sp>
      <p:sp>
        <p:nvSpPr>
          <p:cNvPr id="28" name="Text 5"/>
          <p:cNvSpPr txBox="1"/>
          <p:nvPr/>
        </p:nvSpPr>
        <p:spPr>
          <a:xfrm>
            <a:off x="4457700" y="3453384"/>
            <a:ext cx="205740" cy="205740"/>
          </a:xfrm>
          <a:prstGeom prst="rect">
            <a:avLst/>
          </a:prstGeom>
          <a:noFill/>
          <a:ln/>
        </p:spPr>
        <p:txBody>
          <a:bodyPr wrap="square" lIns="0" tIns="0" rIns="0" bIns="0" rtlCol="0" anchor="ctr"/>
          <a:lstStyle/>
          <a:p>
            <a:pPr algn="ctr" defTabSz="685800"/>
            <a:endParaRPr lang="en-US" sz="1200" dirty="0">
              <a:solidFill>
                <a:prstClr val="black"/>
              </a:solidFill>
              <a:latin typeface="Calibri" panose="020F0502020204030204"/>
            </a:endParaRPr>
          </a:p>
        </p:txBody>
      </p:sp>
      <p:sp>
        <p:nvSpPr>
          <p:cNvPr id="29" name="Shape 11"/>
          <p:cNvSpPr/>
          <p:nvPr/>
        </p:nvSpPr>
        <p:spPr>
          <a:xfrm>
            <a:off x="411480" y="3419094"/>
            <a:ext cx="8298180" cy="0"/>
          </a:xfrm>
          <a:prstGeom prst="line">
            <a:avLst/>
          </a:prstGeom>
          <a:noFill/>
          <a:ln w="9525">
            <a:solidFill>
              <a:srgbClr val="5A2A00"/>
            </a:solidFill>
            <a:prstDash val="solid"/>
          </a:ln>
        </p:spPr>
      </p:sp>
      <p:sp>
        <p:nvSpPr>
          <p:cNvPr id="30" name="Text 12"/>
          <p:cNvSpPr txBox="1"/>
          <p:nvPr/>
        </p:nvSpPr>
        <p:spPr>
          <a:xfrm>
            <a:off x="411480" y="3453384"/>
            <a:ext cx="4046220" cy="480060"/>
          </a:xfrm>
          <a:prstGeom prst="rect">
            <a:avLst/>
          </a:prstGeom>
          <a:noFill/>
          <a:ln/>
        </p:spPr>
        <p:txBody>
          <a:bodyPr wrap="square" lIns="0" tIns="0" rIns="0" bIns="0" rtlCol="0" anchor="t"/>
          <a:lstStyle/>
          <a:p>
            <a:pPr defTabSz="685800"/>
            <a:r>
              <a:rPr lang="en-US" sz="900" b="1" dirty="0">
                <a:solidFill>
                  <a:srgbClr val="FF7900"/>
                </a:solidFill>
                <a:latin typeface="Arial" pitchFamily="34" charset="0"/>
                <a:ea typeface="Arial" pitchFamily="34" charset="-122"/>
                <a:cs typeface="Arial" pitchFamily="34" charset="-120"/>
              </a:rPr>
              <a:t>1.  </a:t>
            </a:r>
            <a:r>
              <a:rPr lang="en-US" sz="900" dirty="0">
                <a:solidFill>
                  <a:srgbClr val="FFFFFF"/>
                </a:solidFill>
                <a:latin typeface="Arial" pitchFamily="34" charset="0"/>
                <a:ea typeface="Arial" pitchFamily="34" charset="-122"/>
                <a:cs typeface="Arial" pitchFamily="34" charset="-120"/>
              </a:rPr>
              <a:t>Shared sampling (T = 0.7) is not each vendor's recommended setting, which depresses absolute scores for models with their own recommendations.</a:t>
            </a:r>
            <a:endParaRPr lang="en-US" sz="900" dirty="0">
              <a:solidFill>
                <a:prstClr val="black"/>
              </a:solidFill>
              <a:latin typeface="Calibri" panose="020F0502020204030204"/>
            </a:endParaRPr>
          </a:p>
        </p:txBody>
      </p:sp>
      <p:sp>
        <p:nvSpPr>
          <p:cNvPr id="31" name="Text 13"/>
          <p:cNvSpPr txBox="1"/>
          <p:nvPr/>
        </p:nvSpPr>
        <p:spPr>
          <a:xfrm>
            <a:off x="4457700" y="3453384"/>
            <a:ext cx="205740" cy="205740"/>
          </a:xfrm>
          <a:prstGeom prst="rect">
            <a:avLst/>
          </a:prstGeom>
          <a:noFill/>
          <a:ln/>
        </p:spPr>
        <p:txBody>
          <a:bodyPr wrap="square" lIns="0" tIns="0" rIns="0" bIns="0" rtlCol="0" anchor="ctr"/>
          <a:lstStyle/>
          <a:p>
            <a:pPr algn="ctr" defTabSz="685800"/>
            <a:r>
              <a:rPr lang="en-US" sz="1200" b="1" dirty="0">
                <a:solidFill>
                  <a:srgbClr val="FF7900"/>
                </a:solidFill>
                <a:latin typeface="Arial" pitchFamily="34" charset="0"/>
                <a:ea typeface="Arial" pitchFamily="34" charset="-122"/>
                <a:cs typeface="Arial" pitchFamily="34" charset="-120"/>
              </a:rPr>
              <a:t>→</a:t>
            </a:r>
            <a:endParaRPr lang="en-US" sz="1200" dirty="0">
              <a:solidFill>
                <a:prstClr val="black"/>
              </a:solidFill>
              <a:latin typeface="Calibri" panose="020F0502020204030204"/>
            </a:endParaRPr>
          </a:p>
        </p:txBody>
      </p:sp>
      <p:sp>
        <p:nvSpPr>
          <p:cNvPr id="32" name="Text 14"/>
          <p:cNvSpPr txBox="1"/>
          <p:nvPr/>
        </p:nvSpPr>
        <p:spPr>
          <a:xfrm>
            <a:off x="4663440" y="3453384"/>
            <a:ext cx="4046220" cy="480060"/>
          </a:xfrm>
          <a:prstGeom prst="rect">
            <a:avLst/>
          </a:prstGeom>
          <a:noFill/>
          <a:ln/>
        </p:spPr>
        <p:txBody>
          <a:bodyPr wrap="square" lIns="0" tIns="0" rIns="0" bIns="0" rtlCol="0" anchor="t"/>
          <a:lstStyle/>
          <a:p>
            <a:pPr defTabSz="685800"/>
            <a:r>
              <a:rPr lang="en-US" sz="900" dirty="0">
                <a:solidFill>
                  <a:srgbClr val="FFFFFF"/>
                </a:solidFill>
                <a:latin typeface="Arial" pitchFamily="34" charset="0"/>
                <a:cs typeface="Arial" pitchFamily="34" charset="-120"/>
              </a:rPr>
              <a:t>The constant protocol isolates model and budget effects, so we read curve shapes, not absolute scores.</a:t>
            </a:r>
          </a:p>
        </p:txBody>
      </p:sp>
      <p:sp>
        <p:nvSpPr>
          <p:cNvPr id="33" name="Shape 15"/>
          <p:cNvSpPr/>
          <p:nvPr/>
        </p:nvSpPr>
        <p:spPr>
          <a:xfrm>
            <a:off x="411480" y="3967734"/>
            <a:ext cx="8298180" cy="0"/>
          </a:xfrm>
          <a:prstGeom prst="line">
            <a:avLst/>
          </a:prstGeom>
          <a:noFill/>
          <a:ln w="9525">
            <a:solidFill>
              <a:srgbClr val="5A2A00"/>
            </a:solidFill>
            <a:prstDash val="solid"/>
          </a:ln>
        </p:spPr>
      </p:sp>
      <p:sp>
        <p:nvSpPr>
          <p:cNvPr id="34" name="Text 17"/>
          <p:cNvSpPr txBox="1"/>
          <p:nvPr/>
        </p:nvSpPr>
        <p:spPr>
          <a:xfrm>
            <a:off x="4457700" y="4002024"/>
            <a:ext cx="205740" cy="205740"/>
          </a:xfrm>
          <a:prstGeom prst="rect">
            <a:avLst/>
          </a:prstGeom>
          <a:noFill/>
          <a:ln/>
        </p:spPr>
        <p:txBody>
          <a:bodyPr wrap="square" lIns="0" tIns="0" rIns="0" bIns="0" rtlCol="0" anchor="ctr"/>
          <a:lstStyle/>
          <a:p>
            <a:pPr algn="ctr" defTabSz="685800"/>
            <a:r>
              <a:rPr lang="en-US" sz="1200" b="1" dirty="0">
                <a:solidFill>
                  <a:srgbClr val="FF7900"/>
                </a:solidFill>
                <a:latin typeface="Arial" pitchFamily="34" charset="0"/>
                <a:ea typeface="Arial" pitchFamily="34" charset="-122"/>
                <a:cs typeface="Arial" pitchFamily="34" charset="-120"/>
              </a:rPr>
              <a:t>→</a:t>
            </a:r>
            <a:endParaRPr lang="en-US" sz="1200" dirty="0">
              <a:solidFill>
                <a:prstClr val="black"/>
              </a:solidFill>
              <a:latin typeface="Calibri" panose="020F0502020204030204"/>
            </a:endParaRPr>
          </a:p>
        </p:txBody>
      </p:sp>
      <p:sp>
        <p:nvSpPr>
          <p:cNvPr id="35" name="Shape 15"/>
          <p:cNvSpPr/>
          <p:nvPr/>
        </p:nvSpPr>
        <p:spPr>
          <a:xfrm>
            <a:off x="411480" y="3961638"/>
            <a:ext cx="8298180" cy="0"/>
          </a:xfrm>
          <a:prstGeom prst="line">
            <a:avLst/>
          </a:prstGeom>
          <a:noFill/>
          <a:ln w="9525">
            <a:solidFill>
              <a:srgbClr val="5A2A00"/>
            </a:solidFill>
            <a:prstDash val="solid"/>
          </a:ln>
        </p:spPr>
      </p:sp>
      <p:sp>
        <p:nvSpPr>
          <p:cNvPr id="36" name="Text 16"/>
          <p:cNvSpPr txBox="1"/>
          <p:nvPr/>
        </p:nvSpPr>
        <p:spPr>
          <a:xfrm>
            <a:off x="411480" y="3995928"/>
            <a:ext cx="4046220" cy="480060"/>
          </a:xfrm>
          <a:prstGeom prst="rect">
            <a:avLst/>
          </a:prstGeom>
          <a:noFill/>
          <a:ln/>
        </p:spPr>
        <p:txBody>
          <a:bodyPr wrap="square" lIns="0" tIns="0" rIns="0" bIns="0" rtlCol="0" anchor="t"/>
          <a:lstStyle/>
          <a:p>
            <a:pPr defTabSz="685800"/>
            <a:r>
              <a:rPr lang="en-US" sz="900" b="1" dirty="0">
                <a:solidFill>
                  <a:srgbClr val="FF7900"/>
                </a:solidFill>
                <a:latin typeface="Arial" pitchFamily="34" charset="0"/>
                <a:ea typeface="Arial" pitchFamily="34" charset="-122"/>
                <a:cs typeface="Arial" pitchFamily="34" charset="-120"/>
              </a:rPr>
              <a:t>2.  </a:t>
            </a:r>
            <a:r>
              <a:rPr lang="en-US" sz="900" dirty="0">
                <a:solidFill>
                  <a:srgbClr val="FFFFFF"/>
                </a:solidFill>
                <a:latin typeface="Arial" pitchFamily="34" charset="0"/>
                <a:ea typeface="Arial" pitchFamily="34" charset="-122"/>
                <a:cs typeface="Arial" pitchFamily="34" charset="-120"/>
              </a:rPr>
              <a:t>Serving layout differs (TP=1 data parallel vs TP=2). The 8B model runs at lower concurrency, so latency is not comparable across models.</a:t>
            </a:r>
            <a:endParaRPr lang="en-US" sz="900" dirty="0">
              <a:solidFill>
                <a:prstClr val="black"/>
              </a:solidFill>
              <a:latin typeface="Calibri" panose="020F0502020204030204"/>
            </a:endParaRPr>
          </a:p>
        </p:txBody>
      </p:sp>
      <p:sp>
        <p:nvSpPr>
          <p:cNvPr id="37" name="Text 17"/>
          <p:cNvSpPr txBox="1"/>
          <p:nvPr/>
        </p:nvSpPr>
        <p:spPr>
          <a:xfrm>
            <a:off x="4457700" y="3995928"/>
            <a:ext cx="205740" cy="205740"/>
          </a:xfrm>
          <a:prstGeom prst="rect">
            <a:avLst/>
          </a:prstGeom>
          <a:noFill/>
          <a:ln/>
        </p:spPr>
        <p:txBody>
          <a:bodyPr wrap="square" lIns="0" tIns="0" rIns="0" bIns="0" rtlCol="0" anchor="ctr"/>
          <a:lstStyle/>
          <a:p>
            <a:pPr algn="ctr" defTabSz="685800"/>
            <a:r>
              <a:rPr lang="en-US" sz="1200" b="1" dirty="0">
                <a:solidFill>
                  <a:srgbClr val="FF7900"/>
                </a:solidFill>
                <a:latin typeface="Arial" pitchFamily="34" charset="0"/>
                <a:ea typeface="Arial" pitchFamily="34" charset="-122"/>
                <a:cs typeface="Arial" pitchFamily="34" charset="-120"/>
              </a:rPr>
              <a:t>→</a:t>
            </a:r>
            <a:endParaRPr lang="en-US" sz="1200" dirty="0">
              <a:solidFill>
                <a:prstClr val="black"/>
              </a:solidFill>
              <a:latin typeface="Calibri" panose="020F0502020204030204"/>
            </a:endParaRPr>
          </a:p>
        </p:txBody>
      </p:sp>
      <p:sp>
        <p:nvSpPr>
          <p:cNvPr id="38" name="Text 18"/>
          <p:cNvSpPr txBox="1"/>
          <p:nvPr/>
        </p:nvSpPr>
        <p:spPr>
          <a:xfrm>
            <a:off x="4663440" y="3995928"/>
            <a:ext cx="4046220" cy="480060"/>
          </a:xfrm>
          <a:prstGeom prst="rect">
            <a:avLst/>
          </a:prstGeom>
          <a:noFill/>
          <a:ln/>
        </p:spPr>
        <p:txBody>
          <a:bodyPr wrap="square" lIns="0" tIns="0" rIns="0" bIns="0" rtlCol="0" anchor="t"/>
          <a:lstStyle/>
          <a:p>
            <a:pPr defTabSz="685800"/>
            <a:r>
              <a:rPr lang="en-US" sz="900" dirty="0">
                <a:solidFill>
                  <a:srgbClr val="FFFFFF"/>
                </a:solidFill>
                <a:latin typeface="Arial" pitchFamily="34" charset="0"/>
                <a:cs typeface="Arial" pitchFamily="34" charset="-120"/>
              </a:rPr>
              <a:t>Compare latency within a model only, and use tokens_used for cross-model cost. </a:t>
            </a:r>
          </a:p>
        </p:txBody>
      </p:sp>
      <p:sp>
        <p:nvSpPr>
          <p:cNvPr id="39" name="Shape 23"/>
          <p:cNvSpPr/>
          <p:nvPr/>
        </p:nvSpPr>
        <p:spPr>
          <a:xfrm>
            <a:off x="411480" y="4376166"/>
            <a:ext cx="8298180" cy="0"/>
          </a:xfrm>
          <a:prstGeom prst="line">
            <a:avLst/>
          </a:prstGeom>
          <a:noFill/>
          <a:ln w="9525">
            <a:solidFill>
              <a:srgbClr val="5A2A00"/>
            </a:solidFill>
            <a:prstDash val="solid"/>
          </a:ln>
        </p:spPr>
      </p:sp>
      <p:sp>
        <p:nvSpPr>
          <p:cNvPr id="40" name="Text 24"/>
          <p:cNvSpPr txBox="1"/>
          <p:nvPr/>
        </p:nvSpPr>
        <p:spPr>
          <a:xfrm>
            <a:off x="411480" y="4410456"/>
            <a:ext cx="4046220" cy="480060"/>
          </a:xfrm>
          <a:prstGeom prst="rect">
            <a:avLst/>
          </a:prstGeom>
          <a:noFill/>
          <a:ln/>
        </p:spPr>
        <p:txBody>
          <a:bodyPr wrap="square" lIns="0" tIns="0" rIns="0" bIns="0" rtlCol="0" anchor="t"/>
          <a:lstStyle/>
          <a:p>
            <a:pPr defTabSz="685800"/>
            <a:r>
              <a:rPr lang="en-US" sz="900" b="1" dirty="0">
                <a:solidFill>
                  <a:srgbClr val="FF7900"/>
                </a:solidFill>
                <a:latin typeface="Arial" pitchFamily="34" charset="0"/>
                <a:ea typeface="Arial" pitchFamily="34" charset="-122"/>
                <a:cs typeface="Arial" pitchFamily="34" charset="-120"/>
              </a:rPr>
              <a:t>3.  </a:t>
            </a:r>
            <a:r>
              <a:rPr lang="en-US" sz="900" dirty="0">
                <a:solidFill>
                  <a:srgbClr val="FFFFFF"/>
                </a:solidFill>
                <a:latin typeface="Arial" pitchFamily="34" charset="0"/>
                <a:ea typeface="Arial" pitchFamily="34" charset="-122"/>
                <a:cs typeface="Arial" pitchFamily="34" charset="-120"/>
              </a:rPr>
              <a:t>Three models are not a sample of "LLMs": size, architecture and training are fully confounded.</a:t>
            </a:r>
            <a:endParaRPr lang="en-US" sz="900" dirty="0">
              <a:solidFill>
                <a:prstClr val="black"/>
              </a:solidFill>
              <a:latin typeface="Calibri" panose="020F0502020204030204"/>
            </a:endParaRPr>
          </a:p>
        </p:txBody>
      </p:sp>
      <p:sp>
        <p:nvSpPr>
          <p:cNvPr id="41" name="Text 25"/>
          <p:cNvSpPr txBox="1"/>
          <p:nvPr/>
        </p:nvSpPr>
        <p:spPr>
          <a:xfrm>
            <a:off x="4457700" y="4410456"/>
            <a:ext cx="205740" cy="205740"/>
          </a:xfrm>
          <a:prstGeom prst="rect">
            <a:avLst/>
          </a:prstGeom>
          <a:noFill/>
          <a:ln/>
        </p:spPr>
        <p:txBody>
          <a:bodyPr wrap="square" lIns="0" tIns="0" rIns="0" bIns="0" rtlCol="0" anchor="ctr"/>
          <a:lstStyle/>
          <a:p>
            <a:pPr algn="ctr" defTabSz="685800"/>
            <a:r>
              <a:rPr lang="en-US" sz="1200" b="1" dirty="0">
                <a:solidFill>
                  <a:srgbClr val="FF7900"/>
                </a:solidFill>
                <a:latin typeface="Arial" pitchFamily="34" charset="0"/>
                <a:ea typeface="Arial" pitchFamily="34" charset="-122"/>
                <a:cs typeface="Arial" pitchFamily="34" charset="-120"/>
              </a:rPr>
              <a:t>→</a:t>
            </a:r>
            <a:endParaRPr lang="en-US" sz="1200" dirty="0">
              <a:solidFill>
                <a:prstClr val="black"/>
              </a:solidFill>
              <a:latin typeface="Calibri" panose="020F0502020204030204"/>
            </a:endParaRPr>
          </a:p>
        </p:txBody>
      </p:sp>
      <p:sp>
        <p:nvSpPr>
          <p:cNvPr id="42" name="Text 26"/>
          <p:cNvSpPr txBox="1"/>
          <p:nvPr/>
        </p:nvSpPr>
        <p:spPr>
          <a:xfrm>
            <a:off x="4663440" y="4410456"/>
            <a:ext cx="4046220" cy="480060"/>
          </a:xfrm>
          <a:prstGeom prst="rect">
            <a:avLst/>
          </a:prstGeom>
          <a:noFill/>
          <a:ln/>
        </p:spPr>
        <p:txBody>
          <a:bodyPr wrap="square" lIns="0" tIns="0" rIns="0" bIns="0" rtlCol="0" anchor="t"/>
          <a:lstStyle/>
          <a:p>
            <a:pPr defTabSz="685800"/>
            <a:r>
              <a:rPr lang="en-US" sz="900" dirty="0">
                <a:solidFill>
                  <a:srgbClr val="FFFFFF"/>
                </a:solidFill>
                <a:latin typeface="Arial" pitchFamily="34" charset="0"/>
                <a:cs typeface="Arial" pitchFamily="34" charset="-120"/>
              </a:rPr>
              <a:t>Claim only that a pattern is shared across these three models.</a:t>
            </a:r>
          </a:p>
        </p:txBody>
      </p:sp>
      <p:sp>
        <p:nvSpPr>
          <p:cNvPr id="43" name="Rectangle 42">
            <a:extLst>
              <a:ext uri="{FF2B5EF4-FFF2-40B4-BE49-F238E27FC236}">
                <a16:creationId xmlns:a16="http://schemas.microsoft.com/office/drawing/2014/main" id="{37DA1507-05EC-5C6B-35FF-C3328B2BAD0B}"/>
              </a:ext>
            </a:extLst>
          </p:cNvPr>
          <p:cNvSpPr/>
          <p:nvPr/>
        </p:nvSpPr>
        <p:spPr>
          <a:xfrm>
            <a:off x="3096768" y="441388"/>
            <a:ext cx="146304" cy="220027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Rectangle 43">
            <a:extLst>
              <a:ext uri="{FF2B5EF4-FFF2-40B4-BE49-F238E27FC236}">
                <a16:creationId xmlns:a16="http://schemas.microsoft.com/office/drawing/2014/main" id="{C9ED8C8B-0AD0-AF85-7014-30EA4A3998ED}"/>
              </a:ext>
            </a:extLst>
          </p:cNvPr>
          <p:cNvSpPr/>
          <p:nvPr/>
        </p:nvSpPr>
        <p:spPr>
          <a:xfrm>
            <a:off x="5907024" y="441388"/>
            <a:ext cx="146304" cy="220027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411480" y="205740"/>
            <a:ext cx="8298180" cy="342900"/>
          </a:xfrm>
          <a:prstGeom prst="rect">
            <a:avLst/>
          </a:prstGeom>
          <a:noFill/>
          <a:ln/>
        </p:spPr>
        <p:txBody>
          <a:bodyPr wrap="square" lIns="0" tIns="0" rIns="0" bIns="0" rtlCol="0" anchor="ctr"/>
          <a:lstStyle/>
          <a:p>
            <a:pPr>
              <a:buClr>
                <a:srgbClr val="FF7900"/>
              </a:buClr>
              <a:buSzPts val="1500"/>
              <a:defRPr/>
            </a:pPr>
            <a:r>
              <a:rPr lang="en-US" sz="1500" b="1" dirty="0">
                <a:solidFill>
                  <a:srgbClr val="FF7900"/>
                </a:solidFill>
                <a:latin typeface="Helvetica Neue"/>
                <a:sym typeface="Arial"/>
              </a:rPr>
              <a:t>4. Pipeline of implementation</a:t>
            </a:r>
          </a:p>
        </p:txBody>
      </p:sp>
      <p:graphicFrame>
        <p:nvGraphicFramePr>
          <p:cNvPr id="3" name="Table 0"/>
          <p:cNvGraphicFramePr>
            <a:graphicFrameLocks noGrp="1"/>
          </p:cNvGraphicFramePr>
          <p:nvPr/>
        </p:nvGraphicFramePr>
        <p:xfrm>
          <a:off x="411480" y="651510"/>
          <a:ext cx="8298180" cy="3422142"/>
        </p:xfrm>
        <a:graphic>
          <a:graphicData uri="http://schemas.openxmlformats.org/drawingml/2006/table">
            <a:tbl>
              <a:tblPr/>
              <a:tblGrid>
                <a:gridCol w="822960">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1165860">
                  <a:extLst>
                    <a:ext uri="{9D8B030D-6E8A-4147-A177-3AD203B41FA5}">
                      <a16:colId xmlns:a16="http://schemas.microsoft.com/office/drawing/2014/main" val="20002"/>
                    </a:ext>
                  </a:extLst>
                </a:gridCol>
                <a:gridCol w="3497580">
                  <a:extLst>
                    <a:ext uri="{9D8B030D-6E8A-4147-A177-3AD203B41FA5}">
                      <a16:colId xmlns:a16="http://schemas.microsoft.com/office/drawing/2014/main" val="20003"/>
                    </a:ext>
                  </a:extLst>
                </a:gridCol>
                <a:gridCol w="2537460">
                  <a:extLst>
                    <a:ext uri="{9D8B030D-6E8A-4147-A177-3AD203B41FA5}">
                      <a16:colId xmlns:a16="http://schemas.microsoft.com/office/drawing/2014/main" val="20004"/>
                    </a:ext>
                  </a:extLst>
                </a:gridCol>
              </a:tblGrid>
              <a:tr h="219456">
                <a:tc>
                  <a:txBody>
                    <a:bodyPr/>
                    <a:lstStyle/>
                    <a:p>
                      <a:pPr marL="0" indent="0">
                        <a:buNone/>
                      </a:pPr>
                      <a:r>
                        <a:rPr lang="en-US" sz="800" b="1" dirty="0">
                          <a:solidFill>
                            <a:srgbClr val="000000"/>
                          </a:solidFill>
                          <a:latin typeface="Arial" pitchFamily="34" charset="0"/>
                          <a:ea typeface="Arial" pitchFamily="34" charset="-122"/>
                          <a:cs typeface="Arial" pitchFamily="34" charset="-120"/>
                        </a:rPr>
                        <a:t>Phase</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900"/>
                    </a:solidFill>
                  </a:tcPr>
                </a:tc>
                <a:tc>
                  <a:txBody>
                    <a:bodyPr/>
                    <a:lstStyle/>
                    <a:p>
                      <a:pPr marL="0" indent="0">
                        <a:buNone/>
                      </a:pPr>
                      <a:r>
                        <a:rPr lang="en-US" sz="800" b="1"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900"/>
                    </a:solidFill>
                  </a:tcPr>
                </a:tc>
                <a:tc>
                  <a:txBody>
                    <a:bodyPr/>
                    <a:lstStyle/>
                    <a:p>
                      <a:pPr marL="0" indent="0">
                        <a:buNone/>
                      </a:pPr>
                      <a:r>
                        <a:rPr lang="en-US" sz="800" b="1" dirty="0">
                          <a:solidFill>
                            <a:srgbClr val="000000"/>
                          </a:solidFill>
                          <a:latin typeface="Arial" pitchFamily="34" charset="0"/>
                          <a:ea typeface="Arial" pitchFamily="34" charset="-122"/>
                          <a:cs typeface="Arial" pitchFamily="34" charset="-120"/>
                        </a:rPr>
                        <a:t>Step</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900"/>
                    </a:solidFill>
                  </a:tcPr>
                </a:tc>
                <a:tc>
                  <a:txBody>
                    <a:bodyPr/>
                    <a:lstStyle/>
                    <a:p>
                      <a:pPr marL="0" indent="0">
                        <a:buNone/>
                      </a:pPr>
                      <a:r>
                        <a:rPr lang="en-US" sz="800" b="1" dirty="0">
                          <a:solidFill>
                            <a:srgbClr val="000000"/>
                          </a:solidFill>
                          <a:latin typeface="Arial" pitchFamily="34" charset="0"/>
                          <a:ea typeface="Arial" pitchFamily="34" charset="-122"/>
                          <a:cs typeface="Arial" pitchFamily="34" charset="-120"/>
                        </a:rPr>
                        <a:t>What happens</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900"/>
                    </a:solidFill>
                  </a:tcPr>
                </a:tc>
                <a:tc>
                  <a:txBody>
                    <a:bodyPr/>
                    <a:lstStyle/>
                    <a:p>
                      <a:pPr marL="0" indent="0">
                        <a:buNone/>
                      </a:pPr>
                      <a:r>
                        <a:rPr lang="en-US" sz="800" b="1" dirty="0">
                          <a:solidFill>
                            <a:srgbClr val="000000"/>
                          </a:solidFill>
                          <a:latin typeface="Arial" pitchFamily="34" charset="0"/>
                          <a:ea typeface="Arial" pitchFamily="34" charset="-122"/>
                          <a:cs typeface="Arial" pitchFamily="34" charset="-120"/>
                        </a:rPr>
                        <a:t>Why</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7900"/>
                    </a:solidFill>
                  </a:tcPr>
                </a:tc>
                <a:extLst>
                  <a:ext uri="{0D108BD9-81ED-4DB2-BD59-A6C34878D82A}">
                    <a16:rowId xmlns:a16="http://schemas.microsoft.com/office/drawing/2014/main" val="10000"/>
                  </a:ext>
                </a:extLst>
              </a:tr>
              <a:tr h="356616">
                <a:tc rowSpan="2">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Input</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8B796"/>
                    </a:solidFill>
                  </a:tcPr>
                </a:tc>
                <a:tc>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b="1" dirty="0">
                          <a:solidFill>
                            <a:srgbClr val="000000"/>
                          </a:solidFill>
                          <a:latin typeface="Arial" pitchFamily="34" charset="0"/>
                          <a:ea typeface="Arial" pitchFamily="34" charset="-122"/>
                          <a:cs typeface="Arial" pitchFamily="34" charset="-120"/>
                        </a:rPr>
                        <a:t>Benchmark loaders</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Each benchmark's load(n) returns {question, gold}; gold is a letter, number, instruction dict or list of tests</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One interface for nine heterogeneous datasets keeps the grid benchmark-agnostic</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extLst>
                  <a:ext uri="{0D108BD9-81ED-4DB2-BD59-A6C34878D82A}">
                    <a16:rowId xmlns:a16="http://schemas.microsoft.com/office/drawing/2014/main" val="10001"/>
                  </a:ext>
                </a:extLst>
              </a:tr>
              <a:tr h="356616">
                <a:tc vMerge="1">
                  <a:txBody>
                    <a:bodyPr/>
                    <a:lstStyle/>
                    <a:p>
                      <a:endParaRPr lang="en-US"/>
                    </a:p>
                  </a:txBody>
                  <a:tcPr/>
                </a:tc>
                <a:tc>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b="1" dirty="0">
                          <a:solidFill>
                            <a:srgbClr val="000000"/>
                          </a:solidFill>
                          <a:latin typeface="Arial" pitchFamily="34" charset="0"/>
                          <a:ea typeface="Arial" pitchFamily="34" charset="-122"/>
                          <a:cs typeface="Arial" pitchFamily="34" charset="-120"/>
                        </a:rPr>
                        <a:t>Task grid</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Cartesian product: benchmark × question × budget × sample. Key = (benchmark, question_id, compute_level, sample_index); completed keys are skipped</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Every call is addressable, and skipping completed keys is the resume mechanism</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extLst>
                  <a:ext uri="{0D108BD9-81ED-4DB2-BD59-A6C34878D82A}">
                    <a16:rowId xmlns:a16="http://schemas.microsoft.com/office/drawing/2014/main" val="10002"/>
                  </a:ext>
                </a:extLst>
              </a:tr>
              <a:tr h="425196">
                <a:tc rowSpan="2">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Schedule &amp; generate</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8B796"/>
                    </a:solidFill>
                  </a:tcPr>
                </a:tc>
                <a:tc>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3</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b="1" dirty="0">
                          <a:solidFill>
                            <a:srgbClr val="000000"/>
                          </a:solidFill>
                          <a:latin typeface="Arial" pitchFamily="34" charset="0"/>
                          <a:ea typeface="Arial" pitchFamily="34" charset="-122"/>
                          <a:cs typeface="Arial" pitchFamily="34" charset="-120"/>
                        </a:rPr>
                        <a:t>KV-aware scheduler</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Shuffled order (seed 0). Each request is charged ≈ 500 + 0.65 × budget KV tokens and admitted to the least-loaded server only if its load stays under 85 % of KV capacity †</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Avoids KV overflow and preemptions that inflate latency; shuffling spreads budgets across time and servers</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extLst>
                  <a:ext uri="{0D108BD9-81ED-4DB2-BD59-A6C34878D82A}">
                    <a16:rowId xmlns:a16="http://schemas.microsoft.com/office/drawing/2014/main" val="10003"/>
                  </a:ext>
                </a:extLst>
              </a:tr>
              <a:tr h="425196">
                <a:tc vMerge="1">
                  <a:txBody>
                    <a:bodyPr/>
                    <a:lstStyle/>
                    <a:p>
                      <a:endParaRPr lang="en-US"/>
                    </a:p>
                  </a:txBody>
                  <a:tcPr/>
                </a:tc>
                <a:tc>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4</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b="1" dirty="0">
                          <a:solidFill>
                            <a:srgbClr val="000000"/>
                          </a:solidFill>
                          <a:latin typeface="Arial" pitchFamily="34" charset="0"/>
                          <a:ea typeface="Arial" pitchFamily="34" charset="-122"/>
                          <a:cs typeface="Arial" pitchFamily="34" charset="-120"/>
                        </a:rPr>
                        <a:t>vLLM server(s)</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One chat completion per task: question only, T = 0.7, budget sent as max_thinking_tokens, logits processor closes thinking at budget − 1. Two TP=1 servers (LFM, Qwen) or one TP=2 server (DeepSeek)</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Prompt is identical across budgets, so only reasoning length changes</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extLst>
                  <a:ext uri="{0D108BD9-81ED-4DB2-BD59-A6C34878D82A}">
                    <a16:rowId xmlns:a16="http://schemas.microsoft.com/office/drawing/2014/main" val="10004"/>
                  </a:ext>
                </a:extLst>
              </a:tr>
              <a:tr h="308610">
                <a:tc rowSpan="3">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Measure &amp; grade</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8B796"/>
                    </a:solidFill>
                  </a:tcPr>
                </a:tc>
                <a:tc>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5</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b="1" dirty="0">
                          <a:solidFill>
                            <a:srgbClr val="000000"/>
                          </a:solidFill>
                          <a:latin typeface="Arial" pitchFamily="34" charset="0"/>
                          <a:ea typeface="Arial" pitchFamily="34" charset="-122"/>
                          <a:cs typeface="Arial" pitchFamily="34" charset="-120"/>
                        </a:rPr>
                        <a:t>Thinking / answer split</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Split at the first closing marker. No marker: whole text stored as thinking, was_truncated = True</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Every thinking-token metric depends on this split</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extLst>
                  <a:ext uri="{0D108BD9-81ED-4DB2-BD59-A6C34878D82A}">
                    <a16:rowId xmlns:a16="http://schemas.microsoft.com/office/drawing/2014/main" val="10005"/>
                  </a:ext>
                </a:extLst>
              </a:tr>
              <a:tr h="308610">
                <a:tc vMerge="1">
                  <a:txBody>
                    <a:bodyPr/>
                    <a:lstStyle/>
                    <a:p>
                      <a:endParaRPr lang="en-US"/>
                    </a:p>
                  </a:txBody>
                  <a:tcPr/>
                </a:tc>
                <a:tc>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b="1" dirty="0">
                          <a:solidFill>
                            <a:srgbClr val="000000"/>
                          </a:solidFill>
                          <a:latin typeface="Arial" pitchFamily="34" charset="0"/>
                          <a:ea typeface="Arial" pitchFamily="34" charset="-122"/>
                          <a:cs typeface="Arial" pitchFamily="34" charset="-120"/>
                        </a:rPr>
                        <a:t>Local token counts</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tokens_used from the API (exact); thinking_tokens and output_tokens by re-encoding each half locally (approximate)</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The API returns one aggregate count only</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extLst>
                  <a:ext uri="{0D108BD9-81ED-4DB2-BD59-A6C34878D82A}">
                    <a16:rowId xmlns:a16="http://schemas.microsoft.com/office/drawing/2014/main" val="10006"/>
                  </a:ext>
                </a:extLst>
              </a:tr>
              <a:tr h="308610">
                <a:tc vMerge="1">
                  <a:txBody>
                    <a:bodyPr/>
                    <a:lstStyle/>
                    <a:p>
                      <a:endParaRPr lang="en-US"/>
                    </a:p>
                  </a:txBody>
                  <a:tcPr/>
                </a:tc>
                <a:tc>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7</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b="1" dirty="0">
                          <a:solidFill>
                            <a:srgbClr val="000000"/>
                          </a:solidFill>
                          <a:latin typeface="Arial" pitchFamily="34" charset="0"/>
                          <a:ea typeface="Arial" pitchFamily="34" charset="-122"/>
                          <a:cs typeface="Arial" pitchFamily="34" charset="-120"/>
                        </a:rPr>
                        <a:t>Grader</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Benchmark grader on the answer half only, scanning from the end (last letter, number, box, code block or call)</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Avoids crediting an answer that appears only in scratch reasoning</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extLst>
                  <a:ext uri="{0D108BD9-81ED-4DB2-BD59-A6C34878D82A}">
                    <a16:rowId xmlns:a16="http://schemas.microsoft.com/office/drawing/2014/main" val="10007"/>
                  </a:ext>
                </a:extLst>
              </a:tr>
              <a:tr h="356616">
                <a:tc rowSpan="2">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Persist</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8B796"/>
                    </a:solidFill>
                  </a:tcPr>
                </a:tc>
                <a:tc>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8</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b="1" dirty="0">
                          <a:solidFill>
                            <a:srgbClr val="000000"/>
                          </a:solidFill>
                          <a:latin typeface="Arial" pitchFamily="34" charset="0"/>
                          <a:ea typeface="Arial" pitchFamily="34" charset="-122"/>
                          <a:cs typeface="Arial" pitchFamily="34" charset="-120"/>
                        </a:rPr>
                        <a:t>Append-only checkpoint</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Rows appended every 50 results or 60 s with flush + fsync. Failed calls are not stored and are retried on resume; abort after 20 consecutive failures</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A multi-hour job cannot rewrite the CSV, and a dropped session loses minutes, not hours</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extLst>
                  <a:ext uri="{0D108BD9-81ED-4DB2-BD59-A6C34878D82A}">
                    <a16:rowId xmlns:a16="http://schemas.microsoft.com/office/drawing/2014/main" val="10008"/>
                  </a:ext>
                </a:extLst>
              </a:tr>
              <a:tr h="356616">
                <a:tc vMerge="1">
                  <a:txBody>
                    <a:bodyPr/>
                    <a:lstStyle/>
                    <a:p>
                      <a:endParaRPr lang="en-US"/>
                    </a:p>
                  </a:txBody>
                  <a:tcPr/>
                </a:tc>
                <a:tc>
                  <a:txBody>
                    <a:bodyPr/>
                    <a:lstStyle/>
                    <a:p>
                      <a:pPr marL="0" indent="0" algn="ctr">
                        <a:buNone/>
                      </a:pPr>
                      <a:r>
                        <a:rPr lang="en-US" sz="800" b="1" dirty="0">
                          <a:solidFill>
                            <a:srgbClr val="000000"/>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b="1" dirty="0">
                          <a:solidFill>
                            <a:srgbClr val="000000"/>
                          </a:solidFill>
                          <a:latin typeface="Arial" pitchFamily="34" charset="0"/>
                          <a:ea typeface="Arial" pitchFamily="34" charset="-122"/>
                          <a:cs typeface="Arial" pitchFamily="34" charset="-120"/>
                        </a:rPr>
                        <a:t>Consolidated CSV</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Final h1_raw_results.csv: one row per call, 17 columns; text NaN written as empty string; a stratified sample2.csv is also saved</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tc>
                  <a:txBody>
                    <a:bodyPr/>
                    <a:lstStyle/>
                    <a:p>
                      <a:pPr marL="0" indent="0">
                        <a:buNone/>
                      </a:pPr>
                      <a:r>
                        <a:rPr lang="en-US" sz="700" dirty="0">
                          <a:solidFill>
                            <a:srgbClr val="000000"/>
                          </a:solidFill>
                          <a:latin typeface="Arial" pitchFamily="34" charset="0"/>
                          <a:ea typeface="Arial" pitchFamily="34" charset="-122"/>
                          <a:cs typeface="Arial" pitchFamily="34" charset="-120"/>
                        </a:rPr>
                        <a:t>Every call is addressable and pairable; string methods downstream do not fail on NaN</a:t>
                      </a:r>
                      <a:endParaRPr lang="en-US" sz="700" dirty="0">
                        <a:latin typeface="Arial" charset="0"/>
                        <a:ea typeface="Arial" charset="0"/>
                        <a:cs typeface="Arial" charset="0"/>
                      </a:endParaRPr>
                    </a:p>
                  </a:txBody>
                  <a:tcPr marL="54864" marR="54864" marT="20574" marB="20574"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CD5C3"/>
                    </a:solidFill>
                  </a:tcPr>
                </a:tc>
                <a:extLst>
                  <a:ext uri="{0D108BD9-81ED-4DB2-BD59-A6C34878D82A}">
                    <a16:rowId xmlns:a16="http://schemas.microsoft.com/office/drawing/2014/main" val="10009"/>
                  </a:ext>
                </a:extLst>
              </a:tr>
            </a:tbl>
          </a:graphicData>
        </a:graphic>
      </p:graphicFrame>
      <p:sp>
        <p:nvSpPr>
          <p:cNvPr id="5" name="Text 2"/>
          <p:cNvSpPr txBox="1"/>
          <p:nvPr/>
        </p:nvSpPr>
        <p:spPr>
          <a:xfrm>
            <a:off x="411480" y="4766310"/>
            <a:ext cx="2743200" cy="205740"/>
          </a:xfrm>
          <a:prstGeom prst="rect">
            <a:avLst/>
          </a:prstGeom>
          <a:noFill/>
          <a:ln/>
        </p:spPr>
        <p:txBody>
          <a:bodyPr wrap="square" lIns="0" tIns="0" rIns="0" bIns="0" rtlCol="0" anchor="ctr"/>
          <a:lstStyle/>
          <a:p>
            <a:pPr defTabSz="685800"/>
            <a:r>
              <a:rPr lang="en-US" sz="975" b="1" dirty="0">
                <a:solidFill>
                  <a:srgbClr val="FF7900"/>
                </a:solidFill>
                <a:latin typeface="Arial" pitchFamily="34" charset="0"/>
                <a:ea typeface="Arial" pitchFamily="34" charset="-122"/>
                <a:cs typeface="Arial" pitchFamily="34" charset="-120"/>
              </a:rPr>
              <a:t>Orange Restricted</a:t>
            </a:r>
            <a:endParaRPr lang="en-US" sz="975" dirty="0">
              <a:solidFill>
                <a:prstClr val="black"/>
              </a:solidFill>
              <a:latin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591555"/>
            <a:ext cx="8503920"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endParaRPr kumimoji="0" lang="en-US" sz="1500" b="1" i="0" u="none" strike="noStrike" kern="1200" cap="none" spc="0" normalizeH="0" baseline="0" noProof="0" dirty="0">
              <a:ln>
                <a:noFill/>
              </a:ln>
              <a:solidFill>
                <a:srgbClr val="FF7900"/>
              </a:solidFill>
              <a:effectLst/>
              <a:uLnTx/>
              <a:uFillTx/>
              <a:latin typeface="Helvetica Neue"/>
              <a:ea typeface="+mn-ea"/>
              <a:cs typeface="+mn-cs"/>
              <a:sym typeface="Arial"/>
            </a:endParaRPr>
          </a:p>
        </p:txBody>
      </p:sp>
      <p:sp>
        <p:nvSpPr>
          <p:cNvPr id="3" name="Text 1"/>
          <p:cNvSpPr txBox="1"/>
          <p:nvPr/>
        </p:nvSpPr>
        <p:spPr>
          <a:xfrm>
            <a:off x="320040" y="860259"/>
            <a:ext cx="8503920" cy="3711742"/>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800"/>
              </a:spcBef>
              <a:spcAft>
                <a:spcPts val="800"/>
              </a:spcAft>
              <a:buClrTx/>
              <a:buSzPct val="100000"/>
              <a:buFontTx/>
              <a:buChar char="●"/>
              <a:tabLst/>
              <a:defRPr/>
            </a:pPr>
            <a:endPar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120"/>
            </a:endParaRPr>
          </a:p>
        </p:txBody>
      </p:sp>
      <p:sp>
        <p:nvSpPr>
          <p:cNvPr id="4" name="Text 2"/>
          <p:cNvSpPr txBox="1"/>
          <p:nvPr/>
        </p:nvSpPr>
        <p:spPr>
          <a:xfrm>
            <a:off x="320040" y="4864608"/>
            <a:ext cx="1828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Restricted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EA670373-6A07-E8D4-C271-70175F2F103F}"/>
              </a:ext>
            </a:extLst>
          </p:cNvPr>
          <p:cNvPicPr>
            <a:picLocks noChangeAspect="1"/>
          </p:cNvPicPr>
          <p:nvPr/>
        </p:nvPicPr>
        <p:blipFill>
          <a:blip r:embed="rId3"/>
          <a:stretch>
            <a:fillRect/>
          </a:stretch>
        </p:blipFill>
        <p:spPr>
          <a:xfrm>
            <a:off x="301716" y="975603"/>
            <a:ext cx="8427459" cy="3089190"/>
          </a:xfrm>
          <a:prstGeom prst="rect">
            <a:avLst/>
          </a:prstGeom>
        </p:spPr>
      </p:pic>
    </p:spTree>
    <p:extLst>
      <p:ext uri="{BB962C8B-B14F-4D97-AF65-F5344CB8AC3E}">
        <p14:creationId xmlns:p14="http://schemas.microsoft.com/office/powerpoint/2010/main" val="2677254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411480" y="205740"/>
            <a:ext cx="8298180" cy="45605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r>
              <a:rPr kumimoji="0" lang="en-US" sz="1500" b="1" i="0" u="none" strike="noStrike" kern="1200" cap="none" spc="0" normalizeH="0" baseline="0" noProof="0" dirty="0">
                <a:ln>
                  <a:noFill/>
                </a:ln>
                <a:solidFill>
                  <a:srgbClr val="FF7900"/>
                </a:solidFill>
                <a:effectLst/>
                <a:uLnTx/>
                <a:uFillTx/>
                <a:latin typeface="Helvetica Neue"/>
                <a:ea typeface="+mn-ea"/>
                <a:cs typeface="+mn-cs"/>
                <a:sym typeface="Arial"/>
              </a:rPr>
              <a:t>5. </a:t>
            </a:r>
            <a:r>
              <a:rPr lang="en-US" sz="1500" b="1" dirty="0">
                <a:solidFill>
                  <a:srgbClr val="FF7900"/>
                </a:solidFill>
                <a:latin typeface="Helvetica Neue"/>
                <a:sym typeface="Arial"/>
              </a:rPr>
              <a:t>Outcomes</a:t>
            </a:r>
          </a:p>
          <a:p>
            <a:pPr marL="0" marR="0" lvl="0" indent="0" algn="l" defTabSz="914400" rtl="0" eaLnBrk="1" fontAlgn="auto" latinLnBrk="0" hangingPunct="1">
              <a:lnSpc>
                <a:spcPct val="100000"/>
              </a:lnSpc>
              <a:spcBef>
                <a:spcPts val="700"/>
              </a:spcBef>
              <a:spcAft>
                <a:spcPts val="0"/>
              </a:spcAft>
              <a:buClr>
                <a:srgbClr val="FF7900"/>
              </a:buClr>
              <a:buSzPts val="1500"/>
              <a:buFontTx/>
              <a:buNone/>
              <a:tabLst/>
              <a:defRPr/>
            </a:pPr>
            <a:r>
              <a:rPr lang="en-US" sz="1300" b="1" dirty="0">
                <a:solidFill>
                  <a:srgbClr val="FF7900"/>
                </a:solidFill>
                <a:latin typeface="Helvetica Neue"/>
                <a:sym typeface="Arial"/>
              </a:rPr>
              <a:t>Dataset Description </a:t>
            </a:r>
          </a:p>
          <a:p>
            <a:pPr marL="171450" marR="0" lvl="0" indent="-171450" algn="l" defTabSz="914400" rtl="0" eaLnBrk="1" fontAlgn="auto" latinLnBrk="0" hangingPunct="1">
              <a:lnSpc>
                <a:spcPct val="100000"/>
              </a:lnSpc>
              <a:spcBef>
                <a:spcPts val="0"/>
              </a:spcBef>
              <a:spcAft>
                <a:spcPts val="400"/>
              </a:spcAft>
              <a:buClr>
                <a:srgbClr val="FF7900"/>
              </a:buClr>
              <a:buSzPts val="1500"/>
              <a:buFont typeface="Arial" panose="020B0604020202020204" pitchFamily="34" charset="0"/>
              <a:buChar char="•"/>
              <a:tabLst/>
              <a:defRPr/>
            </a:pPr>
            <a:r>
              <a:rPr lang="en-US" sz="1200" dirty="0">
                <a:solidFill>
                  <a:srgbClr val="FFFFFF"/>
                </a:solidFill>
                <a:latin typeface="Arial" pitchFamily="34" charset="0"/>
                <a:cs typeface="Arial" pitchFamily="34" charset="-120"/>
                <a:sym typeface="Arial"/>
              </a:rPr>
              <a:t>The data collection stage produces a structured dataset for investigating the relationship between allocated reasoning compute, model accuracy, and computational cost.</a:t>
            </a:r>
          </a:p>
          <a:p>
            <a:pPr marL="171450" marR="0" lvl="0" indent="-171450" algn="l" defTabSz="914400" rtl="0" eaLnBrk="1" fontAlgn="auto" latinLnBrk="0" hangingPunct="1">
              <a:lnSpc>
                <a:spcPct val="100000"/>
              </a:lnSpc>
              <a:spcBef>
                <a:spcPts val="0"/>
              </a:spcBef>
              <a:spcAft>
                <a:spcPts val="400"/>
              </a:spcAft>
              <a:buClr>
                <a:srgbClr val="FF7900"/>
              </a:buClr>
              <a:buSzPts val="1500"/>
              <a:buFont typeface="Arial" panose="020B0604020202020204" pitchFamily="34" charset="0"/>
              <a:buChar char="•"/>
              <a:tabLst/>
              <a:defRPr/>
            </a:pPr>
            <a:r>
              <a:rPr lang="en-US" sz="1200" dirty="0">
                <a:solidFill>
                  <a:srgbClr val="FFFFFF"/>
                </a:solidFill>
                <a:latin typeface="Arial" pitchFamily="34" charset="0"/>
                <a:cs typeface="Arial" pitchFamily="34" charset="-120"/>
                <a:sym typeface="Arial"/>
              </a:rPr>
              <a:t>Each record represents one model generation under a specific benchmark, question, compute budget, and sampling condition. The dataset preserves both the generated reasoning trace and the corresponding answer, alongside performance metrics and data-quality indicators, providing a unified foundation for the subsequent hypothesis testing</a:t>
            </a:r>
          </a:p>
          <a:p>
            <a:pPr>
              <a:spcBef>
                <a:spcPts val="700"/>
              </a:spcBef>
              <a:buClr>
                <a:srgbClr val="FF7900"/>
              </a:buClr>
              <a:buSzPts val="1500"/>
              <a:defRPr/>
            </a:pPr>
            <a:r>
              <a:rPr lang="en-US" sz="1300" b="1" dirty="0">
                <a:solidFill>
                  <a:srgbClr val="FF7900"/>
                </a:solidFill>
                <a:latin typeface="Helvetica Neue"/>
              </a:rPr>
              <a:t>Record Structure</a:t>
            </a:r>
          </a:p>
          <a:p>
            <a:pPr marL="0" marR="0" lvl="0" indent="0" algn="l" defTabSz="914400" rtl="0" eaLnBrk="1" fontAlgn="auto" latinLnBrk="0" hangingPunct="1">
              <a:lnSpc>
                <a:spcPct val="100000"/>
              </a:lnSpc>
              <a:spcBef>
                <a:spcPts val="0"/>
              </a:spcBef>
              <a:spcAft>
                <a:spcPts val="700"/>
              </a:spcAft>
              <a:buClr>
                <a:srgbClr val="FF7900"/>
              </a:buClr>
              <a:buSzPts val="1500"/>
              <a:buFontTx/>
              <a:buNone/>
              <a:tabLst/>
              <a:defRPr/>
            </a:pPr>
            <a:r>
              <a:rPr lang="en-US" sz="1200" dirty="0">
                <a:solidFill>
                  <a:srgbClr val="FFFFFF"/>
                </a:solidFill>
                <a:latin typeface="Arial" pitchFamily="34" charset="0"/>
                <a:cs typeface="Arial" pitchFamily="34" charset="-120"/>
                <a:sym typeface="Arial"/>
              </a:rPr>
              <a:t>The dataset contains 17 columns organized into four functional groups:</a:t>
            </a:r>
          </a:p>
          <a:p>
            <a:pPr marL="171450" marR="0" lvl="0" indent="-171450" algn="l" defTabSz="914400" rtl="0" eaLnBrk="1" fontAlgn="auto" latinLnBrk="0" hangingPunct="1">
              <a:lnSpc>
                <a:spcPct val="100000"/>
              </a:lnSpc>
              <a:spcBef>
                <a:spcPts val="0"/>
              </a:spcBef>
              <a:spcAft>
                <a:spcPts val="400"/>
              </a:spcAft>
              <a:buClr>
                <a:srgbClr val="FF7900"/>
              </a:buClr>
              <a:buSzPts val="1500"/>
              <a:buFont typeface="Arial" panose="020B0604020202020204" pitchFamily="34" charset="0"/>
              <a:buChar char="•"/>
              <a:tabLst/>
              <a:defRPr/>
            </a:pPr>
            <a:r>
              <a:rPr lang="en-US" sz="1100" b="1" dirty="0">
                <a:solidFill>
                  <a:schemeClr val="bg1"/>
                </a:solidFill>
                <a:latin typeface="Helvetica Neue"/>
                <a:sym typeface="Arial"/>
              </a:rPr>
              <a:t>Experimental identifiers: </a:t>
            </a:r>
            <a:r>
              <a:rPr lang="en-US" sz="1100" dirty="0">
                <a:solidFill>
                  <a:schemeClr val="bg1"/>
                </a:solidFill>
                <a:latin typeface="Garamond" panose="02020404030301010803" pitchFamily="18" charset="0"/>
                <a:sym typeface="Arial"/>
              </a:rPr>
              <a:t>model, benchmark, </a:t>
            </a:r>
            <a:r>
              <a:rPr lang="en-US" sz="1100" dirty="0" err="1">
                <a:solidFill>
                  <a:schemeClr val="bg1"/>
                </a:solidFill>
                <a:latin typeface="Garamond" panose="02020404030301010803" pitchFamily="18" charset="0"/>
                <a:sym typeface="Arial"/>
              </a:rPr>
              <a:t>question_id</a:t>
            </a:r>
            <a:r>
              <a:rPr lang="en-US" sz="1100" dirty="0">
                <a:solidFill>
                  <a:schemeClr val="bg1"/>
                </a:solidFill>
                <a:latin typeface="Garamond" panose="02020404030301010803" pitchFamily="18" charset="0"/>
                <a:sym typeface="Arial"/>
              </a:rPr>
              <a:t>, </a:t>
            </a:r>
            <a:r>
              <a:rPr lang="en-US" sz="1100" dirty="0" err="1">
                <a:solidFill>
                  <a:schemeClr val="bg1"/>
                </a:solidFill>
                <a:latin typeface="Garamond" panose="02020404030301010803" pitchFamily="18" charset="0"/>
                <a:sym typeface="Arial"/>
              </a:rPr>
              <a:t>difficulty_tier</a:t>
            </a:r>
            <a:r>
              <a:rPr lang="en-US" sz="1100" dirty="0">
                <a:solidFill>
                  <a:schemeClr val="bg1"/>
                </a:solidFill>
                <a:latin typeface="Garamond" panose="02020404030301010803" pitchFamily="18" charset="0"/>
                <a:sym typeface="Arial"/>
              </a:rPr>
              <a:t>, </a:t>
            </a:r>
            <a:r>
              <a:rPr lang="en-US" sz="1100" dirty="0" err="1">
                <a:solidFill>
                  <a:schemeClr val="bg1"/>
                </a:solidFill>
                <a:latin typeface="Garamond" panose="02020404030301010803" pitchFamily="18" charset="0"/>
                <a:sym typeface="Arial"/>
              </a:rPr>
              <a:t>task_type</a:t>
            </a:r>
            <a:r>
              <a:rPr lang="en-US" sz="1100" dirty="0">
                <a:solidFill>
                  <a:schemeClr val="bg1"/>
                </a:solidFill>
                <a:latin typeface="Garamond" panose="02020404030301010803" pitchFamily="18" charset="0"/>
                <a:sym typeface="Arial"/>
              </a:rPr>
              <a:t>, </a:t>
            </a:r>
            <a:r>
              <a:rPr lang="en-US" sz="1100" dirty="0" err="1">
                <a:solidFill>
                  <a:schemeClr val="bg1"/>
                </a:solidFill>
                <a:latin typeface="Garamond" panose="02020404030301010803" pitchFamily="18" charset="0"/>
                <a:sym typeface="Arial"/>
              </a:rPr>
              <a:t>compute_level</a:t>
            </a:r>
            <a:r>
              <a:rPr lang="en-US" sz="1100" dirty="0">
                <a:solidFill>
                  <a:schemeClr val="bg1"/>
                </a:solidFill>
                <a:latin typeface="Garamond" panose="02020404030301010803" pitchFamily="18" charset="0"/>
                <a:sym typeface="Arial"/>
              </a:rPr>
              <a:t>,</a:t>
            </a:r>
            <a:r>
              <a:rPr lang="en-US" sz="1100" dirty="0">
                <a:solidFill>
                  <a:schemeClr val="bg1"/>
                </a:solidFill>
                <a:latin typeface="Helvetica Neue"/>
                <a:sym typeface="Arial"/>
              </a:rPr>
              <a:t> and </a:t>
            </a:r>
            <a:r>
              <a:rPr lang="en-US" sz="1100" dirty="0" err="1">
                <a:solidFill>
                  <a:schemeClr val="bg1"/>
                </a:solidFill>
                <a:latin typeface="Garamond" panose="02020404030301010803" pitchFamily="18" charset="0"/>
                <a:sym typeface="Arial"/>
              </a:rPr>
              <a:t>sample_index</a:t>
            </a:r>
            <a:r>
              <a:rPr lang="en-US" sz="1100" dirty="0">
                <a:solidFill>
                  <a:schemeClr val="bg1"/>
                </a:solidFill>
                <a:latin typeface="Helvetica Neue"/>
                <a:sym typeface="Arial"/>
              </a:rPr>
              <a:t>. These fields establish the experimental context of each generation and support grouping, filtering, and paired comparisons.</a:t>
            </a:r>
          </a:p>
          <a:p>
            <a:pPr marL="171450" marR="0" lvl="0" indent="-171450" algn="l" defTabSz="914400" rtl="0" eaLnBrk="1" fontAlgn="auto" latinLnBrk="0" hangingPunct="1">
              <a:lnSpc>
                <a:spcPct val="100000"/>
              </a:lnSpc>
              <a:spcBef>
                <a:spcPts val="0"/>
              </a:spcBef>
              <a:spcAft>
                <a:spcPts val="400"/>
              </a:spcAft>
              <a:buClr>
                <a:srgbClr val="FF7900"/>
              </a:buClr>
              <a:buSzPts val="1500"/>
              <a:buFont typeface="Arial" panose="020B0604020202020204" pitchFamily="34" charset="0"/>
              <a:buChar char="•"/>
              <a:tabLst/>
              <a:defRPr/>
            </a:pPr>
            <a:r>
              <a:rPr lang="en-US" sz="1100" b="1" dirty="0">
                <a:solidFill>
                  <a:schemeClr val="bg1"/>
                </a:solidFill>
                <a:latin typeface="Helvetica Neue"/>
                <a:sym typeface="Arial"/>
              </a:rPr>
              <a:t>Reasoning and answer content</a:t>
            </a:r>
            <a:r>
              <a:rPr lang="en-US" sz="1100" dirty="0">
                <a:solidFill>
                  <a:schemeClr val="bg1"/>
                </a:solidFill>
                <a:latin typeface="Helvetica Neue"/>
                <a:sym typeface="Arial"/>
              </a:rPr>
              <a:t>: </a:t>
            </a:r>
            <a:r>
              <a:rPr lang="en-US" sz="1100" dirty="0" err="1">
                <a:solidFill>
                  <a:schemeClr val="bg1"/>
                </a:solidFill>
                <a:latin typeface="Garamond" panose="02020404030301010803" pitchFamily="18" charset="0"/>
                <a:sym typeface="Arial"/>
              </a:rPr>
              <a:t>thinking_text</a:t>
            </a:r>
            <a:r>
              <a:rPr lang="en-US" sz="1100" dirty="0">
                <a:solidFill>
                  <a:schemeClr val="bg1"/>
                </a:solidFill>
                <a:latin typeface="Garamond" panose="02020404030301010803" pitchFamily="18" charset="0"/>
                <a:sym typeface="Arial"/>
              </a:rPr>
              <a:t>, </a:t>
            </a:r>
            <a:r>
              <a:rPr lang="en-US" sz="1100" dirty="0" err="1">
                <a:solidFill>
                  <a:schemeClr val="bg1"/>
                </a:solidFill>
                <a:latin typeface="Garamond" panose="02020404030301010803" pitchFamily="18" charset="0"/>
                <a:sym typeface="Arial"/>
              </a:rPr>
              <a:t>raw_model_output</a:t>
            </a:r>
            <a:r>
              <a:rPr lang="en-US" sz="1100" dirty="0">
                <a:solidFill>
                  <a:schemeClr val="bg1"/>
                </a:solidFill>
                <a:latin typeface="Garamond" panose="02020404030301010803" pitchFamily="18" charset="0"/>
                <a:sym typeface="Arial"/>
              </a:rPr>
              <a:t>,</a:t>
            </a:r>
            <a:r>
              <a:rPr lang="en-US" sz="1100" dirty="0">
                <a:solidFill>
                  <a:schemeClr val="bg1"/>
                </a:solidFill>
                <a:latin typeface="Helvetica Neue"/>
                <a:sym typeface="Arial"/>
              </a:rPr>
              <a:t> and </a:t>
            </a:r>
            <a:r>
              <a:rPr lang="en-US" sz="1100" dirty="0">
                <a:solidFill>
                  <a:schemeClr val="bg1"/>
                </a:solidFill>
                <a:latin typeface="Garamond" panose="02020404030301010803" pitchFamily="18" charset="0"/>
                <a:sym typeface="Arial"/>
              </a:rPr>
              <a:t>gold.</a:t>
            </a:r>
            <a:r>
              <a:rPr lang="en-US" sz="1100" dirty="0">
                <a:solidFill>
                  <a:schemeClr val="bg1"/>
                </a:solidFill>
                <a:latin typeface="Helvetica Neue"/>
                <a:sym typeface="Arial"/>
              </a:rPr>
              <a:t> These preserve the reasoning trace, extracted answer segment, and reference answer. Notably, </a:t>
            </a:r>
            <a:r>
              <a:rPr lang="en-US" sz="1100" dirty="0" err="1">
                <a:solidFill>
                  <a:schemeClr val="bg1"/>
                </a:solidFill>
                <a:latin typeface="Helvetica Neue"/>
                <a:sym typeface="Arial"/>
              </a:rPr>
              <a:t>raw_model_output</a:t>
            </a:r>
            <a:r>
              <a:rPr lang="en-US" sz="1100" dirty="0">
                <a:solidFill>
                  <a:schemeClr val="bg1"/>
                </a:solidFill>
                <a:latin typeface="Helvetica Neue"/>
                <a:sym typeface="Arial"/>
              </a:rPr>
              <a:t> contains the answer segment after splitting, rather than the complete original response.</a:t>
            </a:r>
          </a:p>
          <a:p>
            <a:pPr marL="171450" marR="0" lvl="0" indent="-171450" algn="l" defTabSz="914400" rtl="0" eaLnBrk="1" fontAlgn="auto" latinLnBrk="0" hangingPunct="1">
              <a:lnSpc>
                <a:spcPct val="100000"/>
              </a:lnSpc>
              <a:spcBef>
                <a:spcPts val="0"/>
              </a:spcBef>
              <a:spcAft>
                <a:spcPts val="400"/>
              </a:spcAft>
              <a:buClr>
                <a:srgbClr val="FF7900"/>
              </a:buClr>
              <a:buSzPts val="1500"/>
              <a:buFont typeface="Arial" panose="020B0604020202020204" pitchFamily="34" charset="0"/>
              <a:buChar char="•"/>
              <a:tabLst/>
              <a:defRPr/>
            </a:pPr>
            <a:r>
              <a:rPr lang="en-US" sz="1100" b="1" dirty="0">
                <a:solidFill>
                  <a:schemeClr val="bg1"/>
                </a:solidFill>
                <a:latin typeface="Helvetica Neue"/>
                <a:sym typeface="Arial"/>
              </a:rPr>
              <a:t>Performance and cost metrics: </a:t>
            </a:r>
            <a:r>
              <a:rPr lang="en-US" sz="1100" dirty="0" err="1">
                <a:solidFill>
                  <a:schemeClr val="bg1"/>
                </a:solidFill>
                <a:latin typeface="Garamond" panose="02020404030301010803" pitchFamily="18" charset="0"/>
                <a:sym typeface="Arial"/>
              </a:rPr>
              <a:t>is_correct</a:t>
            </a:r>
            <a:r>
              <a:rPr lang="en-US" sz="1100" dirty="0">
                <a:solidFill>
                  <a:schemeClr val="bg1"/>
                </a:solidFill>
                <a:latin typeface="Garamond" panose="02020404030301010803" pitchFamily="18" charset="0"/>
                <a:sym typeface="Arial"/>
              </a:rPr>
              <a:t>, </a:t>
            </a:r>
            <a:r>
              <a:rPr lang="en-US" sz="1100" dirty="0" err="1">
                <a:solidFill>
                  <a:schemeClr val="bg1"/>
                </a:solidFill>
                <a:latin typeface="Garamond" panose="02020404030301010803" pitchFamily="18" charset="0"/>
                <a:sym typeface="Arial"/>
              </a:rPr>
              <a:t>tokens_used</a:t>
            </a:r>
            <a:r>
              <a:rPr lang="en-US" sz="1100" dirty="0">
                <a:solidFill>
                  <a:schemeClr val="bg1"/>
                </a:solidFill>
                <a:latin typeface="Garamond" panose="02020404030301010803" pitchFamily="18" charset="0"/>
                <a:sym typeface="Arial"/>
              </a:rPr>
              <a:t>, </a:t>
            </a:r>
            <a:r>
              <a:rPr lang="en-US" sz="1100" dirty="0" err="1">
                <a:solidFill>
                  <a:schemeClr val="bg1"/>
                </a:solidFill>
                <a:latin typeface="Garamond" panose="02020404030301010803" pitchFamily="18" charset="0"/>
                <a:sym typeface="Arial"/>
              </a:rPr>
              <a:t>thinking_tokens</a:t>
            </a:r>
            <a:r>
              <a:rPr lang="en-US" sz="1100" dirty="0">
                <a:solidFill>
                  <a:schemeClr val="bg1"/>
                </a:solidFill>
                <a:latin typeface="Garamond" panose="02020404030301010803" pitchFamily="18" charset="0"/>
                <a:sym typeface="Arial"/>
              </a:rPr>
              <a:t>, </a:t>
            </a:r>
            <a:r>
              <a:rPr lang="en-US" sz="1100" dirty="0" err="1">
                <a:solidFill>
                  <a:schemeClr val="bg1"/>
                </a:solidFill>
                <a:latin typeface="Garamond" panose="02020404030301010803" pitchFamily="18" charset="0"/>
                <a:sym typeface="Arial"/>
              </a:rPr>
              <a:t>output_tokens</a:t>
            </a:r>
            <a:r>
              <a:rPr lang="en-US" sz="1100" dirty="0">
                <a:solidFill>
                  <a:schemeClr val="bg1"/>
                </a:solidFill>
                <a:latin typeface="Garamond" panose="02020404030301010803" pitchFamily="18" charset="0"/>
                <a:sym typeface="Arial"/>
              </a:rPr>
              <a:t>,</a:t>
            </a:r>
            <a:r>
              <a:rPr lang="en-US" sz="1100" dirty="0">
                <a:solidFill>
                  <a:schemeClr val="bg1"/>
                </a:solidFill>
                <a:latin typeface="Helvetica Neue"/>
                <a:sym typeface="Arial"/>
              </a:rPr>
              <a:t> and </a:t>
            </a:r>
            <a:r>
              <a:rPr lang="en-US" sz="1100" dirty="0" err="1">
                <a:solidFill>
                  <a:schemeClr val="bg1"/>
                </a:solidFill>
                <a:latin typeface="Garamond" panose="02020404030301010803" pitchFamily="18" charset="0"/>
                <a:sym typeface="Arial"/>
              </a:rPr>
              <a:t>latency_s</a:t>
            </a:r>
            <a:r>
              <a:rPr lang="en-US" sz="1100" dirty="0">
                <a:solidFill>
                  <a:schemeClr val="bg1"/>
                </a:solidFill>
                <a:latin typeface="Garamond" panose="02020404030301010803" pitchFamily="18" charset="0"/>
                <a:sym typeface="Arial"/>
              </a:rPr>
              <a:t>.</a:t>
            </a:r>
            <a:r>
              <a:rPr lang="en-US" sz="1100" dirty="0">
                <a:solidFill>
                  <a:schemeClr val="bg1"/>
                </a:solidFill>
                <a:latin typeface="Helvetica Neue"/>
                <a:sym typeface="Arial"/>
              </a:rPr>
              <a:t> These capture answer correctness, total completion-token usage, estimated reasoning and answer lengths, and end-to-end response latency.</a:t>
            </a:r>
          </a:p>
          <a:p>
            <a:pPr marL="171450" marR="0" lvl="0" indent="-171450" algn="l" defTabSz="914400" rtl="0" eaLnBrk="1" fontAlgn="auto" latinLnBrk="0" hangingPunct="1">
              <a:lnSpc>
                <a:spcPct val="100000"/>
              </a:lnSpc>
              <a:spcBef>
                <a:spcPts val="0"/>
              </a:spcBef>
              <a:spcAft>
                <a:spcPts val="400"/>
              </a:spcAft>
              <a:buClr>
                <a:srgbClr val="FF7900"/>
              </a:buClr>
              <a:buSzPts val="1500"/>
              <a:buFont typeface="Arial" panose="020B0604020202020204" pitchFamily="34" charset="0"/>
              <a:buChar char="•"/>
              <a:tabLst/>
              <a:defRPr/>
            </a:pPr>
            <a:r>
              <a:rPr lang="en-US" sz="1100" b="1" dirty="0">
                <a:solidFill>
                  <a:schemeClr val="bg1"/>
                </a:solidFill>
                <a:latin typeface="Helvetica Neue"/>
                <a:sym typeface="Arial"/>
              </a:rPr>
              <a:t>Data-quality flags: </a:t>
            </a:r>
            <a:r>
              <a:rPr lang="en-US" sz="1100" dirty="0" err="1">
                <a:solidFill>
                  <a:schemeClr val="bg1"/>
                </a:solidFill>
                <a:latin typeface="Garamond" panose="02020404030301010803" pitchFamily="18" charset="0"/>
                <a:sym typeface="Arial"/>
              </a:rPr>
              <a:t>hit_response_marker</a:t>
            </a:r>
            <a:r>
              <a:rPr lang="en-US" sz="1100" dirty="0">
                <a:solidFill>
                  <a:schemeClr val="bg1"/>
                </a:solidFill>
                <a:latin typeface="Garamond" panose="02020404030301010803" pitchFamily="18" charset="0"/>
                <a:sym typeface="Arial"/>
              </a:rPr>
              <a:t>, </a:t>
            </a:r>
            <a:r>
              <a:rPr lang="en-US" sz="1100" dirty="0" err="1">
                <a:solidFill>
                  <a:schemeClr val="bg1"/>
                </a:solidFill>
                <a:latin typeface="Garamond" panose="02020404030301010803" pitchFamily="18" charset="0"/>
                <a:sym typeface="Arial"/>
              </a:rPr>
              <a:t>was_truncated</a:t>
            </a:r>
            <a:r>
              <a:rPr lang="en-US" sz="1100" dirty="0">
                <a:solidFill>
                  <a:schemeClr val="bg1"/>
                </a:solidFill>
                <a:latin typeface="Garamond" panose="02020404030301010803" pitchFamily="18" charset="0"/>
                <a:sym typeface="Arial"/>
              </a:rPr>
              <a:t>,</a:t>
            </a:r>
            <a:r>
              <a:rPr lang="en-US" sz="1100" dirty="0">
                <a:solidFill>
                  <a:schemeClr val="bg1"/>
                </a:solidFill>
                <a:latin typeface="Helvetica Neue"/>
                <a:sym typeface="Arial"/>
              </a:rPr>
              <a:t> and </a:t>
            </a:r>
            <a:r>
              <a:rPr lang="en-US" sz="1100" dirty="0" err="1">
                <a:solidFill>
                  <a:schemeClr val="bg1"/>
                </a:solidFill>
                <a:latin typeface="Garamond" panose="02020404030301010803" pitchFamily="18" charset="0"/>
                <a:sym typeface="Arial"/>
              </a:rPr>
              <a:t>hit_marker_empty_output</a:t>
            </a:r>
            <a:r>
              <a:rPr lang="en-US" sz="1100" dirty="0">
                <a:solidFill>
                  <a:schemeClr val="bg1"/>
                </a:solidFill>
                <a:latin typeface="Garamond" panose="02020404030301010803" pitchFamily="18" charset="0"/>
                <a:sym typeface="Arial"/>
              </a:rPr>
              <a:t>. </a:t>
            </a:r>
            <a:r>
              <a:rPr lang="en-US" sz="1100" dirty="0">
                <a:solidFill>
                  <a:schemeClr val="bg1"/>
                </a:solidFill>
                <a:latin typeface="Helvetica Neue"/>
                <a:sym typeface="Arial"/>
              </a:rPr>
              <a:t>These identify missing closing markers, generations that ended without the expected boundary, and responses with a closing marker but no answer content.</a:t>
            </a:r>
          </a:p>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endParaRPr kumimoji="0" lang="en-US" sz="1500" b="1" i="0" u="none" strike="noStrike" kern="1200" cap="none" spc="0" normalizeH="0" baseline="0" noProof="0" dirty="0">
              <a:ln>
                <a:noFill/>
              </a:ln>
              <a:solidFill>
                <a:srgbClr val="FF7900"/>
              </a:solidFill>
              <a:effectLst/>
              <a:uLnTx/>
              <a:uFillTx/>
              <a:latin typeface="Helvetica Neue"/>
              <a:ea typeface="+mn-ea"/>
              <a:cs typeface="+mn-cs"/>
              <a:sym typeface="Arial"/>
            </a:endParaRPr>
          </a:p>
        </p:txBody>
      </p:sp>
      <p:sp>
        <p:nvSpPr>
          <p:cNvPr id="5" name="Text 2"/>
          <p:cNvSpPr txBox="1"/>
          <p:nvPr/>
        </p:nvSpPr>
        <p:spPr>
          <a:xfrm>
            <a:off x="411480" y="4766310"/>
            <a:ext cx="2743200" cy="205740"/>
          </a:xfrm>
          <a:prstGeom prst="rect">
            <a:avLst/>
          </a:prstGeom>
          <a:noFill/>
          <a:ln/>
        </p:spPr>
        <p:txBody>
          <a:bodyPr wrap="square" lIns="0" tIns="0" rIns="0" bIns="0"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rgbClr val="FF7900"/>
                </a:solidFill>
                <a:effectLst/>
                <a:uLnTx/>
                <a:uFillTx/>
                <a:latin typeface="Arial" pitchFamily="34" charset="0"/>
                <a:ea typeface="Arial" pitchFamily="34" charset="-122"/>
                <a:cs typeface="Arial" pitchFamily="34" charset="-120"/>
              </a:rPr>
              <a:t>Orange Restricted</a:t>
            </a:r>
            <a:endParaRPr kumimoji="0" lang="en-US" sz="9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6410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320040" y="591554"/>
            <a:ext cx="8503920" cy="423038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
                <a:srgbClr val="FF7900"/>
              </a:buClr>
              <a:buSzPts val="1500"/>
              <a:buFontTx/>
              <a:buNone/>
              <a:tabLst/>
              <a:defRPr/>
            </a:pPr>
            <a:endParaRPr kumimoji="0" lang="en-US" sz="1500" b="1" i="0" u="none" strike="noStrike" kern="1200" cap="none" spc="0" normalizeH="0" baseline="0" noProof="0" dirty="0">
              <a:ln>
                <a:noFill/>
              </a:ln>
              <a:solidFill>
                <a:srgbClr val="FF7900"/>
              </a:solidFill>
              <a:effectLst/>
              <a:uLnTx/>
              <a:uFillTx/>
              <a:latin typeface="Helvetica Neue"/>
              <a:ea typeface="+mn-ea"/>
              <a:cs typeface="+mn-cs"/>
              <a:sym typeface="Arial"/>
            </a:endParaRPr>
          </a:p>
        </p:txBody>
      </p:sp>
      <p:sp>
        <p:nvSpPr>
          <p:cNvPr id="3" name="Text 1"/>
          <p:cNvSpPr txBox="1"/>
          <p:nvPr/>
        </p:nvSpPr>
        <p:spPr>
          <a:xfrm>
            <a:off x="320040" y="369161"/>
            <a:ext cx="8503920" cy="4202840"/>
          </a:xfrm>
          <a:prstGeom prst="rect">
            <a:avLst/>
          </a:prstGeom>
          <a:noFill/>
          <a:ln/>
        </p:spPr>
        <p:txBody>
          <a:bodyPr wrap="square" lIns="0" tIns="0" rIns="0" bIns="0" rtlCol="0" anchor="t"/>
          <a:lstStyle/>
          <a:p>
            <a:pPr marR="0" lvl="0" fontAlgn="auto">
              <a:lnSpc>
                <a:spcPct val="100000"/>
              </a:lnSpc>
              <a:spcBef>
                <a:spcPts val="700"/>
              </a:spcBef>
              <a:spcAft>
                <a:spcPts val="400"/>
              </a:spcAft>
              <a:buClr>
                <a:srgbClr val="FF7900"/>
              </a:buClr>
              <a:buSzPts val="1500"/>
              <a:tabLst/>
              <a:defRPr/>
            </a:pPr>
            <a:r>
              <a:rPr lang="en-US" sz="1300" b="1" dirty="0">
                <a:solidFill>
                  <a:srgbClr val="FF7900"/>
                </a:solidFill>
                <a:latin typeface="Helvetica Neue"/>
              </a:rPr>
              <a:t>Role in Subsequent Analyses </a:t>
            </a:r>
          </a:p>
          <a:p>
            <a:pPr marR="0" lvl="0" fontAlgn="auto">
              <a:lnSpc>
                <a:spcPct val="100000"/>
              </a:lnSpc>
              <a:spcBef>
                <a:spcPts val="700"/>
              </a:spcBef>
              <a:spcAft>
                <a:spcPts val="600"/>
              </a:spcAft>
              <a:buClr>
                <a:srgbClr val="FF7900"/>
              </a:buClr>
              <a:buSzPts val="1500"/>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The dataset supports four complementary analytical directions:</a:t>
            </a:r>
          </a:p>
          <a:p>
            <a:pPr marL="177800" marR="0" lvl="0" indent="-177800" algn="l" defTabSz="914400" rtl="0" eaLnBrk="1" fontAlgn="auto" latinLnBrk="0" hangingPunct="1">
              <a:lnSpc>
                <a:spcPct val="100000"/>
              </a:lnSpc>
              <a:spcAft>
                <a:spcPts val="400"/>
              </a:spcAft>
              <a:buClrTx/>
              <a:buSzPct val="100000"/>
              <a:buFontTx/>
              <a:buChar char="●"/>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H1 – Compute–Accuracy Relationship: </a:t>
            </a: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Uses LFM2.5-2.6B to investigate how reasoning compute budgets affect answer accuracy and computational cost across benchmarks and task difficulty levels.</a:t>
            </a:r>
          </a:p>
          <a:p>
            <a:pPr marL="177800" marR="0" lvl="0" indent="-177800" algn="l" defTabSz="914400" rtl="0" eaLnBrk="1" fontAlgn="auto" latinLnBrk="0" hangingPunct="1">
              <a:lnSpc>
                <a:spcPct val="100000"/>
              </a:lnSpc>
              <a:spcAft>
                <a:spcPts val="400"/>
              </a:spcAft>
              <a:buClrTx/>
              <a:buSzPct val="100000"/>
              <a:buFontTx/>
              <a:buChar char="●"/>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H2 – Cross-Model Comparison: </a:t>
            </a: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Extends the investigation to Qwen3-0.6B and DeepSeek-R1-Distill-Llama-8B to examine whether compute–accuracy patterns generalize across models with different architectures, sizes, and reasoning-training approaches.</a:t>
            </a:r>
          </a:p>
          <a:p>
            <a:pPr marL="177800" marR="0" lvl="0" indent="-177800" algn="l" defTabSz="914400" rtl="0" eaLnBrk="1" fontAlgn="auto" latinLnBrk="0" hangingPunct="1">
              <a:lnSpc>
                <a:spcPct val="100000"/>
              </a:lnSpc>
              <a:spcAft>
                <a:spcPts val="400"/>
              </a:spcAft>
              <a:buClrTx/>
              <a:buSzPct val="100000"/>
              <a:buFontTx/>
              <a:buChar char="●"/>
              <a:tabLst/>
              <a:defRPr/>
            </a:pPr>
            <a:r>
              <a:rPr lang="en-US" sz="1100" b="1" dirty="0">
                <a:solidFill>
                  <a:srgbClr val="FFFFFF"/>
                </a:solidFill>
                <a:latin typeface="Arial" pitchFamily="34" charset="0"/>
                <a:cs typeface="Arial" pitchFamily="34" charset="-120"/>
              </a:rPr>
              <a:t>H3</a:t>
            </a:r>
            <a:r>
              <a:rPr kumimoji="0" lang="en-US" sz="1100" b="1"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 – </a:t>
            </a:r>
            <a:r>
              <a:rPr kumimoji="0" lang="en-US" sz="1100" b="1" i="0" u="none" strike="noStrike" kern="1200" cap="none" spc="0" normalizeH="0" baseline="0" noProof="0" dirty="0" err="1">
                <a:ln>
                  <a:noFill/>
                </a:ln>
                <a:solidFill>
                  <a:srgbClr val="FFFFFF"/>
                </a:solidFill>
                <a:effectLst/>
                <a:uLnTx/>
                <a:uFillTx/>
                <a:latin typeface="Arial" pitchFamily="34" charset="0"/>
                <a:ea typeface="+mn-ea"/>
                <a:cs typeface="Arial" pitchFamily="34" charset="-120"/>
              </a:rPr>
              <a:t>Texual</a:t>
            </a:r>
            <a:r>
              <a:rPr kumimoji="0" lang="en-US" sz="1100" b="1"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 Analysis: </a:t>
            </a: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Uses the preserved `</a:t>
            </a:r>
            <a:r>
              <a:rPr kumimoji="0" lang="en-US" sz="1100" b="0" i="0" u="none" strike="noStrike" kern="1200" cap="none" spc="0" normalizeH="0" baseline="0" noProof="0" dirty="0" err="1">
                <a:ln>
                  <a:noFill/>
                </a:ln>
                <a:solidFill>
                  <a:srgbClr val="FFFFFF"/>
                </a:solidFill>
                <a:effectLst/>
                <a:uLnTx/>
                <a:uFillTx/>
                <a:latin typeface="Arial" pitchFamily="34" charset="0"/>
                <a:ea typeface="+mn-ea"/>
                <a:cs typeface="Arial" pitchFamily="34" charset="-120"/>
              </a:rPr>
              <a:t>thinking_text</a:t>
            </a: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 traces to examine how reasoning structure and discourse patterns change across compute budgets, providing insight into the textual characteristics associated with different reasoning conditions.</a:t>
            </a:r>
          </a:p>
          <a:p>
            <a:pPr marR="0" lvl="0" algn="l" defTabSz="914400" rtl="0" eaLnBrk="1" fontAlgn="auto" latinLnBrk="0" hangingPunct="1">
              <a:lnSpc>
                <a:spcPct val="100000"/>
              </a:lnSpc>
              <a:spcBef>
                <a:spcPts val="200"/>
              </a:spcBef>
              <a:spcAft>
                <a:spcPts val="400"/>
              </a:spcAft>
              <a:buClrTx/>
              <a:buSzPct val="100000"/>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The dataset's experimental identifiers, generated content, performance metrics, and quality flags provide a shared empirical foundation for these analyses, enabling controlled comparisons across questions, budgets, benchmarks, and models while supporting the inspection of individual generations and data quality.</a:t>
            </a:r>
          </a:p>
        </p:txBody>
      </p:sp>
      <p:pic>
        <p:nvPicPr>
          <p:cNvPr id="6" name="Picture 5">
            <a:extLst>
              <a:ext uri="{FF2B5EF4-FFF2-40B4-BE49-F238E27FC236}">
                <a16:creationId xmlns:a16="http://schemas.microsoft.com/office/drawing/2014/main" id="{2F03993B-CA9C-8E8D-DB3D-D22ED34ADDA6}"/>
              </a:ext>
            </a:extLst>
          </p:cNvPr>
          <p:cNvPicPr>
            <a:picLocks noChangeAspect="1"/>
          </p:cNvPicPr>
          <p:nvPr/>
        </p:nvPicPr>
        <p:blipFill>
          <a:blip r:embed="rId3"/>
          <a:stretch>
            <a:fillRect/>
          </a:stretch>
        </p:blipFill>
        <p:spPr>
          <a:xfrm>
            <a:off x="320040" y="2782401"/>
            <a:ext cx="8503920" cy="1975415"/>
          </a:xfrm>
          <a:prstGeom prst="rect">
            <a:avLst/>
          </a:prstGeom>
        </p:spPr>
      </p:pic>
    </p:spTree>
    <p:extLst>
      <p:ext uri="{BB962C8B-B14F-4D97-AF65-F5344CB8AC3E}">
        <p14:creationId xmlns:p14="http://schemas.microsoft.com/office/powerpoint/2010/main" val="1057746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338328" y="137160"/>
            <a:ext cx="0" cy="4828032"/>
          </a:xfrm>
          <a:prstGeom prst="line">
            <a:avLst/>
          </a:prstGeom>
          <a:noFill/>
          <a:ln w="53975">
            <a:solidFill>
              <a:srgbClr val="FF6600"/>
            </a:solidFill>
            <a:prstDash val="solid"/>
          </a:ln>
        </p:spPr>
      </p:sp>
      <p:sp>
        <p:nvSpPr>
          <p:cNvPr id="3" name="Text 1"/>
          <p:cNvSpPr txBox="1"/>
          <p:nvPr/>
        </p:nvSpPr>
        <p:spPr>
          <a:xfrm>
            <a:off x="530352" y="384048"/>
            <a:ext cx="2743200" cy="77724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a:t>
            </a:r>
          </a:p>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Innovation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868680" y="2011680"/>
            <a:ext cx="7315200" cy="1280160"/>
          </a:xfrm>
          <a:prstGeom prst="rect">
            <a:avLst/>
          </a:prstGeom>
          <a:noFill/>
          <a:ln/>
        </p:spPr>
        <p:txBody>
          <a:bodyPr wrap="square" lIns="0" tIns="0" rIns="0" bIns="0" rtlCol="0" anchor="t"/>
          <a:lstStyle/>
          <a:p>
            <a:pPr marR="0" lvl="0" indent="0" fontAlgn="auto">
              <a:lnSpc>
                <a:spcPct val="105000"/>
              </a:lnSpc>
              <a:spcBef>
                <a:spcPts val="0"/>
              </a:spcBef>
              <a:spcAft>
                <a:spcPts val="0"/>
              </a:spcAft>
              <a:buClrTx/>
              <a:buSzTx/>
              <a:buFontTx/>
              <a:buNone/>
              <a:tabLst/>
              <a:defRPr/>
            </a:pPr>
            <a:r>
              <a:rPr lang="en-US" sz="3000" dirty="0">
                <a:solidFill>
                  <a:srgbClr val="FFFFFF"/>
                </a:solidFill>
                <a:latin typeface="Arial" pitchFamily="34" charset="0"/>
                <a:cs typeface="Arial" pitchFamily="34" charset="-120"/>
              </a:rPr>
              <a:t>H1 – Effect of Compute Budget on Performance:</a:t>
            </a:r>
          </a:p>
        </p:txBody>
      </p:sp>
      <p:sp>
        <p:nvSpPr>
          <p:cNvPr id="5" name="Shape 3"/>
          <p:cNvSpPr/>
          <p:nvPr/>
        </p:nvSpPr>
        <p:spPr>
          <a:xfrm>
            <a:off x="8229600" y="4233672"/>
            <a:ext cx="612648" cy="612648"/>
          </a:xfrm>
          <a:prstGeom prst="rect">
            <a:avLst/>
          </a:prstGeom>
          <a:solidFill>
            <a:srgbClr val="FF6600"/>
          </a:solidFill>
          <a:ln/>
        </p:spPr>
      </p:sp>
    </p:spTree>
    <p:extLst>
      <p:ext uri="{BB962C8B-B14F-4D97-AF65-F5344CB8AC3E}">
        <p14:creationId xmlns:p14="http://schemas.microsoft.com/office/powerpoint/2010/main" val="3764491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338328" y="137160"/>
            <a:ext cx="0" cy="4828032"/>
          </a:xfrm>
          <a:prstGeom prst="line">
            <a:avLst/>
          </a:prstGeom>
          <a:noFill/>
          <a:ln w="53975">
            <a:solidFill>
              <a:srgbClr val="FF6600"/>
            </a:solidFill>
            <a:prstDash val="solid"/>
          </a:ln>
        </p:spPr>
      </p:sp>
      <p:sp>
        <p:nvSpPr>
          <p:cNvPr id="3" name="Text 1"/>
          <p:cNvSpPr txBox="1"/>
          <p:nvPr/>
        </p:nvSpPr>
        <p:spPr>
          <a:xfrm>
            <a:off x="530352" y="384048"/>
            <a:ext cx="2743200" cy="77724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a:t>
            </a:r>
          </a:p>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Innovation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868680" y="2011680"/>
            <a:ext cx="7315200" cy="1280160"/>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H2 – Cross-Model Consistency of Compute Effects</a:t>
            </a:r>
          </a:p>
        </p:txBody>
      </p:sp>
      <p:sp>
        <p:nvSpPr>
          <p:cNvPr id="5" name="Shape 3"/>
          <p:cNvSpPr/>
          <p:nvPr/>
        </p:nvSpPr>
        <p:spPr>
          <a:xfrm>
            <a:off x="8229600" y="4233672"/>
            <a:ext cx="612648" cy="612648"/>
          </a:xfrm>
          <a:prstGeom prst="rect">
            <a:avLst/>
          </a:prstGeom>
          <a:solidFill>
            <a:srgbClr val="FF6600"/>
          </a:solidFill>
          <a:ln/>
        </p:spPr>
      </p:sp>
    </p:spTree>
    <p:extLst>
      <p:ext uri="{BB962C8B-B14F-4D97-AF65-F5344CB8AC3E}">
        <p14:creationId xmlns:p14="http://schemas.microsoft.com/office/powerpoint/2010/main" val="21363775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338328" y="137160"/>
            <a:ext cx="0" cy="4828032"/>
          </a:xfrm>
          <a:prstGeom prst="line">
            <a:avLst/>
          </a:prstGeom>
          <a:noFill/>
          <a:ln w="53975">
            <a:solidFill>
              <a:srgbClr val="FF6600"/>
            </a:solidFill>
            <a:prstDash val="solid"/>
          </a:ln>
        </p:spPr>
      </p:sp>
      <p:sp>
        <p:nvSpPr>
          <p:cNvPr id="3" name="Text 1"/>
          <p:cNvSpPr txBox="1"/>
          <p:nvPr/>
        </p:nvSpPr>
        <p:spPr>
          <a:xfrm>
            <a:off x="530352" y="384048"/>
            <a:ext cx="2743200" cy="77724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a:t>
            </a:r>
          </a:p>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Innovation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868680" y="2011680"/>
            <a:ext cx="7315200" cy="1280160"/>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3000" b="0" i="0" u="none" strike="noStrike" kern="1200" cap="none" spc="0" normalizeH="0" baseline="0" noProof="0">
                <a:ln>
                  <a:noFill/>
                </a:ln>
                <a:solidFill>
                  <a:srgbClr val="FFFFFF"/>
                </a:solidFill>
                <a:effectLst/>
                <a:uLnTx/>
                <a:uFillTx/>
                <a:latin typeface="Arial" pitchFamily="34" charset="0"/>
                <a:ea typeface="+mn-ea"/>
                <a:cs typeface="Arial" pitchFamily="34" charset="-120"/>
              </a:rPr>
              <a:t>H3 Textual </a:t>
            </a:r>
            <a:r>
              <a:rPr kumimoji="0" lang="en-US" sz="30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Analysis –</a:t>
            </a: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Arial" pitchFamily="34" charset="0"/>
                <a:ea typeface="+mn-ea"/>
                <a:cs typeface="Arial" pitchFamily="34" charset="-120"/>
              </a:rPr>
              <a:t>Does A Good Thinking Trace VS Bad Thinking Trace Hold A pattern </a:t>
            </a:r>
          </a:p>
        </p:txBody>
      </p:sp>
      <p:sp>
        <p:nvSpPr>
          <p:cNvPr id="5" name="Shape 3"/>
          <p:cNvSpPr/>
          <p:nvPr/>
        </p:nvSpPr>
        <p:spPr>
          <a:xfrm>
            <a:off x="8229600" y="4233672"/>
            <a:ext cx="612648" cy="612648"/>
          </a:xfrm>
          <a:prstGeom prst="rect">
            <a:avLst/>
          </a:prstGeom>
          <a:solidFill>
            <a:srgbClr val="FF6600"/>
          </a:solidFill>
          <a:ln/>
        </p:spPr>
      </p:sp>
    </p:spTree>
    <p:extLst>
      <p:ext uri="{BB962C8B-B14F-4D97-AF65-F5344CB8AC3E}">
        <p14:creationId xmlns:p14="http://schemas.microsoft.com/office/powerpoint/2010/main" val="28227077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338328" y="137160"/>
            <a:ext cx="0" cy="4828032"/>
          </a:xfrm>
          <a:prstGeom prst="line">
            <a:avLst/>
          </a:prstGeom>
          <a:noFill/>
          <a:ln w="53975">
            <a:solidFill>
              <a:srgbClr val="FF6600"/>
            </a:solidFill>
            <a:prstDash val="solid"/>
          </a:ln>
        </p:spPr>
      </p:sp>
      <p:sp>
        <p:nvSpPr>
          <p:cNvPr id="3" name="Text 1"/>
          <p:cNvSpPr txBox="1"/>
          <p:nvPr/>
        </p:nvSpPr>
        <p:spPr>
          <a:xfrm>
            <a:off x="530352" y="384048"/>
            <a:ext cx="2743200" cy="77724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6600"/>
                </a:solidFill>
                <a:effectLst/>
                <a:uLnTx/>
                <a:uFillTx/>
                <a:latin typeface="Arial" pitchFamily="34" charset="0"/>
                <a:ea typeface="Arial" pitchFamily="34" charset="-122"/>
                <a:cs typeface="Arial" pitchFamily="34" charset="-120"/>
              </a:rPr>
              <a:t>Orange
</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Innovation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868680" y="2011680"/>
            <a:ext cx="731520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Thanks</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0" y="4233672"/>
            <a:ext cx="612648" cy="612648"/>
          </a:xfrm>
          <a:prstGeom prst="rect">
            <a:avLst/>
          </a:prstGeom>
          <a:solidFill>
            <a:srgbClr val="FF6600"/>
          </a:solidFill>
          <a:ln/>
        </p:spPr>
      </p:sp>
    </p:spTree>
    <p:extLst>
      <p:ext uri="{BB962C8B-B14F-4D97-AF65-F5344CB8AC3E}">
        <p14:creationId xmlns:p14="http://schemas.microsoft.com/office/powerpoint/2010/main" val="38643482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900" b="1" dirty="0">
                <a:solidFill>
                  <a:srgbClr val="FF7900"/>
                </a:solidFill>
                <a:latin typeface="Helvetica Neue"/>
              </a:rPr>
              <a:t>H1 – Compute Level vs. Accuracy, Latency and Efficiency</a:t>
            </a:r>
          </a:p>
          <a:p>
            <a:pPr marL="0" indent="0" algn="l">
              <a:buNone/>
            </a:pPr>
            <a:r>
              <a:rPr lang="en-US" sz="1500" b="1" dirty="0">
                <a:solidFill>
                  <a:srgbClr val="FF7900"/>
                </a:solidFill>
                <a:latin typeface="Helvetica Neue"/>
              </a:rPr>
              <a:t>1. Question and Hypotheses</a:t>
            </a:r>
          </a:p>
        </p:txBody>
      </p:sp>
      <p:sp>
        <p:nvSpPr>
          <p:cNvPr id="4" name="Text 4"/>
          <p:cNvSpPr txBox="1"/>
          <p:nvPr/>
        </p:nvSpPr>
        <p:spPr>
          <a:xfrm>
            <a:off x="320040" y="945603"/>
            <a:ext cx="8503920" cy="2300000"/>
          </a:xfrm>
          <a:prstGeom prst="rect">
            <a:avLst/>
          </a:prstGeom>
          <a:noFill/>
          <a:ln/>
        </p:spPr>
        <p:txBody>
          <a:bodyPr wrap="square" lIns="0" tIns="0" rIns="0" bIns="0" rtlCol="0" anchor="t"/>
          <a:lstStyle/>
          <a:p>
            <a:pPr marL="177800" indent="-177800" algn="l">
              <a:lnSpc>
                <a:spcPct val="100000"/>
              </a:lnSpc>
              <a:spcBef>
                <a:spcPts val="0"/>
              </a:spcBef>
              <a:spcAft>
                <a:spcPts val="500"/>
              </a:spcAft>
              <a:buClr>
                <a:srgbClr val="FF7900"/>
              </a:buClr>
              <a:buSzPct val="100000"/>
              <a:buChar char="●"/>
            </a:pPr>
            <a:r>
              <a:rPr lang="en-US" sz="1200" b="1" dirty="0">
                <a:solidFill>
                  <a:srgbClr val="FF7900"/>
                </a:solidFill>
                <a:latin typeface="Helvetica Neue"/>
              </a:rPr>
              <a:t>Purpose.</a:t>
            </a:r>
            <a:r>
              <a:rPr lang="en-US" sz="1200" dirty="0">
                <a:solidFill>
                  <a:srgbClr val="FFFFFF"/>
                </a:solidFill>
                <a:latin typeface="Arial" pitchFamily="34" charset="0"/>
                <a:cs typeface="Arial" pitchFamily="34" charset="0"/>
              </a:rPr>
              <a:t> Test whether a larger thinking budget buys accuracy for a small reasoning model, and what each extra thought costs in time and tokens. LFM2.5-2.6B is swept over seven thinking budgets (0 to 8,192 tokens) on 830 questions from nine benchmarks: 29,050 graded samples.</a:t>
            </a:r>
          </a:p>
          <a:p>
            <a:pPr marL="177800" indent="-177800" algn="l">
              <a:lnSpc>
                <a:spcPct val="100000"/>
              </a:lnSpc>
              <a:spcBef>
                <a:spcPts val="0"/>
              </a:spcBef>
              <a:spcAft>
                <a:spcPts val="500"/>
              </a:spcAft>
              <a:buClr>
                <a:srgbClr val="FF7900"/>
              </a:buClr>
              <a:buSzPct val="100000"/>
              <a:buChar char="●"/>
            </a:pPr>
            <a:r>
              <a:rPr lang="en-US" sz="1200" b="1" dirty="0">
                <a:solidFill>
                  <a:srgbClr val="FF7900"/>
                </a:solidFill>
                <a:latin typeface="Helvetica Neue"/>
              </a:rPr>
              <a:t>Problem.</a:t>
            </a:r>
            <a:r>
              <a:rPr lang="en-US" sz="1200" dirty="0">
                <a:solidFill>
                  <a:srgbClr val="FFFFFF"/>
                </a:solidFill>
                <a:latin typeface="Arial" pitchFamily="34" charset="0"/>
                <a:cs typeface="Arial" pitchFamily="34" charset="0"/>
              </a:rPr>
              <a:t> A deployment decision needs three numbers side by side, not one: the accuracy gained, the elapsed time spent, and the tokens spent per correct answer. Without all three, “more compute is better” is an assertion, not a finding.</a:t>
            </a:r>
          </a:p>
          <a:p>
            <a:pPr marL="177800" indent="-177800" algn="l">
              <a:lnSpc>
                <a:spcPct val="100000"/>
              </a:lnSpc>
              <a:spcBef>
                <a:spcPts val="0"/>
              </a:spcBef>
              <a:spcAft>
                <a:spcPts val="500"/>
              </a:spcAft>
              <a:buClr>
                <a:srgbClr val="FF7900"/>
              </a:buClr>
              <a:buSzPct val="100000"/>
              <a:buChar char="●"/>
            </a:pPr>
            <a:r>
              <a:rPr lang="en-US" sz="1200" b="1" dirty="0">
                <a:solidFill>
                  <a:srgbClr val="FF7900"/>
                </a:solidFill>
                <a:latin typeface="Helvetica Neue"/>
              </a:rPr>
              <a:t>Hypothesis H1.</a:t>
            </a:r>
            <a:r>
              <a:rPr lang="en-US" sz="1200" dirty="0">
                <a:solidFill>
                  <a:srgbClr val="FFFFFF"/>
                </a:solidFill>
                <a:latin typeface="Arial" pitchFamily="34" charset="0"/>
                <a:cs typeface="Arial" pitchFamily="34" charset="0"/>
              </a:rPr>
              <a:t> Poor test-time compute allocation harms performance: underthinking on hard problems, overthinking on easy ones. Tested via statistically controlled compute–accuracy curves (≥ 5 samples per compute level), checking for saturation or an inverted-U pattern.</a:t>
            </a:r>
          </a:p>
          <a:p>
            <a:pPr marL="177800" indent="-177800" algn="l">
              <a:lnSpc>
                <a:spcPct val="100000"/>
              </a:lnSpc>
              <a:spcBef>
                <a:spcPts val="0"/>
              </a:spcBef>
              <a:spcAft>
                <a:spcPts val="0"/>
              </a:spcAft>
              <a:buClr>
                <a:srgbClr val="FF7900"/>
              </a:buClr>
              <a:buSzPct val="100000"/>
              <a:buChar char="●"/>
            </a:pPr>
            <a:r>
              <a:rPr lang="en-US" sz="1200" b="1" dirty="0">
                <a:solidFill>
                  <a:srgbClr val="FF7900"/>
                </a:solidFill>
                <a:latin typeface="Helvetica Neue"/>
              </a:rPr>
              <a:t>Working hypotheses.</a:t>
            </a:r>
            <a:r>
              <a:rPr lang="en-US" sz="1200" dirty="0">
                <a:solidFill>
                  <a:srgbClr val="FFFFFF"/>
                </a:solidFill>
                <a:latin typeface="Arial" pitchFamily="34" charset="0"/>
                <a:cs typeface="Arial" pitchFamily="34" charset="0"/>
              </a:rPr>
              <a:t> The results are organised around three working questions (analysis framing, not the proposal’s wording):</a:t>
            </a:r>
          </a:p>
        </p:txBody>
      </p:sp>
      <p:graphicFrame>
        <p:nvGraphicFramePr>
          <p:cNvPr id="5" name="hyp_table_5"/>
          <p:cNvGraphicFramePr>
            <a:graphicFrameLocks noGrp="1"/>
          </p:cNvGraphicFramePr>
          <p:nvPr/>
        </p:nvGraphicFramePr>
        <p:xfrm>
          <a:off x="320040" y="3330000"/>
          <a:ext cx="8503920" cy="1180000"/>
        </p:xfrm>
        <a:graphic>
          <a:graphicData uri="http://schemas.openxmlformats.org/drawingml/2006/table">
            <a:tbl>
              <a:tblPr/>
              <a:tblGrid>
                <a:gridCol w="5000000"/>
                <a:gridCol w="3503920"/>
              </a:tblGrid>
              <a:tr h="28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Working hypothesis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Where it is tested</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3000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More thinking tokens raise accuracy on average.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4.3 Headline accuracy; 4.4 Leave-one-out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3000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The benefit depends on benchmark, task type and difficulty.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4.5 Per benchmark; 4.6 Task types and difficulty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300000">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Returns diminish, and cost grows faster than accuracy.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4.7 Diminishing returns; 4.9 Efficiency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bl>
          </a:graphicData>
        </a:graphic>
      </p:graphicFrame>
      <p:sp>
        <p:nvSpPr>
          <p:cNvPr id="6" name="Footer 6"/>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2. Findings at a glance</a:t>
            </a:r>
          </a:p>
        </p:txBody>
      </p:sp>
      <p:graphicFrame>
        <p:nvGraphicFramePr>
          <p:cNvPr id="4" name="glance_table_4"/>
          <p:cNvGraphicFramePr>
            <a:graphicFrameLocks noGrp="1"/>
          </p:cNvGraphicFramePr>
          <p:nvPr/>
        </p:nvGraphicFramePr>
        <p:xfrm>
          <a:off x="320040" y="720000"/>
          <a:ext cx="8503920" cy="2640000"/>
        </p:xfrm>
        <a:graphic>
          <a:graphicData uri="http://schemas.openxmlformats.org/drawingml/2006/table">
            <a:tbl>
              <a:tblPr/>
              <a:tblGrid>
                <a:gridCol w="1750000"/>
                <a:gridCol w="3950000"/>
                <a:gridCol w="2803920"/>
              </a:tblGrid>
              <a:tr h="290000">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Question</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Finding</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Evidence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470000">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Does the budget work?</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Yes: realised thinking tokens grow 12.8× from level 256 to 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95% CI 12.3–13.2×; the budget is a ceiling, not a target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470000">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Does thinking pay?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Yes, on average: macro accuracy rises from 44.6% to 58.1%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+13.5 pp [+11.5, +15.7]; no single benchmark drives it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470000">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Is it free?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No: latency grows 4.40× and tokens per correct answer rise from 1,646 to 6,013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Latency 95% CI [4.21, 4.60]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470000">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Is the curve even?</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No: the first 256 tokens do not help, BFCL gets worse, MMLU-Redux shows no clear change, GPQA and AIME only improve at 2,048+ tokens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−0.9 pp [−2.6, +0.9] at level 256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470000">
                <a:tc>
                  <a:txBody>
                    <a:bodyPr/>
                    <a:lstStyle/>
                    <a:p>
                      <a:pPr marL="0" indent="0" algn="l">
                        <a:buNone/>
                      </a:pPr>
                      <a:r>
                        <a:rPr lang="en-US" sz="1050" b="1" dirty="0">
                          <a:solidFill>
                            <a:srgbClr val="000000"/>
                          </a:solidFill>
                          <a:latin typeface="Arial" pitchFamily="34" charset="0"/>
                          <a:ea typeface="Arial" pitchFamily="34" charset="-122"/>
                          <a:cs typeface="Arial" pitchFamily="34" charset="-120"/>
                        </a:rPr>
                        <a:t>Is it a mechanical artefact?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No: the truncated share is 0% at every level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50" dirty="0">
                          <a:solidFill>
                            <a:srgbClr val="000000"/>
                          </a:solidFill>
                          <a:latin typeface="Arial" pitchFamily="34" charset="0"/>
                          <a:ea typeface="Arial" pitchFamily="34" charset="-122"/>
                          <a:cs typeface="Arial" pitchFamily="34" charset="-120"/>
                        </a:rPr>
                        <a:t>Gains are not a side effect of cut-off answers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bl>
          </a:graphicData>
        </a:graphic>
      </p:graphicFrame>
      <p:sp>
        <p:nvSpPr>
          <p:cNvPr id="5" name="Text 5"/>
          <p:cNvSpPr txBox="1"/>
          <p:nvPr/>
        </p:nvSpPr>
        <p:spPr>
          <a:xfrm>
            <a:off x="320040" y="3560000"/>
            <a:ext cx="8503920" cy="700000"/>
          </a:xfrm>
          <a:prstGeom prst="rect">
            <a:avLst/>
          </a:prstGeom>
          <a:noFill/>
          <a:ln/>
        </p:spPr>
        <p:txBody>
          <a:bodyPr wrap="square" lIns="0" tIns="0" rIns="0" bIns="0" rtlCol="0" anchor="t"/>
          <a:lstStyle/>
          <a:p>
            <a:pPr marL="177800" indent="-177800" algn="l">
              <a:lnSpc>
                <a:spcPct val="100000"/>
              </a:lnSpc>
              <a:spcBef>
                <a:spcPts val="0"/>
              </a:spcBef>
              <a:spcAft>
                <a:spcPts val="400"/>
              </a:spcAft>
              <a:buClr>
                <a:srgbClr val="FF7900"/>
              </a:buClr>
              <a:buSzPct val="100000"/>
              <a:buChar char="●"/>
            </a:pPr>
            <a:r>
              <a:rPr lang="en-US" sz="1200" b="1" dirty="0">
                <a:solidFill>
                  <a:srgbClr val="FF7900"/>
                </a:solidFill>
                <a:latin typeface="Helvetica Neue"/>
              </a:rPr>
              <a:t>Takeaway.</a:t>
            </a:r>
            <a:r>
              <a:rPr lang="en-US" sz="1200" dirty="0">
                <a:solidFill>
                  <a:srgbClr val="FFFFFF"/>
                </a:solidFill>
                <a:latin typeface="Arial" pitchFamily="34" charset="0"/>
                <a:cs typeface="Arial" pitchFamily="34" charset="0"/>
              </a:rPr>
              <a:t> Thinking buys accuracy on average, but the curve is uneven and the price of a correct answer rises at every level. Choosing a thinking budget is therefore a cost decision, taken in Section 5.</a:t>
            </a:r>
          </a:p>
        </p:txBody>
      </p:sp>
      <p:sp>
        <p:nvSpPr>
          <p:cNvPr id="6" name="Footer 6"/>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3. Analysis design</a:t>
            </a:r>
          </a:p>
        </p:txBody>
      </p:sp>
      <p:graphicFrame>
        <p:nvGraphicFramePr>
          <p:cNvPr id="4" name="design_table_4"/>
          <p:cNvGraphicFramePr>
            <a:graphicFrameLocks noGrp="1"/>
          </p:cNvGraphicFramePr>
          <p:nvPr/>
        </p:nvGraphicFramePr>
        <p:xfrm>
          <a:off x="320040" y="720000"/>
          <a:ext cx="8503920" cy="3480000"/>
        </p:xfrm>
        <a:graphic>
          <a:graphicData uri="http://schemas.openxmlformats.org/drawingml/2006/table">
            <a:tbl>
              <a:tblPr/>
              <a:tblGrid>
                <a:gridCol w="1350000"/>
                <a:gridCol w="3850000"/>
                <a:gridCol w="3303920"/>
              </a:tblGrid>
              <a:tr h="28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Element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Setting</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Why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40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Model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LiquidAI/LFM2.5-2.6B</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H1 primary model (see Data Collection, 3.4)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40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Benchmarks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9 benchmarks, 830 questions (8 × 100, AIME2025: 30); 3 MCQ, 6 open-ended</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Mix of skills, formats and difficulty; level-0 accuracy spans 5.4% to 78.8%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40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Compute levels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 256, 512, 1,024, 2,048, 4,096, 8,192 thinking tokens, enforced at decoding time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One variable changes, and the change is verifiable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40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Samples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5 per question per level, T = 0.7: 29,050 graded samples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Separates always right, sometimes right and never right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40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Unit of analysis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The question: cluster bootstrap, 2,000 resamples (seed 42), 95% percentile CIs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Samples of one question are not independent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40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Pairing</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Same 830 questions at every level; one set of bootstrap weights reused</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Question difficulty cancels in every level-to-level difference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40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Aggregation</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Macro: samples → questions → benchmarks, equal weight; cross-check with equal weight per task type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No pooling of raw rows; composition cannot change along the curve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40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Inference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Holm step-down within each family of claims; verdict needs adjusted p &lt; 0.05; logistic trend test on the level index</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Many claims at once: about one false positive per 20 tests otherwise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bl>
          </a:graphicData>
        </a:graphic>
      </p:graphicFrame>
      <p:sp>
        <p:nvSpPr>
          <p:cNvPr id="5" name="Footer 5"/>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3. Analysis design</a:t>
            </a:r>
          </a:p>
        </p:txBody>
      </p:sp>
      <p:sp>
        <p:nvSpPr>
          <p:cNvPr id="4" name="Text 4"/>
          <p:cNvSpPr txBox="1"/>
          <p:nvPr/>
        </p:nvSpPr>
        <p:spPr>
          <a:xfrm>
            <a:off x="365760" y="603504"/>
            <a:ext cx="8458200" cy="4200000"/>
          </a:xfrm>
          <a:prstGeom prst="rect">
            <a:avLst/>
          </a:prstGeom>
          <a:noFill/>
          <a:ln/>
        </p:spPr>
        <p:txBody>
          <a:bodyPr wrap="square" lIns="0" tIns="0" rIns="0" bIns="0" rtlCol="0" anchor="t"/>
          <a:lstStyle/>
          <a:p>
            <a:pPr marL="0" indent="0" algn="l">
              <a:lnSpc>
                <a:spcPct val="100000"/>
              </a:lnSpc>
              <a:spcBef>
                <a:spcPts val="0"/>
              </a:spcBef>
              <a:spcAft>
                <a:spcPts val="400"/>
              </a:spcAft>
              <a:buNone/>
            </a:pPr>
            <a:r>
              <a:rPr lang="en-US" sz="1400" b="1" dirty="0">
                <a:solidFill>
                  <a:srgbClr val="FF7900"/>
                </a:solidFill>
                <a:latin typeface="Helvetica Neue"/>
              </a:rPr>
              <a:t>3.1 The question is the unit, and the comparison is paired.</a:t>
            </a:r>
          </a:p>
          <a:p>
            <a:pPr marL="177800" indent="-177800" algn="l">
              <a:lnSpc>
                <a:spcPct val="100000"/>
              </a:lnSpc>
              <a:spcBef>
                <a:spcPts val="0"/>
              </a:spcBef>
              <a:spcAft>
                <a:spcPts val="500"/>
              </a:spcAft>
              <a:buClr>
                <a:srgbClr val="FF7900"/>
              </a:buClr>
              <a:buSzPct val="100000"/>
              <a:buChar char="●"/>
            </a:pPr>
            <a:r>
              <a:rPr lang="en-US" sz="1100" b="1" dirty="0">
                <a:solidFill>
                  <a:srgbClr val="FF7900"/>
                </a:solidFill>
                <a:latin typeface="Helvetica Neue"/>
              </a:rPr>
              <a:t>Why not bootstrap over samples.</a:t>
            </a:r>
            <a:r>
              <a:rPr lang="en-US" sz="1100" dirty="0">
                <a:solidFill>
                  <a:srgbClr val="FFFFFF"/>
                </a:solidFill>
                <a:latin typeface="Arial" pitchFamily="34" charset="0"/>
                <a:cs typeface="Arial" pitchFamily="34" charset="0"/>
              </a:rPr>
              <a:t> A hard question is hard in all five tries. Resampling the 4,150 samples per level as if independent would pretend to have 4,150 observations when there are 830, and the intervals would be too narrow. We average the 5 samples within a question, then resample questions with replacement within each benchmark.</a:t>
            </a:r>
          </a:p>
          <a:p>
            <a:pPr marL="177800" indent="-177800" algn="l">
              <a:lnSpc>
                <a:spcPct val="100000"/>
              </a:lnSpc>
              <a:spcBef>
                <a:spcPts val="0"/>
              </a:spcBef>
              <a:spcAft>
                <a:spcPts val="700"/>
              </a:spcAft>
              <a:buClr>
                <a:srgbClr val="FF7900"/>
              </a:buClr>
              <a:buSzPct val="100000"/>
              <a:buChar char="●"/>
            </a:pPr>
            <a:r>
              <a:rPr lang="en-US" sz="1100" b="1" dirty="0">
                <a:solidFill>
                  <a:srgbClr val="FF7900"/>
                </a:solidFill>
                <a:latin typeface="Helvetica Neue"/>
              </a:rPr>
              <a:t>Why paired.</a:t>
            </a:r>
            <a:r>
              <a:rPr lang="en-US" sz="1100" dirty="0">
                <a:solidFill>
                  <a:srgbClr val="FFFFFF"/>
                </a:solidFill>
                <a:latin typeface="Arial" pitchFamily="34" charset="0"/>
                <a:cs typeface="Arial" pitchFamily="34" charset="0"/>
              </a:rPr>
              <a:t> If level 0 and level 8,192 were scored on different questions, a gain could come from easier questions rather than from thinking. With identical questions and one set of bootstrap weights reused by every estimate, question difficulty cancels in every level-to-level difference. All 830 questions are observed at every level.</a:t>
            </a:r>
          </a:p>
          <a:p>
            <a:pPr marL="0" indent="0" algn="l">
              <a:lnSpc>
                <a:spcPct val="100000"/>
              </a:lnSpc>
              <a:spcBef>
                <a:spcPts val="0"/>
              </a:spcBef>
              <a:spcAft>
                <a:spcPts val="400"/>
              </a:spcAft>
              <a:buNone/>
            </a:pPr>
            <a:r>
              <a:rPr lang="en-US" sz="1400" b="1" dirty="0">
                <a:solidFill>
                  <a:srgbClr val="FF7900"/>
                </a:solidFill>
                <a:latin typeface="Helvetica Neue"/>
              </a:rPr>
              <a:t>3.2 Equal-weight benchmarks and a normalised gain.</a:t>
            </a:r>
          </a:p>
          <a:p>
            <a:pPr marL="177800" indent="-177800" algn="l">
              <a:lnSpc>
                <a:spcPct val="100000"/>
              </a:lnSpc>
              <a:spcBef>
                <a:spcPts val="0"/>
              </a:spcBef>
              <a:spcAft>
                <a:spcPts val="500"/>
              </a:spcAft>
              <a:buClr>
                <a:srgbClr val="FF7900"/>
              </a:buClr>
              <a:buSzPct val="100000"/>
              <a:buChar char="●"/>
            </a:pPr>
            <a:r>
              <a:rPr lang="en-US" sz="1100" b="1" dirty="0">
                <a:solidFill>
                  <a:srgbClr val="FF7900"/>
                </a:solidFill>
                <a:latin typeface="Helvetica Neue"/>
              </a:rPr>
              <a:t>Macro-averaging.</a:t>
            </a:r>
            <a:r>
              <a:rPr lang="en-US" sz="1100" dirty="0">
                <a:solidFill>
                  <a:srgbClr val="FFFFFF"/>
                </a:solidFill>
                <a:latin typeface="Arial" pitchFamily="34" charset="0"/>
                <a:cs typeface="Arial" pitchFamily="34" charset="0"/>
              </a:rPr>
              <a:t> Metrics are averaged over samples, then questions, then benchmarks with equal weight, which guards against Simpson’s paradox. Honest note: the design is already balanced (same 830 questions at every level, 8 of 9 benchmarks with 100 questions), so the risk is not acute; the headline describes the “average benchmark”.</a:t>
            </a:r>
          </a:p>
          <a:p>
            <a:pPr marL="177800" indent="-177800" algn="l">
              <a:lnSpc>
                <a:spcPct val="100000"/>
              </a:lnSpc>
              <a:spcBef>
                <a:spcPts val="0"/>
              </a:spcBef>
              <a:spcAft>
                <a:spcPts val="700"/>
              </a:spcAft>
              <a:buClr>
                <a:srgbClr val="FF7900"/>
              </a:buClr>
              <a:buSzPct val="100000"/>
              <a:buChar char="●"/>
            </a:pPr>
            <a:r>
              <a:rPr lang="en-US" sz="1100" b="1" dirty="0">
                <a:solidFill>
                  <a:srgbClr val="FF7900"/>
                </a:solidFill>
                <a:latin typeface="Helvetica Neue"/>
              </a:rPr>
              <a:t>Normalised gain.</a:t>
            </a:r>
            <a:r>
              <a:rPr lang="en-US" sz="1100" dirty="0">
                <a:solidFill>
                  <a:srgbClr val="FFFFFF"/>
                </a:solidFill>
                <a:latin typeface="Arial" pitchFamily="34" charset="0"/>
                <a:cs typeface="Arial" pitchFamily="34" charset="0"/>
              </a:rPr>
              <a:t> (a_level − a_lowest) / (1 − a_lowest): the share of the remaining headroom recovered, so +5 pp at 10% and at 90% accuracy are not confused. The denominator is floored at 0.02; the headline is the average of per-benchmark gains, not the gain of the macro accuracy.</a:t>
            </a:r>
          </a:p>
          <a:p>
            <a:pPr marL="0" indent="0" algn="l">
              <a:lnSpc>
                <a:spcPct val="100000"/>
              </a:lnSpc>
              <a:spcBef>
                <a:spcPts val="0"/>
              </a:spcBef>
              <a:spcAft>
                <a:spcPts val="400"/>
              </a:spcAft>
              <a:buNone/>
            </a:pPr>
            <a:r>
              <a:rPr lang="en-US" sz="1400" b="1" dirty="0">
                <a:solidFill>
                  <a:srgbClr val="FF7900"/>
                </a:solidFill>
                <a:latin typeface="Helvetica Neue"/>
              </a:rPr>
              <a:t>3.3 Many claims at once.</a:t>
            </a:r>
          </a:p>
          <a:p>
            <a:pPr marL="177800" indent="-177800" algn="l">
              <a:lnSpc>
                <a:spcPct val="100000"/>
              </a:lnSpc>
              <a:spcBef>
                <a:spcPts val="0"/>
              </a:spcBef>
              <a:spcAft>
                <a:spcPts val="0"/>
              </a:spcAft>
              <a:buClr>
                <a:srgbClr val="FF7900"/>
              </a:buClr>
              <a:buSzPct val="100000"/>
              <a:buChar char="●"/>
            </a:pPr>
            <a:r>
              <a:rPr lang="en-US" sz="1100" b="1" dirty="0">
                <a:solidFill>
                  <a:srgbClr val="FF7900"/>
                </a:solidFill>
                <a:latin typeface="Helvetica Neue"/>
              </a:rPr>
              <a:t>Holm correction.</a:t>
            </a:r>
            <a:r>
              <a:rPr lang="en-US" sz="1100" dirty="0">
                <a:solidFill>
                  <a:srgbClr val="FFFFFF"/>
                </a:solidFill>
                <a:latin typeface="Arial" pitchFamily="34" charset="0"/>
                <a:cs typeface="Arial" pitchFamily="34" charset="0"/>
              </a:rPr>
              <a:t> Nine benchmarks, six level steps, two task types and three tiers would give about one false positive per 20 tests at α = 0.05. With 2,000 replicates the smallest attainable raw p is ≈ 0.001, so an adjusted p of 0.009 across 9 benchmarks is the floor of this procedure, not a measured value.</a:t>
            </a:r>
          </a:p>
        </p:txBody>
      </p:sp>
      <p:sp>
        <p:nvSpPr>
          <p:cNvPr id="5" name="Footer 5"/>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4. Results  |  4.1 Does the model really think more when we turn the knob up?</a:t>
            </a:r>
          </a:p>
        </p:txBody>
      </p:sp>
      <p:sp>
        <p:nvSpPr>
          <p:cNvPr id="4" name="Placeholder 4"/>
          <p:cNvSpPr/>
          <p:nvPr/>
        </p:nvSpPr>
        <p:spPr>
          <a:xfrm>
            <a:off x="320040" y="760000"/>
            <a:ext cx="3900000" cy="2200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images/LiquidAILFM2_5-2_6B__02_realised_compute.png</a:t>
            </a:r>
          </a:p>
          <a:p>
            <a:pPr algn="ctr">
              <a:spcBef>
                <a:spcPts val="300"/>
              </a:spcBef>
              <a:buNone/>
            </a:pPr>
            <a:r>
              <a:rPr lang="en-US" sz="900" i="1" dirty="0">
                <a:solidFill>
                  <a:srgbClr val="BFBFBF"/>
                </a:solidFill>
                <a:latin typeface="Arial" pitchFamily="34" charset="0"/>
              </a:rPr>
              <a:t>Realised thinking tokens by level, per benchmark; overall ratio to level 256</a:t>
            </a:r>
          </a:p>
        </p:txBody>
      </p:sp>
      <p:graphicFrame>
        <p:nvGraphicFramePr>
          <p:cNvPr id="5" name="ratio_table_5"/>
          <p:cNvGraphicFramePr>
            <a:graphicFrameLocks noGrp="1"/>
          </p:cNvGraphicFramePr>
          <p:nvPr/>
        </p:nvGraphicFramePr>
        <p:xfrm>
          <a:off x="4400000" y="760000"/>
          <a:ext cx="4422000" cy="2112000"/>
        </p:xfrm>
        <a:graphic>
          <a:graphicData uri="http://schemas.openxmlformats.org/drawingml/2006/table">
            <a:tbl>
              <a:tblPr/>
              <a:tblGrid>
                <a:gridCol w="1250000"/>
                <a:gridCol w="1330000"/>
                <a:gridCol w="830000"/>
                <a:gridCol w="1012000"/>
              </a:tblGrid>
              <a:tr h="330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Benchmark</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Ratio 8192 / 256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Tokens @8192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Behaviour</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198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AIME2025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27.6× [24.8, 30.0]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7,043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Budget binds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8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LiveCodeBench-v6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25.5× [24.2, 26.8]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6,507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Budget binds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8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GPQA-Diamond</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24.1× [22.5, 25.7]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6,168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Budget binds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8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MMLU-Pro</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11.8× [9.8, 13.9]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2,959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Partly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8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MATH-full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6.7× [5.8, 7.7]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1,695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Stops early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8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MMLU-Redux</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6.6× [5.8, 7.4]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1,601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Stops early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8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IFEval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5.8× [4.8, 6.8]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1,470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Stops early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8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GSM8K</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5.4× [4.7, 6.3]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1,377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Stops early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8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BFCL-v3-simple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1.25× [1.19, 1.32]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285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Does not scale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bl>
          </a:graphicData>
        </a:graphic>
      </p:graphicFrame>
      <p:sp>
        <p:nvSpPr>
          <p:cNvPr id="6" name="Text 6"/>
          <p:cNvSpPr txBox="1"/>
          <p:nvPr/>
        </p:nvSpPr>
        <p:spPr>
          <a:xfrm>
            <a:off x="320040" y="3080000"/>
            <a:ext cx="8503920" cy="1750000"/>
          </a:xfrm>
          <a:prstGeom prst="rect">
            <a:avLst/>
          </a:prstGeom>
          <a:noFill/>
          <a:ln/>
        </p:spPr>
        <p:txBody>
          <a:bodyPr wrap="square" lIns="0" tIns="0" rIns="0" bIns="0" rtlCol="0" anchor="t"/>
          <a:lstStyle/>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Observed.</a:t>
            </a:r>
            <a:r>
              <a:rPr lang="en-US" sz="1100" dirty="0">
                <a:solidFill>
                  <a:srgbClr val="FFFFFF"/>
                </a:solidFill>
                <a:latin typeface="Arial" pitchFamily="34" charset="0"/>
                <a:cs typeface="Arial" pitchFamily="34" charset="0"/>
              </a:rPr>
              <a:t> Overall realised effort at 8,192 vs. 256 is 12.8× (95% CI 12.3–13.2×), and every step between adjacent levels increases token use (overall ratio 1.00, 1.85, 3.27, 5.42, 8.49, 12.77). Level 0 is left out of the ratio because it has exactly zero thinking tokens.</a:t>
            </a:r>
          </a:p>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Takeaway.</a:t>
            </a:r>
            <a:r>
              <a:rPr lang="en-US" sz="1100" dirty="0">
                <a:solidFill>
                  <a:srgbClr val="FFFFFF"/>
                </a:solidFill>
                <a:latin typeface="Arial" pitchFamily="34" charset="0"/>
                <a:cs typeface="Arial" pitchFamily="34" charset="0"/>
              </a:rPr>
              <a:t> The budget is a ceiling, not a target. AIME, LiveCodeBench and GPQA use nearly all of it; GSM8K, IFEval, MATH and MMLU-Redux stop by themselves, so levels 4,096 and 8,192 are almost the same experiment there; BFCL barely thinks. Accuracy differences between adjacent top levels on those benchmarks should not be read as effects of more compute.</a:t>
            </a:r>
          </a:p>
          <a:p>
            <a:pPr marL="177800" indent="-177800" algn="l">
              <a:lnSpc>
                <a:spcPct val="100000"/>
              </a:lnSpc>
              <a:spcBef>
                <a:spcPts val="0"/>
              </a:spcBef>
              <a:spcAft>
                <a:spcPts val="0"/>
              </a:spcAft>
              <a:buClr>
                <a:srgbClr val="FF7900"/>
              </a:buClr>
              <a:buSzPct val="100000"/>
              <a:buChar char="●"/>
            </a:pPr>
            <a:r>
              <a:rPr lang="en-US" sz="1100" b="1" dirty="0">
                <a:solidFill>
                  <a:srgbClr val="FF7900"/>
                </a:solidFill>
                <a:latin typeface="Helvetica Neue"/>
              </a:rPr>
              <a:t>Level 0.</a:t>
            </a:r>
            <a:r>
              <a:rPr lang="en-US" sz="1100" dirty="0">
                <a:solidFill>
                  <a:srgbClr val="FFFFFF"/>
                </a:solidFill>
                <a:latin typeface="Arial" pitchFamily="34" charset="0"/>
                <a:cs typeface="Arial" pitchFamily="34" charset="0"/>
              </a:rPr>
              <a:t> Level 0 means no thinking tokens, not no reasoning: the model still emits 734 tokens on average [705, 761]. </a:t>
            </a:r>
            <a:r>
              <a:rPr lang="en-US" sz="1100" b="1" i="1" dirty="0">
                <a:solidFill>
                  <a:srgbClr val="FF6600"/>
                </a:solidFill>
                <a:latin typeface="Arial" pitchFamily="34" charset="0"/>
                <a:cs typeface="Arial" pitchFamily="34" charset="0"/>
              </a:rPr>
              <a:t>[PLACEHOLDER: inspect level-0 outputs for step-by-step reasoning in the answer text]</a:t>
            </a:r>
          </a:p>
        </p:txBody>
      </p:sp>
      <p:sp>
        <p:nvSpPr>
          <p:cNvPr id="7" name="Footer 7"/>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4. Results  |  4.2 What does the extra thinking cost in elapsed time?</a:t>
            </a:r>
          </a:p>
        </p:txBody>
      </p:sp>
      <p:graphicFrame>
        <p:nvGraphicFramePr>
          <p:cNvPr id="4" name="latency_table_4"/>
          <p:cNvGraphicFramePr>
            <a:graphicFrameLocks noGrp="1"/>
          </p:cNvGraphicFramePr>
          <p:nvPr/>
        </p:nvGraphicFramePr>
        <p:xfrm>
          <a:off x="320040" y="760000"/>
          <a:ext cx="4300000" cy="1925000"/>
        </p:xfrm>
        <a:graphic>
          <a:graphicData uri="http://schemas.openxmlformats.org/drawingml/2006/table">
            <a:tbl>
              <a:tblPr/>
              <a:tblGrid>
                <a:gridCol w="800000"/>
                <a:gridCol w="1800000"/>
                <a:gridCol w="1700000"/>
              </a:tblGrid>
              <a:tr h="28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Level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Seconds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 level 0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235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41.8 [40.0, 43.5]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1.00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256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44.3 [42.9, 45.7]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1.06 [1.02, 1.11]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512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48.2 [46.9, 49.4]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1.15 [1.11, 1.20]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1,024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60.3 [58.8, 61.6]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1.44 [1.39, 1.50]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2,048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86.0 [83.9, 88.1]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2.06 [1.98, 2.14]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4,096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126.0 [122.2, 129.3]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3.01 [2.90, 3.14]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183.9 [176.5, 190.9]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4.40 [4.21, 4.60]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r>
            </a:tbl>
          </a:graphicData>
        </a:graphic>
      </p:graphicFrame>
      <p:sp>
        <p:nvSpPr>
          <p:cNvPr id="5" name="Placeholder 5"/>
          <p:cNvSpPr/>
          <p:nvPr/>
        </p:nvSpPr>
        <p:spPr>
          <a:xfrm>
            <a:off x="4850000" y="760000"/>
            <a:ext cx="3973960" cy="1925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images/LiquidAILFM2_5-2_6B__11_latency.png</a:t>
            </a:r>
          </a:p>
          <a:p>
            <a:pPr algn="ctr">
              <a:spcBef>
                <a:spcPts val="300"/>
              </a:spcBef>
              <a:buNone/>
            </a:pPr>
            <a:r>
              <a:rPr lang="en-US" sz="900" i="1" dirty="0">
                <a:solidFill>
                  <a:srgbClr val="BFBFBF"/>
                </a:solidFill>
                <a:latin typeface="Arial" pitchFamily="34" charset="0"/>
              </a:rPr>
              <a:t>Latency vs. level (macro mean, CI band); latency growth vs. token growth (log axis)</a:t>
            </a:r>
          </a:p>
        </p:txBody>
      </p:sp>
      <p:sp>
        <p:nvSpPr>
          <p:cNvPr id="6" name="Text 6"/>
          <p:cNvSpPr txBox="1"/>
          <p:nvPr/>
        </p:nvSpPr>
        <p:spPr>
          <a:xfrm>
            <a:off x="320040" y="2900000"/>
            <a:ext cx="8503920" cy="1900000"/>
          </a:xfrm>
          <a:prstGeom prst="rect">
            <a:avLst/>
          </a:prstGeom>
          <a:noFill/>
          <a:ln/>
        </p:spPr>
        <p:txBody>
          <a:bodyPr wrap="square" lIns="0" tIns="0" rIns="0" bIns="0" rtlCol="0" anchor="t"/>
          <a:lstStyle/>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What we see.</a:t>
            </a:r>
            <a:r>
              <a:rPr lang="en-US" sz="1100" dirty="0">
                <a:solidFill>
                  <a:srgbClr val="FFFFFF"/>
                </a:solidFill>
                <a:latin typeface="Arial" pitchFamily="34" charset="0"/>
                <a:cs typeface="Arial" pitchFamily="34" charset="0"/>
              </a:rPr>
              <a:t> Mean latency per sample by level (macro mean seconds per sample), and latency and total tokens as multiples of the lowest level; parallel lines would mean latency tracks tokens.</a:t>
            </a:r>
          </a:p>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Observed.</a:t>
            </a:r>
            <a:r>
              <a:rPr lang="en-US" sz="1100" dirty="0">
                <a:solidFill>
                  <a:srgbClr val="FFFFFF"/>
                </a:solidFill>
                <a:latin typeface="Arial" pitchFamily="34" charset="0"/>
                <a:cs typeface="Arial" pitchFamily="34" charset="0"/>
              </a:rPr>
              <a:t> Latency rises monotonically and steeply, from 41.8 s at level 0 to 183.9 s at 8,192: a 4.40× slowdown [4.21, 4.60]. Over the same range mean total tokens grow ≈ 4.8× (734 → 3,495 per sample).</a:t>
            </a:r>
          </a:p>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Hypothesis.</a:t>
            </a:r>
            <a:r>
              <a:rPr lang="en-US" sz="1100" dirty="0">
                <a:solidFill>
                  <a:srgbClr val="FFFFFF"/>
                </a:solidFill>
                <a:latin typeface="Arial" pitchFamily="34" charset="0"/>
                <a:cs typeface="Arial" pitchFamily="34" charset="0"/>
              </a:rPr>
              <a:t> Latency is driven mainly by the number of generated tokens, since both grow similarly (4.4× vs. 4.8×). The absolute seconds are large for ~700–3,500 tokens, which suggests concurrent or queued generation, so the ratios are more trustworthy than the absolute seconds.</a:t>
            </a:r>
          </a:p>
          <a:p>
            <a:pPr marL="177800" indent="-177800" algn="l">
              <a:lnSpc>
                <a:spcPct val="100000"/>
              </a:lnSpc>
              <a:spcBef>
                <a:spcPts val="0"/>
              </a:spcBef>
              <a:spcAft>
                <a:spcPts val="0"/>
              </a:spcAft>
              <a:buClr>
                <a:srgbClr val="FF7900"/>
              </a:buClr>
              <a:buSzPct val="100000"/>
              <a:buChar char="●"/>
            </a:pPr>
            <a:r>
              <a:rPr lang="en-US" sz="1100" b="1" i="1" dirty="0">
                <a:solidFill>
                  <a:srgbClr val="FF6600"/>
                </a:solidFill>
                <a:latin typeface="Arial" pitchFamily="34" charset="0"/>
                <a:cs typeface="Arial" pitchFamily="34" charset="0"/>
              </a:rPr>
              <a:t>[PLACEHOLDER: hardware, batching and concurrency settings of the latency runs; the data cannot reveal queueing]</a:t>
            </a:r>
          </a:p>
        </p:txBody>
      </p:sp>
      <p:sp>
        <p:nvSpPr>
          <p:cNvPr id="7" name="Footer 7"/>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4. Results  |  4.3 How much accuracy does thinking buy?</a:t>
            </a:r>
          </a:p>
        </p:txBody>
      </p:sp>
      <p:graphicFrame>
        <p:nvGraphicFramePr>
          <p:cNvPr id="4" name="headline_table_4"/>
          <p:cNvGraphicFramePr>
            <a:graphicFrameLocks noGrp="1"/>
          </p:cNvGraphicFramePr>
          <p:nvPr/>
        </p:nvGraphicFramePr>
        <p:xfrm>
          <a:off x="320040" y="760000"/>
          <a:ext cx="5390000" cy="2065000"/>
        </p:xfrm>
        <a:graphic>
          <a:graphicData uri="http://schemas.openxmlformats.org/drawingml/2006/table">
            <a:tbl>
              <a:tblPr/>
              <a:tblGrid>
                <a:gridCol w="560000"/>
                <a:gridCol w="1250000"/>
                <a:gridCol w="1250000"/>
                <a:gridCol w="1450000"/>
                <a:gridCol w="880000"/>
              </a:tblGrid>
              <a:tr h="42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Level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Accuracy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Change vs. level 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Normalised gain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Equal weight per task type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23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44.6% [42.4, 47.1]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46.2%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256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43.7% [41.6, 46.0]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−0.9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−1.7% [−6.7, +2.5]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43.9%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512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46.8% [44.5, 49.2]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+2.2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6.2% [1.6, 10.0]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47.2%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1,024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48.8% [46.5, 51.2]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+4.2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11.2% [7.2, 14.8]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49.4%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2,048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51.9% [49.5, 54.4]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+7.3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18.6% [14.5, 22.3]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52.5%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4,096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56.2% [53.6, 58.9]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+11.6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25.1% [21.1, 29.0]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57.0%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58.1% [55.4, 60.8]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+13.5 pp [+11.5, +15.7]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28.0% [24.2, 31.8]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59.1%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r>
            </a:tbl>
          </a:graphicData>
        </a:graphic>
      </p:graphicFrame>
      <p:sp>
        <p:nvSpPr>
          <p:cNvPr id="5" name="Placeholder 5"/>
          <p:cNvSpPr/>
          <p:nvPr/>
        </p:nvSpPr>
        <p:spPr>
          <a:xfrm>
            <a:off x="6050000" y="760000"/>
            <a:ext cx="2773960" cy="2060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images/LiquidAILFM2_5-2_6B__03_headline.png</a:t>
            </a:r>
          </a:p>
          <a:p>
            <a:pPr algn="ctr">
              <a:spcBef>
                <a:spcPts val="300"/>
              </a:spcBef>
              <a:buNone/>
            </a:pPr>
            <a:r>
              <a:rPr lang="en-US" sz="900" i="1" dirty="0">
                <a:solidFill>
                  <a:srgbClr val="BFBFBF"/>
                </a:solidFill>
                <a:latin typeface="Arial" pitchFamily="34" charset="0"/>
              </a:rPr>
              <a:t>Macro accuracy by level; vs. realised effort; gain over level 0</a:t>
            </a:r>
          </a:p>
        </p:txBody>
      </p:sp>
      <p:sp>
        <p:nvSpPr>
          <p:cNvPr id="6" name="Text 6"/>
          <p:cNvSpPr txBox="1"/>
          <p:nvPr/>
        </p:nvSpPr>
        <p:spPr>
          <a:xfrm>
            <a:off x="320040" y="3000000"/>
            <a:ext cx="8503920" cy="1850000"/>
          </a:xfrm>
          <a:prstGeom prst="rect">
            <a:avLst/>
          </a:prstGeom>
          <a:noFill/>
          <a:ln/>
        </p:spPr>
        <p:txBody>
          <a:bodyPr wrap="square" lIns="0" tIns="0" rIns="0" bIns="0" rtlCol="0" anchor="t"/>
          <a:lstStyle/>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Observed.</a:t>
            </a:r>
            <a:r>
              <a:rPr lang="en-US" sz="1100" dirty="0">
                <a:solidFill>
                  <a:srgbClr val="FFFFFF"/>
                </a:solidFill>
                <a:latin typeface="Arial" pitchFamily="34" charset="0"/>
                <a:cs typeface="Arial" pitchFamily="34" charset="0"/>
              </a:rPr>
              <a:t> Thinking helps on average and the curve is still climbing at its highest point, 8,192: macro accuracy goes from 44.6% to 58.1%, +13.5 pp [+11.5, +15.7] (+12.9 pp [+10.8, +15.1] with equal weight per task type). About 28% of the headroom is recovered at the top.</a:t>
            </a:r>
          </a:p>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The first 256 tokens do not help.</a:t>
            </a:r>
            <a:r>
              <a:rPr lang="en-US" sz="1100" dirty="0">
                <a:solidFill>
                  <a:srgbClr val="FFFFFF"/>
                </a:solidFill>
                <a:latin typeface="Arial" pitchFamily="34" charset="0"/>
                <a:cs typeface="Arial" pitchFamily="34" charset="0"/>
              </a:rPr>
              <a:t> The change is −0.9 pp and the normalised-gain interval spans zero; the gain starts at 512 tokens. Only level 8,192 has a pp interval in the saved CSV.</a:t>
            </a:r>
          </a:p>
          <a:p>
            <a:pPr marL="177800" indent="-177800" algn="l">
              <a:lnSpc>
                <a:spcPct val="100000"/>
              </a:lnSpc>
              <a:spcBef>
                <a:spcPts val="0"/>
              </a:spcBef>
              <a:spcAft>
                <a:spcPts val="0"/>
              </a:spcAft>
              <a:buClr>
                <a:srgbClr val="FF7900"/>
              </a:buClr>
              <a:buSzPct val="100000"/>
              <a:buChar char="●"/>
            </a:pPr>
            <a:r>
              <a:rPr lang="en-US" sz="1100" b="1" dirty="0">
                <a:solidFill>
                  <a:srgbClr val="FF7900"/>
                </a:solidFill>
                <a:latin typeface="Helvetica Neue"/>
              </a:rPr>
              <a:t>Trend test.</a:t>
            </a:r>
            <a:r>
              <a:rPr lang="en-US" sz="1100" dirty="0">
                <a:solidFill>
                  <a:srgbClr val="FFFFFF"/>
                </a:solidFill>
                <a:latin typeface="Arial" pitchFamily="34" charset="0"/>
                <a:cs typeface="Arial" pitchFamily="34" charset="0"/>
              </a:rPr>
              <a:t> Across all levels (logistic, benchmark fixed effects, question-clustered errors), each step up multiplies the odds of a correct answer by 1.14 (p = 1.1 × 10⁻⁴⁴). This tests direction, not size.</a:t>
            </a:r>
          </a:p>
        </p:txBody>
      </p:sp>
      <p:sp>
        <p:nvSpPr>
          <p:cNvPr id="7" name="Footer 7"/>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4. Results  |  4.4 Is the result robust? Leave-one-out and truncation</a:t>
            </a:r>
          </a:p>
        </p:txBody>
      </p:sp>
      <p:graphicFrame>
        <p:nvGraphicFramePr>
          <p:cNvPr id="4" name="loo_table_4"/>
          <p:cNvGraphicFramePr>
            <a:graphicFrameLocks noGrp="1"/>
          </p:cNvGraphicFramePr>
          <p:nvPr/>
        </p:nvGraphicFramePr>
        <p:xfrm>
          <a:off x="320040" y="760000"/>
          <a:ext cx="2900000" cy="2000000"/>
        </p:xfrm>
        <a:graphic>
          <a:graphicData uri="http://schemas.openxmlformats.org/drawingml/2006/table">
            <a:tbl>
              <a:tblPr/>
              <a:tblGrid>
                <a:gridCol w="1650000"/>
                <a:gridCol w="1250000"/>
              </a:tblGrid>
              <a:tr h="29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Benchmark removed</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Macro change 0 → 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19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IFEval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+10.9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AIME2025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+12.2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GPQA-Diamond</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+13.2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MMLU-Pro</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+13.5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LiveCodeBench-v6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+13.8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MATH-full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+13.8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GSM8K</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+13.9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MMLU-Redux</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+14.8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19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BFCL-v3-simple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+15.8 pp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bl>
          </a:graphicData>
        </a:graphic>
      </p:graphicFrame>
      <p:sp>
        <p:nvSpPr>
          <p:cNvPr id="5" name="Placeholder 5"/>
          <p:cNvSpPr/>
          <p:nvPr/>
        </p:nvSpPr>
        <p:spPr>
          <a:xfrm>
            <a:off x="3350000" y="760000"/>
            <a:ext cx="2700000" cy="2000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images/LiquidAILFM2_5-2_6B__05_leave_one_out.png</a:t>
            </a:r>
          </a:p>
          <a:p>
            <a:pPr algn="ctr">
              <a:spcBef>
                <a:spcPts val="300"/>
              </a:spcBef>
              <a:buNone/>
            </a:pPr>
            <a:r>
              <a:rPr lang="en-US" sz="900" i="1" dirty="0">
                <a:solidFill>
                  <a:srgbClr val="BFBFBF"/>
                </a:solidFill>
                <a:latin typeface="Arial" pitchFamily="34" charset="0"/>
              </a:rPr>
              <a:t>Leave-one-benchmark-out change</a:t>
            </a:r>
          </a:p>
        </p:txBody>
      </p:sp>
      <p:sp>
        <p:nvSpPr>
          <p:cNvPr id="6" name="Placeholder 6"/>
          <p:cNvSpPr/>
          <p:nvPr/>
        </p:nvSpPr>
        <p:spPr>
          <a:xfrm>
            <a:off x="6150000" y="760000"/>
            <a:ext cx="2673960" cy="2000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images/LiquidAILFM2_5-2_6B__09_truncation.png</a:t>
            </a:r>
          </a:p>
          <a:p>
            <a:pPr algn="ctr">
              <a:spcBef>
                <a:spcPts val="300"/>
              </a:spcBef>
              <a:buNone/>
            </a:pPr>
            <a:r>
              <a:rPr lang="en-US" sz="900" i="1" dirty="0">
                <a:solidFill>
                  <a:srgbClr val="BFBFBF"/>
                </a:solidFill>
                <a:latin typeface="Arial" pitchFamily="34" charset="0"/>
              </a:rPr>
              <a:t>Sample outcomes by level; accuracy with / without truncated</a:t>
            </a:r>
          </a:p>
        </p:txBody>
      </p:sp>
      <p:sp>
        <p:nvSpPr>
          <p:cNvPr id="7" name="Text 7"/>
          <p:cNvSpPr txBox="1"/>
          <p:nvPr/>
        </p:nvSpPr>
        <p:spPr>
          <a:xfrm>
            <a:off x="320040" y="2950000"/>
            <a:ext cx="8503920" cy="1900000"/>
          </a:xfrm>
          <a:prstGeom prst="rect">
            <a:avLst/>
          </a:prstGeom>
          <a:noFill/>
          <a:ln/>
        </p:spPr>
        <p:txBody>
          <a:bodyPr wrap="square" lIns="0" tIns="0" rIns="0" bIns="0" rtlCol="0" anchor="t"/>
          <a:lstStyle/>
          <a:p>
            <a:pPr marL="177800" indent="-177800" algn="l">
              <a:lnSpc>
                <a:spcPct val="100000"/>
              </a:lnSpc>
              <a:spcBef>
                <a:spcPts val="0"/>
              </a:spcBef>
              <a:spcAft>
                <a:spcPts val="500"/>
              </a:spcAft>
              <a:buClr>
                <a:srgbClr val="FF7900"/>
              </a:buClr>
              <a:buSzPct val="100000"/>
              <a:buChar char="●"/>
            </a:pPr>
            <a:r>
              <a:rPr lang="en-US" sz="1100" b="1" dirty="0">
                <a:solidFill>
                  <a:srgbClr val="FF7900"/>
                </a:solidFill>
                <a:latin typeface="Helvetica Neue"/>
              </a:rPr>
              <a:t>Leave-one-out.</a:t>
            </a:r>
            <a:r>
              <a:rPr lang="en-US" sz="1100" dirty="0">
                <a:solidFill>
                  <a:srgbClr val="FFFFFF"/>
                </a:solidFill>
                <a:latin typeface="Arial" pitchFamily="34" charset="0"/>
                <a:cs typeface="Arial" pitchFamily="34" charset="0"/>
              </a:rPr>
              <a:t> Every estimate stays between +10.9 and +15.8 pp, close to the full-set +13.5 pp [+11.5, +15.7]. Removing IFEval lowers the change most, to +10.9 pp, which is still large; BFCL, the one benchmark that gets worse, pulls the average down (+15.8 pp without it). The effect is broad-based. </a:t>
            </a:r>
            <a:r>
              <a:rPr lang="en-US" sz="1100" b="1" i="1" dirty="0">
                <a:solidFill>
                  <a:srgbClr val="FF6600"/>
                </a:solidFill>
                <a:latin typeface="Arial" pitchFamily="34" charset="0"/>
                <a:cs typeface="Arial" pitchFamily="34" charset="0"/>
              </a:rPr>
              <a:t>[PLACEHOLDER: bootstrap CIs per leave-one-out estimate, not saved by the notebook]</a:t>
            </a:r>
          </a:p>
          <a:p>
            <a:pPr marL="177800" indent="-177800" algn="l">
              <a:lnSpc>
                <a:spcPct val="100000"/>
              </a:lnSpc>
              <a:spcBef>
                <a:spcPts val="0"/>
              </a:spcBef>
              <a:spcAft>
                <a:spcPts val="0"/>
              </a:spcAft>
              <a:buClr>
                <a:srgbClr val="FF7900"/>
              </a:buClr>
              <a:buSzPct val="100000"/>
              <a:buChar char="●"/>
            </a:pPr>
            <a:r>
              <a:rPr lang="en-US" sz="1100" b="1" dirty="0">
                <a:solidFill>
                  <a:srgbClr val="FF7900"/>
                </a:solidFill>
                <a:latin typeface="Helvetica Neue"/>
              </a:rPr>
              <a:t>Truncation.</a:t>
            </a:r>
            <a:r>
              <a:rPr lang="en-US" sz="1100" dirty="0">
                <a:solidFill>
                  <a:srgbClr val="FFFFFF"/>
                </a:solidFill>
                <a:latin typeface="Arial" pitchFamily="34" charset="0"/>
                <a:cs typeface="Arial" pitchFamily="34" charset="0"/>
              </a:rPr>
              <a:t> The truncated share is 0.0% at every level, and 100% of samples are Complete except level 1,024 (99.98%; 0.022% marker hit with empty answer). Excluding truncated samples gives the same +13.5 pp, so the gains are not a cut-off artefact. </a:t>
            </a:r>
            <a:r>
              <a:rPr lang="en-US" sz="1100" b="1" i="1" dirty="0">
                <a:solidFill>
                  <a:srgbClr val="FF6600"/>
                </a:solidFill>
                <a:latin typeface="Arial" pitchFamily="34" charset="0"/>
                <a:cs typeface="Arial" pitchFamily="34" charset="0"/>
              </a:rPr>
              <a:t>[PLACEHOLDER: output-token cap in use, to explain why truncation never occurs]</a:t>
            </a:r>
          </a:p>
        </p:txBody>
      </p:sp>
      <p:sp>
        <p:nvSpPr>
          <p:cNvPr id="8" name="Footer 8"/>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4. Results  |  4.5 Who benefits and who does not?</a:t>
            </a:r>
          </a:p>
        </p:txBody>
      </p:sp>
      <p:graphicFrame>
        <p:nvGraphicFramePr>
          <p:cNvPr id="4" name="bench_table_4"/>
          <p:cNvGraphicFramePr>
            <a:graphicFrameLocks noGrp="1"/>
          </p:cNvGraphicFramePr>
          <p:nvPr/>
        </p:nvGraphicFramePr>
        <p:xfrm>
          <a:off x="320040" y="720000"/>
          <a:ext cx="8503920" cy="2378000"/>
        </p:xfrm>
        <a:graphic>
          <a:graphicData uri="http://schemas.openxmlformats.org/drawingml/2006/table">
            <a:tbl>
              <a:tblPr/>
              <a:tblGrid>
                <a:gridCol w="1900000"/>
                <a:gridCol w="720000"/>
                <a:gridCol w="800000"/>
                <a:gridCol w="1650000"/>
                <a:gridCol w="1650000"/>
                <a:gridCol w="600000"/>
                <a:gridCol w="1183920"/>
              </a:tblGrid>
              <a:tr h="29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Benchmark</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Acc. @0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Acc. @8,192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Δ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Normalised gain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Holm 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Verdict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232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IFEval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48.6%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83.4%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+34.8 pp [+27.2, +42.6]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67.7% [57.0, 78.3]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0.009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increase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2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AIME2025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8.0%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32.0%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+24.0 pp [+13.3, +36.0]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26.1% [14.0, 39.6]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0.009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increase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2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GPQA-Diamond</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33.2%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49.4%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+16.2 pp [+9.8, +22.6]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24.3% [15.1, 33.3]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0.009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increase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2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MMLU-Pro</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50.6%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64.2%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+13.6 pp [+7.6, +20.0]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27.5% [16.2, 39.4]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0.009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increase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2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LiveCodeBench-v6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17.2%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+11.8 pp [+6.8, +17.4]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12.5% [7.3, 18.5]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0.009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increase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2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MATH-full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70.2%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81.8%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+11.6 pp [+6.0, +17.2]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38.9% [22.4, 54.9]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0.009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increase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2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GSM8K</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78.8%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89.6%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+10.8 pp [+6.6, +15.0]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50.9% [34.4, 66.7]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0.009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increase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2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MMLU-Redux</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68.6%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72.0%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+3.4 pp [−0.8, +7.8]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10.8% [−2.8, +24.0]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0.119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no clear change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r>
              <a:tr h="232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BFCL-v3-simple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38.0%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33.6%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−4.4 pp [−8.0, −1.0]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−7.1% [−14.0, −1.5]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0.032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decrease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r>
            </a:tbl>
          </a:graphicData>
        </a:graphic>
      </p:graphicFrame>
      <p:sp>
        <p:nvSpPr>
          <p:cNvPr id="5" name="Text 5"/>
          <p:cNvSpPr txBox="1"/>
          <p:nvPr/>
        </p:nvSpPr>
        <p:spPr>
          <a:xfrm>
            <a:off x="320040" y="3248000"/>
            <a:ext cx="8503920" cy="1500000"/>
          </a:xfrm>
          <a:prstGeom prst="rect">
            <a:avLst/>
          </a:prstGeom>
          <a:noFill/>
          <a:ln/>
        </p:spPr>
        <p:txBody>
          <a:bodyPr wrap="square" lIns="0" tIns="0" rIns="0" bIns="0" rtlCol="0" anchor="t"/>
          <a:lstStyle/>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Observed.</a:t>
            </a:r>
            <a:r>
              <a:rPr lang="en-US" sz="1100" dirty="0">
                <a:solidFill>
                  <a:srgbClr val="FFFFFF"/>
                </a:solidFill>
                <a:latin typeface="Arial" pitchFamily="34" charset="0"/>
                <a:cs typeface="Arial" pitchFamily="34" charset="0"/>
              </a:rPr>
              <a:t> Seven benchmarks increase, one decreases and one shows no clear change (Holm-adjusted). IFEval (+34.8 pp) and AIME2025 (+24.0 pp) gain the most; BFCL-v3-simple loses 4.4 pp; MMLU-Redux cannot be told apart from zero.</a:t>
            </a:r>
          </a:p>
          <a:p>
            <a:pPr marL="177800" indent="-177800" algn="l">
              <a:lnSpc>
                <a:spcPct val="100000"/>
              </a:lnSpc>
              <a:spcBef>
                <a:spcPts val="0"/>
              </a:spcBef>
              <a:spcAft>
                <a:spcPts val="0"/>
              </a:spcAft>
              <a:buClr>
                <a:srgbClr val="FF7900"/>
              </a:buClr>
              <a:buSzPct val="100000"/>
              <a:buChar char="●"/>
            </a:pPr>
            <a:r>
              <a:rPr lang="en-US" sz="1100" b="1" dirty="0">
                <a:solidFill>
                  <a:srgbClr val="FF7900"/>
                </a:solidFill>
                <a:latin typeface="Helvetica Neue"/>
              </a:rPr>
              <a:t>Trend tests agree.</a:t>
            </a:r>
            <a:r>
              <a:rPr lang="en-US" sz="1100" dirty="0">
                <a:solidFill>
                  <a:srgbClr val="FFFFFF"/>
                </a:solidFill>
                <a:latin typeface="Arial" pitchFamily="34" charset="0"/>
                <a:cs typeface="Arial" pitchFamily="34" charset="0"/>
              </a:rPr>
              <a:t> Over all levels the trend is significant after Holm for every benchmark except BFCL (p_trend_holm = 0.12). MMLU-Redux is borderline: its trend is significant (0.008) although its endpoint change is not. MATH-full peaks at 83.0% @4,096 and MMLU-Redux at 72.4% @2,048.</a:t>
            </a:r>
          </a:p>
        </p:txBody>
      </p:sp>
      <p:sp>
        <p:nvSpPr>
          <p:cNvPr id="6" name="Footer 6"/>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4. Results  |  4.5 Who benefits? Shapes of the curves</a:t>
            </a:r>
          </a:p>
        </p:txBody>
      </p:sp>
      <p:sp>
        <p:nvSpPr>
          <p:cNvPr id="4" name="Text 4"/>
          <p:cNvSpPr txBox="1"/>
          <p:nvPr/>
        </p:nvSpPr>
        <p:spPr>
          <a:xfrm>
            <a:off x="320040" y="640000"/>
            <a:ext cx="4950000" cy="4150000"/>
          </a:xfrm>
          <a:prstGeom prst="rect">
            <a:avLst/>
          </a:prstGeom>
          <a:noFill/>
          <a:ln/>
        </p:spPr>
        <p:txBody>
          <a:bodyPr wrap="square" lIns="0" tIns="0" rIns="0" bIns="0" rtlCol="0" anchor="t"/>
          <a:lstStyle/>
          <a:p>
            <a:pPr marL="0" indent="0" algn="l">
              <a:lnSpc>
                <a:spcPct val="100000"/>
              </a:lnSpc>
              <a:spcBef>
                <a:spcPts val="0"/>
              </a:spcBef>
              <a:spcAft>
                <a:spcPts val="300"/>
              </a:spcAft>
              <a:buNone/>
            </a:pPr>
            <a:r>
              <a:rPr lang="en-US" sz="1300" b="1" dirty="0">
                <a:solidFill>
                  <a:srgbClr val="FF7900"/>
                </a:solidFill>
                <a:latin typeface="Helvetica Neue"/>
              </a:rPr>
              <a:t>Accuracy by level (point estimates)</a:t>
            </a:r>
          </a:p>
          <a:p>
            <a:pPr marL="177800" indent="-177800" algn="l">
              <a:lnSpc>
                <a:spcPct val="100000"/>
              </a:lnSpc>
              <a:spcBef>
                <a:spcPts val="0"/>
              </a:spcBef>
              <a:spcAft>
                <a:spcPts val="300"/>
              </a:spcAft>
              <a:buClr>
                <a:srgbClr val="FF7900"/>
              </a:buClr>
              <a:buSzPct val="100000"/>
              <a:buChar char="●"/>
            </a:pPr>
            <a:r>
              <a:rPr lang="en-US" sz="1100" b="1" dirty="0">
                <a:solidFill>
                  <a:srgbClr val="FF7900"/>
                </a:solidFill>
                <a:latin typeface="Helvetica Neue"/>
              </a:rPr>
              <a:t>IFEval.</a:t>
            </a:r>
            <a:r>
              <a:rPr lang="en-US" sz="1100" dirty="0">
                <a:solidFill>
                  <a:srgbClr val="FFFFFF"/>
                </a:solidFill>
                <a:latin typeface="Arial" pitchFamily="34" charset="0"/>
                <a:cs typeface="Arial" pitchFamily="34" charset="0"/>
              </a:rPr>
              <a:t> Large early lift: 48.6% → 66.4% at the first 256 tokens, then a steady climb.</a:t>
            </a:r>
          </a:p>
          <a:p>
            <a:pPr marL="177800" indent="-177800" algn="l">
              <a:lnSpc>
                <a:spcPct val="100000"/>
              </a:lnSpc>
              <a:spcBef>
                <a:spcPts val="0"/>
              </a:spcBef>
              <a:spcAft>
                <a:spcPts val="300"/>
              </a:spcAft>
              <a:buClr>
                <a:srgbClr val="FF7900"/>
              </a:buClr>
              <a:buSzPct val="100000"/>
              <a:buChar char="●"/>
            </a:pPr>
            <a:r>
              <a:rPr lang="en-US" sz="1100" b="1" dirty="0">
                <a:solidFill>
                  <a:srgbClr val="FF7900"/>
                </a:solidFill>
                <a:latin typeface="Helvetica Neue"/>
              </a:rPr>
              <a:t>MMLU-Pro.</a:t>
            </a:r>
            <a:r>
              <a:rPr lang="en-US" sz="1100" dirty="0">
                <a:solidFill>
                  <a:srgbClr val="FFFFFF"/>
                </a:solidFill>
                <a:latin typeface="Arial" pitchFamily="34" charset="0"/>
                <a:cs typeface="Arial" pitchFamily="34" charset="0"/>
              </a:rPr>
              <a:t> Dips first, 50.6% → 35.0% at 256, and returns to baseline only at 1,024 (50.6%).</a:t>
            </a:r>
          </a:p>
          <a:p>
            <a:pPr marL="177800" indent="-177800" algn="l">
              <a:lnSpc>
                <a:spcPct val="100000"/>
              </a:lnSpc>
              <a:spcBef>
                <a:spcPts val="0"/>
              </a:spcBef>
              <a:spcAft>
                <a:spcPts val="300"/>
              </a:spcAft>
              <a:buClr>
                <a:srgbClr val="FF7900"/>
              </a:buClr>
              <a:buSzPct val="100000"/>
              <a:buChar char="●"/>
            </a:pPr>
            <a:r>
              <a:rPr lang="en-US" sz="1100" b="1" dirty="0">
                <a:solidFill>
                  <a:srgbClr val="FF7900"/>
                </a:solidFill>
                <a:latin typeface="Helvetica Neue"/>
              </a:rPr>
              <a:t>GPQA-Diamond.</a:t>
            </a:r>
            <a:r>
              <a:rPr lang="en-US" sz="1100" dirty="0">
                <a:solidFill>
                  <a:srgbClr val="FFFFFF"/>
                </a:solidFill>
                <a:latin typeface="Arial" pitchFamily="34" charset="0"/>
                <a:cs typeface="Arial" pitchFamily="34" charset="0"/>
              </a:rPr>
              <a:t> Flat at 33.2–36.0% up to 2,048, then 47.4% at 4,096 and 49.4% at 8,192: a threshold-like pattern.</a:t>
            </a:r>
          </a:p>
          <a:p>
            <a:pPr marL="177800" indent="-177800" algn="l">
              <a:lnSpc>
                <a:spcPct val="100000"/>
              </a:lnSpc>
              <a:spcBef>
                <a:spcPts val="0"/>
              </a:spcBef>
              <a:spcAft>
                <a:spcPts val="300"/>
              </a:spcAft>
              <a:buClr>
                <a:srgbClr val="FF7900"/>
              </a:buClr>
              <a:buSzPct val="100000"/>
              <a:buChar char="●"/>
            </a:pPr>
            <a:r>
              <a:rPr lang="en-US" sz="1100" b="1" dirty="0">
                <a:solidFill>
                  <a:srgbClr val="FF7900"/>
                </a:solidFill>
                <a:latin typeface="Helvetica Neue"/>
              </a:rPr>
              <a:t>AIME2025.</a:t>
            </a:r>
            <a:r>
              <a:rPr lang="en-US" sz="1100" dirty="0">
                <a:solidFill>
                  <a:srgbClr val="FFFFFF"/>
                </a:solidFill>
                <a:latin typeface="Arial" pitchFamily="34" charset="0"/>
                <a:cs typeface="Arial" pitchFamily="34" charset="0"/>
              </a:rPr>
              <a:t> Flat until 1,024 (10.0%), then 14.7%, 24.0% and 32.0%.</a:t>
            </a:r>
          </a:p>
          <a:p>
            <a:pPr marL="177800" indent="-177800" algn="l">
              <a:lnSpc>
                <a:spcPct val="100000"/>
              </a:lnSpc>
              <a:spcBef>
                <a:spcPts val="0"/>
              </a:spcBef>
              <a:spcAft>
                <a:spcPts val="300"/>
              </a:spcAft>
              <a:buClr>
                <a:srgbClr val="FF7900"/>
              </a:buClr>
              <a:buSzPct val="100000"/>
              <a:buChar char="●"/>
            </a:pPr>
            <a:r>
              <a:rPr lang="en-US" sz="1100" b="1" dirty="0">
                <a:solidFill>
                  <a:srgbClr val="FF7900"/>
                </a:solidFill>
                <a:latin typeface="Helvetica Neue"/>
              </a:rPr>
              <a:t>GSM8K.</a:t>
            </a:r>
            <a:r>
              <a:rPr lang="en-US" sz="1100" dirty="0">
                <a:solidFill>
                  <a:srgbClr val="FFFFFF"/>
                </a:solidFill>
                <a:latin typeface="Arial" pitchFamily="34" charset="0"/>
                <a:cs typeface="Arial" pitchFamily="34" charset="0"/>
              </a:rPr>
              <a:t> Most of the gain comes early, 86.0% at 512, then a slow rise to 89.6%.</a:t>
            </a:r>
          </a:p>
          <a:p>
            <a:pPr marL="177800" indent="-177800" algn="l">
              <a:lnSpc>
                <a:spcPct val="100000"/>
              </a:lnSpc>
              <a:spcBef>
                <a:spcPts val="0"/>
              </a:spcBef>
              <a:spcAft>
                <a:spcPts val="500"/>
              </a:spcAft>
              <a:buClr>
                <a:srgbClr val="FF7900"/>
              </a:buClr>
              <a:buSzPct val="100000"/>
              <a:buChar char="●"/>
            </a:pPr>
            <a:r>
              <a:rPr lang="en-US" sz="1100" b="1" dirty="0">
                <a:solidFill>
                  <a:srgbClr val="FF7900"/>
                </a:solidFill>
                <a:latin typeface="Helvetica Neue"/>
              </a:rPr>
              <a:t>BFCL-v3-simple.</a:t>
            </a:r>
            <a:r>
              <a:rPr lang="en-US" sz="1100" dirty="0">
                <a:solidFill>
                  <a:srgbClr val="FFFFFF"/>
                </a:solidFill>
                <a:latin typeface="Arial" pitchFamily="34" charset="0"/>
                <a:cs typeface="Arial" pitchFamily="34" charset="0"/>
              </a:rPr>
              <a:t> 38.0% → 33.4% at the first thinking level, then 33.4–35.0% at every level: what hurts is thinking at all, not the budget size.</a:t>
            </a:r>
          </a:p>
          <a:p>
            <a:pPr marL="177800" indent="-177800" algn="l">
              <a:lnSpc>
                <a:spcPct val="100000"/>
              </a:lnSpc>
              <a:spcBef>
                <a:spcPts val="0"/>
              </a:spcBef>
              <a:spcAft>
                <a:spcPts val="0"/>
              </a:spcAft>
              <a:buClr>
                <a:srgbClr val="FF7900"/>
              </a:buClr>
              <a:buSzPct val="100000"/>
              <a:buChar char="●"/>
            </a:pPr>
            <a:r>
              <a:rPr lang="en-US" sz="1100" b="1" dirty="0">
                <a:solidFill>
                  <a:srgbClr val="FF7900"/>
                </a:solidFill>
                <a:latin typeface="Helvetica Neue"/>
              </a:rPr>
              <a:t>Takeaway.</a:t>
            </a:r>
            <a:r>
              <a:rPr lang="en-US" sz="1100" dirty="0">
                <a:solidFill>
                  <a:srgbClr val="FFFFFF"/>
                </a:solidFill>
                <a:latin typeface="Arial" pitchFamily="34" charset="0"/>
                <a:cs typeface="Arial" pitchFamily="34" charset="0"/>
              </a:rPr>
              <a:t> Compute is not a uniform tonic. Observed: the benefit is large on instruction following, math and science, absent on MMLU-Redux and negative on BFCL. Hypotheses, untested here: (i) a short forced thought can disrupt a model that would have answered directly (the dips at 256 on MMLU-Pro, MMLU-Redux and BFCL); (ii) hard science and competition-math questions need long chains before thinking pays (the thresholds on GPQA and AIME).</a:t>
            </a:r>
          </a:p>
        </p:txBody>
      </p:sp>
      <p:sp>
        <p:nvSpPr>
          <p:cNvPr id="5" name="Placeholder 5"/>
          <p:cNvSpPr/>
          <p:nvPr/>
        </p:nvSpPr>
        <p:spPr>
          <a:xfrm>
            <a:off x="5450000" y="700000"/>
            <a:ext cx="3373960" cy="1950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images/LiquidAILFM2_5-2_6B__04_per_benchmark.png</a:t>
            </a:r>
          </a:p>
          <a:p>
            <a:pPr algn="ctr">
              <a:spcBef>
                <a:spcPts val="300"/>
              </a:spcBef>
              <a:buNone/>
            </a:pPr>
            <a:r>
              <a:rPr lang="en-US" sz="900" i="1" dirty="0">
                <a:solidFill>
                  <a:srgbClr val="BFBFBF"/>
                </a:solidFill>
                <a:latin typeface="Arial" pitchFamily="34" charset="0"/>
              </a:rPr>
              <a:t>Accuracy vs. level, one panel per benchmark</a:t>
            </a:r>
          </a:p>
        </p:txBody>
      </p:sp>
      <p:sp>
        <p:nvSpPr>
          <p:cNvPr id="6" name="Placeholder 6"/>
          <p:cNvSpPr/>
          <p:nvPr/>
        </p:nvSpPr>
        <p:spPr>
          <a:xfrm>
            <a:off x="5450000" y="2800000"/>
            <a:ext cx="3373960" cy="1950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images/LiquidAILFM2_5-2_6B__04_forest.png</a:t>
            </a:r>
          </a:p>
          <a:p>
            <a:pPr algn="ctr">
              <a:spcBef>
                <a:spcPts val="300"/>
              </a:spcBef>
              <a:buNone/>
            </a:pPr>
            <a:r>
              <a:rPr lang="en-US" sz="900" i="1" dirty="0">
                <a:solidFill>
                  <a:srgbClr val="BFBFBF"/>
                </a:solidFill>
                <a:latin typeface="Arial" pitchFamily="34" charset="0"/>
              </a:rPr>
              <a:t>Forest plot: 0 → 8,192 change in pp and normalised gain</a:t>
            </a:r>
          </a:p>
        </p:txBody>
      </p:sp>
      <p:sp>
        <p:nvSpPr>
          <p:cNvPr id="7" name="Footer 7"/>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4. Results  |  4.6 Why do benchmarks differ? Task types</a:t>
            </a:r>
          </a:p>
        </p:txBody>
      </p:sp>
      <p:graphicFrame>
        <p:nvGraphicFramePr>
          <p:cNvPr id="4" name="tasktype_table_4"/>
          <p:cNvGraphicFramePr>
            <a:graphicFrameLocks noGrp="1"/>
          </p:cNvGraphicFramePr>
          <p:nvPr/>
        </p:nvGraphicFramePr>
        <p:xfrm>
          <a:off x="320040" y="760000"/>
          <a:ext cx="8503920" cy="900000"/>
        </p:xfrm>
        <a:graphic>
          <a:graphicData uri="http://schemas.openxmlformats.org/drawingml/2006/table">
            <a:tbl>
              <a:tblPr/>
              <a:tblGrid>
                <a:gridCol w="1300000"/>
                <a:gridCol w="1000000"/>
                <a:gridCol w="1800000"/>
                <a:gridCol w="1750000"/>
                <a:gridCol w="1650000"/>
                <a:gridCol w="1003920"/>
              </a:tblGrid>
              <a:tr h="30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Task type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Benchmarks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Acc. @0 → @8,192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Δ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Normalised gain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Holm 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30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MCQ</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50.8% → 61.9%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+11.1 pp [+7.8, +14.5]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20.9% [14.3, 27.5]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0.002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30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Open-ended</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41.5% → 56.3%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+14.8 pp [+12.1, +17.5]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31.5% [26.8, 36.3]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0.002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bl>
          </a:graphicData>
        </a:graphic>
      </p:graphicFrame>
      <p:sp>
        <p:nvSpPr>
          <p:cNvPr id="5" name="Placeholder 5"/>
          <p:cNvSpPr/>
          <p:nvPr/>
        </p:nvSpPr>
        <p:spPr>
          <a:xfrm>
            <a:off x="320040" y="1910000"/>
            <a:ext cx="3700000" cy="2300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images/LiquidAILFM2_5-2_6B__06_task_types.png</a:t>
            </a:r>
          </a:p>
          <a:p>
            <a:pPr algn="ctr">
              <a:spcBef>
                <a:spcPts val="300"/>
              </a:spcBef>
              <a:buNone/>
            </a:pPr>
            <a:r>
              <a:rPr lang="en-US" sz="900" i="1" dirty="0">
                <a:solidFill>
                  <a:srgbClr val="BFBFBF"/>
                </a:solidFill>
                <a:latin typeface="Arial" pitchFamily="34" charset="0"/>
              </a:rPr>
              <a:t>Macro accuracy by task type; normalised gain by task type</a:t>
            </a:r>
          </a:p>
        </p:txBody>
      </p:sp>
      <p:sp>
        <p:nvSpPr>
          <p:cNvPr id="6" name="Text 6"/>
          <p:cNvSpPr txBox="1"/>
          <p:nvPr/>
        </p:nvSpPr>
        <p:spPr>
          <a:xfrm>
            <a:off x="4250000" y="1910000"/>
            <a:ext cx="4573960" cy="2400000"/>
          </a:xfrm>
          <a:prstGeom prst="rect">
            <a:avLst/>
          </a:prstGeom>
          <a:noFill/>
          <a:ln/>
        </p:spPr>
        <p:txBody>
          <a:bodyPr wrap="square" lIns="0" tIns="0" rIns="0" bIns="0" rtlCol="0" anchor="t"/>
          <a:lstStyle/>
          <a:p>
            <a:pPr marL="177800" indent="-177800" algn="l">
              <a:lnSpc>
                <a:spcPct val="100000"/>
              </a:lnSpc>
              <a:spcBef>
                <a:spcPts val="0"/>
              </a:spcBef>
              <a:spcAft>
                <a:spcPts val="500"/>
              </a:spcAft>
              <a:buClr>
                <a:srgbClr val="FF7900"/>
              </a:buClr>
              <a:buSzPct val="100000"/>
              <a:buChar char="●"/>
            </a:pPr>
            <a:r>
              <a:rPr lang="en-US" sz="1100" b="1" dirty="0">
                <a:solidFill>
                  <a:srgbClr val="FF7900"/>
                </a:solidFill>
                <a:latin typeface="Helvetica Neue"/>
              </a:rPr>
              <a:t>Observed.</a:t>
            </a:r>
            <a:r>
              <a:rPr lang="en-US" sz="1100" dirty="0">
                <a:solidFill>
                  <a:srgbClr val="FFFFFF"/>
                </a:solidFill>
                <a:latin typeface="Arial" pitchFamily="34" charset="0"/>
                <a:cs typeface="Arial" pitchFamily="34" charset="0"/>
              </a:rPr>
              <a:t> Both task types gain credibly (all Holm-adjusted p = 0.002). Open-ended tasks gain more, in pp and in share of headroom.</a:t>
            </a:r>
          </a:p>
          <a:p>
            <a:pPr marL="177800" indent="-177800" algn="l">
              <a:lnSpc>
                <a:spcPct val="100000"/>
              </a:lnSpc>
              <a:spcBef>
                <a:spcPts val="0"/>
              </a:spcBef>
              <a:spcAft>
                <a:spcPts val="500"/>
              </a:spcAft>
              <a:buClr>
                <a:srgbClr val="FF7900"/>
              </a:buClr>
              <a:buSzPct val="100000"/>
              <a:buChar char="●"/>
            </a:pPr>
            <a:r>
              <a:rPr lang="en-US" sz="1100" b="1" dirty="0">
                <a:solidFill>
                  <a:srgbClr val="FF7900"/>
                </a:solidFill>
                <a:latin typeface="Helvetica Neue"/>
              </a:rPr>
              <a:t>Weak evidence of a difference.</a:t>
            </a:r>
            <a:r>
              <a:rPr lang="en-US" sz="1100" dirty="0">
                <a:solidFill>
                  <a:srgbClr val="FFFFFF"/>
                </a:solidFill>
                <a:latin typeface="Arial" pitchFamily="34" charset="0"/>
                <a:cs typeface="Arial" pitchFamily="34" charset="0"/>
              </a:rPr>
              <a:t> The intervals overlap, and the compute × task-type interaction (p = 0.038, notebook output) is modest and unadjusted.</a:t>
            </a:r>
          </a:p>
          <a:p>
            <a:pPr marL="177800" indent="-177800" algn="l">
              <a:lnSpc>
                <a:spcPct val="100000"/>
              </a:lnSpc>
              <a:spcBef>
                <a:spcPts val="0"/>
              </a:spcBef>
              <a:spcAft>
                <a:spcPts val="0"/>
              </a:spcAft>
              <a:buClr>
                <a:srgbClr val="FF7900"/>
              </a:buClr>
              <a:buSzPct val="100000"/>
              <a:buChar char="●"/>
            </a:pPr>
            <a:r>
              <a:rPr lang="en-US" sz="1100" b="1" dirty="0">
                <a:solidFill>
                  <a:srgbClr val="FF7900"/>
                </a:solidFill>
                <a:latin typeface="Helvetica Neue"/>
              </a:rPr>
              <a:t>Hypothesis.</a:t>
            </a:r>
            <a:r>
              <a:rPr lang="en-US" sz="1100" dirty="0">
                <a:solidFill>
                  <a:srgbClr val="FFFFFF"/>
                </a:solidFill>
                <a:latin typeface="Arial" pitchFamily="34" charset="0"/>
                <a:cs typeface="Arial" pitchFamily="34" charset="0"/>
              </a:rPr>
              <a:t> MCQ’s chance floor compresses its gains, while open-ended tasks reward multi-step reasoning. Task type is only a partial explanation: BFCL and MMLU-Redux sit at the bottom of their groups.</a:t>
            </a:r>
          </a:p>
        </p:txBody>
      </p:sp>
      <p:sp>
        <p:nvSpPr>
          <p:cNvPr id="7" name="Footer 7"/>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4. Results  |  4.6 Why do benchmarks differ? Difficulty tiers</a:t>
            </a:r>
          </a:p>
        </p:txBody>
      </p:sp>
      <p:graphicFrame>
        <p:nvGraphicFramePr>
          <p:cNvPr id="4" name="tier_table_4"/>
          <p:cNvGraphicFramePr>
            <a:graphicFrameLocks noGrp="1"/>
          </p:cNvGraphicFramePr>
          <p:nvPr/>
        </p:nvGraphicFramePr>
        <p:xfrm>
          <a:off x="320040" y="760000"/>
          <a:ext cx="8503920" cy="1160000"/>
        </p:xfrm>
        <a:graphic>
          <a:graphicData uri="http://schemas.openxmlformats.org/drawingml/2006/table">
            <a:tbl>
              <a:tblPr/>
              <a:tblGrid>
                <a:gridCol w="1300000"/>
                <a:gridCol w="1000000"/>
                <a:gridCol w="1800000"/>
                <a:gridCol w="1750000"/>
                <a:gridCol w="1650000"/>
                <a:gridCol w="1003920"/>
              </a:tblGrid>
              <a:tr h="29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Tier</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Questions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Acc. @0 → @8,192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Δ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Normalised gain</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Holm 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29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Easy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300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65.3% → 81.7%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+16.3 pp [+13.2, +19.5]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43.2%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0.003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9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Medium</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300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52.9% → 59.9%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+6.9 pp [+4.1, +9.9]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19.8%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0.003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r>
              <a:tr h="29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Hard</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230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15.5% → 32.9%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+17.3 pp [+12.6, +22.3]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20.9%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0.003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bl>
          </a:graphicData>
        </a:graphic>
      </p:graphicFrame>
      <p:sp>
        <p:nvSpPr>
          <p:cNvPr id="5" name="Placeholder 5"/>
          <p:cNvSpPr/>
          <p:nvPr/>
        </p:nvSpPr>
        <p:spPr>
          <a:xfrm>
            <a:off x="320040" y="2140000"/>
            <a:ext cx="3700000" cy="2150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images/LiquidAILFM2_5-2_6B__07_difficulty.png</a:t>
            </a:r>
          </a:p>
          <a:p>
            <a:pPr algn="ctr">
              <a:spcBef>
                <a:spcPts val="300"/>
              </a:spcBef>
              <a:buNone/>
            </a:pPr>
            <a:r>
              <a:rPr lang="en-US" sz="900" i="1" dirty="0">
                <a:solidFill>
                  <a:srgbClr val="BFBFBF"/>
                </a:solidFill>
                <a:latin typeface="Arial" pitchFamily="34" charset="0"/>
              </a:rPr>
              <a:t>Accuracy by difficulty tier across levels (+ tokens per tier, if present)</a:t>
            </a:r>
          </a:p>
        </p:txBody>
      </p:sp>
      <p:sp>
        <p:nvSpPr>
          <p:cNvPr id="6" name="Text 6"/>
          <p:cNvSpPr txBox="1"/>
          <p:nvPr/>
        </p:nvSpPr>
        <p:spPr>
          <a:xfrm>
            <a:off x="4250000" y="2140000"/>
            <a:ext cx="4573960" cy="2400000"/>
          </a:xfrm>
          <a:prstGeom prst="rect">
            <a:avLst/>
          </a:prstGeom>
          <a:noFill/>
          <a:ln/>
        </p:spPr>
        <p:txBody>
          <a:bodyPr wrap="square" lIns="0" tIns="0" rIns="0" bIns="0" rtlCol="0" anchor="t"/>
          <a:lstStyle/>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Observed.</a:t>
            </a:r>
            <a:r>
              <a:rPr lang="en-US" sz="1100" dirty="0">
                <a:solidFill>
                  <a:srgbClr val="FFFFFF"/>
                </a:solidFill>
                <a:latin typeface="Arial" pitchFamily="34" charset="0"/>
                <a:cs typeface="Arial" pitchFamily="34" charset="0"/>
              </a:rPr>
              <a:t> All tiers gain credibly, but not monotonically in difficulty: medium questions gain least in pp and in headroom share (+6.9 pp, 19.8%), while easy and hard gain the most in pp. The easy tier has the least headroom, so its +16.3 pp closes 43.2% of what was left. Compute × tier interaction: p = 0.0004 (unadjusted).</a:t>
            </a:r>
          </a:p>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Caveat.</a:t>
            </a:r>
            <a:r>
              <a:rPr lang="en-US" sz="1100" dirty="0">
                <a:solidFill>
                  <a:srgbClr val="FFFFFF"/>
                </a:solidFill>
                <a:latin typeface="Arial" pitchFamily="34" charset="0"/>
                <a:cs typeface="Arial" pitchFamily="34" charset="0"/>
              </a:rPr>
              <a:t> Tiers are defined within each benchmark, so “hard” is not comparable across benchmarks. </a:t>
            </a:r>
            <a:r>
              <a:rPr lang="en-US" sz="1100" b="1" i="1" dirty="0">
                <a:solidFill>
                  <a:srgbClr val="FF6600"/>
                </a:solidFill>
                <a:latin typeface="Arial" pitchFamily="34" charset="0"/>
                <a:cs typeface="Arial" pitchFamily="34" charset="0"/>
              </a:rPr>
              <a:t>[PLACEHOLDER: how difficulty_tier was assigned; if derived from the model’s own pass rate, regression to the mean inflates the “hard” gain. Settle before quoting]</a:t>
            </a:r>
          </a:p>
          <a:p>
            <a:pPr marL="177800" indent="-177800" algn="l">
              <a:lnSpc>
                <a:spcPct val="100000"/>
              </a:lnSpc>
              <a:spcBef>
                <a:spcPts val="0"/>
              </a:spcBef>
              <a:spcAft>
                <a:spcPts val="0"/>
              </a:spcAft>
              <a:buClr>
                <a:srgbClr val="FF7900"/>
              </a:buClr>
              <a:buSzPct val="100000"/>
              <a:buChar char="●"/>
            </a:pPr>
            <a:r>
              <a:rPr lang="en-US" sz="1100" b="1" i="1" dirty="0">
                <a:solidFill>
                  <a:srgbClr val="FF6600"/>
                </a:solidFill>
                <a:latin typeface="Arial" pitchFamily="34" charset="0"/>
                <a:cs typeface="Arial" pitchFamily="34" charset="0"/>
              </a:rPr>
              <a:t>[PLACEHOLDER: tokens per tier from the right panel of the figure; not in the 07 CSV]</a:t>
            </a:r>
          </a:p>
        </p:txBody>
      </p:sp>
      <p:sp>
        <p:nvSpPr>
          <p:cNvPr id="7" name="Footer 7"/>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4. Results  |  4.7 Where does the gain stop? Diminishing returns</a:t>
            </a:r>
          </a:p>
        </p:txBody>
      </p:sp>
      <p:graphicFrame>
        <p:nvGraphicFramePr>
          <p:cNvPr id="4" name="dim_table_4"/>
          <p:cNvGraphicFramePr>
            <a:graphicFrameLocks noGrp="1"/>
          </p:cNvGraphicFramePr>
          <p:nvPr/>
        </p:nvGraphicFramePr>
        <p:xfrm>
          <a:off x="320040" y="760000"/>
          <a:ext cx="5100000" cy="1790000"/>
        </p:xfrm>
        <a:graphic>
          <a:graphicData uri="http://schemas.openxmlformats.org/drawingml/2006/table">
            <a:tbl>
              <a:tblPr/>
              <a:tblGrid>
                <a:gridCol w="1250000"/>
                <a:gridCol w="1850000"/>
                <a:gridCol w="800000"/>
                <a:gridCol w="1200000"/>
              </a:tblGrid>
              <a:tr h="29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Step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Gain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Holm p</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Share of total gain</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25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0 → 256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−0.9 pp [−2.6, +0.9]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0.330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−6.4%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5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256 → 512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+3.1 pp [+1.7, +4.6]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0.006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22.7%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5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512 → 1,024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+2.0 pp [+0.8, +3.3]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0.008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14.8%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5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1,024 → 2,048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+3.1 pp [+1.9, +4.4]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0.006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22.9%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5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2,048 → 4,096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+4.3 pp [+2.9, +5.7]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0.006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31.5%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r>
              <a:tr h="250000">
                <a:tc>
                  <a:txBody>
                    <a:bodyPr/>
                    <a:lstStyle/>
                    <a:p>
                      <a:pPr marL="0" indent="0" algn="l">
                        <a:buNone/>
                      </a:pPr>
                      <a:r>
                        <a:rPr lang="en-US" sz="1000" b="1" dirty="0">
                          <a:solidFill>
                            <a:srgbClr val="000000"/>
                          </a:solidFill>
                          <a:latin typeface="Arial" pitchFamily="34" charset="0"/>
                          <a:ea typeface="Arial" pitchFamily="34" charset="-122"/>
                          <a:cs typeface="Arial" pitchFamily="34" charset="-120"/>
                        </a:rPr>
                        <a:t>4,096 → 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+2.0 pp [+0.7, +3.3]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0.006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1000" dirty="0">
                          <a:solidFill>
                            <a:srgbClr val="000000"/>
                          </a:solidFill>
                          <a:latin typeface="Arial" pitchFamily="34" charset="0"/>
                          <a:ea typeface="Arial" pitchFamily="34" charset="-122"/>
                          <a:cs typeface="Arial" pitchFamily="34" charset="-120"/>
                        </a:rPr>
                        <a:t>14.6%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bl>
          </a:graphicData>
        </a:graphic>
      </p:graphicFrame>
      <p:sp>
        <p:nvSpPr>
          <p:cNvPr id="5" name="Placeholder 5"/>
          <p:cNvSpPr/>
          <p:nvPr/>
        </p:nvSpPr>
        <p:spPr>
          <a:xfrm>
            <a:off x="5750000" y="760000"/>
            <a:ext cx="3073960" cy="1800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images/LiquidAILFM2_5-2_6B__08_diminishing_returns.png</a:t>
            </a:r>
          </a:p>
          <a:p>
            <a:pPr algn="ctr">
              <a:spcBef>
                <a:spcPts val="300"/>
              </a:spcBef>
              <a:buNone/>
            </a:pPr>
            <a:r>
              <a:rPr lang="en-US" sz="900" i="1" dirty="0">
                <a:solidFill>
                  <a:srgbClr val="BFBFBF"/>
                </a:solidFill>
                <a:latin typeface="Arial" pitchFamily="34" charset="0"/>
              </a:rPr>
              <a:t>Gain per step (macro) and per-benchmark heat map</a:t>
            </a:r>
          </a:p>
        </p:txBody>
      </p:sp>
      <p:sp>
        <p:nvSpPr>
          <p:cNvPr id="6" name="Text 6"/>
          <p:cNvSpPr txBox="1"/>
          <p:nvPr/>
        </p:nvSpPr>
        <p:spPr>
          <a:xfrm>
            <a:off x="320040" y="2750000"/>
            <a:ext cx="8503920" cy="2000000"/>
          </a:xfrm>
          <a:prstGeom prst="rect">
            <a:avLst/>
          </a:prstGeom>
          <a:noFill/>
          <a:ln/>
        </p:spPr>
        <p:txBody>
          <a:bodyPr wrap="square" lIns="0" tIns="0" rIns="0" bIns="0" rtlCol="0" anchor="t"/>
          <a:lstStyle/>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Observed.</a:t>
            </a:r>
            <a:r>
              <a:rPr lang="en-US" sz="1100" dirty="0">
                <a:solidFill>
                  <a:srgbClr val="FFFFFF"/>
                </a:solidFill>
                <a:latin typeface="Arial" pitchFamily="34" charset="0"/>
                <a:cs typeface="Arial" pitchFamily="34" charset="0"/>
              </a:rPr>
              <a:t> Every step above 256 is a credible gain, and the largest single step is 2,048 → 4,096 (31.5% of the total gain). The last doubling adds about half as much (+2.0 pp), though the two intervals overlap, so “half as much” is a point estimate.</a:t>
            </a:r>
          </a:p>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Returns diminish only at the end, not smoothly.</a:t>
            </a:r>
            <a:r>
              <a:rPr lang="en-US" sz="1100" dirty="0">
                <a:solidFill>
                  <a:srgbClr val="FFFFFF"/>
                </a:solidFill>
                <a:latin typeface="Arial" pitchFamily="34" charset="0"/>
                <a:cs typeface="Arial" pitchFamily="34" charset="0"/>
              </a:rPr>
              <a:t> Seven of nine benchmarks show a decrease in at least one step (point estimates, which may be noise).</a:t>
            </a:r>
          </a:p>
          <a:p>
            <a:pPr marL="177800" indent="-177800" algn="l">
              <a:lnSpc>
                <a:spcPct val="100000"/>
              </a:lnSpc>
              <a:spcBef>
                <a:spcPts val="0"/>
              </a:spcBef>
              <a:spcAft>
                <a:spcPts val="0"/>
              </a:spcAft>
              <a:buClr>
                <a:srgbClr val="FF7900"/>
              </a:buClr>
              <a:buSzPct val="100000"/>
              <a:buChar char="●"/>
            </a:pPr>
            <a:r>
              <a:rPr lang="en-US" sz="1100" b="1" dirty="0">
                <a:solidFill>
                  <a:srgbClr val="FF7900"/>
                </a:solidFill>
                <a:latin typeface="Helvetica Neue"/>
              </a:rPr>
              <a:t>Steps are not equal in real compute.</a:t>
            </a:r>
            <a:r>
              <a:rPr lang="en-US" sz="1100" dirty="0">
                <a:solidFill>
                  <a:srgbClr val="FFFFFF"/>
                </a:solidFill>
                <a:latin typeface="Arial" pitchFamily="34" charset="0"/>
                <a:cs typeface="Arial" pitchFamily="34" charset="0"/>
              </a:rPr>
              <a:t> Realised effort grows by less than 2× per level (1.00, 1.85, 3.27, 5.42, 8.49, 12.77) because easy benchmarks stop thinking early (4.1), so “diminishing returns per level” is partly a spacing effect.</a:t>
            </a:r>
          </a:p>
        </p:txBody>
      </p:sp>
      <p:sp>
        <p:nvSpPr>
          <p:cNvPr id="7" name="Footer 7"/>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4. Results  |  4.8 Think longer, or sample more?</a:t>
            </a:r>
          </a:p>
        </p:txBody>
      </p:sp>
      <p:graphicFrame>
        <p:nvGraphicFramePr>
          <p:cNvPr id="4" name="passk_table_4"/>
          <p:cNvGraphicFramePr>
            <a:graphicFrameLocks noGrp="1"/>
          </p:cNvGraphicFramePr>
          <p:nvPr/>
        </p:nvGraphicFramePr>
        <p:xfrm>
          <a:off x="320040" y="760000"/>
          <a:ext cx="5500000" cy="1905000"/>
        </p:xfrm>
        <a:graphic>
          <a:graphicData uri="http://schemas.openxmlformats.org/drawingml/2006/table">
            <a:tbl>
              <a:tblPr/>
              <a:tblGrid>
                <a:gridCol w="560000"/>
                <a:gridCol w="850000"/>
                <a:gridCol w="680000"/>
                <a:gridCol w="850000"/>
                <a:gridCol w="640000"/>
                <a:gridCol w="640000"/>
                <a:gridCol w="640000"/>
                <a:gridCol w="640000"/>
              </a:tblGrid>
              <a:tr h="33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Level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ctr">
                        <a:buNone/>
                      </a:pPr>
                      <a:r>
                        <a:rPr lang="en-US" sz="900" b="1" dirty="0">
                          <a:solidFill>
                            <a:srgbClr val="000000"/>
                          </a:solidFill>
                          <a:latin typeface="Arial" pitchFamily="34" charset="0"/>
                          <a:ea typeface="Arial" pitchFamily="34" charset="-122"/>
                          <a:cs typeface="Arial" pitchFamily="34" charset="-120"/>
                        </a:rPr>
                        <a:t>Always correct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ctr">
                        <a:buNone/>
                      </a:pPr>
                      <a:r>
                        <a:rPr lang="en-US" sz="900" b="1" dirty="0">
                          <a:solidFill>
                            <a:srgbClr val="000000"/>
                          </a:solidFill>
                          <a:latin typeface="Arial" pitchFamily="34" charset="0"/>
                          <a:ea typeface="Arial" pitchFamily="34" charset="-122"/>
                          <a:cs typeface="Arial" pitchFamily="34" charset="-120"/>
                        </a:rPr>
                        <a:t>Mixed</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ctr">
                        <a:buNone/>
                      </a:pPr>
                      <a:r>
                        <a:rPr lang="en-US" sz="900" b="1" dirty="0">
                          <a:solidFill>
                            <a:srgbClr val="000000"/>
                          </a:solidFill>
                          <a:latin typeface="Arial" pitchFamily="34" charset="0"/>
                          <a:ea typeface="Arial" pitchFamily="34" charset="-122"/>
                          <a:cs typeface="Arial" pitchFamily="34" charset="-120"/>
                        </a:rPr>
                        <a:t>Always wrong</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ctr">
                        <a:buNone/>
                      </a:pPr>
                      <a:r>
                        <a:rPr lang="en-US" sz="900" b="1" dirty="0">
                          <a:solidFill>
                            <a:srgbClr val="000000"/>
                          </a:solidFill>
                          <a:latin typeface="Arial" pitchFamily="34" charset="0"/>
                          <a:ea typeface="Arial" pitchFamily="34" charset="-122"/>
                          <a:cs typeface="Arial" pitchFamily="34" charset="-120"/>
                        </a:rPr>
                        <a:t>pass@1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ctr">
                        <a:buNone/>
                      </a:pPr>
                      <a:r>
                        <a:rPr lang="en-US" sz="900" b="1" dirty="0">
                          <a:solidFill>
                            <a:srgbClr val="000000"/>
                          </a:solidFill>
                          <a:latin typeface="Arial" pitchFamily="34" charset="0"/>
                          <a:ea typeface="Arial" pitchFamily="34" charset="-122"/>
                          <a:cs typeface="Arial" pitchFamily="34" charset="-120"/>
                        </a:rPr>
                        <a:t>pass@2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ctr">
                        <a:buNone/>
                      </a:pPr>
                      <a:r>
                        <a:rPr lang="en-US" sz="900" b="1" dirty="0">
                          <a:solidFill>
                            <a:srgbClr val="000000"/>
                          </a:solidFill>
                          <a:latin typeface="Arial" pitchFamily="34" charset="0"/>
                          <a:ea typeface="Arial" pitchFamily="34" charset="-122"/>
                          <a:cs typeface="Arial" pitchFamily="34" charset="-120"/>
                        </a:rPr>
                        <a:t>pass@4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ctr">
                        <a:buNone/>
                      </a:pPr>
                      <a:r>
                        <a:rPr lang="en-US" sz="900" b="1" dirty="0">
                          <a:solidFill>
                            <a:srgbClr val="000000"/>
                          </a:solidFill>
                          <a:latin typeface="Arial" pitchFamily="34" charset="0"/>
                          <a:ea typeface="Arial" pitchFamily="34" charset="-122"/>
                          <a:cs typeface="Arial" pitchFamily="34" charset="-120"/>
                        </a:rPr>
                        <a:t>pass@5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22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27.2%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34.3%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38.4%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44.6%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52.9%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59.6%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61.6%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r>
              <a:tr h="22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256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25.7%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37.1%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37.2%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43.7%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52.9%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60.6%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62.8%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2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512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30.8%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33.7%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35.4%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46.8%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55.0%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62.4%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64.6%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2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1,024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32.3%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32.3%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35.4%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48.8%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56.6%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62.9%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64.6%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2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2,048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38.6%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27.0%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34.4%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51.9%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58.7%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64.3%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65.6%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2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4,096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41.1%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29.3%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29.6%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56.2%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63.3%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69.0%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70.4%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25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44.1%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27.6%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28.3%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58.1%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64.8%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70.1%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ctr">
                        <a:buNone/>
                      </a:pPr>
                      <a:r>
                        <a:rPr lang="en-US" sz="900" dirty="0">
                          <a:solidFill>
                            <a:srgbClr val="000000"/>
                          </a:solidFill>
                          <a:latin typeface="Arial" pitchFamily="34" charset="0"/>
                          <a:ea typeface="Arial" pitchFamily="34" charset="-122"/>
                          <a:cs typeface="Arial" pitchFamily="34" charset="-120"/>
                        </a:rPr>
                        <a:t>71.7%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bl>
          </a:graphicData>
        </a:graphic>
      </p:graphicFrame>
      <p:sp>
        <p:nvSpPr>
          <p:cNvPr id="5" name="Placeholder 5"/>
          <p:cNvSpPr/>
          <p:nvPr/>
        </p:nvSpPr>
        <p:spPr>
          <a:xfrm>
            <a:off x="6050000" y="760000"/>
            <a:ext cx="2773960" cy="1900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images/LiquidAILFM2_5-2_6B__10_repeated_samples.png</a:t>
            </a:r>
          </a:p>
          <a:p>
            <a:pPr algn="ctr">
              <a:spcBef>
                <a:spcPts val="300"/>
              </a:spcBef>
              <a:buNone/>
            </a:pPr>
            <a:r>
              <a:rPr lang="en-US" sz="900" i="1" dirty="0">
                <a:solidFill>
                  <a:srgbClr val="BFBFBF"/>
                </a:solidFill>
                <a:latin typeface="Arial" pitchFamily="34" charset="0"/>
              </a:rPr>
              <a:t>Consistency; pass@k by level; pass@k vs. total tokens</a:t>
            </a:r>
          </a:p>
        </p:txBody>
      </p:sp>
      <p:sp>
        <p:nvSpPr>
          <p:cNvPr id="6" name="Text 6"/>
          <p:cNvSpPr txBox="1"/>
          <p:nvPr/>
        </p:nvSpPr>
        <p:spPr>
          <a:xfrm>
            <a:off x="320040" y="2900000"/>
            <a:ext cx="8503920" cy="1950000"/>
          </a:xfrm>
          <a:prstGeom prst="rect">
            <a:avLst/>
          </a:prstGeom>
          <a:noFill/>
          <a:ln/>
        </p:spPr>
        <p:txBody>
          <a:bodyPr wrap="square" lIns="0" tIns="0" rIns="0" bIns="0" rtlCol="0" anchor="t"/>
          <a:lstStyle/>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Thinking does two things.</a:t>
            </a:r>
            <a:r>
              <a:rPr lang="en-US" sz="1100" dirty="0">
                <a:solidFill>
                  <a:srgbClr val="FFFFFF"/>
                </a:solidFill>
                <a:latin typeface="Arial" pitchFamily="34" charset="0"/>
                <a:cs typeface="Arial" pitchFamily="34" charset="0"/>
              </a:rPr>
              <a:t> It makes solvable questions reliable (always correct 27.2% → 44.1%) and unlocks questions never solved without it (always wrong 38.4% → 28.3%, equal to the +10.1 pp rise in pass@5).</a:t>
            </a:r>
          </a:p>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The equal-token surprise.</a:t>
            </a:r>
            <a:r>
              <a:rPr lang="en-US" sz="1100" dirty="0">
                <a:solidFill>
                  <a:srgbClr val="FFFFFF"/>
                </a:solidFill>
                <a:latin typeface="Arial" pitchFamily="34" charset="0"/>
                <a:cs typeface="Arial" pitchFamily="34" charset="0"/>
              </a:rPr>
              <a:t> Five samples at level 0 (pass@5 = 61.6%, about 3,700 tokens in total) beat one sample at level 8,192 (pass@1 = 58.1%, about 3,500 tokens).</a:t>
            </a:r>
          </a:p>
          <a:p>
            <a:pPr marL="177800" indent="-177800" algn="l">
              <a:lnSpc>
                <a:spcPct val="100000"/>
              </a:lnSpc>
              <a:spcBef>
                <a:spcPts val="0"/>
              </a:spcBef>
              <a:spcAft>
                <a:spcPts val="0"/>
              </a:spcAft>
              <a:buClr>
                <a:srgbClr val="FF7900"/>
              </a:buClr>
              <a:buSzPct val="100000"/>
              <a:buChar char="●"/>
            </a:pPr>
            <a:r>
              <a:rPr lang="en-US" sz="1100" b="1" dirty="0">
                <a:solidFill>
                  <a:srgbClr val="FF7900"/>
                </a:solidFill>
                <a:latin typeface="Helvetica Neue"/>
              </a:rPr>
              <a:t>Only with an oracle verifier.</a:t>
            </a:r>
            <a:r>
              <a:rPr lang="en-US" sz="1100" dirty="0">
                <a:solidFill>
                  <a:srgbClr val="FFFFFF"/>
                </a:solidFill>
                <a:latin typeface="Arial" pitchFamily="34" charset="0"/>
                <a:cs typeface="Arial" pitchFamily="34" charset="0"/>
              </a:rPr>
              <a:t> pass@k assumes a perfect verifier, so it is an upper bound; with a realistic selector (majority vote, reward model) the advantage would shrink. This needs testing. </a:t>
            </a:r>
            <a:r>
              <a:rPr lang="en-US" sz="1100" b="1" i="1" dirty="0">
                <a:solidFill>
                  <a:srgbClr val="FF6600"/>
                </a:solidFill>
                <a:latin typeface="Arial" pitchFamily="34" charset="0"/>
                <a:cs typeface="Arial" pitchFamily="34" charset="0"/>
              </a:rPr>
              <a:t>[PLACEHOLDER: bootstrap CIs for pass@k; not in the CSV]</a:t>
            </a:r>
          </a:p>
        </p:txBody>
      </p:sp>
      <p:sp>
        <p:nvSpPr>
          <p:cNvPr id="7" name="Footer 7"/>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4. Results  |  4.9 What does one correct answer cost?</a:t>
            </a:r>
          </a:p>
        </p:txBody>
      </p:sp>
      <p:graphicFrame>
        <p:nvGraphicFramePr>
          <p:cNvPr id="4" name="eff_table_4"/>
          <p:cNvGraphicFramePr>
            <a:graphicFrameLocks noGrp="1"/>
          </p:cNvGraphicFramePr>
          <p:nvPr/>
        </p:nvGraphicFramePr>
        <p:xfrm>
          <a:off x="320040" y="760000"/>
          <a:ext cx="5300000" cy="1975000"/>
        </p:xfrm>
        <a:graphic>
          <a:graphicData uri="http://schemas.openxmlformats.org/drawingml/2006/table">
            <a:tbl>
              <a:tblPr/>
              <a:tblGrid>
                <a:gridCol w="600000"/>
                <a:gridCol w="1250000"/>
                <a:gridCol w="800000"/>
                <a:gridCol w="1350000"/>
                <a:gridCol w="1300000"/>
              </a:tblGrid>
              <a:tr h="330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Level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Mean tokens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Thinking share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Tokens per correct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Seconds per correct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235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734 [705, 761]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1,646 [1,530, 1,762]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93.7 [86.7, 100.7]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r>
              <a:tr h="235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256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852 [826, 877]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29.3%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1,947 [1,825, 2,075]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101.4 [95.1, 108.2]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512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928 [905, 949]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50.1%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1,982 [1,867, 2,107]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103.0 [96.8, 109.8]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1,024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1,160 [1,139, 1,180]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70.9%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2,377 [2,244, 2,517]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123.5 [116.4, 131.2]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2,048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1,648 [1,614, 1,682]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82.9%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3,176 [2,996, 3,363]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165.7 [155.8, 176.2]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4,096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2,416 [2,353, 2,473]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88.9%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4,302 [4,033, 4,571]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224.3 [210.2, 238.6]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35000">
                <a:tc>
                  <a:txBody>
                    <a:bodyPr/>
                    <a:lstStyle/>
                    <a:p>
                      <a:pPr marL="0" indent="0" algn="l">
                        <a:buNone/>
                      </a:pPr>
                      <a:r>
                        <a:rPr lang="en-US" sz="850" b="1" dirty="0">
                          <a:solidFill>
                            <a:srgbClr val="000000"/>
                          </a:solidFill>
                          <a:latin typeface="Arial" pitchFamily="34" charset="0"/>
                          <a:ea typeface="Arial" pitchFamily="34" charset="-122"/>
                          <a:cs typeface="Arial" pitchFamily="34" charset="-120"/>
                        </a:rPr>
                        <a:t>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3,495 [3,362, 3,618]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92.5%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6,013 [5,583, 6,478]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850" dirty="0">
                          <a:solidFill>
                            <a:srgbClr val="000000"/>
                          </a:solidFill>
                          <a:latin typeface="Arial" pitchFamily="34" charset="0"/>
                          <a:ea typeface="Arial" pitchFamily="34" charset="-122"/>
                          <a:cs typeface="Arial" pitchFamily="34" charset="-120"/>
                        </a:rPr>
                        <a:t>316.4 [293.5, 340.7]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r>
            </a:tbl>
          </a:graphicData>
        </a:graphic>
      </p:graphicFrame>
      <p:sp>
        <p:nvSpPr>
          <p:cNvPr id="5" name="Placeholder 5"/>
          <p:cNvSpPr/>
          <p:nvPr/>
        </p:nvSpPr>
        <p:spPr>
          <a:xfrm>
            <a:off x="5750000" y="760000"/>
            <a:ext cx="3073960" cy="2000000"/>
          </a:xfrm>
          <a:prstGeom prst="rect">
            <a:avLst/>
          </a:prstGeom>
          <a:solidFill>
            <a:srgbClr val="1A1A1A"/>
          </a:solidFill>
          <a:ln w="19050">
            <a:solidFill>
              <a:srgbClr val="FF7900"/>
            </a:solidFill>
            <a:prstDash val="dash"/>
          </a:ln>
        </p:spPr>
        <p:txBody>
          <a:bodyPr wrap="square" lIns="91440" tIns="45720" rIns="91440" bIns="45720" rtlCol="0" anchor="ctr"/>
          <a:lstStyle/>
          <a:p>
            <a:pPr algn="ctr">
              <a:buNone/>
            </a:pPr>
            <a:r>
              <a:rPr lang="en-US" sz="1100" b="1" dirty="0">
                <a:solidFill>
                  <a:srgbClr val="FF6600"/>
                </a:solidFill>
                <a:latin typeface="Arial" pitchFamily="34" charset="0"/>
              </a:rPr>
              <a:t>[PLACEHOLDER: FIGURE]</a:t>
            </a:r>
          </a:p>
          <a:p>
            <a:pPr algn="ctr">
              <a:spcBef>
                <a:spcPts val="300"/>
              </a:spcBef>
              <a:buNone/>
            </a:pPr>
            <a:r>
              <a:rPr lang="en-US" sz="900" dirty="0">
                <a:solidFill>
                  <a:srgbClr val="FFFFFF"/>
                </a:solidFill>
                <a:latin typeface="Consolas"/>
              </a:rPr>
              <a:t>images/LiquidAILFM2_5-2_6B__11_efficiency.png</a:t>
            </a:r>
          </a:p>
          <a:p>
            <a:pPr algn="ctr">
              <a:spcBef>
                <a:spcPts val="300"/>
              </a:spcBef>
              <a:buNone/>
            </a:pPr>
            <a:r>
              <a:rPr lang="en-US" sz="900" i="1" dirty="0">
                <a:solidFill>
                  <a:srgbClr val="BFBFBF"/>
                </a:solidFill>
                <a:latin typeface="Arial" pitchFamily="34" charset="0"/>
              </a:rPr>
              <a:t>Tokens per correct; gain per 1,000 tokens; accuracy vs. latency</a:t>
            </a:r>
          </a:p>
        </p:txBody>
      </p:sp>
      <p:sp>
        <p:nvSpPr>
          <p:cNvPr id="6" name="Text 6"/>
          <p:cNvSpPr txBox="1"/>
          <p:nvPr/>
        </p:nvSpPr>
        <p:spPr>
          <a:xfrm>
            <a:off x="320040" y="2950000"/>
            <a:ext cx="8503920" cy="1900000"/>
          </a:xfrm>
          <a:prstGeom prst="rect">
            <a:avLst/>
          </a:prstGeom>
          <a:noFill/>
          <a:ln/>
        </p:spPr>
        <p:txBody>
          <a:bodyPr wrap="square" lIns="0" tIns="0" rIns="0" bIns="0" rtlCol="0" anchor="t"/>
          <a:lstStyle/>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Observed.</a:t>
            </a:r>
            <a:r>
              <a:rPr lang="en-US" sz="1100" dirty="0">
                <a:solidFill>
                  <a:srgbClr val="FFFFFF"/>
                </a:solidFill>
                <a:latin typeface="Arial" pitchFamily="34" charset="0"/>
                <a:cs typeface="Arial" pitchFamily="34" charset="0"/>
              </a:rPr>
              <a:t> Efficiency per correct answer is best with no thinking and deteriorates at every step: one correct answer climbs from 1,646 to 6,013 tokens and from 94 s to 316 s. The last step (4,096 → 8,192) costs about 1,080 extra tokens for +2.0 pp.</a:t>
            </a:r>
          </a:p>
          <a:p>
            <a:pPr marL="177800" indent="-177800" algn="l">
              <a:lnSpc>
                <a:spcPct val="100000"/>
              </a:lnSpc>
              <a:spcBef>
                <a:spcPts val="0"/>
              </a:spcBef>
              <a:spcAft>
                <a:spcPts val="400"/>
              </a:spcAft>
              <a:buClr>
                <a:srgbClr val="FF7900"/>
              </a:buClr>
              <a:buSzPct val="100000"/>
              <a:buChar char="●"/>
            </a:pPr>
            <a:r>
              <a:rPr lang="en-US" sz="1100" b="1" dirty="0">
                <a:solidFill>
                  <a:srgbClr val="FF7900"/>
                </a:solidFill>
                <a:latin typeface="Helvetica Neue"/>
              </a:rPr>
              <a:t>Takeaway.</a:t>
            </a:r>
            <a:r>
              <a:rPr lang="en-US" sz="1100" dirty="0">
                <a:solidFill>
                  <a:srgbClr val="FFFFFF"/>
                </a:solidFill>
                <a:latin typeface="Arial" pitchFamily="34" charset="0"/>
                <a:cs typeface="Arial" pitchFamily="34" charset="0"/>
              </a:rPr>
              <a:t> Accuracy and efficiency pull in opposite directions, so choosing a level is a cost decision that statistics cannot make.</a:t>
            </a:r>
          </a:p>
          <a:p>
            <a:pPr marL="177800" indent="-177800" algn="l">
              <a:lnSpc>
                <a:spcPct val="100000"/>
              </a:lnSpc>
              <a:spcBef>
                <a:spcPts val="0"/>
              </a:spcBef>
              <a:spcAft>
                <a:spcPts val="0"/>
              </a:spcAft>
              <a:buClr>
                <a:srgbClr val="FF7900"/>
              </a:buClr>
              <a:buSzPct val="100000"/>
              <a:buChar char="●"/>
            </a:pPr>
            <a:r>
              <a:rPr lang="en-US" sz="1100" b="1" i="1" dirty="0">
                <a:solidFill>
                  <a:srgbClr val="FF6600"/>
                </a:solidFill>
                <a:latin typeface="Arial" pitchFamily="34" charset="0"/>
                <a:cs typeface="Arial" pitchFamily="34" charset="0"/>
              </a:rPr>
              <a:t>[PLACEHOLDER: per-step “pp per 1,000 tokens” table (11_marginal_return); not among the saved CSVs]</a:t>
            </a:r>
          </a:p>
        </p:txBody>
      </p:sp>
      <p:sp>
        <p:nvSpPr>
          <p:cNvPr id="7" name="Footer 7"/>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5. Recommendation: Operating Points</a:t>
            </a:r>
          </a:p>
        </p:txBody>
      </p:sp>
      <p:sp>
        <p:nvSpPr>
          <p:cNvPr id="4" name="Text 4"/>
          <p:cNvSpPr txBox="1"/>
          <p:nvPr/>
        </p:nvSpPr>
        <p:spPr>
          <a:xfrm>
            <a:off x="320040" y="603504"/>
            <a:ext cx="8503920" cy="420000"/>
          </a:xfrm>
          <a:prstGeom prst="rect">
            <a:avLst/>
          </a:prstGeom>
          <a:noFill/>
          <a:ln/>
        </p:spPr>
        <p:txBody>
          <a:bodyPr wrap="square" lIns="0" tIns="0" rIns="0" bIns="0" rtlCol="0" anchor="t"/>
          <a:lstStyle/>
          <a:p>
            <a:pPr marL="177800" indent="-177800" algn="l">
              <a:lnSpc>
                <a:spcPct val="100000"/>
              </a:lnSpc>
              <a:spcBef>
                <a:spcPts val="0"/>
              </a:spcBef>
              <a:spcAft>
                <a:spcPts val="0"/>
              </a:spcAft>
              <a:buClr>
                <a:srgbClr val="FF7900"/>
              </a:buClr>
              <a:buSzPct val="100000"/>
              <a:buChar char="●"/>
            </a:pPr>
            <a:r>
              <a:rPr lang="en-US" sz="1100" b="1" dirty="0">
                <a:solidFill>
                  <a:srgbClr val="FF7900"/>
                </a:solidFill>
                <a:latin typeface="Helvetica Neue"/>
              </a:rPr>
              <a:t>The rule.</a:t>
            </a:r>
            <a:r>
              <a:rPr lang="en-US" sz="1100" dirty="0">
                <a:solidFill>
                  <a:srgbClr val="FFFFFF"/>
                </a:solidFill>
                <a:latin typeface="Arial" pitchFamily="34" charset="0"/>
                <a:cs typeface="Arial" pitchFamily="34" charset="0"/>
              </a:rPr>
              <a:t> Suggest the lowest level that is not credibly worse than the best level, i.e. whose paired CI of the accuracy difference to the best level includes zero.</a:t>
            </a:r>
          </a:p>
        </p:txBody>
      </p:sp>
      <p:graphicFrame>
        <p:nvGraphicFramePr>
          <p:cNvPr id="5" name="oper_table_5"/>
          <p:cNvGraphicFramePr>
            <a:graphicFrameLocks noGrp="1"/>
          </p:cNvGraphicFramePr>
          <p:nvPr/>
        </p:nvGraphicFramePr>
        <p:xfrm>
          <a:off x="320040" y="1080000"/>
          <a:ext cx="8503920" cy="1670000"/>
        </p:xfrm>
        <a:graphic>
          <a:graphicData uri="http://schemas.openxmlformats.org/drawingml/2006/table">
            <a:tbl>
              <a:tblPr/>
              <a:tblGrid>
                <a:gridCol w="650000"/>
                <a:gridCol w="850000"/>
                <a:gridCol w="1850000"/>
                <a:gridCol w="1100000"/>
                <a:gridCol w="1350000"/>
                <a:gridCol w="1300000"/>
                <a:gridCol w="1403920"/>
              </a:tblGrid>
              <a:tr h="27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Level</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Accuracy</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vs. best, pp [95% CI]</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Credibly worse?</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Tokens per correct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Latency × level 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Seconds per correct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F7900"/>
                    </a:solidFill>
                  </a:tcPr>
                </a:tc>
              </a:tr>
              <a:tr h="20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44.6%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−13.5 [−15.7, −11.5]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yes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1,646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1.00×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93.7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0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256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43.7%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−14.4 [−16.6, −12.3]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yes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1,947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1.06×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101.4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0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512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46.8%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−11.3 [−13.4, −9.3]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yes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1,982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1.15×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103.0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0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1,024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48.8%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−9.3 [−11.3, −7.4]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yes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2,377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1.44×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123.5</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0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2,048</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51.9%</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−6.2 [−7.9, −4.6]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yes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3,176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2.06×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165.7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CD5C4"/>
                    </a:solidFill>
                  </a:tcPr>
                </a:tc>
              </a:tr>
              <a:tr h="20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4,096</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56.2%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−2.0 [−3.3, −0.7]</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yes</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4,302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3.01×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224.3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r>
              <a:tr h="200000">
                <a:tc>
                  <a:txBody>
                    <a:bodyPr/>
                    <a:lstStyle/>
                    <a:p>
                      <a:pPr marL="0" indent="0" algn="l">
                        <a:buNone/>
                      </a:pPr>
                      <a:r>
                        <a:rPr lang="en-US" sz="900" b="1" dirty="0">
                          <a:solidFill>
                            <a:srgbClr val="000000"/>
                          </a:solidFill>
                          <a:latin typeface="Arial" pitchFamily="34" charset="0"/>
                          <a:ea typeface="Arial" pitchFamily="34" charset="-122"/>
                          <a:cs typeface="Arial" pitchFamily="34" charset="-120"/>
                        </a:rPr>
                        <a:t>8,192</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58.1%</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best</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no</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6,013</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4.40×</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c>
                  <a:txBody>
                    <a:bodyPr/>
                    <a:lstStyle/>
                    <a:p>
                      <a:pPr marL="0" indent="0" algn="l">
                        <a:buNone/>
                      </a:pPr>
                      <a:r>
                        <a:rPr lang="en-US" sz="900" dirty="0">
                          <a:solidFill>
                            <a:srgbClr val="000000"/>
                          </a:solidFill>
                          <a:latin typeface="Arial" pitchFamily="34" charset="0"/>
                          <a:ea typeface="Arial" pitchFamily="34" charset="-122"/>
                          <a:cs typeface="Arial" pitchFamily="34" charset="-120"/>
                        </a:rPr>
                        <a:t>316.4</a:t>
                      </a:r>
                    </a:p>
                  </a:txBody>
                  <a:tcPr marT="27432" marB="27432" marL="64008" marR="64008" anchor="ctr">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7B897"/>
                    </a:solidFill>
                  </a:tcPr>
                </a:tc>
              </a:tr>
            </a:tbl>
          </a:graphicData>
        </a:graphic>
      </p:graphicFrame>
      <p:sp>
        <p:nvSpPr>
          <p:cNvPr id="6" name="Text 6"/>
          <p:cNvSpPr txBox="1"/>
          <p:nvPr/>
        </p:nvSpPr>
        <p:spPr>
          <a:xfrm>
            <a:off x="320040" y="2880000"/>
            <a:ext cx="8503920" cy="2000000"/>
          </a:xfrm>
          <a:prstGeom prst="rect">
            <a:avLst/>
          </a:prstGeom>
          <a:noFill/>
          <a:ln/>
        </p:spPr>
        <p:txBody>
          <a:bodyPr wrap="square" lIns="0" tIns="0" rIns="0" bIns="0" rtlCol="0" anchor="t"/>
          <a:lstStyle/>
          <a:p>
            <a:pPr marL="177800" indent="-177800" algn="l">
              <a:lnSpc>
                <a:spcPct val="100000"/>
              </a:lnSpc>
              <a:spcBef>
                <a:spcPts val="0"/>
              </a:spcBef>
              <a:spcAft>
                <a:spcPts val="300"/>
              </a:spcAft>
              <a:buClr>
                <a:srgbClr val="FF7900"/>
              </a:buClr>
              <a:buSzPct val="100000"/>
              <a:buChar char="●"/>
            </a:pPr>
            <a:r>
              <a:rPr lang="en-US" sz="1050" b="1" dirty="0">
                <a:solidFill>
                  <a:srgbClr val="FF7900"/>
                </a:solidFill>
                <a:latin typeface="Helvetica Neue"/>
              </a:rPr>
              <a:t>Accuracy first: run at 8,192.</a:t>
            </a:r>
            <a:r>
              <a:rPr lang="en-US" sz="1050" dirty="0">
                <a:solidFill>
                  <a:srgbClr val="FFFFFF"/>
                </a:solidFill>
                <a:latin typeface="Arial" pitchFamily="34" charset="0"/>
                <a:cs typeface="Arial" pitchFamily="34" charset="0"/>
              </a:rPr>
              <a:t> It is the only level not credibly worse than the best, and accuracy was still rising there on AIME, GPQA, LiveCodeBench and MMLU-Pro.</a:t>
            </a:r>
          </a:p>
          <a:p>
            <a:pPr marL="177800" indent="-177800" algn="l">
              <a:lnSpc>
                <a:spcPct val="100000"/>
              </a:lnSpc>
              <a:spcBef>
                <a:spcPts val="0"/>
              </a:spcBef>
              <a:spcAft>
                <a:spcPts val="300"/>
              </a:spcAft>
              <a:buClr>
                <a:srgbClr val="FF7900"/>
              </a:buClr>
              <a:buSzPct val="100000"/>
              <a:buChar char="●"/>
            </a:pPr>
            <a:r>
              <a:rPr lang="en-US" sz="1050" b="1" dirty="0">
                <a:solidFill>
                  <a:srgbClr val="FF7900"/>
                </a:solidFill>
                <a:latin typeface="Helvetica Neue"/>
              </a:rPr>
              <a:t>Cost-aware: 4,096.</a:t>
            </a:r>
            <a:r>
              <a:rPr lang="en-US" sz="1050" dirty="0">
                <a:solidFill>
                  <a:srgbClr val="FFFFFF"/>
                </a:solidFill>
                <a:latin typeface="Arial" pitchFamily="34" charset="0"/>
                <a:cs typeface="Arial" pitchFamily="34" charset="0"/>
              </a:rPr>
              <a:t> It gives up 2.0 pp [0.7, 3.3] but needs 3.01× the baseline latency instead of 4.40×, 4,302 tokens per correct answer instead of 6,013, and 224 s instead of 316 s. What a point of accuracy is worth against a second of latency is a business decision.</a:t>
            </a:r>
          </a:p>
          <a:p>
            <a:pPr marL="177800" indent="-177800" algn="l">
              <a:lnSpc>
                <a:spcPct val="100000"/>
              </a:lnSpc>
              <a:spcBef>
                <a:spcPts val="0"/>
              </a:spcBef>
              <a:spcAft>
                <a:spcPts val="300"/>
              </a:spcAft>
              <a:buClr>
                <a:srgbClr val="FF7900"/>
              </a:buClr>
              <a:buSzPct val="100000"/>
              <a:buChar char="●"/>
            </a:pPr>
            <a:r>
              <a:rPr lang="en-US" sz="1050" b="1" dirty="0">
                <a:solidFill>
                  <a:srgbClr val="FF7900"/>
                </a:solidFill>
                <a:latin typeface="Helvetica Neue"/>
              </a:rPr>
              <a:t>Do not use 256.</a:t>
            </a:r>
            <a:r>
              <a:rPr lang="en-US" sz="1050" dirty="0">
                <a:solidFill>
                  <a:srgbClr val="FFFFFF"/>
                </a:solidFill>
                <a:latin typeface="Arial" pitchFamily="34" charset="0"/>
                <a:cs typeface="Arial" pitchFamily="34" charset="0"/>
              </a:rPr>
              <a:t> On average it is no better than no thinking (−0.9 pp [−2.6, +0.9]) while costing 1.06× the latency.</a:t>
            </a:r>
          </a:p>
          <a:p>
            <a:pPr marL="177800" indent="-177800" algn="l">
              <a:lnSpc>
                <a:spcPct val="100000"/>
              </a:lnSpc>
              <a:spcBef>
                <a:spcPts val="0"/>
              </a:spcBef>
              <a:spcAft>
                <a:spcPts val="0"/>
              </a:spcAft>
              <a:buClr>
                <a:srgbClr val="FF7900"/>
              </a:buClr>
              <a:buSzPct val="100000"/>
              <a:buChar char="●"/>
            </a:pPr>
            <a:r>
              <a:rPr lang="en-US" sz="1050" b="1" dirty="0">
                <a:solidFill>
                  <a:srgbClr val="FF7900"/>
                </a:solidFill>
                <a:latin typeface="Helvetica Neue"/>
              </a:rPr>
              <a:t>Per-task routing (hypothesis, untested).</a:t>
            </a:r>
            <a:r>
              <a:rPr lang="en-US" sz="1050" dirty="0">
                <a:solidFill>
                  <a:srgbClr val="FFFFFF"/>
                </a:solidFill>
                <a:latin typeface="Arial" pitchFamily="34" charset="0"/>
                <a:cs typeface="Arial" pitchFamily="34" charset="0"/>
              </a:rPr>
              <a:t> BFCL should not think (38.0% at level 0 vs. 33.6% at 8,192), GSM8K gets most of its gain by 512 (86.0%), MATH peaks at 4,096 (83.0%); a router per task type could beat any single level. </a:t>
            </a:r>
            <a:r>
              <a:rPr lang="en-US" sz="1050" b="1" i="1" dirty="0">
                <a:solidFill>
                  <a:srgbClr val="FF6600"/>
                </a:solidFill>
                <a:latin typeface="Arial" pitchFamily="34" charset="0"/>
                <a:cs typeface="Arial" pitchFamily="34" charset="0"/>
              </a:rPr>
              <a:t>[PLACEHOLDER: optional plot of accuracy against cost by level; 12_operating_points is a table only]</a:t>
            </a:r>
          </a:p>
        </p:txBody>
      </p:sp>
      <p:sp>
        <p:nvSpPr>
          <p:cNvPr id="7" name="Footer 7"/>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itle 3"/>
          <p:cNvSpPr txBox="1"/>
          <p:nvPr/>
        </p:nvSpPr>
        <p:spPr>
          <a:xfrm>
            <a:off x="320040" y="233415"/>
            <a:ext cx="8503920" cy="566928"/>
          </a:xfrm>
          <a:prstGeom prst="rect">
            <a:avLst/>
          </a:prstGeom>
          <a:noFill/>
          <a:ln/>
        </p:spPr>
        <p:txBody>
          <a:bodyPr wrap="square" lIns="0" tIns="0" rIns="0" bIns="0" rtlCol="0" anchor="t"/>
          <a:lstStyle/>
          <a:p>
            <a:pPr marL="0" indent="0" algn="l">
              <a:buNone/>
            </a:pPr>
            <a:r>
              <a:rPr lang="en-US" sz="1500" b="1" dirty="0">
                <a:solidFill>
                  <a:srgbClr val="FF7900"/>
                </a:solidFill>
                <a:latin typeface="Helvetica Neue"/>
              </a:rPr>
              <a:t>6. Limitations and Next Steps</a:t>
            </a:r>
          </a:p>
        </p:txBody>
      </p:sp>
      <p:sp>
        <p:nvSpPr>
          <p:cNvPr id="4" name="Text 4"/>
          <p:cNvSpPr txBox="1"/>
          <p:nvPr/>
        </p:nvSpPr>
        <p:spPr>
          <a:xfrm>
            <a:off x="320040" y="603504"/>
            <a:ext cx="4150000" cy="4200000"/>
          </a:xfrm>
          <a:prstGeom prst="rect">
            <a:avLst/>
          </a:prstGeom>
          <a:noFill/>
          <a:ln/>
        </p:spPr>
        <p:txBody>
          <a:bodyPr wrap="square" lIns="0" tIns="0" rIns="0" bIns="0" rtlCol="0" anchor="t"/>
          <a:lstStyle/>
          <a:p>
            <a:pPr marL="0" indent="0" algn="l">
              <a:lnSpc>
                <a:spcPct val="100000"/>
              </a:lnSpc>
              <a:spcBef>
                <a:spcPts val="0"/>
              </a:spcBef>
              <a:spcAft>
                <a:spcPts val="500"/>
              </a:spcAft>
              <a:buNone/>
            </a:pPr>
            <a:r>
              <a:rPr lang="en-US" sz="1300" b="1" dirty="0">
                <a:solidFill>
                  <a:srgbClr val="FF7900"/>
                </a:solidFill>
                <a:latin typeface="Helvetica Neue"/>
              </a:rPr>
              <a:t>Limitations: how far the results reach</a:t>
            </a:r>
          </a:p>
          <a:p>
            <a:pPr marL="177800" indent="-177800" algn="l">
              <a:lnSpc>
                <a:spcPct val="100000"/>
              </a:lnSpc>
              <a:spcBef>
                <a:spcPts val="0"/>
              </a:spcBef>
              <a:spcAft>
                <a:spcPts val="300"/>
              </a:spcAft>
              <a:buClr>
                <a:srgbClr val="FF7900"/>
              </a:buClr>
              <a:buSzPct val="100000"/>
              <a:buChar char="●"/>
            </a:pPr>
            <a:r>
              <a:rPr lang="en-US" sz="1000" b="1" dirty="0">
                <a:solidFill>
                  <a:srgbClr val="FF7900"/>
                </a:solidFill>
                <a:latin typeface="Helvetica Neue"/>
              </a:rPr>
              <a:t>Observational design.</a:t>
            </a:r>
            <a:r>
              <a:rPr lang="en-US" sz="1000" dirty="0">
                <a:solidFill>
                  <a:srgbClr val="FFFFFF"/>
                </a:solidFill>
                <a:latin typeface="Arial" pitchFamily="34" charset="0"/>
                <a:cs typeface="Arial" pitchFamily="34" charset="0"/>
              </a:rPr>
              <a:t> Run order was not randomised; pairing removes question-level, not run-level confounding.</a:t>
            </a:r>
          </a:p>
          <a:p>
            <a:pPr marL="177800" indent="-177800" algn="l">
              <a:lnSpc>
                <a:spcPct val="100000"/>
              </a:lnSpc>
              <a:spcBef>
                <a:spcPts val="0"/>
              </a:spcBef>
              <a:spcAft>
                <a:spcPts val="300"/>
              </a:spcAft>
              <a:buClr>
                <a:srgbClr val="FF7900"/>
              </a:buClr>
              <a:buSzPct val="100000"/>
              <a:buChar char="●"/>
            </a:pPr>
            <a:r>
              <a:rPr lang="en-US" sz="1000" b="1" dirty="0">
                <a:solidFill>
                  <a:srgbClr val="FF7900"/>
                </a:solidFill>
                <a:latin typeface="Helvetica Neue"/>
              </a:rPr>
              <a:t>Few benchmarks and questions.</a:t>
            </a:r>
            <a:r>
              <a:rPr lang="en-US" sz="1000" dirty="0">
                <a:solidFill>
                  <a:srgbClr val="FFFFFF"/>
                </a:solidFill>
                <a:latin typeface="Arial" pitchFamily="34" charset="0"/>
                <a:cs typeface="Arial" pitchFamily="34" charset="0"/>
              </a:rPr>
              <a:t> Nine benchmarks, 100 questions each (AIME: 30); intervals describe question sampling, not the population of tasks.</a:t>
            </a:r>
          </a:p>
          <a:p>
            <a:pPr marL="177800" indent="-177800" algn="l">
              <a:lnSpc>
                <a:spcPct val="100000"/>
              </a:lnSpc>
              <a:spcBef>
                <a:spcPts val="0"/>
              </a:spcBef>
              <a:spcAft>
                <a:spcPts val="300"/>
              </a:spcAft>
              <a:buClr>
                <a:srgbClr val="FF7900"/>
              </a:buClr>
              <a:buSzPct val="100000"/>
              <a:buChar char="●"/>
            </a:pPr>
            <a:r>
              <a:rPr lang="en-US" sz="1000" b="1" dirty="0">
                <a:solidFill>
                  <a:srgbClr val="FF7900"/>
                </a:solidFill>
                <a:latin typeface="Helvetica Neue"/>
              </a:rPr>
              <a:t>One model.</a:t>
            </a:r>
            <a:r>
              <a:rPr lang="en-US" sz="1000" dirty="0">
                <a:solidFill>
                  <a:srgbClr val="FFFFFF"/>
                </a:solidFill>
                <a:latin typeface="Arial" pitchFamily="34" charset="0"/>
                <a:cs typeface="Arial" pitchFamily="34" charset="0"/>
              </a:rPr>
              <a:t> LFM2.5-2.6B only; cross-model consistency is the subject of H2.</a:t>
            </a:r>
          </a:p>
          <a:p>
            <a:pPr marL="177800" indent="-177800" algn="l">
              <a:lnSpc>
                <a:spcPct val="100000"/>
              </a:lnSpc>
              <a:spcBef>
                <a:spcPts val="0"/>
              </a:spcBef>
              <a:spcAft>
                <a:spcPts val="300"/>
              </a:spcAft>
              <a:buClr>
                <a:srgbClr val="FF7900"/>
              </a:buClr>
              <a:buSzPct val="100000"/>
              <a:buChar char="●"/>
            </a:pPr>
            <a:r>
              <a:rPr lang="en-US" sz="1000" b="1" dirty="0">
                <a:solidFill>
                  <a:srgbClr val="FF7900"/>
                </a:solidFill>
                <a:latin typeface="Helvetica Neue"/>
              </a:rPr>
              <a:t>Uneven levels.</a:t>
            </a:r>
            <a:r>
              <a:rPr lang="en-US" sz="1000" dirty="0">
                <a:solidFill>
                  <a:srgbClr val="FFFFFF"/>
                </a:solidFill>
                <a:latin typeface="Arial" pitchFamily="34" charset="0"/>
                <a:cs typeface="Arial" pitchFamily="34" charset="0"/>
              </a:rPr>
              <a:t> Levels are not evenly spaced in real compute, so diminishing returns per level is partly a spacing effect.</a:t>
            </a:r>
          </a:p>
          <a:p>
            <a:pPr marL="177800" indent="-177800" algn="l">
              <a:lnSpc>
                <a:spcPct val="100000"/>
              </a:lnSpc>
              <a:spcBef>
                <a:spcPts val="0"/>
              </a:spcBef>
              <a:spcAft>
                <a:spcPts val="300"/>
              </a:spcAft>
              <a:buClr>
                <a:srgbClr val="FF7900"/>
              </a:buClr>
              <a:buSzPct val="100000"/>
              <a:buChar char="●"/>
            </a:pPr>
            <a:r>
              <a:rPr lang="en-US" sz="1000" b="1" dirty="0">
                <a:solidFill>
                  <a:srgbClr val="FF7900"/>
                </a:solidFill>
                <a:latin typeface="Helvetica Neue"/>
              </a:rPr>
              <a:t>Statistics.</a:t>
            </a:r>
            <a:r>
              <a:rPr lang="en-US" sz="1000" dirty="0">
                <a:solidFill>
                  <a:srgbClr val="FFFFFF"/>
                </a:solidFill>
                <a:latin typeface="Arial" pitchFamily="34" charset="0"/>
                <a:cs typeface="Arial" pitchFamily="34" charset="0"/>
              </a:rPr>
              <a:t> Normalised gain is unstable near the ceiling; interaction tests and leave-one-out values are unadjusted and carry no CIs.</a:t>
            </a:r>
          </a:p>
          <a:p>
            <a:pPr marL="177800" indent="-177800" algn="l">
              <a:lnSpc>
                <a:spcPct val="100000"/>
              </a:lnSpc>
              <a:spcBef>
                <a:spcPts val="0"/>
              </a:spcBef>
              <a:spcAft>
                <a:spcPts val="0"/>
              </a:spcAft>
              <a:buClr>
                <a:srgbClr val="FF7900"/>
              </a:buClr>
              <a:buSzPct val="100000"/>
              <a:buChar char="●"/>
            </a:pPr>
            <a:r>
              <a:rPr lang="en-US" sz="1000" b="1" dirty="0">
                <a:solidFill>
                  <a:srgbClr val="FF7900"/>
                </a:solidFill>
                <a:latin typeface="Helvetica Neue"/>
              </a:rPr>
              <a:t>Other.</a:t>
            </a:r>
            <a:r>
              <a:rPr lang="en-US" sz="1000" dirty="0">
                <a:solidFill>
                  <a:srgbClr val="FFFFFF"/>
                </a:solidFill>
                <a:latin typeface="Arial" pitchFamily="34" charset="0"/>
                <a:cs typeface="Arial" pitchFamily="34" charset="0"/>
              </a:rPr>
              <a:t> Difficulty tiers are of unknown provenance; pass@k assumes a perfect verifier; latency depends on unrecorded hardware and load; level 0 is not “no reasoning”; grading noise was not assessed.</a:t>
            </a:r>
          </a:p>
        </p:txBody>
      </p:sp>
      <p:sp>
        <p:nvSpPr>
          <p:cNvPr id="5" name="Text 5"/>
          <p:cNvSpPr txBox="1"/>
          <p:nvPr/>
        </p:nvSpPr>
        <p:spPr>
          <a:xfrm>
            <a:off x="4800000" y="603504"/>
            <a:ext cx="4024000" cy="4200000"/>
          </a:xfrm>
          <a:prstGeom prst="rect">
            <a:avLst/>
          </a:prstGeom>
          <a:noFill/>
          <a:ln/>
        </p:spPr>
        <p:txBody>
          <a:bodyPr wrap="square" lIns="0" tIns="0" rIns="0" bIns="0" rtlCol="0" anchor="t"/>
          <a:lstStyle/>
          <a:p>
            <a:pPr marL="0" indent="0" algn="l">
              <a:lnSpc>
                <a:spcPct val="100000"/>
              </a:lnSpc>
              <a:spcBef>
                <a:spcPts val="0"/>
              </a:spcBef>
              <a:spcAft>
                <a:spcPts val="500"/>
              </a:spcAft>
              <a:buNone/>
            </a:pPr>
            <a:r>
              <a:rPr lang="en-US" sz="1300" b="1" dirty="0">
                <a:solidFill>
                  <a:srgbClr val="FF7900"/>
                </a:solidFill>
                <a:latin typeface="Helvetica Neue"/>
              </a:rPr>
              <a:t>Next steps</a:t>
            </a:r>
          </a:p>
          <a:p>
            <a:pPr marL="177800" indent="-177800" algn="l">
              <a:lnSpc>
                <a:spcPct val="100000"/>
              </a:lnSpc>
              <a:spcBef>
                <a:spcPts val="0"/>
              </a:spcBef>
              <a:spcAft>
                <a:spcPts val="300"/>
              </a:spcAft>
              <a:buClr>
                <a:srgbClr val="FF7900"/>
              </a:buClr>
              <a:buSzPct val="100000"/>
              <a:buChar char="●"/>
            </a:pPr>
            <a:r>
              <a:rPr lang="en-US" sz="1000" b="1" dirty="0">
                <a:solidFill>
                  <a:srgbClr val="FF7900"/>
                </a:solidFill>
                <a:latin typeface="Helvetica Neue"/>
              </a:rPr>
              <a:t>Extend the budget beyond 8,192.</a:t>
            </a:r>
            <a:r>
              <a:rPr lang="en-US" sz="1000" dirty="0">
                <a:solidFill>
                  <a:srgbClr val="FFFFFF"/>
                </a:solidFill>
                <a:latin typeface="Arial" pitchFamily="34" charset="0"/>
                <a:cs typeface="Arial" pitchFamily="34" charset="0"/>
              </a:rPr>
              <a:t> Four benchmarks are still rising at the top, so the true ceiling is not found.</a:t>
            </a:r>
          </a:p>
          <a:p>
            <a:pPr marL="177800" indent="-177800" algn="l">
              <a:lnSpc>
                <a:spcPct val="100000"/>
              </a:lnSpc>
              <a:spcBef>
                <a:spcPts val="0"/>
              </a:spcBef>
              <a:spcAft>
                <a:spcPts val="300"/>
              </a:spcAft>
              <a:buClr>
                <a:srgbClr val="FF7900"/>
              </a:buClr>
              <a:buSzPct val="100000"/>
              <a:buChar char="●"/>
            </a:pPr>
            <a:r>
              <a:rPr lang="en-US" sz="1000" b="1" dirty="0">
                <a:solidFill>
                  <a:srgbClr val="FF7900"/>
                </a:solidFill>
                <a:latin typeface="Helvetica Neue"/>
              </a:rPr>
              <a:t>Test the 256-token valley.</a:t>
            </a:r>
            <a:r>
              <a:rPr lang="en-US" sz="1000" dirty="0">
                <a:solidFill>
                  <a:srgbClr val="FFFFFF"/>
                </a:solidFill>
                <a:latin typeface="Arial" pitchFamily="34" charset="0"/>
                <a:cs typeface="Arial" pitchFamily="34" charset="0"/>
              </a:rPr>
              <a:t> Compare outputs at levels 0, 256 and 512 on MMLU-Pro and BFCL to see what a forced early stop does to an answer.</a:t>
            </a:r>
          </a:p>
          <a:p>
            <a:pPr marL="177800" indent="-177800" algn="l">
              <a:lnSpc>
                <a:spcPct val="100000"/>
              </a:lnSpc>
              <a:spcBef>
                <a:spcPts val="0"/>
              </a:spcBef>
              <a:spcAft>
                <a:spcPts val="300"/>
              </a:spcAft>
              <a:buClr>
                <a:srgbClr val="FF7900"/>
              </a:buClr>
              <a:buSzPct val="100000"/>
              <a:buChar char="●"/>
            </a:pPr>
            <a:r>
              <a:rPr lang="en-US" sz="1000" b="1" dirty="0">
                <a:solidFill>
                  <a:srgbClr val="FF7900"/>
                </a:solidFill>
                <a:latin typeface="Helvetica Neue"/>
              </a:rPr>
              <a:t>Per-task or adaptive budgets.</a:t>
            </a:r>
            <a:r>
              <a:rPr lang="en-US" sz="1000" dirty="0">
                <a:solidFill>
                  <a:srgbClr val="FFFFFF"/>
                </a:solidFill>
                <a:latin typeface="Arial" pitchFamily="34" charset="0"/>
                <a:cs typeface="Arial" pitchFamily="34" charset="0"/>
              </a:rPr>
              <a:t> Test the routing hypothesis, or an early-stopping rule, against the global level.</a:t>
            </a:r>
          </a:p>
          <a:p>
            <a:pPr marL="177800" indent="-177800" algn="l">
              <a:lnSpc>
                <a:spcPct val="100000"/>
              </a:lnSpc>
              <a:spcBef>
                <a:spcPts val="0"/>
              </a:spcBef>
              <a:spcAft>
                <a:spcPts val="300"/>
              </a:spcAft>
              <a:buClr>
                <a:srgbClr val="FF7900"/>
              </a:buClr>
              <a:buSzPct val="100000"/>
              <a:buChar char="●"/>
            </a:pPr>
            <a:r>
              <a:rPr lang="en-US" sz="1000" b="1" dirty="0">
                <a:solidFill>
                  <a:srgbClr val="FF7900"/>
                </a:solidFill>
                <a:latin typeface="Helvetica Neue"/>
              </a:rPr>
              <a:t>Realistic verifiers.</a:t>
            </a:r>
            <a:r>
              <a:rPr lang="en-US" sz="1000" dirty="0">
                <a:solidFill>
                  <a:srgbClr val="FFFFFF"/>
                </a:solidFill>
                <a:latin typeface="Arial" pitchFamily="34" charset="0"/>
                <a:cs typeface="Arial" pitchFamily="34" charset="0"/>
              </a:rPr>
              <a:t> Repeat think-longer vs. sample-more with majority voting instead of an oracle.</a:t>
            </a:r>
          </a:p>
          <a:p>
            <a:pPr marL="177800" indent="-177800" algn="l">
              <a:lnSpc>
                <a:spcPct val="100000"/>
              </a:lnSpc>
              <a:spcBef>
                <a:spcPts val="0"/>
              </a:spcBef>
              <a:spcAft>
                <a:spcPts val="300"/>
              </a:spcAft>
              <a:buClr>
                <a:srgbClr val="FF7900"/>
              </a:buClr>
              <a:buSzPct val="100000"/>
              <a:buChar char="●"/>
            </a:pPr>
            <a:r>
              <a:rPr lang="en-US" sz="1000" b="1" dirty="0">
                <a:solidFill>
                  <a:srgbClr val="FF7900"/>
                </a:solidFill>
                <a:latin typeface="Helvetica Neue"/>
              </a:rPr>
              <a:t>More questions and models.</a:t>
            </a:r>
            <a:r>
              <a:rPr lang="en-US" sz="1000" dirty="0">
                <a:solidFill>
                  <a:srgbClr val="FFFFFF"/>
                </a:solidFill>
                <a:latin typeface="Arial" pitchFamily="34" charset="0"/>
                <a:cs typeface="Arial" pitchFamily="34" charset="0"/>
              </a:rPr>
              <a:t> More questions on AIME and the open-ended benchmarks, then other models (H2).</a:t>
            </a:r>
          </a:p>
          <a:p>
            <a:pPr marL="177800" indent="-177800" algn="l">
              <a:lnSpc>
                <a:spcPct val="100000"/>
              </a:lnSpc>
              <a:spcBef>
                <a:spcPts val="0"/>
              </a:spcBef>
              <a:spcAft>
                <a:spcPts val="0"/>
              </a:spcAft>
              <a:buClr>
                <a:srgbClr val="FF7900"/>
              </a:buClr>
              <a:buSzPct val="100000"/>
              <a:buChar char="●"/>
            </a:pPr>
            <a:r>
              <a:rPr lang="en-US" sz="1000" b="1" dirty="0">
                <a:solidFill>
                  <a:srgbClr val="FF7900"/>
                </a:solidFill>
                <a:latin typeface="Helvetica Neue"/>
              </a:rPr>
              <a:t>Close the open items.</a:t>
            </a:r>
            <a:r>
              <a:rPr lang="en-US" sz="1000" b="1" i="1" dirty="0">
                <a:solidFill>
                  <a:srgbClr val="FF6600"/>
                </a:solidFill>
                <a:latin typeface="Arial" pitchFamily="34" charset="0"/>
                <a:cs typeface="Arial" pitchFamily="34" charset="0"/>
              </a:rPr>
              <a:t> [PLACEHOLDER: hardware and vLLM settings, tier provenance, output-token cap, bootstrap CIs for leave-one-out and pass@k]</a:t>
            </a:r>
          </a:p>
        </p:txBody>
      </p:sp>
      <p:sp>
        <p:nvSpPr>
          <p:cNvPr id="6" name="Footer 6"/>
          <p:cNvSpPr txBox="1"/>
          <p:nvPr/>
        </p:nvSpPr>
        <p:spPr>
          <a:xfrm>
            <a:off x="320040" y="4864608"/>
            <a:ext cx="1828800" cy="182880"/>
          </a:xfrm>
          <a:prstGeom prst="rect">
            <a:avLst/>
          </a:prstGeom>
          <a:noFill/>
          <a:ln/>
        </p:spPr>
        <p:txBody>
          <a:bodyPr wrap="square" lIns="0" tIns="0" rIns="0" bIns="0" rtlCol="0" anchor="t"/>
          <a:lstStyle/>
          <a:p>
            <a:pPr marL="0" indent="0" algn="l">
              <a:buNone/>
            </a:pPr>
            <a:r>
              <a:rPr lang="en-US" sz="800" b="1" dirty="0">
                <a:solidFill>
                  <a:srgbClr val="FF6600"/>
                </a:solidFill>
                <a:latin typeface="Arial" pitchFamily="34" charset="0"/>
              </a:rPr>
              <a:t>Orange Restricted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ck Master 2021">
  <a:themeElements>
    <a:clrScheme name="Orange BLK Core">
      <a:dk1>
        <a:srgbClr val="FFFFFF"/>
      </a:dk1>
      <a:lt1>
        <a:srgbClr val="000000"/>
      </a:lt1>
      <a:dk2>
        <a:srgbClr val="8F8F8F"/>
      </a:dk2>
      <a:lt2>
        <a:srgbClr val="FF7900"/>
      </a:lt2>
      <a:accent1>
        <a:srgbClr val="FF7900"/>
      </a:accent1>
      <a:accent2>
        <a:srgbClr val="FFFFFF"/>
      </a:accent2>
      <a:accent3>
        <a:srgbClr val="595959"/>
      </a:accent3>
      <a:accent4>
        <a:srgbClr val="8F8F8F"/>
      </a:accent4>
      <a:accent5>
        <a:srgbClr val="D6D6D6"/>
      </a:accent5>
      <a:accent6>
        <a:srgbClr val="595959"/>
      </a:accent6>
      <a:hlink>
        <a:srgbClr val="FF7900"/>
      </a:hlink>
      <a:folHlink>
        <a:srgbClr val="FF7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742</TotalTime>
  <Words>6904</Words>
  <Application>Microsoft Office PowerPoint</Application>
  <PresentationFormat>On-screen Show (16:9)</PresentationFormat>
  <Paragraphs>535</Paragraphs>
  <Slides>33</Slides>
  <Notes>33</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33</vt:i4>
      </vt:variant>
    </vt:vector>
  </HeadingPairs>
  <TitlesOfParts>
    <vt:vector size="42" baseType="lpstr">
      <vt:lpstr>Aptos</vt:lpstr>
      <vt:lpstr>Arial</vt:lpstr>
      <vt:lpstr>Calibri</vt:lpstr>
      <vt:lpstr>Consolas</vt:lpstr>
      <vt:lpstr>Garamond</vt:lpstr>
      <vt:lpstr>Helvetica Neue</vt:lpstr>
      <vt:lpstr>Noto Sans Symbols</vt:lpstr>
      <vt:lpstr>Office Theme</vt:lpstr>
      <vt:lpstr>Black Master 2021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Ahmed Fathy</cp:lastModifiedBy>
  <cp:revision>30</cp:revision>
  <dcterms:created xsi:type="dcterms:W3CDTF">2026-09-12T01:52:22Z</dcterms:created>
  <dcterms:modified xsi:type="dcterms:W3CDTF">2026-10-14T06:32:30Z</dcterms:modified>
</cp:coreProperties>
</file>