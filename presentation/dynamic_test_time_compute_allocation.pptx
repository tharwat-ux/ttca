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rts/chart1.xml" ContentType="application/vnd.openxmlformats-officedocument.drawingml.chart+xml"/>
  <Override PartName="/ppt/comments/comment1.xml" ContentType="application/vnd.openxmlformats-officedocument.presentationml.comments+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0" r:id="rId2"/>
  </p:sldMasterIdLst>
  <p:notesMasterIdLst>
    <p:notesMasterId r:id="rId21"/>
  </p:notesMasterIdLst>
  <p:sldIdLst>
    <p:sldId id="256" r:id="rId3"/>
    <p:sldId id="258" r:id="rId4"/>
    <p:sldId id="285" r:id="rId5"/>
    <p:sldId id="286" r:id="rId6"/>
    <p:sldId id="287" r:id="rId7"/>
    <p:sldId id="288" r:id="rId8"/>
    <p:sldId id="289" r:id="rId9"/>
    <p:sldId id="290" r:id="rId10"/>
    <p:sldId id="291" r:id="rId11"/>
    <p:sldId id="292" r:id="rId12"/>
    <p:sldId id="293" r:id="rId13"/>
    <p:sldId id="294" r:id="rId14"/>
    <p:sldId id="295" r:id="rId15"/>
    <p:sldId id="278" r:id="rId16"/>
    <p:sldId id="279" r:id="rId17"/>
    <p:sldId id="280" r:id="rId18"/>
    <p:sldId id="263" r:id="rId19"/>
    <p:sldId id="282" r:id="rId2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bdelrahman Ramadan" initials="" lastIdx="2"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27" d="100"/>
          <a:sy n="127" d="100"/>
        </p:scale>
        <p:origin x="72" y="10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tableStyles" Target="tableStyles.xml"/><Relationship Id="rId3" Type="http://schemas.openxmlformats.org/officeDocument/2006/relationships/slide" Target="slides/slide1.xml"/><Relationship Id="rId21" Type="http://schemas.openxmlformats.org/officeDocument/2006/relationships/notesMaster" Target="notesMasters/notesMaster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commentAuthors" Target="commentAuthor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stacked"/>
        <c:varyColors val="0"/>
        <c:ser>
          <c:idx val="0"/>
          <c:order val="0"/>
          <c:tx>
            <c:strRef>
              <c:f>Sheet1!$B$1</c:f>
              <c:strCache>
                <c:ptCount val="1"/>
                <c:pt idx="0">
                  <c:v>Start</c:v>
                </c:pt>
              </c:strCache>
            </c:strRef>
          </c:tx>
          <c:spPr>
            <a:solidFill>
              <a:srgbClr val="000000"/>
            </a:solidFill>
            <a:ln w="9525" cap="flat">
              <a:solidFill>
                <a:srgbClr val="000000"/>
              </a:solidFill>
              <a:prstDash val="solid"/>
              <a:round/>
            </a:ln>
            <a:effectLst/>
          </c:spPr>
          <c:invertIfNegative val="0"/>
          <c:cat>
            <c:strRef>
              <c:f>Sheet1!$A$2:$A$6</c:f>
              <c:strCache>
                <c:ptCount val="5"/>
                <c:pt idx="0">
                  <c:v>Stage 3 + integration + write-up</c:v>
                </c:pt>
                <c:pt idx="1">
                  <c:v>Stage 2 — predictive correction</c:v>
                </c:pt>
                <c:pt idx="2">
                  <c:v>Theoretical Stage 1</c:v>
                </c:pt>
                <c:pt idx="3">
                  <c:v>H2 &amp; H3 Testing</c:v>
                </c:pt>
                <c:pt idx="4">
                  <c:v>H1 validation</c:v>
                </c:pt>
              </c:strCache>
            </c:strRef>
          </c:cat>
          <c:val>
            <c:numRef>
              <c:f>Sheet1!$B$2:$B$6</c:f>
              <c:numCache>
                <c:formatCode>General</c:formatCode>
                <c:ptCount val="5"/>
                <c:pt idx="0">
                  <c:v>8</c:v>
                </c:pt>
                <c:pt idx="1">
                  <c:v>6</c:v>
                </c:pt>
                <c:pt idx="2">
                  <c:v>4</c:v>
                </c:pt>
                <c:pt idx="3">
                  <c:v>2</c:v>
                </c:pt>
              </c:numCache>
            </c:numRef>
          </c:val>
          <c:extLst>
            <c:ext xmlns:c16="http://schemas.microsoft.com/office/drawing/2014/chart" uri="{C3380CC4-5D6E-409C-BE32-E72D297353CC}">
              <c16:uniqueId val="{00000000-DB61-4C5A-B1AE-2ADE4B5E7B1E}"/>
            </c:ext>
          </c:extLst>
        </c:ser>
        <c:ser>
          <c:idx val="1"/>
          <c:order val="1"/>
          <c:tx>
            <c:strRef>
              <c:f>Sheet1!$C$1</c:f>
              <c:strCache>
                <c:ptCount val="1"/>
                <c:pt idx="0">
                  <c:v>Duration</c:v>
                </c:pt>
              </c:strCache>
            </c:strRef>
          </c:tx>
          <c:spPr>
            <a:solidFill>
              <a:srgbClr val="FF7900"/>
            </a:solidFill>
            <a:ln w="9525" cap="flat">
              <a:solidFill>
                <a:srgbClr val="000000"/>
              </a:solidFill>
              <a:prstDash val="solid"/>
              <a:round/>
            </a:ln>
            <a:effectLst/>
          </c:spPr>
          <c:invertIfNegative val="0"/>
          <c:cat>
            <c:strRef>
              <c:f>Sheet1!$A$2:$A$6</c:f>
              <c:strCache>
                <c:ptCount val="5"/>
                <c:pt idx="0">
                  <c:v>Stage 3 + integration + write-up</c:v>
                </c:pt>
                <c:pt idx="1">
                  <c:v>Stage 2 — predictive correction</c:v>
                </c:pt>
                <c:pt idx="2">
                  <c:v>Theoretical Stage 1</c:v>
                </c:pt>
                <c:pt idx="3">
                  <c:v>H2 &amp; H3 Testing</c:v>
                </c:pt>
                <c:pt idx="4">
                  <c:v>H1 validation</c:v>
                </c:pt>
              </c:strCache>
            </c:strRef>
          </c:cat>
          <c:val>
            <c:numRef>
              <c:f>Sheet1!$C$2:$C$6</c:f>
              <c:numCache>
                <c:formatCode>General</c:formatCode>
                <c:ptCount val="5"/>
                <c:pt idx="0">
                  <c:v>2</c:v>
                </c:pt>
                <c:pt idx="1">
                  <c:v>2</c:v>
                </c:pt>
                <c:pt idx="2">
                  <c:v>2</c:v>
                </c:pt>
                <c:pt idx="3">
                  <c:v>2</c:v>
                </c:pt>
                <c:pt idx="4">
                  <c:v>2</c:v>
                </c:pt>
              </c:numCache>
            </c:numRef>
          </c:val>
          <c:extLst>
            <c:ext xmlns:c16="http://schemas.microsoft.com/office/drawing/2014/chart" uri="{C3380CC4-5D6E-409C-BE32-E72D297353CC}">
              <c16:uniqueId val="{00000001-DB61-4C5A-B1AE-2ADE4B5E7B1E}"/>
            </c:ext>
          </c:extLst>
        </c:ser>
        <c:dLbls>
          <c:showLegendKey val="0"/>
          <c:showVal val="0"/>
          <c:showCatName val="0"/>
          <c:showSerName val="0"/>
          <c:showPercent val="0"/>
          <c:showBubbleSize val="0"/>
        </c:dLbls>
        <c:gapWidth val="45"/>
        <c:overlap val="10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FFFFFF"/>
                </a:solidFill>
                <a:latin typeface="Arial"/>
              </a:defRPr>
            </a:pPr>
            <a:endParaRPr lang="en-US"/>
          </a:p>
        </c:txPr>
        <c:crossAx val="2094734552"/>
        <c:crosses val="autoZero"/>
        <c:auto val="1"/>
        <c:lblAlgn val="ctr"/>
        <c:lblOffset val="100"/>
        <c:noMultiLvlLbl val="1"/>
      </c:catAx>
      <c:valAx>
        <c:axId val="2094734552"/>
        <c:scaling>
          <c:orientation val="minMax"/>
          <c:max val="10"/>
          <c:min val="0"/>
        </c:scaling>
        <c:delete val="0"/>
        <c:axPos val="b"/>
        <c:majorGridlines>
          <c:spPr>
            <a:ln w="9525" cap="flat">
              <a:solidFill>
                <a:srgbClr val="333333"/>
              </a:solidFill>
              <a:prstDash val="solid"/>
              <a:round/>
            </a:ln>
          </c:spPr>
        </c:majorGridlines>
        <c:title>
          <c:tx>
            <c:rich>
              <a:bodyPr/>
              <a:lstStyle/>
              <a:p>
                <a:pPr>
                  <a:defRPr sz="1000" b="0" i="0" u="none" strike="noStrike">
                    <a:solidFill>
                      <a:srgbClr val="9A9A9A"/>
                    </a:solidFill>
                    <a:latin typeface="Arial"/>
                  </a:defRPr>
                </a:pPr>
                <a:r>
                  <a:rPr lang="en-US" sz="1000" b="0" i="0" u="none" strike="noStrike">
                    <a:solidFill>
                      <a:srgbClr val="9A9A9A"/>
                    </a:solidFill>
                    <a:latin typeface="Arial"/>
                  </a:rPr>
                  <a:t>Week</a:t>
                </a:r>
              </a:p>
            </c:rich>
          </c:tx>
          <c:overlay val="0"/>
        </c:title>
        <c:numFmt formatCode="General" sourceLinked="0"/>
        <c:majorTickMark val="out"/>
        <c:minorTickMark val="none"/>
        <c:tickLblPos val="low"/>
        <c:spPr>
          <a:ln w="12700" cap="flat">
            <a:solidFill>
              <a:srgbClr val="333333"/>
            </a:solidFill>
            <a:prstDash val="solid"/>
            <a:round/>
          </a:ln>
        </c:spPr>
        <c:txPr>
          <a:bodyPr/>
          <a:lstStyle/>
          <a:p>
            <a:pPr>
              <a:defRPr sz="1000" b="0" i="0" u="none" strike="noStrike">
                <a:solidFill>
                  <a:srgbClr val="9A9A9A"/>
                </a:solidFill>
                <a:latin typeface="Arial"/>
              </a:defRPr>
            </a:pPr>
            <a:endParaRPr lang="en-US"/>
          </a:p>
        </c:txPr>
        <c:crossAx val="2094734554"/>
        <c:crosses val="autoZero"/>
        <c:crossBetween val="between"/>
        <c:majorUnit val="2"/>
      </c:valAx>
      <c:spPr>
        <a:solidFill>
          <a:srgbClr val="000000"/>
        </a:solidFill>
        <a:ln>
          <a:noFill/>
        </a:ln>
        <a:effectLst/>
      </c:spPr>
    </c:plotArea>
    <c:plotVisOnly val="1"/>
    <c:dispBlanksAs val="span"/>
    <c:showDLblsOverMax val="1"/>
  </c:chart>
  <c:spPr>
    <a:solidFill>
      <a:srgbClr val="000000"/>
    </a:solidFill>
    <a:ln>
      <a:noFill/>
    </a:ln>
    <a:effectLst/>
  </c:spPr>
  <c:externalData r:id="rId1">
    <c:autoUpdate val="0"/>
  </c:externalData>
</c:chartSpace>
</file>

<file path=ppt/comments/comment1.xml><?xml version="1.0" encoding="utf-8"?>
<p:cmLst xmlns:a="http://schemas.openxmlformats.org/drawingml/2006/main" xmlns:r="http://schemas.openxmlformats.org/officeDocument/2006/relationships" xmlns:p="http://schemas.openxmlformats.org/presentationml/2006/main">
  <p:cm authorId="1" dt="2026-08-24T09:58:40.974" idx="2">
    <p:pos x="6000" y="0"/>
    <p:text>edit the theme of this table</p:text>
    <p:extLst>
      <p:ext uri="{C676402C-5697-4E1C-873F-D02D1690AC5C}">
        <p15:threadingInfo xmlns:p15="http://schemas.microsoft.com/office/powerpoint/2012/main" timeZoneBias="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172311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4864775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10066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7209096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802768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792184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374819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93896355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15684862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30677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3355599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369717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8" name="Google Shape;288;p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89" name="Google Shape;289;p8: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US" sz="1800" b="0" i="0" u="none" strike="noStrike" kern="0" cap="none" spc="0" normalizeH="0" baseline="0" noProof="0">
                <a:ln>
                  <a:noFill/>
                </a:ln>
                <a:solidFill>
                  <a:srgbClr val="000000"/>
                </a:solidFill>
                <a:effectLst/>
                <a:uLnTx/>
                <a:uFillTx/>
                <a:latin typeface="Arial"/>
                <a:ea typeface="Arial"/>
                <a:cs typeface="Arial"/>
                <a:sym typeface="Arial"/>
              </a:rPr>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t>17</a:t>
            </a:fld>
            <a:endParaRPr kumimoji="0" sz="1800" b="0" i="0" u="none" strike="noStrike" kern="0" cap="none" spc="0" normalizeH="0" baseline="0" noProof="0">
              <a:ln>
                <a:noFill/>
              </a:ln>
              <a:solidFill>
                <a:srgbClr val="000000"/>
              </a:solidFill>
              <a:effectLst/>
              <a:uLnTx/>
              <a:uFillTx/>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matchingName="Diapositive de titre">
  <p:cSld name="Diapositive de titre">
    <p:spTree>
      <p:nvGrpSpPr>
        <p:cNvPr id="1" name="Shape 9"/>
        <p:cNvGrpSpPr/>
        <p:nvPr/>
      </p:nvGrpSpPr>
      <p:grpSpPr>
        <a:xfrm>
          <a:off x="0" y="0"/>
          <a:ext cx="0" cy="0"/>
          <a:chOff x="0" y="0"/>
          <a:chExt cx="0" cy="0"/>
        </a:xfrm>
      </p:grpSpPr>
      <p:sp>
        <p:nvSpPr>
          <p:cNvPr id="10" name="Google Shape;10;p11"/>
          <p:cNvSpPr txBox="1">
            <a:spLocks noGrp="1"/>
          </p:cNvSpPr>
          <p:nvPr>
            <p:ph type="ctrTitle"/>
          </p:nvPr>
        </p:nvSpPr>
        <p:spPr>
          <a:xfrm>
            <a:off x="968400" y="1692000"/>
            <a:ext cx="7261200" cy="2318400"/>
          </a:xfrm>
          <a:prstGeom prst="rect">
            <a:avLst/>
          </a:prstGeom>
          <a:noFill/>
          <a:ln>
            <a:noFill/>
          </a:ln>
        </p:spPr>
        <p:txBody>
          <a:bodyPr spcFirstLastPara="1" wrap="square" lIns="0" tIns="0" rIns="0" bIns="0" anchor="t" anchorCtr="0">
            <a:noAutofit/>
          </a:bodyPr>
          <a:lstStyle>
            <a:lvl1pPr lvl="0" algn="l">
              <a:lnSpc>
                <a:spcPct val="85000"/>
              </a:lnSpc>
              <a:spcBef>
                <a:spcPts val="0"/>
              </a:spcBef>
              <a:spcAft>
                <a:spcPts val="0"/>
              </a:spcAft>
              <a:buClr>
                <a:schemeClr val="dk1"/>
              </a:buClr>
              <a:buSzPts val="5500"/>
              <a:buFont typeface="Helvetica Neue"/>
              <a:buNone/>
              <a:defRPr sz="5500">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 name="Google Shape;11;p11"/>
          <p:cNvSpPr txBox="1">
            <a:spLocks noGrp="1"/>
          </p:cNvSpPr>
          <p:nvPr>
            <p:ph type="subTitle" idx="1"/>
          </p:nvPr>
        </p:nvSpPr>
        <p:spPr>
          <a:xfrm>
            <a:off x="950596" y="4177344"/>
            <a:ext cx="4341485" cy="338622"/>
          </a:xfrm>
          <a:prstGeom prst="rect">
            <a:avLst/>
          </a:prstGeom>
          <a:noFill/>
          <a:ln>
            <a:noFill/>
          </a:ln>
        </p:spPr>
        <p:txBody>
          <a:bodyPr spcFirstLastPara="1" wrap="square" lIns="0" tIns="0" rIns="0" bIns="0" anchor="t" anchorCtr="0">
            <a:noAutofit/>
          </a:bodyPr>
          <a:lstStyle>
            <a:lvl1pPr lvl="0" algn="l">
              <a:lnSpc>
                <a:spcPct val="90000"/>
              </a:lnSpc>
              <a:spcBef>
                <a:spcPts val="600"/>
              </a:spcBef>
              <a:spcAft>
                <a:spcPts val="0"/>
              </a:spcAft>
              <a:buSzPts val="350"/>
              <a:buNone/>
              <a:defRPr>
                <a:solidFill>
                  <a:schemeClr val="dk1"/>
                </a:solidFill>
              </a:defRPr>
            </a:lvl1pPr>
            <a:lvl2pPr lvl="1" algn="l">
              <a:lnSpc>
                <a:spcPct val="90000"/>
              </a:lnSpc>
              <a:spcBef>
                <a:spcPts val="600"/>
              </a:spcBef>
              <a:spcAft>
                <a:spcPts val="0"/>
              </a:spcAft>
              <a:buClr>
                <a:schemeClr val="lt2"/>
              </a:buClr>
              <a:buSzPts val="1400"/>
              <a:buFont typeface="Noto Sans Symbols"/>
              <a:buChar char="▪"/>
              <a:defRPr>
                <a:solidFill>
                  <a:schemeClr val="dk1"/>
                </a:solidFill>
              </a:defRPr>
            </a:lvl2pPr>
            <a:lvl3pPr lvl="2" algn="l">
              <a:lnSpc>
                <a:spcPct val="90000"/>
              </a:lnSpc>
              <a:spcBef>
                <a:spcPts val="336"/>
              </a:spcBef>
              <a:spcAft>
                <a:spcPts val="0"/>
              </a:spcAft>
              <a:buClr>
                <a:schemeClr val="dk1"/>
              </a:buClr>
              <a:buSzPts val="1400"/>
              <a:buFont typeface="Helvetica Neue"/>
              <a:buChar char="–"/>
              <a:defRPr>
                <a:solidFill>
                  <a:schemeClr val="dk1"/>
                </a:solidFill>
                <a:latin typeface="Helvetica Neue"/>
                <a:ea typeface="Helvetica Neue"/>
                <a:cs typeface="Helvetica Neue"/>
                <a:sym typeface="Helvetica Neue"/>
              </a:defRPr>
            </a:lvl3pPr>
            <a:lvl4pPr lvl="3" algn="l">
              <a:lnSpc>
                <a:spcPct val="90000"/>
              </a:lnSpc>
              <a:spcBef>
                <a:spcPts val="24"/>
              </a:spcBef>
              <a:spcAft>
                <a:spcPts val="0"/>
              </a:spcAft>
              <a:buClr>
                <a:schemeClr val="dk1"/>
              </a:buClr>
              <a:buSzPts val="1400"/>
              <a:buFont typeface="Helvetica Neue"/>
              <a:buChar char="–"/>
              <a:defRPr>
                <a:solidFill>
                  <a:schemeClr val="dk1"/>
                </a:solidFill>
              </a:defRPr>
            </a:lvl4pPr>
            <a:lvl5pPr lvl="4" algn="l">
              <a:lnSpc>
                <a:spcPct val="90000"/>
              </a:lnSpc>
              <a:spcBef>
                <a:spcPts val="280"/>
              </a:spcBef>
              <a:spcAft>
                <a:spcPts val="0"/>
              </a:spcAft>
              <a:buSzPts val="1400"/>
              <a:buFont typeface="Helvetica Neue"/>
              <a:buChar char="–"/>
              <a:defRPr>
                <a:solidFill>
                  <a:schemeClr val="dk1"/>
                </a:solidFill>
              </a:defRPr>
            </a:lvl5pPr>
            <a:lvl6pPr lvl="5" algn="ctr">
              <a:lnSpc>
                <a:spcPct val="100000"/>
              </a:lnSpc>
              <a:spcBef>
                <a:spcPts val="280"/>
              </a:spcBef>
              <a:spcAft>
                <a:spcPts val="0"/>
              </a:spcAft>
              <a:buClr>
                <a:schemeClr val="dk1"/>
              </a:buClr>
              <a:buSzPts val="1400"/>
              <a:buNone/>
              <a:defRPr>
                <a:solidFill>
                  <a:schemeClr val="dk1"/>
                </a:solidFill>
              </a:defRPr>
            </a:lvl6pPr>
            <a:lvl7pPr lvl="6" algn="ctr">
              <a:lnSpc>
                <a:spcPct val="100000"/>
              </a:lnSpc>
              <a:spcBef>
                <a:spcPts val="400"/>
              </a:spcBef>
              <a:spcAft>
                <a:spcPts val="0"/>
              </a:spcAft>
              <a:buClr>
                <a:schemeClr val="dk1"/>
              </a:buClr>
              <a:buSzPts val="2000"/>
              <a:buNone/>
              <a:defRPr>
                <a:solidFill>
                  <a:schemeClr val="dk1"/>
                </a:solidFill>
              </a:defRPr>
            </a:lvl7pPr>
            <a:lvl8pPr lvl="7" algn="ctr">
              <a:lnSpc>
                <a:spcPct val="100000"/>
              </a:lnSpc>
              <a:spcBef>
                <a:spcPts val="400"/>
              </a:spcBef>
              <a:spcAft>
                <a:spcPts val="0"/>
              </a:spcAft>
              <a:buClr>
                <a:schemeClr val="dk1"/>
              </a:buClr>
              <a:buSzPts val="2000"/>
              <a:buNone/>
              <a:defRPr>
                <a:solidFill>
                  <a:schemeClr val="dk1"/>
                </a:solidFill>
              </a:defRPr>
            </a:lvl8pPr>
            <a:lvl9pPr lvl="8" algn="ctr">
              <a:lnSpc>
                <a:spcPct val="100000"/>
              </a:lnSpc>
              <a:spcBef>
                <a:spcPts val="400"/>
              </a:spcBef>
              <a:spcAft>
                <a:spcPts val="0"/>
              </a:spcAft>
              <a:buClr>
                <a:schemeClr val="dk1"/>
              </a:buClr>
              <a:buSzPts val="2000"/>
              <a:buNone/>
              <a:defRPr>
                <a:solidFill>
                  <a:schemeClr val="dk1"/>
                </a:solidFill>
              </a:defRPr>
            </a:lvl9pPr>
          </a:lstStyle>
          <a:p>
            <a:endParaRPr/>
          </a:p>
        </p:txBody>
      </p:sp>
      <p:grpSp>
        <p:nvGrpSpPr>
          <p:cNvPr id="12" name="Google Shape;12;p11"/>
          <p:cNvGrpSpPr/>
          <p:nvPr/>
        </p:nvGrpSpPr>
        <p:grpSpPr>
          <a:xfrm>
            <a:off x="8227153" y="4233864"/>
            <a:ext cx="612775" cy="612775"/>
            <a:chOff x="313535" y="4233863"/>
            <a:chExt cx="612775" cy="612775"/>
          </a:xfrm>
        </p:grpSpPr>
        <p:sp>
          <p:nvSpPr>
            <p:cNvPr id="13" name="Google Shape;13;p11"/>
            <p:cNvSpPr/>
            <p:nvPr/>
          </p:nvSpPr>
          <p:spPr>
            <a:xfrm>
              <a:off x="313535" y="4233863"/>
              <a:ext cx="612775" cy="612775"/>
            </a:xfrm>
            <a:prstGeom prst="rect">
              <a:avLst/>
            </a:prstGeom>
            <a:solidFill>
              <a:srgbClr val="FF7900"/>
            </a:solid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400"/>
                <a:buFont typeface="Arial"/>
                <a:buNone/>
              </a:pPr>
              <a:endParaRPr sz="1800" b="1" i="0" u="none" strike="noStrike" cap="none">
                <a:solidFill>
                  <a:schemeClr val="dk1"/>
                </a:solidFill>
                <a:latin typeface="Helvetica Neue"/>
                <a:ea typeface="Helvetica Neue"/>
                <a:cs typeface="Helvetica Neue"/>
                <a:sym typeface="Helvetica Neue"/>
              </a:endParaRPr>
            </a:p>
          </p:txBody>
        </p:sp>
        <p:sp>
          <p:nvSpPr>
            <p:cNvPr id="14" name="Google Shape;14;p11"/>
            <p:cNvSpPr/>
            <p:nvPr/>
          </p:nvSpPr>
          <p:spPr>
            <a:xfrm>
              <a:off x="500860" y="4708526"/>
              <a:ext cx="74613" cy="87313"/>
            </a:xfrm>
            <a:custGeom>
              <a:avLst/>
              <a:gdLst/>
              <a:ahLst/>
              <a:cxnLst/>
              <a:rect l="l" t="t" r="r" b="b"/>
              <a:pathLst>
                <a:path w="93" h="109" extrusionOk="0">
                  <a:moveTo>
                    <a:pt x="66" y="99"/>
                  </a:moveTo>
                  <a:cubicBezTo>
                    <a:pt x="55" y="106"/>
                    <a:pt x="43" y="109"/>
                    <a:pt x="31" y="109"/>
                  </a:cubicBezTo>
                  <a:cubicBezTo>
                    <a:pt x="11" y="109"/>
                    <a:pt x="0" y="96"/>
                    <a:pt x="0" y="79"/>
                  </a:cubicBezTo>
                  <a:cubicBezTo>
                    <a:pt x="0" y="55"/>
                    <a:pt x="21" y="42"/>
                    <a:pt x="66" y="37"/>
                  </a:cubicBezTo>
                  <a:cubicBezTo>
                    <a:pt x="66" y="32"/>
                    <a:pt x="66" y="32"/>
                    <a:pt x="66" y="32"/>
                  </a:cubicBezTo>
                  <a:cubicBezTo>
                    <a:pt x="66" y="24"/>
                    <a:pt x="60" y="19"/>
                    <a:pt x="49" y="19"/>
                  </a:cubicBezTo>
                  <a:cubicBezTo>
                    <a:pt x="39" y="19"/>
                    <a:pt x="30" y="24"/>
                    <a:pt x="24" y="32"/>
                  </a:cubicBezTo>
                  <a:cubicBezTo>
                    <a:pt x="5" y="21"/>
                    <a:pt x="5" y="21"/>
                    <a:pt x="5" y="21"/>
                  </a:cubicBezTo>
                  <a:cubicBezTo>
                    <a:pt x="15" y="7"/>
                    <a:pt x="30" y="0"/>
                    <a:pt x="50" y="0"/>
                  </a:cubicBezTo>
                  <a:cubicBezTo>
                    <a:pt x="77" y="0"/>
                    <a:pt x="93" y="12"/>
                    <a:pt x="93" y="32"/>
                  </a:cubicBezTo>
                  <a:cubicBezTo>
                    <a:pt x="93" y="32"/>
                    <a:pt x="93" y="108"/>
                    <a:pt x="93" y="108"/>
                  </a:cubicBezTo>
                  <a:cubicBezTo>
                    <a:pt x="68" y="108"/>
                    <a:pt x="68" y="108"/>
                    <a:pt x="68" y="108"/>
                  </a:cubicBezTo>
                  <a:lnTo>
                    <a:pt x="66" y="99"/>
                  </a:lnTo>
                  <a:close/>
                  <a:moveTo>
                    <a:pt x="27" y="77"/>
                  </a:moveTo>
                  <a:cubicBezTo>
                    <a:pt x="27" y="84"/>
                    <a:pt x="31" y="90"/>
                    <a:pt x="39" y="90"/>
                  </a:cubicBezTo>
                  <a:cubicBezTo>
                    <a:pt x="48" y="90"/>
                    <a:pt x="57" y="87"/>
                    <a:pt x="65" y="79"/>
                  </a:cubicBezTo>
                  <a:cubicBezTo>
                    <a:pt x="65" y="54"/>
                    <a:pt x="65" y="54"/>
                    <a:pt x="65" y="54"/>
                  </a:cubicBezTo>
                  <a:cubicBezTo>
                    <a:pt x="39" y="57"/>
                    <a:pt x="27" y="64"/>
                    <a:pt x="27" y="77"/>
                  </a:cubicBezTo>
                  <a:close/>
                </a:path>
              </a:pathLst>
            </a:cu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400"/>
                <a:buFont typeface="Arial"/>
                <a:buNone/>
              </a:pPr>
              <a:endParaRPr sz="1800" b="1" i="0" u="none" strike="noStrike" cap="none">
                <a:solidFill>
                  <a:schemeClr val="dk1"/>
                </a:solidFill>
                <a:latin typeface="Helvetica Neue"/>
                <a:ea typeface="Helvetica Neue"/>
                <a:cs typeface="Helvetica Neue"/>
                <a:sym typeface="Helvetica Neue"/>
              </a:endParaRPr>
            </a:p>
          </p:txBody>
        </p:sp>
        <p:sp>
          <p:nvSpPr>
            <p:cNvPr id="15" name="Google Shape;15;p11"/>
            <p:cNvSpPr/>
            <p:nvPr/>
          </p:nvSpPr>
          <p:spPr>
            <a:xfrm>
              <a:off x="592935" y="4708526"/>
              <a:ext cx="76200" cy="87313"/>
            </a:xfrm>
            <a:custGeom>
              <a:avLst/>
              <a:gdLst/>
              <a:ahLst/>
              <a:cxnLst/>
              <a:rect l="l" t="t" r="r" b="b"/>
              <a:pathLst>
                <a:path w="94" h="108" extrusionOk="0">
                  <a:moveTo>
                    <a:pt x="0" y="5"/>
                  </a:moveTo>
                  <a:cubicBezTo>
                    <a:pt x="23" y="2"/>
                    <a:pt x="23" y="2"/>
                    <a:pt x="23" y="2"/>
                  </a:cubicBezTo>
                  <a:cubicBezTo>
                    <a:pt x="25" y="15"/>
                    <a:pt x="25" y="15"/>
                    <a:pt x="25" y="15"/>
                  </a:cubicBezTo>
                  <a:cubicBezTo>
                    <a:pt x="38" y="5"/>
                    <a:pt x="48" y="0"/>
                    <a:pt x="61" y="0"/>
                  </a:cubicBezTo>
                  <a:cubicBezTo>
                    <a:pt x="83" y="0"/>
                    <a:pt x="94" y="12"/>
                    <a:pt x="94" y="34"/>
                  </a:cubicBezTo>
                  <a:cubicBezTo>
                    <a:pt x="94" y="108"/>
                    <a:pt x="94" y="108"/>
                    <a:pt x="94" y="108"/>
                  </a:cubicBezTo>
                  <a:cubicBezTo>
                    <a:pt x="66" y="108"/>
                    <a:pt x="66" y="108"/>
                    <a:pt x="66" y="108"/>
                  </a:cubicBezTo>
                  <a:cubicBezTo>
                    <a:pt x="66" y="39"/>
                    <a:pt x="66" y="39"/>
                    <a:pt x="66" y="39"/>
                  </a:cubicBezTo>
                  <a:cubicBezTo>
                    <a:pt x="66" y="26"/>
                    <a:pt x="63" y="21"/>
                    <a:pt x="53" y="21"/>
                  </a:cubicBezTo>
                  <a:cubicBezTo>
                    <a:pt x="45" y="21"/>
                    <a:pt x="36" y="24"/>
                    <a:pt x="27" y="32"/>
                  </a:cubicBezTo>
                  <a:cubicBezTo>
                    <a:pt x="27" y="108"/>
                    <a:pt x="27" y="108"/>
                    <a:pt x="27" y="108"/>
                  </a:cubicBezTo>
                  <a:cubicBezTo>
                    <a:pt x="0" y="108"/>
                    <a:pt x="0" y="108"/>
                    <a:pt x="0" y="108"/>
                  </a:cubicBezTo>
                  <a:lnTo>
                    <a:pt x="0" y="5"/>
                  </a:lnTo>
                  <a:close/>
                </a:path>
              </a:pathLst>
            </a:cu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400"/>
                <a:buFont typeface="Arial"/>
                <a:buNone/>
              </a:pPr>
              <a:endParaRPr sz="1800" b="1" i="0" u="none" strike="noStrike" cap="none">
                <a:solidFill>
                  <a:schemeClr val="dk1"/>
                </a:solidFill>
                <a:latin typeface="Helvetica Neue"/>
                <a:ea typeface="Helvetica Neue"/>
                <a:cs typeface="Helvetica Neue"/>
                <a:sym typeface="Helvetica Neue"/>
              </a:endParaRPr>
            </a:p>
          </p:txBody>
        </p:sp>
        <p:sp>
          <p:nvSpPr>
            <p:cNvPr id="16" name="Google Shape;16;p11"/>
            <p:cNvSpPr/>
            <p:nvPr/>
          </p:nvSpPr>
          <p:spPr>
            <a:xfrm>
              <a:off x="778673" y="4708526"/>
              <a:ext cx="79375" cy="88900"/>
            </a:xfrm>
            <a:custGeom>
              <a:avLst/>
              <a:gdLst/>
              <a:ahLst/>
              <a:cxnLst/>
              <a:rect l="l" t="t" r="r" b="b"/>
              <a:pathLst>
                <a:path w="98" h="110" extrusionOk="0">
                  <a:moveTo>
                    <a:pt x="50" y="110"/>
                  </a:moveTo>
                  <a:cubicBezTo>
                    <a:pt x="19" y="110"/>
                    <a:pt x="0" y="90"/>
                    <a:pt x="0" y="55"/>
                  </a:cubicBezTo>
                  <a:cubicBezTo>
                    <a:pt x="0" y="20"/>
                    <a:pt x="19" y="0"/>
                    <a:pt x="49" y="0"/>
                  </a:cubicBezTo>
                  <a:cubicBezTo>
                    <a:pt x="80" y="0"/>
                    <a:pt x="98" y="20"/>
                    <a:pt x="98" y="54"/>
                  </a:cubicBezTo>
                  <a:cubicBezTo>
                    <a:pt x="98" y="56"/>
                    <a:pt x="97" y="57"/>
                    <a:pt x="97" y="59"/>
                  </a:cubicBezTo>
                  <a:cubicBezTo>
                    <a:pt x="27" y="59"/>
                    <a:pt x="27" y="59"/>
                    <a:pt x="27" y="59"/>
                  </a:cubicBezTo>
                  <a:cubicBezTo>
                    <a:pt x="28" y="79"/>
                    <a:pt x="36" y="89"/>
                    <a:pt x="52" y="89"/>
                  </a:cubicBezTo>
                  <a:cubicBezTo>
                    <a:pt x="63" y="89"/>
                    <a:pt x="70" y="85"/>
                    <a:pt x="76" y="76"/>
                  </a:cubicBezTo>
                  <a:cubicBezTo>
                    <a:pt x="96" y="87"/>
                    <a:pt x="96" y="87"/>
                    <a:pt x="96" y="87"/>
                  </a:cubicBezTo>
                  <a:cubicBezTo>
                    <a:pt x="87" y="102"/>
                    <a:pt x="71" y="110"/>
                    <a:pt x="50" y="110"/>
                  </a:cubicBezTo>
                  <a:close/>
                  <a:moveTo>
                    <a:pt x="70" y="41"/>
                  </a:moveTo>
                  <a:cubicBezTo>
                    <a:pt x="70" y="27"/>
                    <a:pt x="62" y="19"/>
                    <a:pt x="49" y="19"/>
                  </a:cubicBezTo>
                  <a:cubicBezTo>
                    <a:pt x="37" y="19"/>
                    <a:pt x="29" y="27"/>
                    <a:pt x="28" y="41"/>
                  </a:cubicBezTo>
                  <a:lnTo>
                    <a:pt x="70" y="41"/>
                  </a:lnTo>
                  <a:close/>
                </a:path>
              </a:pathLst>
            </a:cu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400"/>
                <a:buFont typeface="Arial"/>
                <a:buNone/>
              </a:pPr>
              <a:endParaRPr sz="1800" b="1" i="0" u="none" strike="noStrike" cap="none">
                <a:solidFill>
                  <a:schemeClr val="dk1"/>
                </a:solidFill>
                <a:latin typeface="Helvetica Neue"/>
                <a:ea typeface="Helvetica Neue"/>
                <a:cs typeface="Helvetica Neue"/>
                <a:sym typeface="Helvetica Neue"/>
              </a:endParaRPr>
            </a:p>
          </p:txBody>
        </p:sp>
        <p:sp>
          <p:nvSpPr>
            <p:cNvPr id="17" name="Google Shape;17;p11"/>
            <p:cNvSpPr/>
            <p:nvPr/>
          </p:nvSpPr>
          <p:spPr>
            <a:xfrm>
              <a:off x="346873" y="4708526"/>
              <a:ext cx="84138" cy="88900"/>
            </a:xfrm>
            <a:custGeom>
              <a:avLst/>
              <a:gdLst/>
              <a:ahLst/>
              <a:cxnLst/>
              <a:rect l="l" t="t" r="r" b="b"/>
              <a:pathLst>
                <a:path w="104" h="111" extrusionOk="0">
                  <a:moveTo>
                    <a:pt x="52" y="111"/>
                  </a:moveTo>
                  <a:cubicBezTo>
                    <a:pt x="25" y="111"/>
                    <a:pt x="0" y="93"/>
                    <a:pt x="0" y="55"/>
                  </a:cubicBezTo>
                  <a:cubicBezTo>
                    <a:pt x="0" y="17"/>
                    <a:pt x="25" y="0"/>
                    <a:pt x="52" y="0"/>
                  </a:cubicBezTo>
                  <a:cubicBezTo>
                    <a:pt x="79" y="0"/>
                    <a:pt x="104" y="17"/>
                    <a:pt x="104" y="55"/>
                  </a:cubicBezTo>
                  <a:cubicBezTo>
                    <a:pt x="104" y="93"/>
                    <a:pt x="79" y="111"/>
                    <a:pt x="52" y="111"/>
                  </a:cubicBezTo>
                  <a:close/>
                  <a:moveTo>
                    <a:pt x="52" y="23"/>
                  </a:moveTo>
                  <a:cubicBezTo>
                    <a:pt x="31" y="23"/>
                    <a:pt x="28" y="42"/>
                    <a:pt x="28" y="55"/>
                  </a:cubicBezTo>
                  <a:cubicBezTo>
                    <a:pt x="28" y="69"/>
                    <a:pt x="31" y="87"/>
                    <a:pt x="52" y="87"/>
                  </a:cubicBezTo>
                  <a:cubicBezTo>
                    <a:pt x="73" y="87"/>
                    <a:pt x="77" y="69"/>
                    <a:pt x="77" y="55"/>
                  </a:cubicBezTo>
                  <a:cubicBezTo>
                    <a:pt x="77" y="42"/>
                    <a:pt x="73" y="23"/>
                    <a:pt x="52" y="23"/>
                  </a:cubicBezTo>
                  <a:close/>
                </a:path>
              </a:pathLst>
            </a:cu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400"/>
                <a:buFont typeface="Arial"/>
                <a:buNone/>
              </a:pPr>
              <a:endParaRPr sz="1800" b="1" i="0" u="none" strike="noStrike" cap="none">
                <a:solidFill>
                  <a:schemeClr val="dk1"/>
                </a:solidFill>
                <a:latin typeface="Helvetica Neue"/>
                <a:ea typeface="Helvetica Neue"/>
                <a:cs typeface="Helvetica Neue"/>
                <a:sym typeface="Helvetica Neue"/>
              </a:endParaRPr>
            </a:p>
          </p:txBody>
        </p:sp>
        <p:sp>
          <p:nvSpPr>
            <p:cNvPr id="18" name="Google Shape;18;p11"/>
            <p:cNvSpPr/>
            <p:nvPr/>
          </p:nvSpPr>
          <p:spPr>
            <a:xfrm>
              <a:off x="446885" y="4708526"/>
              <a:ext cx="47625" cy="87313"/>
            </a:xfrm>
            <a:custGeom>
              <a:avLst/>
              <a:gdLst/>
              <a:ahLst/>
              <a:cxnLst/>
              <a:rect l="l" t="t" r="r" b="b"/>
              <a:pathLst>
                <a:path w="59" h="108" extrusionOk="0">
                  <a:moveTo>
                    <a:pt x="0" y="3"/>
                  </a:moveTo>
                  <a:cubicBezTo>
                    <a:pt x="26" y="3"/>
                    <a:pt x="26" y="3"/>
                    <a:pt x="26" y="3"/>
                  </a:cubicBezTo>
                  <a:cubicBezTo>
                    <a:pt x="26" y="15"/>
                    <a:pt x="26" y="15"/>
                    <a:pt x="26" y="15"/>
                  </a:cubicBezTo>
                  <a:cubicBezTo>
                    <a:pt x="31" y="8"/>
                    <a:pt x="44" y="0"/>
                    <a:pt x="55" y="0"/>
                  </a:cubicBezTo>
                  <a:cubicBezTo>
                    <a:pt x="57" y="0"/>
                    <a:pt x="58" y="0"/>
                    <a:pt x="59" y="1"/>
                  </a:cubicBezTo>
                  <a:cubicBezTo>
                    <a:pt x="59" y="27"/>
                    <a:pt x="59" y="27"/>
                    <a:pt x="59" y="27"/>
                  </a:cubicBezTo>
                  <a:cubicBezTo>
                    <a:pt x="59" y="27"/>
                    <a:pt x="58" y="27"/>
                    <a:pt x="58" y="27"/>
                  </a:cubicBezTo>
                  <a:cubicBezTo>
                    <a:pt x="46" y="27"/>
                    <a:pt x="32" y="28"/>
                    <a:pt x="28" y="38"/>
                  </a:cubicBezTo>
                  <a:cubicBezTo>
                    <a:pt x="28" y="108"/>
                    <a:pt x="28" y="108"/>
                    <a:pt x="28" y="108"/>
                  </a:cubicBezTo>
                  <a:cubicBezTo>
                    <a:pt x="0" y="108"/>
                    <a:pt x="0" y="108"/>
                    <a:pt x="0" y="108"/>
                  </a:cubicBezTo>
                  <a:lnTo>
                    <a:pt x="0" y="3"/>
                  </a:lnTo>
                  <a:close/>
                </a:path>
              </a:pathLst>
            </a:cu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400"/>
                <a:buFont typeface="Arial"/>
                <a:buNone/>
              </a:pPr>
              <a:endParaRPr sz="1800" b="1" i="0" u="none" strike="noStrike" cap="none">
                <a:solidFill>
                  <a:schemeClr val="dk1"/>
                </a:solidFill>
                <a:latin typeface="Helvetica Neue"/>
                <a:ea typeface="Helvetica Neue"/>
                <a:cs typeface="Helvetica Neue"/>
                <a:sym typeface="Helvetica Neue"/>
              </a:endParaRPr>
            </a:p>
          </p:txBody>
        </p:sp>
        <p:sp>
          <p:nvSpPr>
            <p:cNvPr id="19" name="Google Shape;19;p11"/>
            <p:cNvSpPr/>
            <p:nvPr/>
          </p:nvSpPr>
          <p:spPr>
            <a:xfrm>
              <a:off x="685010" y="4708526"/>
              <a:ext cx="79375" cy="120650"/>
            </a:xfrm>
            <a:custGeom>
              <a:avLst/>
              <a:gdLst/>
              <a:ahLst/>
              <a:cxnLst/>
              <a:rect l="l" t="t" r="r" b="b"/>
              <a:pathLst>
                <a:path w="98" h="149" extrusionOk="0">
                  <a:moveTo>
                    <a:pt x="49" y="85"/>
                  </a:moveTo>
                  <a:cubicBezTo>
                    <a:pt x="70" y="85"/>
                    <a:pt x="72" y="64"/>
                    <a:pt x="72" y="50"/>
                  </a:cubicBezTo>
                  <a:cubicBezTo>
                    <a:pt x="72" y="33"/>
                    <a:pt x="64" y="20"/>
                    <a:pt x="49" y="20"/>
                  </a:cubicBezTo>
                  <a:cubicBezTo>
                    <a:pt x="39" y="20"/>
                    <a:pt x="28" y="27"/>
                    <a:pt x="28" y="51"/>
                  </a:cubicBezTo>
                  <a:cubicBezTo>
                    <a:pt x="28" y="64"/>
                    <a:pt x="29" y="85"/>
                    <a:pt x="49" y="85"/>
                  </a:cubicBezTo>
                  <a:close/>
                  <a:moveTo>
                    <a:pt x="98" y="2"/>
                  </a:moveTo>
                  <a:cubicBezTo>
                    <a:pt x="98" y="102"/>
                    <a:pt x="98" y="102"/>
                    <a:pt x="98" y="102"/>
                  </a:cubicBezTo>
                  <a:cubicBezTo>
                    <a:pt x="98" y="119"/>
                    <a:pt x="97" y="148"/>
                    <a:pt x="47" y="149"/>
                  </a:cubicBezTo>
                  <a:cubicBezTo>
                    <a:pt x="26" y="149"/>
                    <a:pt x="7" y="141"/>
                    <a:pt x="3" y="123"/>
                  </a:cubicBezTo>
                  <a:cubicBezTo>
                    <a:pt x="30" y="118"/>
                    <a:pt x="30" y="118"/>
                    <a:pt x="30" y="118"/>
                  </a:cubicBezTo>
                  <a:cubicBezTo>
                    <a:pt x="32" y="123"/>
                    <a:pt x="35" y="128"/>
                    <a:pt x="50" y="128"/>
                  </a:cubicBezTo>
                  <a:cubicBezTo>
                    <a:pt x="65" y="128"/>
                    <a:pt x="72" y="122"/>
                    <a:pt x="72" y="105"/>
                  </a:cubicBezTo>
                  <a:cubicBezTo>
                    <a:pt x="72" y="93"/>
                    <a:pt x="72" y="93"/>
                    <a:pt x="72" y="93"/>
                  </a:cubicBezTo>
                  <a:cubicBezTo>
                    <a:pt x="71" y="92"/>
                    <a:pt x="71" y="92"/>
                    <a:pt x="71" y="92"/>
                  </a:cubicBezTo>
                  <a:cubicBezTo>
                    <a:pt x="67" y="100"/>
                    <a:pt x="60" y="108"/>
                    <a:pt x="44" y="108"/>
                  </a:cubicBezTo>
                  <a:cubicBezTo>
                    <a:pt x="19" y="108"/>
                    <a:pt x="0" y="91"/>
                    <a:pt x="0" y="55"/>
                  </a:cubicBezTo>
                  <a:cubicBezTo>
                    <a:pt x="0" y="20"/>
                    <a:pt x="20" y="0"/>
                    <a:pt x="42" y="0"/>
                  </a:cubicBezTo>
                  <a:cubicBezTo>
                    <a:pt x="63" y="0"/>
                    <a:pt x="71" y="10"/>
                    <a:pt x="73" y="15"/>
                  </a:cubicBezTo>
                  <a:cubicBezTo>
                    <a:pt x="73" y="15"/>
                    <a:pt x="73" y="15"/>
                    <a:pt x="73" y="15"/>
                  </a:cubicBezTo>
                  <a:cubicBezTo>
                    <a:pt x="75" y="2"/>
                    <a:pt x="75" y="2"/>
                    <a:pt x="75" y="2"/>
                  </a:cubicBezTo>
                  <a:lnTo>
                    <a:pt x="98" y="2"/>
                  </a:lnTo>
                  <a:close/>
                </a:path>
              </a:pathLst>
            </a:cu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400"/>
                <a:buFont typeface="Arial"/>
                <a:buNone/>
              </a:pPr>
              <a:endParaRPr sz="1800" b="1" i="0" u="none" strike="noStrike" cap="none">
                <a:solidFill>
                  <a:schemeClr val="dk1"/>
                </a:solidFill>
                <a:latin typeface="Helvetica Neue"/>
                <a:ea typeface="Helvetica Neue"/>
                <a:cs typeface="Helvetica Neue"/>
                <a:sym typeface="Helvetica Neue"/>
              </a:endParaRPr>
            </a:p>
          </p:txBody>
        </p:sp>
        <p:sp>
          <p:nvSpPr>
            <p:cNvPr id="20" name="Google Shape;20;p11"/>
            <p:cNvSpPr/>
            <p:nvPr/>
          </p:nvSpPr>
          <p:spPr>
            <a:xfrm>
              <a:off x="843760" y="4678363"/>
              <a:ext cx="58738" cy="26988"/>
            </a:xfrm>
            <a:custGeom>
              <a:avLst/>
              <a:gdLst/>
              <a:ahLst/>
              <a:cxnLst/>
              <a:rect l="l" t="t" r="r" b="b"/>
              <a:pathLst>
                <a:path w="37" h="17" extrusionOk="0">
                  <a:moveTo>
                    <a:pt x="14" y="2"/>
                  </a:moveTo>
                  <a:lnTo>
                    <a:pt x="9" y="2"/>
                  </a:lnTo>
                  <a:lnTo>
                    <a:pt x="9" y="17"/>
                  </a:lnTo>
                  <a:lnTo>
                    <a:pt x="6" y="17"/>
                  </a:lnTo>
                  <a:lnTo>
                    <a:pt x="6" y="2"/>
                  </a:lnTo>
                  <a:lnTo>
                    <a:pt x="0" y="2"/>
                  </a:lnTo>
                  <a:lnTo>
                    <a:pt x="0" y="0"/>
                  </a:lnTo>
                  <a:lnTo>
                    <a:pt x="14" y="0"/>
                  </a:lnTo>
                  <a:lnTo>
                    <a:pt x="14" y="2"/>
                  </a:lnTo>
                  <a:close/>
                  <a:moveTo>
                    <a:pt x="37" y="17"/>
                  </a:moveTo>
                  <a:lnTo>
                    <a:pt x="34" y="17"/>
                  </a:lnTo>
                  <a:lnTo>
                    <a:pt x="34" y="2"/>
                  </a:lnTo>
                  <a:lnTo>
                    <a:pt x="34" y="2"/>
                  </a:lnTo>
                  <a:lnTo>
                    <a:pt x="29" y="17"/>
                  </a:lnTo>
                  <a:lnTo>
                    <a:pt x="27" y="17"/>
                  </a:lnTo>
                  <a:lnTo>
                    <a:pt x="21" y="2"/>
                  </a:lnTo>
                  <a:lnTo>
                    <a:pt x="20" y="2"/>
                  </a:lnTo>
                  <a:lnTo>
                    <a:pt x="20" y="17"/>
                  </a:lnTo>
                  <a:lnTo>
                    <a:pt x="18" y="17"/>
                  </a:lnTo>
                  <a:lnTo>
                    <a:pt x="18" y="0"/>
                  </a:lnTo>
                  <a:lnTo>
                    <a:pt x="22" y="0"/>
                  </a:lnTo>
                  <a:lnTo>
                    <a:pt x="28" y="13"/>
                  </a:lnTo>
                  <a:lnTo>
                    <a:pt x="33" y="0"/>
                  </a:lnTo>
                  <a:lnTo>
                    <a:pt x="37" y="0"/>
                  </a:lnTo>
                  <a:lnTo>
                    <a:pt x="37" y="17"/>
                  </a:lnTo>
                  <a:close/>
                </a:path>
              </a:pathLst>
            </a:cu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400"/>
                <a:buFont typeface="Arial"/>
                <a:buNone/>
              </a:pPr>
              <a:endParaRPr sz="1800" b="1" i="0" u="none" strike="noStrike" cap="none">
                <a:solidFill>
                  <a:schemeClr val="dk1"/>
                </a:solidFill>
                <a:latin typeface="Helvetica Neue"/>
                <a:ea typeface="Helvetica Neue"/>
                <a:cs typeface="Helvetica Neue"/>
                <a:sym typeface="Helvetica Neue"/>
              </a:endParaRPr>
            </a:p>
          </p:txBody>
        </p:sp>
      </p:grpSp>
      <p:sp>
        <p:nvSpPr>
          <p:cNvPr id="21" name="Google Shape;21;p11"/>
          <p:cNvSpPr txBox="1"/>
          <p:nvPr/>
        </p:nvSpPr>
        <p:spPr>
          <a:xfrm>
            <a:off x="288771" y="479081"/>
            <a:ext cx="1703993" cy="81560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FF7900"/>
              </a:buClr>
              <a:buSzPts val="3533"/>
              <a:buFont typeface="Helvetica Neue"/>
              <a:buNone/>
            </a:pPr>
            <a:r>
              <a:rPr lang="en-US" sz="2650" b="1" i="0" u="none" strike="noStrike" cap="none">
                <a:solidFill>
                  <a:srgbClr val="FF7900"/>
                </a:solidFill>
                <a:latin typeface="Helvetica Neue"/>
                <a:ea typeface="Helvetica Neue"/>
                <a:cs typeface="Helvetica Neue"/>
                <a:sym typeface="Helvetica Neue"/>
              </a:rPr>
              <a:t>Orange</a:t>
            </a: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chemeClr val="dk1"/>
              </a:buClr>
              <a:buSzPts val="3533"/>
              <a:buFont typeface="Helvetica Neue"/>
              <a:buNone/>
            </a:pPr>
            <a:r>
              <a:rPr lang="en-US" sz="2650" b="1" i="0" u="none" strike="noStrike" cap="none">
                <a:solidFill>
                  <a:schemeClr val="dk1"/>
                </a:solidFill>
                <a:latin typeface="Helvetica Neue"/>
                <a:ea typeface="Helvetica Neue"/>
                <a:cs typeface="Helvetica Neue"/>
                <a:sym typeface="Helvetica Neue"/>
              </a:rPr>
              <a:t>Innovation</a:t>
            </a:r>
            <a:endParaRPr sz="1800" b="0" i="0" u="none" strike="noStrike" cap="none">
              <a:solidFill>
                <a:schemeClr val="dk1"/>
              </a:solidFill>
              <a:latin typeface="Arial"/>
              <a:ea typeface="Arial"/>
              <a:cs typeface="Arial"/>
              <a:sym typeface="Arial"/>
            </a:endParaRPr>
          </a:p>
        </p:txBody>
      </p:sp>
      <p:cxnSp>
        <p:nvCxnSpPr>
          <p:cNvPr id="22" name="Google Shape;22;p11"/>
          <p:cNvCxnSpPr/>
          <p:nvPr/>
        </p:nvCxnSpPr>
        <p:spPr>
          <a:xfrm>
            <a:off x="332630" y="123479"/>
            <a:ext cx="0" cy="277345"/>
          </a:xfrm>
          <a:prstGeom prst="straightConnector1">
            <a:avLst/>
          </a:prstGeom>
          <a:noFill/>
          <a:ln w="53975" cap="flat" cmpd="sng">
            <a:solidFill>
              <a:srgbClr val="FF7900"/>
            </a:solidFill>
            <a:prstDash val="solid"/>
            <a:round/>
            <a:headEnd type="none" w="sm" len="sm"/>
            <a:tailEnd type="none" w="sm" len="sm"/>
          </a:ln>
        </p:spPr>
      </p:cxnSp>
      <p:cxnSp>
        <p:nvCxnSpPr>
          <p:cNvPr id="23" name="Google Shape;23;p11"/>
          <p:cNvCxnSpPr/>
          <p:nvPr/>
        </p:nvCxnSpPr>
        <p:spPr>
          <a:xfrm>
            <a:off x="331934" y="1203598"/>
            <a:ext cx="696" cy="3673202"/>
          </a:xfrm>
          <a:prstGeom prst="straightConnector1">
            <a:avLst/>
          </a:prstGeom>
          <a:noFill/>
          <a:ln w="53975" cap="flat" cmpd="sng">
            <a:solidFill>
              <a:srgbClr val="FF7900"/>
            </a:solidFill>
            <a:prstDash val="solid"/>
            <a:round/>
            <a:headEnd type="none" w="sm" len="sm"/>
            <a:tailEnd type="none" w="sm" len="sm"/>
          </a:ln>
        </p:spPr>
      </p:cxnSp>
    </p:spTree>
    <p:extLst>
      <p:ext uri="{BB962C8B-B14F-4D97-AF65-F5344CB8AC3E}">
        <p14:creationId xmlns:p14="http://schemas.microsoft.com/office/powerpoint/2010/main" val="34363125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ontents">
  <p:cSld name="Contents">
    <p:spTree>
      <p:nvGrpSpPr>
        <p:cNvPr id="1" name="Shape 24"/>
        <p:cNvGrpSpPr/>
        <p:nvPr/>
      </p:nvGrpSpPr>
      <p:grpSpPr>
        <a:xfrm>
          <a:off x="0" y="0"/>
          <a:ext cx="0" cy="0"/>
          <a:chOff x="0" y="0"/>
          <a:chExt cx="0" cy="0"/>
        </a:xfrm>
      </p:grpSpPr>
      <p:sp>
        <p:nvSpPr>
          <p:cNvPr id="25" name="Google Shape;25;p14"/>
          <p:cNvSpPr txBox="1">
            <a:spLocks noGrp="1"/>
          </p:cNvSpPr>
          <p:nvPr>
            <p:ph type="body" idx="1"/>
          </p:nvPr>
        </p:nvSpPr>
        <p:spPr>
          <a:xfrm>
            <a:off x="314326" y="267495"/>
            <a:ext cx="8515349" cy="4283869"/>
          </a:xfrm>
          <a:prstGeom prst="rect">
            <a:avLst/>
          </a:prstGeom>
          <a:noFill/>
          <a:ln>
            <a:noFill/>
          </a:ln>
        </p:spPr>
        <p:txBody>
          <a:bodyPr spcFirstLastPara="1" wrap="square" lIns="0" tIns="0" rIns="0" bIns="0" anchor="t" anchorCtr="0">
            <a:noAutofit/>
          </a:bodyPr>
          <a:lstStyle>
            <a:lvl1pPr marL="342900" lvl="0" indent="-171450" algn="l">
              <a:lnSpc>
                <a:spcPct val="90000"/>
              </a:lnSpc>
              <a:spcBef>
                <a:spcPts val="0"/>
              </a:spcBef>
              <a:spcAft>
                <a:spcPts val="0"/>
              </a:spcAft>
              <a:buSzPts val="750"/>
              <a:buNone/>
              <a:defRPr sz="3000"/>
            </a:lvl1pPr>
            <a:lvl2pPr marL="685800" lvl="1" indent="-314325" algn="l">
              <a:lnSpc>
                <a:spcPct val="90000"/>
              </a:lnSpc>
              <a:spcBef>
                <a:spcPts val="0"/>
              </a:spcBef>
              <a:spcAft>
                <a:spcPts val="0"/>
              </a:spcAft>
              <a:buClr>
                <a:schemeClr val="dk1"/>
              </a:buClr>
              <a:buSzPts val="3000"/>
              <a:buFont typeface="Helvetica Neue"/>
              <a:buAutoNum type="arabicPeriod"/>
              <a:defRPr sz="3000"/>
            </a:lvl2pPr>
            <a:lvl3pPr marL="1028700" lvl="2" indent="-257175" algn="l">
              <a:lnSpc>
                <a:spcPct val="90000"/>
              </a:lnSpc>
              <a:spcBef>
                <a:spcPts val="600"/>
              </a:spcBef>
              <a:spcAft>
                <a:spcPts val="0"/>
              </a:spcAft>
              <a:buSzPts val="1800"/>
              <a:buChar char="▪"/>
              <a:defRPr sz="1800"/>
            </a:lvl3pPr>
            <a:lvl4pPr marL="1371600" lvl="3" indent="-257175" algn="l">
              <a:lnSpc>
                <a:spcPct val="90000"/>
              </a:lnSpc>
              <a:spcBef>
                <a:spcPts val="360"/>
              </a:spcBef>
              <a:spcAft>
                <a:spcPts val="0"/>
              </a:spcAft>
              <a:buClr>
                <a:schemeClr val="dk1"/>
              </a:buClr>
              <a:buSzPts val="1800"/>
              <a:buChar char="–"/>
              <a:defRPr sz="1800"/>
            </a:lvl4pPr>
            <a:lvl5pPr marL="1714500" lvl="4" indent="-257175" algn="l">
              <a:lnSpc>
                <a:spcPct val="90000"/>
              </a:lnSpc>
              <a:spcBef>
                <a:spcPts val="360"/>
              </a:spcBef>
              <a:spcAft>
                <a:spcPts val="0"/>
              </a:spcAft>
              <a:buSzPts val="1800"/>
              <a:buChar char="–"/>
              <a:defRPr sz="1800"/>
            </a:lvl5pPr>
            <a:lvl6pPr marL="2057400" lvl="5" indent="-257175" algn="l">
              <a:lnSpc>
                <a:spcPct val="100000"/>
              </a:lnSpc>
              <a:spcBef>
                <a:spcPts val="360"/>
              </a:spcBef>
              <a:spcAft>
                <a:spcPts val="0"/>
              </a:spcAft>
              <a:buClr>
                <a:schemeClr val="dk1"/>
              </a:buClr>
              <a:buSzPts val="1800"/>
              <a:buChar char="–"/>
              <a:defRPr/>
            </a:lvl6pPr>
            <a:lvl7pPr marL="2400300" lvl="6" indent="-257175" algn="l">
              <a:lnSpc>
                <a:spcPct val="100000"/>
              </a:lnSpc>
              <a:spcBef>
                <a:spcPts val="360"/>
              </a:spcBef>
              <a:spcAft>
                <a:spcPts val="0"/>
              </a:spcAft>
              <a:buClr>
                <a:schemeClr val="dk1"/>
              </a:buClr>
              <a:buSzPts val="1800"/>
              <a:buChar char="•"/>
              <a:defRPr/>
            </a:lvl7pPr>
            <a:lvl8pPr marL="2743200" lvl="7" indent="-257175" algn="l">
              <a:lnSpc>
                <a:spcPct val="100000"/>
              </a:lnSpc>
              <a:spcBef>
                <a:spcPts val="360"/>
              </a:spcBef>
              <a:spcAft>
                <a:spcPts val="0"/>
              </a:spcAft>
              <a:buClr>
                <a:schemeClr val="dk1"/>
              </a:buClr>
              <a:buSzPts val="1800"/>
              <a:buChar char="•"/>
              <a:defRPr/>
            </a:lvl8pPr>
            <a:lvl9pPr marL="3086100" lvl="8" indent="-257175" algn="l">
              <a:lnSpc>
                <a:spcPct val="100000"/>
              </a:lnSpc>
              <a:spcBef>
                <a:spcPts val="360"/>
              </a:spcBef>
              <a:spcAft>
                <a:spcPts val="0"/>
              </a:spcAft>
              <a:buClr>
                <a:schemeClr val="dk1"/>
              </a:buClr>
              <a:buSzPts val="1800"/>
              <a:buChar char="•"/>
              <a:defRPr/>
            </a:lvl9pPr>
          </a:lstStyle>
          <a:p>
            <a:endParaRPr/>
          </a:p>
        </p:txBody>
      </p:sp>
      <p:sp>
        <p:nvSpPr>
          <p:cNvPr id="26" name="Google Shape;26;p14"/>
          <p:cNvSpPr txBox="1"/>
          <p:nvPr/>
        </p:nvSpPr>
        <p:spPr>
          <a:xfrm>
            <a:off x="619545" y="4749148"/>
            <a:ext cx="900888" cy="123111"/>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Clr>
                <a:schemeClr val="lt2"/>
              </a:buClr>
              <a:buSzPts val="1067"/>
              <a:buFont typeface="Helvetica Neue"/>
              <a:buNone/>
            </a:pPr>
            <a:r>
              <a:rPr lang="en-US" sz="800" b="1" i="0" u="none" strike="noStrike" cap="none">
                <a:solidFill>
                  <a:schemeClr val="lt2"/>
                </a:solidFill>
                <a:latin typeface="Helvetica Neue"/>
                <a:ea typeface="Helvetica Neue"/>
                <a:cs typeface="Helvetica Neue"/>
                <a:sym typeface="Helvetica Neue"/>
              </a:rPr>
              <a:t>Orange Restricted</a:t>
            </a:r>
            <a:endParaRPr sz="1800">
              <a:solidFill>
                <a:schemeClr val="dk1"/>
              </a:solidFill>
              <a:latin typeface="Arial"/>
              <a:ea typeface="Arial"/>
              <a:cs typeface="Arial"/>
              <a:sym typeface="Arial"/>
            </a:endParaRPr>
          </a:p>
        </p:txBody>
      </p:sp>
    </p:spTree>
    <p:extLst>
      <p:ext uri="{BB962C8B-B14F-4D97-AF65-F5344CB8AC3E}">
        <p14:creationId xmlns:p14="http://schemas.microsoft.com/office/powerpoint/2010/main" val="21107267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re de section">
  <p:cSld name="Titre de section">
    <p:spTree>
      <p:nvGrpSpPr>
        <p:cNvPr id="1" name="Shape 27"/>
        <p:cNvGrpSpPr/>
        <p:nvPr/>
      </p:nvGrpSpPr>
      <p:grpSpPr>
        <a:xfrm>
          <a:off x="0" y="0"/>
          <a:ext cx="0" cy="0"/>
          <a:chOff x="0" y="0"/>
          <a:chExt cx="0" cy="0"/>
        </a:xfrm>
      </p:grpSpPr>
      <p:sp>
        <p:nvSpPr>
          <p:cNvPr id="28" name="Google Shape;28;p15"/>
          <p:cNvSpPr txBox="1">
            <a:spLocks noGrp="1"/>
          </p:cNvSpPr>
          <p:nvPr>
            <p:ph type="body" idx="1"/>
          </p:nvPr>
        </p:nvSpPr>
        <p:spPr>
          <a:xfrm>
            <a:off x="313770" y="268289"/>
            <a:ext cx="6096839" cy="4283075"/>
          </a:xfrm>
          <a:prstGeom prst="rect">
            <a:avLst/>
          </a:prstGeom>
          <a:noFill/>
          <a:ln>
            <a:noFill/>
          </a:ln>
        </p:spPr>
        <p:txBody>
          <a:bodyPr spcFirstLastPara="1" wrap="square" lIns="0" tIns="0" rIns="0" bIns="0" anchor="t" anchorCtr="0">
            <a:normAutofit/>
          </a:bodyPr>
          <a:lstStyle>
            <a:lvl1pPr marL="342900" lvl="0" indent="-171450" algn="l">
              <a:lnSpc>
                <a:spcPct val="85000"/>
              </a:lnSpc>
              <a:spcBef>
                <a:spcPts val="0"/>
              </a:spcBef>
              <a:spcAft>
                <a:spcPts val="0"/>
              </a:spcAft>
              <a:buSzPts val="1375"/>
              <a:buNone/>
              <a:defRPr sz="5500"/>
            </a:lvl1pPr>
            <a:lvl2pPr marL="685800" lvl="1" indent="-171450" algn="l">
              <a:lnSpc>
                <a:spcPct val="85000"/>
              </a:lnSpc>
              <a:spcBef>
                <a:spcPts val="0"/>
              </a:spcBef>
              <a:spcAft>
                <a:spcPts val="0"/>
              </a:spcAft>
              <a:buSzPts val="1375"/>
              <a:buNone/>
              <a:defRPr sz="5500"/>
            </a:lvl2pPr>
            <a:lvl3pPr marL="1028700" lvl="2" indent="-433388" algn="l">
              <a:lnSpc>
                <a:spcPct val="90000"/>
              </a:lnSpc>
              <a:spcBef>
                <a:spcPts val="600"/>
              </a:spcBef>
              <a:spcAft>
                <a:spcPts val="0"/>
              </a:spcAft>
              <a:buSzPts val="5500"/>
              <a:buChar char="▪"/>
              <a:defRPr sz="5500"/>
            </a:lvl3pPr>
            <a:lvl4pPr marL="1371600" lvl="3" indent="-433388" algn="l">
              <a:lnSpc>
                <a:spcPct val="90000"/>
              </a:lnSpc>
              <a:spcBef>
                <a:spcPts val="1100"/>
              </a:spcBef>
              <a:spcAft>
                <a:spcPts val="0"/>
              </a:spcAft>
              <a:buClr>
                <a:schemeClr val="dk1"/>
              </a:buClr>
              <a:buSzPts val="5500"/>
              <a:buChar char="–"/>
              <a:defRPr sz="5500"/>
            </a:lvl4pPr>
            <a:lvl5pPr marL="1714500" lvl="4" indent="-433388" algn="l">
              <a:lnSpc>
                <a:spcPct val="90000"/>
              </a:lnSpc>
              <a:spcBef>
                <a:spcPts val="1100"/>
              </a:spcBef>
              <a:spcAft>
                <a:spcPts val="0"/>
              </a:spcAft>
              <a:buSzPts val="5500"/>
              <a:buChar char="–"/>
              <a:defRPr sz="5500"/>
            </a:lvl5pPr>
            <a:lvl6pPr marL="2057400" lvl="5" indent="-257175" algn="l">
              <a:lnSpc>
                <a:spcPct val="100000"/>
              </a:lnSpc>
              <a:spcBef>
                <a:spcPts val="360"/>
              </a:spcBef>
              <a:spcAft>
                <a:spcPts val="0"/>
              </a:spcAft>
              <a:buClr>
                <a:schemeClr val="dk1"/>
              </a:buClr>
              <a:buSzPts val="1800"/>
              <a:buChar char="–"/>
              <a:defRPr/>
            </a:lvl6pPr>
            <a:lvl7pPr marL="2400300" lvl="6" indent="-257175" algn="l">
              <a:lnSpc>
                <a:spcPct val="100000"/>
              </a:lnSpc>
              <a:spcBef>
                <a:spcPts val="360"/>
              </a:spcBef>
              <a:spcAft>
                <a:spcPts val="0"/>
              </a:spcAft>
              <a:buClr>
                <a:schemeClr val="dk1"/>
              </a:buClr>
              <a:buSzPts val="1800"/>
              <a:buChar char="•"/>
              <a:defRPr/>
            </a:lvl7pPr>
            <a:lvl8pPr marL="2743200" lvl="7" indent="-257175" algn="l">
              <a:lnSpc>
                <a:spcPct val="100000"/>
              </a:lnSpc>
              <a:spcBef>
                <a:spcPts val="360"/>
              </a:spcBef>
              <a:spcAft>
                <a:spcPts val="0"/>
              </a:spcAft>
              <a:buClr>
                <a:schemeClr val="dk1"/>
              </a:buClr>
              <a:buSzPts val="1800"/>
              <a:buChar char="•"/>
              <a:defRPr/>
            </a:lvl8pPr>
            <a:lvl9pPr marL="3086100" lvl="8" indent="-257175" algn="l">
              <a:lnSpc>
                <a:spcPct val="100000"/>
              </a:lnSpc>
              <a:spcBef>
                <a:spcPts val="360"/>
              </a:spcBef>
              <a:spcAft>
                <a:spcPts val="0"/>
              </a:spcAft>
              <a:buClr>
                <a:schemeClr val="dk1"/>
              </a:buClr>
              <a:buSzPts val="1800"/>
              <a:buChar char="•"/>
              <a:defRPr/>
            </a:lvl9pPr>
          </a:lstStyle>
          <a:p>
            <a:endParaRPr/>
          </a:p>
        </p:txBody>
      </p:sp>
      <p:sp>
        <p:nvSpPr>
          <p:cNvPr id="29" name="Google Shape;29;p15"/>
          <p:cNvSpPr txBox="1"/>
          <p:nvPr/>
        </p:nvSpPr>
        <p:spPr>
          <a:xfrm>
            <a:off x="619545" y="4749148"/>
            <a:ext cx="900888" cy="123111"/>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Clr>
                <a:schemeClr val="lt2"/>
              </a:buClr>
              <a:buSzPts val="1067"/>
              <a:buFont typeface="Helvetica Neue"/>
              <a:buNone/>
            </a:pPr>
            <a:r>
              <a:rPr lang="en-US" sz="800" b="1" i="0" u="none" strike="noStrike" cap="none">
                <a:solidFill>
                  <a:schemeClr val="lt2"/>
                </a:solidFill>
                <a:latin typeface="Helvetica Neue"/>
                <a:ea typeface="Helvetica Neue"/>
                <a:cs typeface="Helvetica Neue"/>
                <a:sym typeface="Helvetica Neue"/>
              </a:rPr>
              <a:t>Orange Restricted</a:t>
            </a:r>
            <a:endParaRPr sz="1800">
              <a:solidFill>
                <a:schemeClr val="dk1"/>
              </a:solidFill>
              <a:latin typeface="Arial"/>
              <a:ea typeface="Arial"/>
              <a:cs typeface="Arial"/>
              <a:sym typeface="Arial"/>
            </a:endParaRPr>
          </a:p>
        </p:txBody>
      </p:sp>
    </p:spTree>
    <p:extLst>
      <p:ext uri="{BB962C8B-B14F-4D97-AF65-F5344CB8AC3E}">
        <p14:creationId xmlns:p14="http://schemas.microsoft.com/office/powerpoint/2010/main" val="10198232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eux contenus">
  <p:cSld name="Deux contenus">
    <p:spTree>
      <p:nvGrpSpPr>
        <p:cNvPr id="1" name="Shape 30"/>
        <p:cNvGrpSpPr/>
        <p:nvPr/>
      </p:nvGrpSpPr>
      <p:grpSpPr>
        <a:xfrm>
          <a:off x="0" y="0"/>
          <a:ext cx="0" cy="0"/>
          <a:chOff x="0" y="0"/>
          <a:chExt cx="0" cy="0"/>
        </a:xfrm>
      </p:grpSpPr>
      <p:sp>
        <p:nvSpPr>
          <p:cNvPr id="31" name="Google Shape;31;p16"/>
          <p:cNvSpPr txBox="1">
            <a:spLocks noGrp="1"/>
          </p:cNvSpPr>
          <p:nvPr>
            <p:ph type="body" idx="1"/>
          </p:nvPr>
        </p:nvSpPr>
        <p:spPr>
          <a:xfrm>
            <a:off x="313201" y="1181101"/>
            <a:ext cx="3968055" cy="3370262"/>
          </a:xfrm>
          <a:prstGeom prst="rect">
            <a:avLst/>
          </a:prstGeom>
          <a:noFill/>
          <a:ln>
            <a:noFill/>
          </a:ln>
        </p:spPr>
        <p:txBody>
          <a:bodyPr spcFirstLastPara="1" wrap="square" lIns="0" tIns="0" rIns="0" bIns="0" anchor="t" anchorCtr="0">
            <a:normAutofit/>
          </a:bodyPr>
          <a:lstStyle>
            <a:lvl1pPr marL="342900" lvl="0" indent="-171450" algn="l">
              <a:lnSpc>
                <a:spcPct val="90000"/>
              </a:lnSpc>
              <a:spcBef>
                <a:spcPts val="600"/>
              </a:spcBef>
              <a:spcAft>
                <a:spcPts val="0"/>
              </a:spcAft>
              <a:buSzPts val="350"/>
              <a:buNone/>
              <a:defRPr sz="1400"/>
            </a:lvl1pPr>
            <a:lvl2pPr marL="685800" lvl="1" indent="-171450" algn="l">
              <a:lnSpc>
                <a:spcPct val="90000"/>
              </a:lnSpc>
              <a:spcBef>
                <a:spcPts val="600"/>
              </a:spcBef>
              <a:spcAft>
                <a:spcPts val="0"/>
              </a:spcAft>
              <a:buSzPts val="350"/>
              <a:buNone/>
              <a:defRPr sz="1400">
                <a:solidFill>
                  <a:schemeClr val="dk1"/>
                </a:solidFill>
              </a:defRPr>
            </a:lvl2pPr>
            <a:lvl3pPr marL="1028700" lvl="2" indent="-238125" algn="l">
              <a:lnSpc>
                <a:spcPct val="90000"/>
              </a:lnSpc>
              <a:spcBef>
                <a:spcPts val="600"/>
              </a:spcBef>
              <a:spcAft>
                <a:spcPts val="0"/>
              </a:spcAft>
              <a:buSzPts val="1400"/>
              <a:buChar char="▪"/>
              <a:defRPr sz="1400">
                <a:solidFill>
                  <a:schemeClr val="dk1"/>
                </a:solidFill>
              </a:defRPr>
            </a:lvl3pPr>
            <a:lvl4pPr marL="1371600" lvl="3" indent="-238125" algn="l">
              <a:lnSpc>
                <a:spcPct val="90000"/>
              </a:lnSpc>
              <a:spcBef>
                <a:spcPts val="280"/>
              </a:spcBef>
              <a:spcAft>
                <a:spcPts val="0"/>
              </a:spcAft>
              <a:buClr>
                <a:schemeClr val="dk1"/>
              </a:buClr>
              <a:buSzPts val="1400"/>
              <a:buChar char="–"/>
              <a:defRPr sz="1400">
                <a:solidFill>
                  <a:schemeClr val="dk1"/>
                </a:solidFill>
              </a:defRPr>
            </a:lvl4pPr>
            <a:lvl5pPr marL="1714500" lvl="4" indent="-238125" algn="l">
              <a:lnSpc>
                <a:spcPct val="90000"/>
              </a:lnSpc>
              <a:spcBef>
                <a:spcPts val="280"/>
              </a:spcBef>
              <a:spcAft>
                <a:spcPts val="0"/>
              </a:spcAft>
              <a:buSzPts val="1400"/>
              <a:buChar char="–"/>
              <a:defRPr sz="1400">
                <a:solidFill>
                  <a:schemeClr val="dk1"/>
                </a:solidFill>
              </a:defRPr>
            </a:lvl5pPr>
            <a:lvl6pPr marL="2057400" lvl="5" indent="-238125" algn="l">
              <a:lnSpc>
                <a:spcPct val="100000"/>
              </a:lnSpc>
              <a:spcBef>
                <a:spcPts val="280"/>
              </a:spcBef>
              <a:spcAft>
                <a:spcPts val="0"/>
              </a:spcAft>
              <a:buClr>
                <a:schemeClr val="dk1"/>
              </a:buClr>
              <a:buSzPts val="1400"/>
              <a:buChar char="–"/>
              <a:defRPr sz="1400"/>
            </a:lvl6pPr>
            <a:lvl7pPr marL="2400300" lvl="6" indent="-257175" algn="l">
              <a:lnSpc>
                <a:spcPct val="100000"/>
              </a:lnSpc>
              <a:spcBef>
                <a:spcPts val="360"/>
              </a:spcBef>
              <a:spcAft>
                <a:spcPts val="0"/>
              </a:spcAft>
              <a:buClr>
                <a:schemeClr val="dk1"/>
              </a:buClr>
              <a:buSzPts val="1800"/>
              <a:buChar char="•"/>
              <a:defRPr sz="1800"/>
            </a:lvl7pPr>
            <a:lvl8pPr marL="2743200" lvl="7" indent="-257175" algn="l">
              <a:lnSpc>
                <a:spcPct val="100000"/>
              </a:lnSpc>
              <a:spcBef>
                <a:spcPts val="360"/>
              </a:spcBef>
              <a:spcAft>
                <a:spcPts val="0"/>
              </a:spcAft>
              <a:buClr>
                <a:schemeClr val="dk1"/>
              </a:buClr>
              <a:buSzPts val="1800"/>
              <a:buChar char="•"/>
              <a:defRPr sz="1800"/>
            </a:lvl8pPr>
            <a:lvl9pPr marL="3086100" lvl="8" indent="-257175" algn="l">
              <a:lnSpc>
                <a:spcPct val="100000"/>
              </a:lnSpc>
              <a:spcBef>
                <a:spcPts val="360"/>
              </a:spcBef>
              <a:spcAft>
                <a:spcPts val="0"/>
              </a:spcAft>
              <a:buClr>
                <a:schemeClr val="dk1"/>
              </a:buClr>
              <a:buSzPts val="1800"/>
              <a:buChar char="•"/>
              <a:defRPr sz="1800"/>
            </a:lvl9pPr>
          </a:lstStyle>
          <a:p>
            <a:endParaRPr/>
          </a:p>
        </p:txBody>
      </p:sp>
      <p:sp>
        <p:nvSpPr>
          <p:cNvPr id="32" name="Google Shape;32;p16"/>
          <p:cNvSpPr txBox="1">
            <a:spLocks noGrp="1"/>
          </p:cNvSpPr>
          <p:nvPr>
            <p:ph type="body" idx="2"/>
          </p:nvPr>
        </p:nvSpPr>
        <p:spPr>
          <a:xfrm>
            <a:off x="4864795" y="1181101"/>
            <a:ext cx="3964880" cy="3370262"/>
          </a:xfrm>
          <a:prstGeom prst="rect">
            <a:avLst/>
          </a:prstGeom>
          <a:noFill/>
          <a:ln>
            <a:noFill/>
          </a:ln>
        </p:spPr>
        <p:txBody>
          <a:bodyPr spcFirstLastPara="1" wrap="square" lIns="0" tIns="0" rIns="0" bIns="0" anchor="t" anchorCtr="0">
            <a:normAutofit/>
          </a:bodyPr>
          <a:lstStyle>
            <a:lvl1pPr marL="342900" lvl="0" indent="-171450" algn="l">
              <a:lnSpc>
                <a:spcPct val="90000"/>
              </a:lnSpc>
              <a:spcBef>
                <a:spcPts val="600"/>
              </a:spcBef>
              <a:spcAft>
                <a:spcPts val="0"/>
              </a:spcAft>
              <a:buSzPts val="350"/>
              <a:buNone/>
              <a:defRPr sz="1400"/>
            </a:lvl1pPr>
            <a:lvl2pPr marL="685800" lvl="1" indent="-171450" algn="l">
              <a:lnSpc>
                <a:spcPct val="90000"/>
              </a:lnSpc>
              <a:spcBef>
                <a:spcPts val="600"/>
              </a:spcBef>
              <a:spcAft>
                <a:spcPts val="0"/>
              </a:spcAft>
              <a:buSzPts val="350"/>
              <a:buNone/>
              <a:defRPr sz="1400">
                <a:solidFill>
                  <a:schemeClr val="dk1"/>
                </a:solidFill>
              </a:defRPr>
            </a:lvl2pPr>
            <a:lvl3pPr marL="1028700" lvl="2" indent="-238125" algn="l">
              <a:lnSpc>
                <a:spcPct val="90000"/>
              </a:lnSpc>
              <a:spcBef>
                <a:spcPts val="600"/>
              </a:spcBef>
              <a:spcAft>
                <a:spcPts val="0"/>
              </a:spcAft>
              <a:buSzPts val="1400"/>
              <a:buChar char="▪"/>
              <a:defRPr sz="1400">
                <a:solidFill>
                  <a:schemeClr val="dk1"/>
                </a:solidFill>
              </a:defRPr>
            </a:lvl3pPr>
            <a:lvl4pPr marL="1371600" lvl="3" indent="-238125" algn="l">
              <a:lnSpc>
                <a:spcPct val="90000"/>
              </a:lnSpc>
              <a:spcBef>
                <a:spcPts val="280"/>
              </a:spcBef>
              <a:spcAft>
                <a:spcPts val="0"/>
              </a:spcAft>
              <a:buClr>
                <a:schemeClr val="dk1"/>
              </a:buClr>
              <a:buSzPts val="1400"/>
              <a:buChar char="–"/>
              <a:defRPr sz="1400">
                <a:solidFill>
                  <a:schemeClr val="dk1"/>
                </a:solidFill>
              </a:defRPr>
            </a:lvl4pPr>
            <a:lvl5pPr marL="1714500" lvl="4" indent="-238125" algn="l">
              <a:lnSpc>
                <a:spcPct val="90000"/>
              </a:lnSpc>
              <a:spcBef>
                <a:spcPts val="280"/>
              </a:spcBef>
              <a:spcAft>
                <a:spcPts val="0"/>
              </a:spcAft>
              <a:buSzPts val="1400"/>
              <a:buChar char="–"/>
              <a:defRPr sz="1400">
                <a:solidFill>
                  <a:schemeClr val="dk1"/>
                </a:solidFill>
              </a:defRPr>
            </a:lvl5pPr>
            <a:lvl6pPr marL="2057400" lvl="5" indent="-238125" algn="l">
              <a:lnSpc>
                <a:spcPct val="100000"/>
              </a:lnSpc>
              <a:spcBef>
                <a:spcPts val="280"/>
              </a:spcBef>
              <a:spcAft>
                <a:spcPts val="0"/>
              </a:spcAft>
              <a:buClr>
                <a:schemeClr val="dk1"/>
              </a:buClr>
              <a:buSzPts val="1400"/>
              <a:buChar char="–"/>
              <a:defRPr sz="1400"/>
            </a:lvl6pPr>
            <a:lvl7pPr marL="2400300" lvl="6" indent="-257175" algn="l">
              <a:lnSpc>
                <a:spcPct val="100000"/>
              </a:lnSpc>
              <a:spcBef>
                <a:spcPts val="360"/>
              </a:spcBef>
              <a:spcAft>
                <a:spcPts val="0"/>
              </a:spcAft>
              <a:buClr>
                <a:schemeClr val="dk1"/>
              </a:buClr>
              <a:buSzPts val="1800"/>
              <a:buChar char="•"/>
              <a:defRPr sz="1800"/>
            </a:lvl7pPr>
            <a:lvl8pPr marL="2743200" lvl="7" indent="-257175" algn="l">
              <a:lnSpc>
                <a:spcPct val="100000"/>
              </a:lnSpc>
              <a:spcBef>
                <a:spcPts val="360"/>
              </a:spcBef>
              <a:spcAft>
                <a:spcPts val="0"/>
              </a:spcAft>
              <a:buClr>
                <a:schemeClr val="dk1"/>
              </a:buClr>
              <a:buSzPts val="1800"/>
              <a:buChar char="•"/>
              <a:defRPr sz="1800"/>
            </a:lvl8pPr>
            <a:lvl9pPr marL="3086100" lvl="8" indent="-257175" algn="l">
              <a:lnSpc>
                <a:spcPct val="100000"/>
              </a:lnSpc>
              <a:spcBef>
                <a:spcPts val="360"/>
              </a:spcBef>
              <a:spcAft>
                <a:spcPts val="0"/>
              </a:spcAft>
              <a:buClr>
                <a:schemeClr val="dk1"/>
              </a:buClr>
              <a:buSzPts val="1800"/>
              <a:buChar char="•"/>
              <a:defRPr sz="1800"/>
            </a:lvl9pPr>
          </a:lstStyle>
          <a:p>
            <a:endParaRPr/>
          </a:p>
        </p:txBody>
      </p:sp>
      <p:sp>
        <p:nvSpPr>
          <p:cNvPr id="33" name="Google Shape;33;p16"/>
          <p:cNvSpPr txBox="1">
            <a:spLocks noGrp="1"/>
          </p:cNvSpPr>
          <p:nvPr>
            <p:ph type="title"/>
          </p:nvPr>
        </p:nvSpPr>
        <p:spPr>
          <a:xfrm>
            <a:off x="313199" y="268288"/>
            <a:ext cx="8516475" cy="741362"/>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2"/>
              </a:buClr>
              <a:buSzPts val="2000"/>
              <a:buFont typeface="Helvetica Neue"/>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4" name="Google Shape;34;p16"/>
          <p:cNvSpPr txBox="1"/>
          <p:nvPr/>
        </p:nvSpPr>
        <p:spPr>
          <a:xfrm>
            <a:off x="619545" y="4749148"/>
            <a:ext cx="900888" cy="123111"/>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Clr>
                <a:schemeClr val="lt2"/>
              </a:buClr>
              <a:buSzPts val="1067"/>
              <a:buFont typeface="Helvetica Neue"/>
              <a:buNone/>
            </a:pPr>
            <a:r>
              <a:rPr lang="en-US" sz="800" b="1" i="0" u="none" strike="noStrike" cap="none">
                <a:solidFill>
                  <a:schemeClr val="lt2"/>
                </a:solidFill>
                <a:latin typeface="Helvetica Neue"/>
                <a:ea typeface="Helvetica Neue"/>
                <a:cs typeface="Helvetica Neue"/>
                <a:sym typeface="Helvetica Neue"/>
              </a:rPr>
              <a:t>Orange Restricted</a:t>
            </a:r>
            <a:endParaRPr sz="1800">
              <a:solidFill>
                <a:schemeClr val="dk1"/>
              </a:solidFill>
              <a:latin typeface="Arial"/>
              <a:ea typeface="Arial"/>
              <a:cs typeface="Arial"/>
              <a:sym typeface="Arial"/>
            </a:endParaRPr>
          </a:p>
        </p:txBody>
      </p:sp>
    </p:spTree>
    <p:extLst>
      <p:ext uri="{BB962C8B-B14F-4D97-AF65-F5344CB8AC3E}">
        <p14:creationId xmlns:p14="http://schemas.microsoft.com/office/powerpoint/2010/main" val="40203079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4_contenus">
  <p:cSld name="4_contenus">
    <p:spTree>
      <p:nvGrpSpPr>
        <p:cNvPr id="1" name="Shape 35"/>
        <p:cNvGrpSpPr/>
        <p:nvPr/>
      </p:nvGrpSpPr>
      <p:grpSpPr>
        <a:xfrm>
          <a:off x="0" y="0"/>
          <a:ext cx="0" cy="0"/>
          <a:chOff x="0" y="0"/>
          <a:chExt cx="0" cy="0"/>
        </a:xfrm>
      </p:grpSpPr>
      <p:sp>
        <p:nvSpPr>
          <p:cNvPr id="36" name="Google Shape;36;p17"/>
          <p:cNvSpPr txBox="1">
            <a:spLocks noGrp="1"/>
          </p:cNvSpPr>
          <p:nvPr>
            <p:ph type="body" idx="1"/>
          </p:nvPr>
        </p:nvSpPr>
        <p:spPr>
          <a:xfrm>
            <a:off x="313201" y="1181101"/>
            <a:ext cx="3968055" cy="1678682"/>
          </a:xfrm>
          <a:prstGeom prst="rect">
            <a:avLst/>
          </a:prstGeom>
          <a:noFill/>
          <a:ln>
            <a:noFill/>
          </a:ln>
        </p:spPr>
        <p:txBody>
          <a:bodyPr spcFirstLastPara="1" wrap="square" lIns="0" tIns="0" rIns="0" bIns="0" anchor="t" anchorCtr="0">
            <a:normAutofit/>
          </a:bodyPr>
          <a:lstStyle>
            <a:lvl1pPr marL="342900" lvl="0" indent="-171450" algn="l">
              <a:lnSpc>
                <a:spcPct val="90000"/>
              </a:lnSpc>
              <a:spcBef>
                <a:spcPts val="600"/>
              </a:spcBef>
              <a:spcAft>
                <a:spcPts val="0"/>
              </a:spcAft>
              <a:buSzPts val="350"/>
              <a:buNone/>
              <a:defRPr sz="1400"/>
            </a:lvl1pPr>
            <a:lvl2pPr marL="685800" lvl="1" indent="-171450" algn="l">
              <a:lnSpc>
                <a:spcPct val="90000"/>
              </a:lnSpc>
              <a:spcBef>
                <a:spcPts val="600"/>
              </a:spcBef>
              <a:spcAft>
                <a:spcPts val="0"/>
              </a:spcAft>
              <a:buSzPts val="350"/>
              <a:buNone/>
              <a:defRPr sz="1400">
                <a:solidFill>
                  <a:schemeClr val="dk1"/>
                </a:solidFill>
              </a:defRPr>
            </a:lvl2pPr>
            <a:lvl3pPr marL="1028700" lvl="2" indent="-238125" algn="l">
              <a:lnSpc>
                <a:spcPct val="90000"/>
              </a:lnSpc>
              <a:spcBef>
                <a:spcPts val="600"/>
              </a:spcBef>
              <a:spcAft>
                <a:spcPts val="0"/>
              </a:spcAft>
              <a:buSzPts val="1400"/>
              <a:buChar char="▪"/>
              <a:defRPr sz="1400">
                <a:solidFill>
                  <a:schemeClr val="dk1"/>
                </a:solidFill>
              </a:defRPr>
            </a:lvl3pPr>
            <a:lvl4pPr marL="1371600" lvl="3" indent="-238125" algn="l">
              <a:lnSpc>
                <a:spcPct val="90000"/>
              </a:lnSpc>
              <a:spcBef>
                <a:spcPts val="280"/>
              </a:spcBef>
              <a:spcAft>
                <a:spcPts val="0"/>
              </a:spcAft>
              <a:buClr>
                <a:schemeClr val="dk1"/>
              </a:buClr>
              <a:buSzPts val="1400"/>
              <a:buChar char="–"/>
              <a:defRPr sz="1400">
                <a:solidFill>
                  <a:schemeClr val="dk1"/>
                </a:solidFill>
              </a:defRPr>
            </a:lvl4pPr>
            <a:lvl5pPr marL="1714500" lvl="4" indent="-238125" algn="l">
              <a:lnSpc>
                <a:spcPct val="90000"/>
              </a:lnSpc>
              <a:spcBef>
                <a:spcPts val="280"/>
              </a:spcBef>
              <a:spcAft>
                <a:spcPts val="0"/>
              </a:spcAft>
              <a:buSzPts val="1400"/>
              <a:buChar char="–"/>
              <a:defRPr sz="1400">
                <a:solidFill>
                  <a:schemeClr val="dk1"/>
                </a:solidFill>
              </a:defRPr>
            </a:lvl5pPr>
            <a:lvl6pPr marL="2057400" lvl="5" indent="-238125" algn="l">
              <a:lnSpc>
                <a:spcPct val="100000"/>
              </a:lnSpc>
              <a:spcBef>
                <a:spcPts val="280"/>
              </a:spcBef>
              <a:spcAft>
                <a:spcPts val="0"/>
              </a:spcAft>
              <a:buClr>
                <a:schemeClr val="dk1"/>
              </a:buClr>
              <a:buSzPts val="1400"/>
              <a:buChar char="–"/>
              <a:defRPr sz="1400"/>
            </a:lvl6pPr>
            <a:lvl7pPr marL="2400300" lvl="6" indent="-257175" algn="l">
              <a:lnSpc>
                <a:spcPct val="100000"/>
              </a:lnSpc>
              <a:spcBef>
                <a:spcPts val="360"/>
              </a:spcBef>
              <a:spcAft>
                <a:spcPts val="0"/>
              </a:spcAft>
              <a:buClr>
                <a:schemeClr val="dk1"/>
              </a:buClr>
              <a:buSzPts val="1800"/>
              <a:buChar char="•"/>
              <a:defRPr sz="1800"/>
            </a:lvl7pPr>
            <a:lvl8pPr marL="2743200" lvl="7" indent="-257175" algn="l">
              <a:lnSpc>
                <a:spcPct val="100000"/>
              </a:lnSpc>
              <a:spcBef>
                <a:spcPts val="360"/>
              </a:spcBef>
              <a:spcAft>
                <a:spcPts val="0"/>
              </a:spcAft>
              <a:buClr>
                <a:schemeClr val="dk1"/>
              </a:buClr>
              <a:buSzPts val="1800"/>
              <a:buChar char="•"/>
              <a:defRPr sz="1800"/>
            </a:lvl8pPr>
            <a:lvl9pPr marL="3086100" lvl="8" indent="-257175" algn="l">
              <a:lnSpc>
                <a:spcPct val="100000"/>
              </a:lnSpc>
              <a:spcBef>
                <a:spcPts val="360"/>
              </a:spcBef>
              <a:spcAft>
                <a:spcPts val="0"/>
              </a:spcAft>
              <a:buClr>
                <a:schemeClr val="dk1"/>
              </a:buClr>
              <a:buSzPts val="1800"/>
              <a:buChar char="•"/>
              <a:defRPr sz="1800"/>
            </a:lvl9pPr>
          </a:lstStyle>
          <a:p>
            <a:endParaRPr/>
          </a:p>
        </p:txBody>
      </p:sp>
      <p:sp>
        <p:nvSpPr>
          <p:cNvPr id="37" name="Google Shape;37;p17"/>
          <p:cNvSpPr txBox="1">
            <a:spLocks noGrp="1"/>
          </p:cNvSpPr>
          <p:nvPr>
            <p:ph type="body" idx="2"/>
          </p:nvPr>
        </p:nvSpPr>
        <p:spPr>
          <a:xfrm>
            <a:off x="4864795" y="1181101"/>
            <a:ext cx="3964880" cy="1678682"/>
          </a:xfrm>
          <a:prstGeom prst="rect">
            <a:avLst/>
          </a:prstGeom>
          <a:noFill/>
          <a:ln>
            <a:noFill/>
          </a:ln>
        </p:spPr>
        <p:txBody>
          <a:bodyPr spcFirstLastPara="1" wrap="square" lIns="0" tIns="0" rIns="0" bIns="0" anchor="t" anchorCtr="0">
            <a:normAutofit/>
          </a:bodyPr>
          <a:lstStyle>
            <a:lvl1pPr marL="342900" lvl="0" indent="-171450" algn="l">
              <a:lnSpc>
                <a:spcPct val="90000"/>
              </a:lnSpc>
              <a:spcBef>
                <a:spcPts val="600"/>
              </a:spcBef>
              <a:spcAft>
                <a:spcPts val="0"/>
              </a:spcAft>
              <a:buSzPts val="350"/>
              <a:buNone/>
              <a:defRPr sz="1400"/>
            </a:lvl1pPr>
            <a:lvl2pPr marL="685800" lvl="1" indent="-171450" algn="l">
              <a:lnSpc>
                <a:spcPct val="90000"/>
              </a:lnSpc>
              <a:spcBef>
                <a:spcPts val="600"/>
              </a:spcBef>
              <a:spcAft>
                <a:spcPts val="0"/>
              </a:spcAft>
              <a:buSzPts val="350"/>
              <a:buNone/>
              <a:defRPr sz="1400">
                <a:solidFill>
                  <a:schemeClr val="dk1"/>
                </a:solidFill>
              </a:defRPr>
            </a:lvl2pPr>
            <a:lvl3pPr marL="1028700" lvl="2" indent="-238125" algn="l">
              <a:lnSpc>
                <a:spcPct val="90000"/>
              </a:lnSpc>
              <a:spcBef>
                <a:spcPts val="600"/>
              </a:spcBef>
              <a:spcAft>
                <a:spcPts val="0"/>
              </a:spcAft>
              <a:buSzPts val="1400"/>
              <a:buChar char="▪"/>
              <a:defRPr sz="1400">
                <a:solidFill>
                  <a:schemeClr val="dk1"/>
                </a:solidFill>
              </a:defRPr>
            </a:lvl3pPr>
            <a:lvl4pPr marL="1371600" lvl="3" indent="-238125" algn="l">
              <a:lnSpc>
                <a:spcPct val="90000"/>
              </a:lnSpc>
              <a:spcBef>
                <a:spcPts val="280"/>
              </a:spcBef>
              <a:spcAft>
                <a:spcPts val="0"/>
              </a:spcAft>
              <a:buClr>
                <a:schemeClr val="dk1"/>
              </a:buClr>
              <a:buSzPts val="1400"/>
              <a:buChar char="–"/>
              <a:defRPr sz="1400">
                <a:solidFill>
                  <a:schemeClr val="dk1"/>
                </a:solidFill>
              </a:defRPr>
            </a:lvl4pPr>
            <a:lvl5pPr marL="1714500" lvl="4" indent="-238125" algn="l">
              <a:lnSpc>
                <a:spcPct val="90000"/>
              </a:lnSpc>
              <a:spcBef>
                <a:spcPts val="280"/>
              </a:spcBef>
              <a:spcAft>
                <a:spcPts val="0"/>
              </a:spcAft>
              <a:buSzPts val="1400"/>
              <a:buChar char="–"/>
              <a:defRPr sz="1400">
                <a:solidFill>
                  <a:schemeClr val="dk1"/>
                </a:solidFill>
              </a:defRPr>
            </a:lvl5pPr>
            <a:lvl6pPr marL="2057400" lvl="5" indent="-238125" algn="l">
              <a:lnSpc>
                <a:spcPct val="100000"/>
              </a:lnSpc>
              <a:spcBef>
                <a:spcPts val="280"/>
              </a:spcBef>
              <a:spcAft>
                <a:spcPts val="0"/>
              </a:spcAft>
              <a:buClr>
                <a:schemeClr val="dk1"/>
              </a:buClr>
              <a:buSzPts val="1400"/>
              <a:buChar char="–"/>
              <a:defRPr sz="1400"/>
            </a:lvl6pPr>
            <a:lvl7pPr marL="2400300" lvl="6" indent="-257175" algn="l">
              <a:lnSpc>
                <a:spcPct val="100000"/>
              </a:lnSpc>
              <a:spcBef>
                <a:spcPts val="360"/>
              </a:spcBef>
              <a:spcAft>
                <a:spcPts val="0"/>
              </a:spcAft>
              <a:buClr>
                <a:schemeClr val="dk1"/>
              </a:buClr>
              <a:buSzPts val="1800"/>
              <a:buChar char="•"/>
              <a:defRPr sz="1800"/>
            </a:lvl7pPr>
            <a:lvl8pPr marL="2743200" lvl="7" indent="-257175" algn="l">
              <a:lnSpc>
                <a:spcPct val="100000"/>
              </a:lnSpc>
              <a:spcBef>
                <a:spcPts val="360"/>
              </a:spcBef>
              <a:spcAft>
                <a:spcPts val="0"/>
              </a:spcAft>
              <a:buClr>
                <a:schemeClr val="dk1"/>
              </a:buClr>
              <a:buSzPts val="1800"/>
              <a:buChar char="•"/>
              <a:defRPr sz="1800"/>
            </a:lvl8pPr>
            <a:lvl9pPr marL="3086100" lvl="8" indent="-257175" algn="l">
              <a:lnSpc>
                <a:spcPct val="100000"/>
              </a:lnSpc>
              <a:spcBef>
                <a:spcPts val="360"/>
              </a:spcBef>
              <a:spcAft>
                <a:spcPts val="0"/>
              </a:spcAft>
              <a:buClr>
                <a:schemeClr val="dk1"/>
              </a:buClr>
              <a:buSzPts val="1800"/>
              <a:buChar char="•"/>
              <a:defRPr sz="1800"/>
            </a:lvl9pPr>
          </a:lstStyle>
          <a:p>
            <a:endParaRPr/>
          </a:p>
        </p:txBody>
      </p:sp>
      <p:sp>
        <p:nvSpPr>
          <p:cNvPr id="38" name="Google Shape;38;p17"/>
          <p:cNvSpPr txBox="1">
            <a:spLocks noGrp="1"/>
          </p:cNvSpPr>
          <p:nvPr>
            <p:ph type="title"/>
          </p:nvPr>
        </p:nvSpPr>
        <p:spPr>
          <a:xfrm>
            <a:off x="313199" y="268288"/>
            <a:ext cx="8516475" cy="741362"/>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2"/>
              </a:buClr>
              <a:buSzPts val="2000"/>
              <a:buFont typeface="Helvetica Neue"/>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17"/>
          <p:cNvSpPr txBox="1"/>
          <p:nvPr/>
        </p:nvSpPr>
        <p:spPr>
          <a:xfrm>
            <a:off x="619545" y="4749148"/>
            <a:ext cx="900888" cy="123111"/>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Clr>
                <a:schemeClr val="lt2"/>
              </a:buClr>
              <a:buSzPts val="1067"/>
              <a:buFont typeface="Helvetica Neue"/>
              <a:buNone/>
            </a:pPr>
            <a:r>
              <a:rPr lang="en-US" sz="800" b="1" i="0" u="none" strike="noStrike" cap="none">
                <a:solidFill>
                  <a:schemeClr val="lt2"/>
                </a:solidFill>
                <a:latin typeface="Helvetica Neue"/>
                <a:ea typeface="Helvetica Neue"/>
                <a:cs typeface="Helvetica Neue"/>
                <a:sym typeface="Helvetica Neue"/>
              </a:rPr>
              <a:t>Orange Restricted</a:t>
            </a:r>
            <a:endParaRPr sz="1800">
              <a:solidFill>
                <a:schemeClr val="dk1"/>
              </a:solidFill>
              <a:latin typeface="Arial"/>
              <a:ea typeface="Arial"/>
              <a:cs typeface="Arial"/>
              <a:sym typeface="Arial"/>
            </a:endParaRPr>
          </a:p>
        </p:txBody>
      </p:sp>
      <p:sp>
        <p:nvSpPr>
          <p:cNvPr id="40" name="Google Shape;40;p17"/>
          <p:cNvSpPr txBox="1">
            <a:spLocks noGrp="1"/>
          </p:cNvSpPr>
          <p:nvPr>
            <p:ph type="body" idx="3"/>
          </p:nvPr>
        </p:nvSpPr>
        <p:spPr>
          <a:xfrm>
            <a:off x="303998" y="2981301"/>
            <a:ext cx="3968055" cy="1678682"/>
          </a:xfrm>
          <a:prstGeom prst="rect">
            <a:avLst/>
          </a:prstGeom>
          <a:noFill/>
          <a:ln>
            <a:noFill/>
          </a:ln>
        </p:spPr>
        <p:txBody>
          <a:bodyPr spcFirstLastPara="1" wrap="square" lIns="0" tIns="0" rIns="0" bIns="0" anchor="t" anchorCtr="0">
            <a:normAutofit/>
          </a:bodyPr>
          <a:lstStyle>
            <a:lvl1pPr marL="342900" lvl="0" indent="-171450" algn="l">
              <a:lnSpc>
                <a:spcPct val="90000"/>
              </a:lnSpc>
              <a:spcBef>
                <a:spcPts val="600"/>
              </a:spcBef>
              <a:spcAft>
                <a:spcPts val="0"/>
              </a:spcAft>
              <a:buSzPts val="350"/>
              <a:buNone/>
              <a:defRPr sz="1400"/>
            </a:lvl1pPr>
            <a:lvl2pPr marL="685800" lvl="1" indent="-171450" algn="l">
              <a:lnSpc>
                <a:spcPct val="90000"/>
              </a:lnSpc>
              <a:spcBef>
                <a:spcPts val="600"/>
              </a:spcBef>
              <a:spcAft>
                <a:spcPts val="0"/>
              </a:spcAft>
              <a:buSzPts val="350"/>
              <a:buNone/>
              <a:defRPr sz="1400">
                <a:solidFill>
                  <a:schemeClr val="dk1"/>
                </a:solidFill>
              </a:defRPr>
            </a:lvl2pPr>
            <a:lvl3pPr marL="1028700" lvl="2" indent="-238125" algn="l">
              <a:lnSpc>
                <a:spcPct val="90000"/>
              </a:lnSpc>
              <a:spcBef>
                <a:spcPts val="600"/>
              </a:spcBef>
              <a:spcAft>
                <a:spcPts val="0"/>
              </a:spcAft>
              <a:buSzPts val="1400"/>
              <a:buChar char="▪"/>
              <a:defRPr sz="1400">
                <a:solidFill>
                  <a:schemeClr val="dk1"/>
                </a:solidFill>
              </a:defRPr>
            </a:lvl3pPr>
            <a:lvl4pPr marL="1371600" lvl="3" indent="-238125" algn="l">
              <a:lnSpc>
                <a:spcPct val="90000"/>
              </a:lnSpc>
              <a:spcBef>
                <a:spcPts val="280"/>
              </a:spcBef>
              <a:spcAft>
                <a:spcPts val="0"/>
              </a:spcAft>
              <a:buClr>
                <a:schemeClr val="dk1"/>
              </a:buClr>
              <a:buSzPts val="1400"/>
              <a:buChar char="–"/>
              <a:defRPr sz="1400">
                <a:solidFill>
                  <a:schemeClr val="dk1"/>
                </a:solidFill>
              </a:defRPr>
            </a:lvl4pPr>
            <a:lvl5pPr marL="1714500" lvl="4" indent="-238125" algn="l">
              <a:lnSpc>
                <a:spcPct val="90000"/>
              </a:lnSpc>
              <a:spcBef>
                <a:spcPts val="280"/>
              </a:spcBef>
              <a:spcAft>
                <a:spcPts val="0"/>
              </a:spcAft>
              <a:buSzPts val="1400"/>
              <a:buChar char="–"/>
              <a:defRPr sz="1400">
                <a:solidFill>
                  <a:schemeClr val="dk1"/>
                </a:solidFill>
              </a:defRPr>
            </a:lvl5pPr>
            <a:lvl6pPr marL="2057400" lvl="5" indent="-238125" algn="l">
              <a:lnSpc>
                <a:spcPct val="100000"/>
              </a:lnSpc>
              <a:spcBef>
                <a:spcPts val="280"/>
              </a:spcBef>
              <a:spcAft>
                <a:spcPts val="0"/>
              </a:spcAft>
              <a:buClr>
                <a:schemeClr val="dk1"/>
              </a:buClr>
              <a:buSzPts val="1400"/>
              <a:buChar char="–"/>
              <a:defRPr sz="1400"/>
            </a:lvl6pPr>
            <a:lvl7pPr marL="2400300" lvl="6" indent="-257175" algn="l">
              <a:lnSpc>
                <a:spcPct val="100000"/>
              </a:lnSpc>
              <a:spcBef>
                <a:spcPts val="360"/>
              </a:spcBef>
              <a:spcAft>
                <a:spcPts val="0"/>
              </a:spcAft>
              <a:buClr>
                <a:schemeClr val="dk1"/>
              </a:buClr>
              <a:buSzPts val="1800"/>
              <a:buChar char="•"/>
              <a:defRPr sz="1800"/>
            </a:lvl7pPr>
            <a:lvl8pPr marL="2743200" lvl="7" indent="-257175" algn="l">
              <a:lnSpc>
                <a:spcPct val="100000"/>
              </a:lnSpc>
              <a:spcBef>
                <a:spcPts val="360"/>
              </a:spcBef>
              <a:spcAft>
                <a:spcPts val="0"/>
              </a:spcAft>
              <a:buClr>
                <a:schemeClr val="dk1"/>
              </a:buClr>
              <a:buSzPts val="1800"/>
              <a:buChar char="•"/>
              <a:defRPr sz="1800"/>
            </a:lvl8pPr>
            <a:lvl9pPr marL="3086100" lvl="8" indent="-257175" algn="l">
              <a:lnSpc>
                <a:spcPct val="100000"/>
              </a:lnSpc>
              <a:spcBef>
                <a:spcPts val="360"/>
              </a:spcBef>
              <a:spcAft>
                <a:spcPts val="0"/>
              </a:spcAft>
              <a:buClr>
                <a:schemeClr val="dk1"/>
              </a:buClr>
              <a:buSzPts val="1800"/>
              <a:buChar char="•"/>
              <a:defRPr sz="1800"/>
            </a:lvl9pPr>
          </a:lstStyle>
          <a:p>
            <a:endParaRPr/>
          </a:p>
        </p:txBody>
      </p:sp>
      <p:sp>
        <p:nvSpPr>
          <p:cNvPr id="41" name="Google Shape;41;p17"/>
          <p:cNvSpPr txBox="1">
            <a:spLocks noGrp="1"/>
          </p:cNvSpPr>
          <p:nvPr>
            <p:ph type="body" idx="4"/>
          </p:nvPr>
        </p:nvSpPr>
        <p:spPr>
          <a:xfrm>
            <a:off x="4855593" y="2981301"/>
            <a:ext cx="3964880" cy="1678682"/>
          </a:xfrm>
          <a:prstGeom prst="rect">
            <a:avLst/>
          </a:prstGeom>
          <a:noFill/>
          <a:ln>
            <a:noFill/>
          </a:ln>
        </p:spPr>
        <p:txBody>
          <a:bodyPr spcFirstLastPara="1" wrap="square" lIns="0" tIns="0" rIns="0" bIns="0" anchor="t" anchorCtr="0">
            <a:normAutofit/>
          </a:bodyPr>
          <a:lstStyle>
            <a:lvl1pPr marL="342900" lvl="0" indent="-171450" algn="l">
              <a:lnSpc>
                <a:spcPct val="90000"/>
              </a:lnSpc>
              <a:spcBef>
                <a:spcPts val="600"/>
              </a:spcBef>
              <a:spcAft>
                <a:spcPts val="0"/>
              </a:spcAft>
              <a:buSzPts val="350"/>
              <a:buNone/>
              <a:defRPr sz="1400"/>
            </a:lvl1pPr>
            <a:lvl2pPr marL="685800" lvl="1" indent="-171450" algn="l">
              <a:lnSpc>
                <a:spcPct val="90000"/>
              </a:lnSpc>
              <a:spcBef>
                <a:spcPts val="600"/>
              </a:spcBef>
              <a:spcAft>
                <a:spcPts val="0"/>
              </a:spcAft>
              <a:buSzPts val="350"/>
              <a:buNone/>
              <a:defRPr sz="1400">
                <a:solidFill>
                  <a:schemeClr val="dk1"/>
                </a:solidFill>
              </a:defRPr>
            </a:lvl2pPr>
            <a:lvl3pPr marL="1028700" lvl="2" indent="-238125" algn="l">
              <a:lnSpc>
                <a:spcPct val="90000"/>
              </a:lnSpc>
              <a:spcBef>
                <a:spcPts val="600"/>
              </a:spcBef>
              <a:spcAft>
                <a:spcPts val="0"/>
              </a:spcAft>
              <a:buSzPts val="1400"/>
              <a:buChar char="▪"/>
              <a:defRPr sz="1400">
                <a:solidFill>
                  <a:schemeClr val="dk1"/>
                </a:solidFill>
              </a:defRPr>
            </a:lvl3pPr>
            <a:lvl4pPr marL="1371600" lvl="3" indent="-238125" algn="l">
              <a:lnSpc>
                <a:spcPct val="90000"/>
              </a:lnSpc>
              <a:spcBef>
                <a:spcPts val="280"/>
              </a:spcBef>
              <a:spcAft>
                <a:spcPts val="0"/>
              </a:spcAft>
              <a:buClr>
                <a:schemeClr val="dk1"/>
              </a:buClr>
              <a:buSzPts val="1400"/>
              <a:buChar char="–"/>
              <a:defRPr sz="1400">
                <a:solidFill>
                  <a:schemeClr val="dk1"/>
                </a:solidFill>
              </a:defRPr>
            </a:lvl4pPr>
            <a:lvl5pPr marL="1714500" lvl="4" indent="-238125" algn="l">
              <a:lnSpc>
                <a:spcPct val="90000"/>
              </a:lnSpc>
              <a:spcBef>
                <a:spcPts val="280"/>
              </a:spcBef>
              <a:spcAft>
                <a:spcPts val="0"/>
              </a:spcAft>
              <a:buSzPts val="1400"/>
              <a:buChar char="–"/>
              <a:defRPr sz="1400">
                <a:solidFill>
                  <a:schemeClr val="dk1"/>
                </a:solidFill>
              </a:defRPr>
            </a:lvl5pPr>
            <a:lvl6pPr marL="2057400" lvl="5" indent="-238125" algn="l">
              <a:lnSpc>
                <a:spcPct val="100000"/>
              </a:lnSpc>
              <a:spcBef>
                <a:spcPts val="280"/>
              </a:spcBef>
              <a:spcAft>
                <a:spcPts val="0"/>
              </a:spcAft>
              <a:buClr>
                <a:schemeClr val="dk1"/>
              </a:buClr>
              <a:buSzPts val="1400"/>
              <a:buChar char="–"/>
              <a:defRPr sz="1400"/>
            </a:lvl6pPr>
            <a:lvl7pPr marL="2400300" lvl="6" indent="-257175" algn="l">
              <a:lnSpc>
                <a:spcPct val="100000"/>
              </a:lnSpc>
              <a:spcBef>
                <a:spcPts val="360"/>
              </a:spcBef>
              <a:spcAft>
                <a:spcPts val="0"/>
              </a:spcAft>
              <a:buClr>
                <a:schemeClr val="dk1"/>
              </a:buClr>
              <a:buSzPts val="1800"/>
              <a:buChar char="•"/>
              <a:defRPr sz="1800"/>
            </a:lvl7pPr>
            <a:lvl8pPr marL="2743200" lvl="7" indent="-257175" algn="l">
              <a:lnSpc>
                <a:spcPct val="100000"/>
              </a:lnSpc>
              <a:spcBef>
                <a:spcPts val="360"/>
              </a:spcBef>
              <a:spcAft>
                <a:spcPts val="0"/>
              </a:spcAft>
              <a:buClr>
                <a:schemeClr val="dk1"/>
              </a:buClr>
              <a:buSzPts val="1800"/>
              <a:buChar char="•"/>
              <a:defRPr sz="1800"/>
            </a:lvl8pPr>
            <a:lvl9pPr marL="3086100" lvl="8" indent="-257175" algn="l">
              <a:lnSpc>
                <a:spcPct val="100000"/>
              </a:lnSpc>
              <a:spcBef>
                <a:spcPts val="360"/>
              </a:spcBef>
              <a:spcAft>
                <a:spcPts val="0"/>
              </a:spcAft>
              <a:buClr>
                <a:schemeClr val="dk1"/>
              </a:buClr>
              <a:buSzPts val="1800"/>
              <a:buChar char="•"/>
              <a:defRPr sz="1800"/>
            </a:lvl9pPr>
          </a:lstStyle>
          <a:p>
            <a:endParaRPr/>
          </a:p>
        </p:txBody>
      </p:sp>
    </p:spTree>
    <p:extLst>
      <p:ext uri="{BB962C8B-B14F-4D97-AF65-F5344CB8AC3E}">
        <p14:creationId xmlns:p14="http://schemas.microsoft.com/office/powerpoint/2010/main" val="36164969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re seul">
  <p:cSld name="Titre seul">
    <p:spTree>
      <p:nvGrpSpPr>
        <p:cNvPr id="1" name="Shape 42"/>
        <p:cNvGrpSpPr/>
        <p:nvPr/>
      </p:nvGrpSpPr>
      <p:grpSpPr>
        <a:xfrm>
          <a:off x="0" y="0"/>
          <a:ext cx="0" cy="0"/>
          <a:chOff x="0" y="0"/>
          <a:chExt cx="0" cy="0"/>
        </a:xfrm>
      </p:grpSpPr>
      <p:sp>
        <p:nvSpPr>
          <p:cNvPr id="43" name="Google Shape;43;p18"/>
          <p:cNvSpPr txBox="1">
            <a:spLocks noGrp="1"/>
          </p:cNvSpPr>
          <p:nvPr>
            <p:ph type="title"/>
          </p:nvPr>
        </p:nvSpPr>
        <p:spPr>
          <a:xfrm>
            <a:off x="313201" y="268288"/>
            <a:ext cx="8516475" cy="741362"/>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2"/>
              </a:buClr>
              <a:buSzPts val="2000"/>
              <a:buFont typeface="Helvetica Neue"/>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4" name="Google Shape;44;p18"/>
          <p:cNvSpPr txBox="1"/>
          <p:nvPr/>
        </p:nvSpPr>
        <p:spPr>
          <a:xfrm>
            <a:off x="619545" y="4749148"/>
            <a:ext cx="900888" cy="123111"/>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Clr>
                <a:schemeClr val="lt2"/>
              </a:buClr>
              <a:buSzPts val="1067"/>
              <a:buFont typeface="Helvetica Neue"/>
              <a:buNone/>
            </a:pPr>
            <a:r>
              <a:rPr lang="en-US" sz="800" b="1" i="0" u="none" strike="noStrike" cap="none">
                <a:solidFill>
                  <a:schemeClr val="lt2"/>
                </a:solidFill>
                <a:latin typeface="Helvetica Neue"/>
                <a:ea typeface="Helvetica Neue"/>
                <a:cs typeface="Helvetica Neue"/>
                <a:sym typeface="Helvetica Neue"/>
              </a:rPr>
              <a:t>Orange Restricted</a:t>
            </a:r>
            <a:endParaRPr sz="1800">
              <a:solidFill>
                <a:schemeClr val="dk1"/>
              </a:solidFill>
              <a:latin typeface="Arial"/>
              <a:ea typeface="Arial"/>
              <a:cs typeface="Arial"/>
              <a:sym typeface="Arial"/>
            </a:endParaRPr>
          </a:p>
        </p:txBody>
      </p:sp>
    </p:spTree>
    <p:extLst>
      <p:ext uri="{BB962C8B-B14F-4D97-AF65-F5344CB8AC3E}">
        <p14:creationId xmlns:p14="http://schemas.microsoft.com/office/powerpoint/2010/main" val="1725706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matchingName="Full Bleed Media">
  <p:cSld name="Full Bleed Media">
    <p:bg>
      <p:bgPr>
        <a:solidFill>
          <a:schemeClr val="dk2"/>
        </a:solidFill>
        <a:effectLst/>
      </p:bgPr>
    </p:bg>
    <p:spTree>
      <p:nvGrpSpPr>
        <p:cNvPr id="1" name="Shape 45"/>
        <p:cNvGrpSpPr/>
        <p:nvPr/>
      </p:nvGrpSpPr>
      <p:grpSpPr>
        <a:xfrm>
          <a:off x="0" y="0"/>
          <a:ext cx="0" cy="0"/>
          <a:chOff x="0" y="0"/>
          <a:chExt cx="0" cy="0"/>
        </a:xfrm>
      </p:grpSpPr>
      <p:sp>
        <p:nvSpPr>
          <p:cNvPr id="46" name="Google Shape;46;p19"/>
          <p:cNvSpPr>
            <a:spLocks noGrp="1"/>
          </p:cNvSpPr>
          <p:nvPr>
            <p:ph type="pic" idx="2"/>
          </p:nvPr>
        </p:nvSpPr>
        <p:spPr>
          <a:xfrm>
            <a:off x="0" y="0"/>
            <a:ext cx="9144000" cy="5143500"/>
          </a:xfrm>
          <a:prstGeom prst="rect">
            <a:avLst/>
          </a:prstGeom>
          <a:noFill/>
          <a:ln>
            <a:noFill/>
          </a:ln>
        </p:spPr>
      </p:sp>
      <p:sp>
        <p:nvSpPr>
          <p:cNvPr id="47" name="Google Shape;47;p19"/>
          <p:cNvSpPr txBox="1">
            <a:spLocks noGrp="1"/>
          </p:cNvSpPr>
          <p:nvPr>
            <p:ph type="title"/>
          </p:nvPr>
        </p:nvSpPr>
        <p:spPr>
          <a:xfrm>
            <a:off x="313201" y="268288"/>
            <a:ext cx="8516475" cy="741362"/>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rgbClr val="000000"/>
              </a:buClr>
              <a:buSzPts val="2000"/>
              <a:buFont typeface="Helvetica Neue"/>
              <a:buNone/>
              <a:defRPr>
                <a:solidFill>
                  <a:srgbClr val="000000"/>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extLst>
      <p:ext uri="{BB962C8B-B14F-4D97-AF65-F5344CB8AC3E}">
        <p14:creationId xmlns:p14="http://schemas.microsoft.com/office/powerpoint/2010/main" val="3106821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Vide">
  <p:cSld name="Vide">
    <p:spTree>
      <p:nvGrpSpPr>
        <p:cNvPr id="1" name="Shape 48"/>
        <p:cNvGrpSpPr/>
        <p:nvPr/>
      </p:nvGrpSpPr>
      <p:grpSpPr>
        <a:xfrm>
          <a:off x="0" y="0"/>
          <a:ext cx="0" cy="0"/>
          <a:chOff x="0" y="0"/>
          <a:chExt cx="0" cy="0"/>
        </a:xfrm>
      </p:grpSpPr>
      <p:sp>
        <p:nvSpPr>
          <p:cNvPr id="49" name="Google Shape;49;p20"/>
          <p:cNvSpPr txBox="1"/>
          <p:nvPr/>
        </p:nvSpPr>
        <p:spPr>
          <a:xfrm>
            <a:off x="619545" y="4749148"/>
            <a:ext cx="900888" cy="123111"/>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Clr>
                <a:schemeClr val="lt2"/>
              </a:buClr>
              <a:buSzPts val="1067"/>
              <a:buFont typeface="Helvetica Neue"/>
              <a:buNone/>
            </a:pPr>
            <a:r>
              <a:rPr lang="en-US" sz="800" b="1" i="0" u="none" strike="noStrike" cap="none">
                <a:solidFill>
                  <a:schemeClr val="lt2"/>
                </a:solidFill>
                <a:latin typeface="Helvetica Neue"/>
                <a:ea typeface="Helvetica Neue"/>
                <a:cs typeface="Helvetica Neue"/>
                <a:sym typeface="Helvetica Neue"/>
              </a:rPr>
              <a:t>Orange Restricted</a:t>
            </a:r>
            <a:endParaRPr sz="1800">
              <a:solidFill>
                <a:schemeClr val="dk1"/>
              </a:solidFill>
              <a:latin typeface="Arial"/>
              <a:ea typeface="Arial"/>
              <a:cs typeface="Arial"/>
              <a:sym typeface="Arial"/>
            </a:endParaRPr>
          </a:p>
        </p:txBody>
      </p:sp>
    </p:spTree>
    <p:extLst>
      <p:ext uri="{BB962C8B-B14F-4D97-AF65-F5344CB8AC3E}">
        <p14:creationId xmlns:p14="http://schemas.microsoft.com/office/powerpoint/2010/main" val="12089452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DARK">
  <p:cSld name="DARK">
    <p:bg>
      <p:bgPr>
        <a:solidFill>
          <a:srgbClr val="000000"/>
        </a:solidFill>
        <a:effectLst/>
      </p:bgPr>
    </p:bg>
    <p:spTree>
      <p:nvGrpSpPr>
        <p:cNvPr id="1" name="Shape 50"/>
        <p:cNvGrpSpPr/>
        <p:nvPr/>
      </p:nvGrpSpPr>
      <p:grpSpPr>
        <a:xfrm>
          <a:off x="0" y="0"/>
          <a:ext cx="0" cy="0"/>
          <a:chOff x="0" y="0"/>
          <a:chExt cx="0" cy="0"/>
        </a:xfrm>
      </p:grpSpPr>
    </p:spTree>
    <p:extLst>
      <p:ext uri="{BB962C8B-B14F-4D97-AF65-F5344CB8AC3E}">
        <p14:creationId xmlns:p14="http://schemas.microsoft.com/office/powerpoint/2010/main" val="23095679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51"/>
        <p:cNvGrpSpPr/>
        <p:nvPr/>
      </p:nvGrpSpPr>
      <p:grpSpPr>
        <a:xfrm>
          <a:off x="0" y="0"/>
          <a:ext cx="0" cy="0"/>
          <a:chOff x="0" y="0"/>
          <a:chExt cx="0" cy="0"/>
        </a:xfrm>
      </p:grpSpPr>
    </p:spTree>
    <p:extLst>
      <p:ext uri="{BB962C8B-B14F-4D97-AF65-F5344CB8AC3E}">
        <p14:creationId xmlns:p14="http://schemas.microsoft.com/office/powerpoint/2010/main" val="2209385666"/>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9.xml"/><Relationship Id="rId3" Type="http://schemas.openxmlformats.org/officeDocument/2006/relationships/slideLayout" Target="../slideLayouts/slideLayout4.xml"/><Relationship Id="rId7" Type="http://schemas.openxmlformats.org/officeDocument/2006/relationships/slideLayout" Target="../slideLayouts/slideLayout8.xml"/><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slideLayout" Target="../slideLayouts/slideLayout7.xml"/><Relationship Id="rId11" Type="http://schemas.openxmlformats.org/officeDocument/2006/relationships/theme" Target="../theme/theme2.xml"/><Relationship Id="rId5" Type="http://schemas.openxmlformats.org/officeDocument/2006/relationships/slideLayout" Target="../slideLayouts/slideLayout6.xml"/><Relationship Id="rId10" Type="http://schemas.openxmlformats.org/officeDocument/2006/relationships/slideLayout" Target="../slideLayouts/slideLayout11.xml"/><Relationship Id="rId4" Type="http://schemas.openxmlformats.org/officeDocument/2006/relationships/slideLayout" Target="../slideLayouts/slideLayout5.xml"/><Relationship Id="rId9"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0"/>
          <p:cNvSpPr txBox="1">
            <a:spLocks noGrp="1"/>
          </p:cNvSpPr>
          <p:nvPr>
            <p:ph type="title"/>
          </p:nvPr>
        </p:nvSpPr>
        <p:spPr>
          <a:xfrm>
            <a:off x="313201" y="268288"/>
            <a:ext cx="8516475" cy="741362"/>
          </a:xfrm>
          <a:prstGeom prst="rect">
            <a:avLst/>
          </a:prstGeom>
          <a:noFill/>
          <a:ln>
            <a:noFill/>
          </a:ln>
        </p:spPr>
        <p:txBody>
          <a:bodyPr spcFirstLastPara="1" wrap="square" lIns="0" tIns="0" rIns="0" bIns="0" anchor="t" anchorCtr="0">
            <a:noAutofit/>
          </a:bodyPr>
          <a:lstStyle>
            <a:lvl1pPr marR="0" lvl="0" algn="l" rtl="0">
              <a:lnSpc>
                <a:spcPct val="90000"/>
              </a:lnSpc>
              <a:spcBef>
                <a:spcPts val="0"/>
              </a:spcBef>
              <a:spcAft>
                <a:spcPts val="0"/>
              </a:spcAft>
              <a:buClr>
                <a:schemeClr val="lt2"/>
              </a:buClr>
              <a:buSzPts val="2000"/>
              <a:buFont typeface="Helvetica Neue"/>
              <a:buNone/>
              <a:defRPr sz="2000" b="1" i="0" u="none" strike="noStrike" cap="none">
                <a:solidFill>
                  <a:schemeClr val="lt2"/>
                </a:solidFill>
                <a:latin typeface="Helvetica Neue"/>
                <a:ea typeface="Helvetica Neue"/>
                <a:cs typeface="Helvetica Neue"/>
                <a:sym typeface="Helvetica Neue"/>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10"/>
          <p:cNvSpPr txBox="1">
            <a:spLocks noGrp="1"/>
          </p:cNvSpPr>
          <p:nvPr>
            <p:ph type="body" idx="1"/>
          </p:nvPr>
        </p:nvSpPr>
        <p:spPr>
          <a:xfrm>
            <a:off x="313201" y="1181101"/>
            <a:ext cx="8516475" cy="3370263"/>
          </a:xfrm>
          <a:prstGeom prst="rect">
            <a:avLst/>
          </a:prstGeom>
          <a:noFill/>
          <a:ln>
            <a:noFill/>
          </a:ln>
        </p:spPr>
        <p:txBody>
          <a:bodyPr spcFirstLastPara="1" wrap="square" lIns="0" tIns="0" rIns="0" bIns="0" anchor="t" anchorCtr="0">
            <a:noAutofit/>
          </a:bodyPr>
          <a:lstStyle>
            <a:lvl1pPr marL="457200" marR="0" lvl="0" indent="-228600" algn="l" rtl="0">
              <a:lnSpc>
                <a:spcPct val="90000"/>
              </a:lnSpc>
              <a:spcBef>
                <a:spcPts val="600"/>
              </a:spcBef>
              <a:spcAft>
                <a:spcPts val="0"/>
              </a:spcAft>
              <a:buClr>
                <a:schemeClr val="lt1"/>
              </a:buClr>
              <a:buSzPts val="350"/>
              <a:buFont typeface="Calibri"/>
              <a:buNone/>
              <a:defRPr sz="1400" b="1" i="0" u="none" strike="noStrike" cap="none">
                <a:solidFill>
                  <a:schemeClr val="lt2"/>
                </a:solidFill>
                <a:latin typeface="Helvetica Neue"/>
                <a:ea typeface="Helvetica Neue"/>
                <a:cs typeface="Helvetica Neue"/>
                <a:sym typeface="Helvetica Neue"/>
              </a:defRPr>
            </a:lvl1pPr>
            <a:lvl2pPr marL="914400" marR="0" lvl="1" indent="-228600" algn="l" rtl="0">
              <a:lnSpc>
                <a:spcPct val="90000"/>
              </a:lnSpc>
              <a:spcBef>
                <a:spcPts val="600"/>
              </a:spcBef>
              <a:spcAft>
                <a:spcPts val="0"/>
              </a:spcAft>
              <a:buClr>
                <a:schemeClr val="lt1"/>
              </a:buClr>
              <a:buSzPts val="350"/>
              <a:buFont typeface="Calibri"/>
              <a:buNone/>
              <a:defRPr sz="1400" b="1" i="0" u="none" strike="noStrike" cap="none">
                <a:solidFill>
                  <a:schemeClr val="dk1"/>
                </a:solidFill>
                <a:latin typeface="Helvetica Neue"/>
                <a:ea typeface="Helvetica Neue"/>
                <a:cs typeface="Helvetica Neue"/>
                <a:sym typeface="Helvetica Neue"/>
              </a:defRPr>
            </a:lvl2pPr>
            <a:lvl3pPr marL="1371600" marR="0" lvl="2" indent="-317500" algn="l" rtl="0">
              <a:lnSpc>
                <a:spcPct val="90000"/>
              </a:lnSpc>
              <a:spcBef>
                <a:spcPts val="600"/>
              </a:spcBef>
              <a:spcAft>
                <a:spcPts val="0"/>
              </a:spcAft>
              <a:buClr>
                <a:schemeClr val="lt2"/>
              </a:buClr>
              <a:buSzPts val="1400"/>
              <a:buFont typeface="Noto Sans Symbols"/>
              <a:buChar char="▪"/>
              <a:defRPr sz="1400" b="1" i="0" u="none" strike="noStrike" cap="none">
                <a:solidFill>
                  <a:schemeClr val="dk1"/>
                </a:solidFill>
                <a:latin typeface="Helvetica Neue"/>
                <a:ea typeface="Helvetica Neue"/>
                <a:cs typeface="Helvetica Neue"/>
                <a:sym typeface="Helvetica Neue"/>
              </a:defRPr>
            </a:lvl3pPr>
            <a:lvl4pPr marL="1828800" marR="0" lvl="3" indent="-317500" algn="l" rtl="0">
              <a:lnSpc>
                <a:spcPct val="90000"/>
              </a:lnSpc>
              <a:spcBef>
                <a:spcPts val="280"/>
              </a:spcBef>
              <a:spcAft>
                <a:spcPts val="0"/>
              </a:spcAft>
              <a:buClr>
                <a:schemeClr val="dk1"/>
              </a:buClr>
              <a:buSzPts val="1400"/>
              <a:buFont typeface="Arial"/>
              <a:buChar char="–"/>
              <a:defRPr sz="1400" b="0" i="0" u="none" strike="noStrike" cap="none">
                <a:solidFill>
                  <a:schemeClr val="dk1"/>
                </a:solidFill>
                <a:latin typeface="Helvetica Neue"/>
                <a:ea typeface="Helvetica Neue"/>
                <a:cs typeface="Helvetica Neue"/>
                <a:sym typeface="Helvetica Neue"/>
              </a:defRPr>
            </a:lvl4pPr>
            <a:lvl5pPr marL="2286000" marR="0" lvl="4" indent="-317500" algn="l" rtl="0">
              <a:lnSpc>
                <a:spcPct val="90000"/>
              </a:lnSpc>
              <a:spcBef>
                <a:spcPts val="280"/>
              </a:spcBef>
              <a:spcAft>
                <a:spcPts val="0"/>
              </a:spcAft>
              <a:buClr>
                <a:schemeClr val="dk1"/>
              </a:buClr>
              <a:buSzPts val="1400"/>
              <a:buFont typeface="Arial"/>
              <a:buChar char="–"/>
              <a:defRPr sz="1400" b="0" i="0" u="none" strike="noStrike" cap="none">
                <a:solidFill>
                  <a:schemeClr val="dk1"/>
                </a:solidFill>
                <a:latin typeface="Helvetica Neue"/>
                <a:ea typeface="Helvetica Neue"/>
                <a:cs typeface="Helvetica Neue"/>
                <a:sym typeface="Helvetica Neue"/>
              </a:defRPr>
            </a:lvl5pPr>
            <a:lvl6pPr marL="2743200" marR="0" lvl="5" indent="-317500" algn="l" rtl="0">
              <a:lnSpc>
                <a:spcPct val="100000"/>
              </a:lnSpc>
              <a:spcBef>
                <a:spcPts val="280"/>
              </a:spcBef>
              <a:spcAft>
                <a:spcPts val="0"/>
              </a:spcAft>
              <a:buClr>
                <a:schemeClr val="dk1"/>
              </a:buClr>
              <a:buSzPts val="1400"/>
              <a:buFont typeface="Arial"/>
              <a:buChar char="–"/>
              <a:defRPr sz="1400" b="0" i="0" u="none" strike="noStrike" cap="none">
                <a:solidFill>
                  <a:schemeClr val="dk1"/>
                </a:solidFill>
                <a:latin typeface="Helvetica Neue"/>
                <a:ea typeface="Helvetica Neue"/>
                <a:cs typeface="Helvetica Neue"/>
                <a:sym typeface="Helvetica Neue"/>
              </a:defRPr>
            </a:lvl6pPr>
            <a:lvl7pPr marL="3200400" marR="0" lvl="6" indent="-355600" algn="l" rtl="0">
              <a:lnSpc>
                <a:spcPct val="100000"/>
              </a:lnSpc>
              <a:spcBef>
                <a:spcPts val="400"/>
              </a:spcBef>
              <a:spcAft>
                <a:spcPts val="0"/>
              </a:spcAft>
              <a:buClr>
                <a:schemeClr val="dk1"/>
              </a:buClr>
              <a:buSzPts val="2000"/>
              <a:buFont typeface="Arial"/>
              <a:buChar char="•"/>
              <a:defRPr sz="2000" b="1" i="0" u="none" strike="noStrike" cap="none">
                <a:solidFill>
                  <a:schemeClr val="dk1"/>
                </a:solidFill>
                <a:latin typeface="Helvetica Neue"/>
                <a:ea typeface="Helvetica Neue"/>
                <a:cs typeface="Helvetica Neue"/>
                <a:sym typeface="Helvetica Neue"/>
              </a:defRPr>
            </a:lvl7pPr>
            <a:lvl8pPr marL="3657600" marR="0" lvl="7" indent="-355600" algn="l" rtl="0">
              <a:lnSpc>
                <a:spcPct val="100000"/>
              </a:lnSpc>
              <a:spcBef>
                <a:spcPts val="400"/>
              </a:spcBef>
              <a:spcAft>
                <a:spcPts val="0"/>
              </a:spcAft>
              <a:buClr>
                <a:schemeClr val="dk1"/>
              </a:buClr>
              <a:buSzPts val="2000"/>
              <a:buFont typeface="Arial"/>
              <a:buChar char="•"/>
              <a:defRPr sz="2000" b="1" i="0" u="none" strike="noStrike" cap="none">
                <a:solidFill>
                  <a:schemeClr val="dk1"/>
                </a:solidFill>
                <a:latin typeface="Helvetica Neue"/>
                <a:ea typeface="Helvetica Neue"/>
                <a:cs typeface="Helvetica Neue"/>
                <a:sym typeface="Helvetica Neue"/>
              </a:defRPr>
            </a:lvl8pPr>
            <a:lvl9pPr marL="4114800" marR="0" lvl="8" indent="-355600" algn="l" rtl="0">
              <a:lnSpc>
                <a:spcPct val="100000"/>
              </a:lnSpc>
              <a:spcBef>
                <a:spcPts val="400"/>
              </a:spcBef>
              <a:spcAft>
                <a:spcPts val="0"/>
              </a:spcAft>
              <a:buClr>
                <a:schemeClr val="dk1"/>
              </a:buClr>
              <a:buSzPts val="2000"/>
              <a:buFont typeface="Arial"/>
              <a:buChar char="•"/>
              <a:defRPr sz="2000" b="1" i="0" u="none" strike="noStrike" cap="none">
                <a:solidFill>
                  <a:schemeClr val="dk1"/>
                </a:solidFill>
                <a:latin typeface="Helvetica Neue"/>
                <a:ea typeface="Helvetica Neue"/>
                <a:cs typeface="Helvetica Neue"/>
                <a:sym typeface="Helvetica Neue"/>
              </a:defRPr>
            </a:lvl9pPr>
          </a:lstStyle>
          <a:p>
            <a:endParaRPr/>
          </a:p>
        </p:txBody>
      </p:sp>
      <p:sp>
        <p:nvSpPr>
          <p:cNvPr id="8" name="Google Shape;8;p10"/>
          <p:cNvSpPr txBox="1"/>
          <p:nvPr/>
        </p:nvSpPr>
        <p:spPr>
          <a:xfrm>
            <a:off x="314325" y="4535486"/>
            <a:ext cx="275010" cy="334961"/>
          </a:xfrm>
          <a:prstGeom prst="rect">
            <a:avLst/>
          </a:prstGeom>
          <a:noFill/>
          <a:ln>
            <a:noFill/>
          </a:ln>
        </p:spPr>
        <p:txBody>
          <a:bodyPr spcFirstLastPara="1" wrap="square" lIns="7200" tIns="0" rIns="0" bIns="0" anchor="b" anchorCtr="0">
            <a:normAutofit/>
          </a:bodyPr>
          <a:lstStyle/>
          <a:p>
            <a:pPr marL="0" marR="0" lvl="0" indent="0" algn="l" rtl="0">
              <a:lnSpc>
                <a:spcPct val="85000"/>
              </a:lnSpc>
              <a:spcBef>
                <a:spcPts val="0"/>
              </a:spcBef>
              <a:spcAft>
                <a:spcPts val="0"/>
              </a:spcAft>
              <a:buClr>
                <a:srgbClr val="FFFFFF"/>
              </a:buClr>
              <a:buSzPts val="800"/>
              <a:buFont typeface="Helvetica Neue"/>
              <a:buNone/>
            </a:pPr>
            <a:fld id="{00000000-1234-1234-1234-123412341234}" type="slidenum">
              <a:rPr lang="en-US" sz="800" b="1" i="0" u="none" strike="noStrike" cap="none">
                <a:solidFill>
                  <a:schemeClr val="dk1"/>
                </a:solidFill>
                <a:latin typeface="Helvetica Neue"/>
                <a:ea typeface="Helvetica Neue"/>
                <a:cs typeface="Helvetica Neue"/>
                <a:sym typeface="Helvetica Neue"/>
              </a:rPr>
              <a:pPr marL="0" marR="0" lvl="0" indent="0" algn="l" rtl="0">
                <a:lnSpc>
                  <a:spcPct val="85000"/>
                </a:lnSpc>
                <a:spcBef>
                  <a:spcPts val="0"/>
                </a:spcBef>
                <a:spcAft>
                  <a:spcPts val="0"/>
                </a:spcAft>
                <a:buClr>
                  <a:srgbClr val="FFFFFF"/>
                </a:buClr>
                <a:buSzPts val="800"/>
                <a:buFont typeface="Helvetica Neue"/>
                <a:buNone/>
              </a:pPr>
              <a:t>‹#›</a:t>
            </a:fld>
            <a:endParaRPr sz="800" b="1" i="0" u="none" strike="noStrike" cap="none">
              <a:solidFill>
                <a:schemeClr val="dk1"/>
              </a:solidFill>
              <a:latin typeface="Helvetica Neue"/>
              <a:ea typeface="Helvetica Neue"/>
              <a:cs typeface="Helvetica Neue"/>
              <a:sym typeface="Helvetica Neue"/>
            </a:endParaRPr>
          </a:p>
        </p:txBody>
      </p:sp>
    </p:spTree>
    <p:extLst>
      <p:ext uri="{BB962C8B-B14F-4D97-AF65-F5344CB8AC3E}">
        <p14:creationId xmlns:p14="http://schemas.microsoft.com/office/powerpoint/2010/main" val="3231971415"/>
      </p:ext>
    </p:extLst>
  </p:cSld>
  <p:clrMap bg1="lt1" tx1="dk1" bg2="dk2" tx2="lt2" accent1="accent1" accent2="accent2" accent3="accent3" accent4="accent4" accent5="accent5" accent6="accent6" hlink="hlink" folHlink="folHlink"/>
  <p:sldLayoutIdLst>
    <p:sldLayoutId id="2147483651" r:id="rId1"/>
    <p:sldLayoutId id="2147483652" r:id="rId2"/>
    <p:sldLayoutId id="2147483653" r:id="rId3"/>
    <p:sldLayoutId id="2147483654" r:id="rId4"/>
    <p:sldLayoutId id="2147483655" r:id="rId5"/>
    <p:sldLayoutId id="2147483656" r:id="rId6"/>
    <p:sldLayoutId id="2147483657" r:id="rId7"/>
    <p:sldLayoutId id="2147483658" r:id="rId8"/>
    <p:sldLayoutId id="2147483659" r:id="rId9"/>
    <p:sldLayoutId id="2147483660" r:id="rId10"/>
  </p:sldLayoutIdLst>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7.xml"/><Relationship Id="rId1" Type="http://schemas.openxmlformats.org/officeDocument/2006/relationships/slideLayout" Target="../slideLayouts/slideLayout11.xml"/><Relationship Id="rId4" Type="http://schemas.openxmlformats.org/officeDocument/2006/relationships/comments" Target="../comments/commen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338328" y="137160"/>
            <a:ext cx="0" cy="4828032"/>
          </a:xfrm>
          <a:prstGeom prst="line">
            <a:avLst/>
          </a:prstGeom>
          <a:noFill/>
          <a:ln w="53975">
            <a:solidFill>
              <a:srgbClr val="FF6600"/>
            </a:solidFill>
            <a:prstDash val="solid"/>
          </a:ln>
        </p:spPr>
      </p:sp>
      <p:sp>
        <p:nvSpPr>
          <p:cNvPr id="3" name="Text 1"/>
          <p:cNvSpPr txBox="1"/>
          <p:nvPr/>
        </p:nvSpPr>
        <p:spPr>
          <a:xfrm>
            <a:off x="530352" y="384048"/>
            <a:ext cx="2743200" cy="777240"/>
          </a:xfrm>
          <a:prstGeom prst="rect">
            <a:avLst/>
          </a:prstGeom>
          <a:noFill/>
          <a:ln/>
        </p:spPr>
        <p:txBody>
          <a:bodyPr wrap="square" lIns="0" tIns="0" rIns="0" bIns="0" rtlCol="0" anchor="t"/>
          <a:lstStyle/>
          <a:p>
            <a:pPr marL="0" indent="0">
              <a:lnSpc>
                <a:spcPts val="2400"/>
              </a:lnSpc>
              <a:buNone/>
            </a:pPr>
            <a:r>
              <a:rPr lang="en-US" sz="2000" dirty="0">
                <a:solidFill>
                  <a:srgbClr val="FF6600"/>
                </a:solidFill>
                <a:latin typeface="Arial" pitchFamily="34" charset="0"/>
                <a:ea typeface="Arial" pitchFamily="34" charset="-122"/>
                <a:cs typeface="Arial" pitchFamily="34" charset="-120"/>
              </a:rPr>
              <a:t>Orange
</a:t>
            </a:r>
            <a:endParaRPr lang="en-US" sz="2000" dirty="0"/>
          </a:p>
          <a:p>
            <a:pPr marL="0" indent="0">
              <a:lnSpc>
                <a:spcPts val="2400"/>
              </a:lnSpc>
              <a:buNone/>
            </a:pPr>
            <a:r>
              <a:rPr lang="en-US" sz="2000" dirty="0">
                <a:solidFill>
                  <a:srgbClr val="FFFFFF"/>
                </a:solidFill>
                <a:latin typeface="Arial" pitchFamily="34" charset="0"/>
                <a:ea typeface="Arial" pitchFamily="34" charset="-122"/>
                <a:cs typeface="Arial" pitchFamily="34" charset="-120"/>
              </a:rPr>
              <a:t>Innovation</a:t>
            </a:r>
            <a:endParaRPr lang="en-US" sz="2000" dirty="0"/>
          </a:p>
        </p:txBody>
      </p:sp>
      <p:sp>
        <p:nvSpPr>
          <p:cNvPr id="4" name="Text 2"/>
          <p:cNvSpPr txBox="1"/>
          <p:nvPr/>
        </p:nvSpPr>
        <p:spPr>
          <a:xfrm>
            <a:off x="868680" y="1600200"/>
            <a:ext cx="7315200" cy="1920240"/>
          </a:xfrm>
          <a:prstGeom prst="rect">
            <a:avLst/>
          </a:prstGeom>
          <a:noFill/>
          <a:ln/>
        </p:spPr>
        <p:txBody>
          <a:bodyPr wrap="square" lIns="0" tIns="0" rIns="0" bIns="0" rtlCol="0" anchor="t"/>
          <a:lstStyle/>
          <a:p>
            <a:pPr marL="0" indent="0" algn="l">
              <a:lnSpc>
                <a:spcPct val="105000"/>
              </a:lnSpc>
              <a:buNone/>
            </a:pPr>
            <a:r>
              <a:rPr lang="en-US" sz="4000" dirty="0">
                <a:solidFill>
                  <a:srgbClr val="FFFFFF"/>
                </a:solidFill>
                <a:latin typeface="Arial" pitchFamily="34" charset="0"/>
                <a:ea typeface="Arial" pitchFamily="34" charset="-122"/>
                <a:cs typeface="Arial" pitchFamily="34" charset="-120"/>
              </a:rPr>
              <a:t>Dynamic Test-Time Compute Allocation for LLM Reasoning</a:t>
            </a:r>
            <a:endParaRPr lang="en-US" sz="4000" dirty="0"/>
          </a:p>
        </p:txBody>
      </p:sp>
      <p:sp>
        <p:nvSpPr>
          <p:cNvPr id="5" name="Text 3"/>
          <p:cNvSpPr txBox="1"/>
          <p:nvPr/>
        </p:nvSpPr>
        <p:spPr>
          <a:xfrm>
            <a:off x="868680" y="3794760"/>
            <a:ext cx="5943600" cy="365760"/>
          </a:xfrm>
          <a:prstGeom prst="rect">
            <a:avLst/>
          </a:prstGeom>
          <a:noFill/>
          <a:ln/>
        </p:spPr>
        <p:txBody>
          <a:bodyPr wrap="square" lIns="0" tIns="0" rIns="0" bIns="0" rtlCol="0" anchor="ctr"/>
          <a:lstStyle/>
          <a:p>
            <a:pPr marL="0" indent="0" algn="l">
              <a:buNone/>
            </a:pPr>
            <a:r>
              <a:rPr lang="en-US" sz="1400" dirty="0">
                <a:solidFill>
                  <a:srgbClr val="FF6600"/>
                </a:solidFill>
                <a:latin typeface="Arial" pitchFamily="34" charset="0"/>
                <a:ea typeface="Arial" pitchFamily="34" charset="-122"/>
                <a:cs typeface="Arial" pitchFamily="34" charset="-120"/>
              </a:rPr>
              <a:t>Research Proposal </a:t>
            </a:r>
            <a:endParaRPr lang="en-US" sz="1400" dirty="0"/>
          </a:p>
        </p:txBody>
      </p:sp>
      <p:sp>
        <p:nvSpPr>
          <p:cNvPr id="6" name="Shape 4"/>
          <p:cNvSpPr/>
          <p:nvPr/>
        </p:nvSpPr>
        <p:spPr>
          <a:xfrm>
            <a:off x="8229600" y="4233672"/>
            <a:ext cx="612648" cy="612648"/>
          </a:xfrm>
          <a:prstGeom prst="rect">
            <a:avLst/>
          </a:prstGeom>
          <a:solidFill>
            <a:srgbClr val="FF6600"/>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a:buClr>
                <a:srgbClr val="FF7900"/>
              </a:buClr>
              <a:buSzPts val="1500"/>
            </a:pPr>
            <a:r>
              <a:rPr lang="en-US" sz="2000" b="1" dirty="0">
                <a:solidFill>
                  <a:srgbClr val="FF7900"/>
                </a:solidFill>
                <a:latin typeface="Helvetica Neue"/>
                <a:sym typeface="Arial"/>
              </a:rPr>
              <a:t>EXECUTIVE SUMMARY</a:t>
            </a: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pPr marL="177800" indent="-177800">
              <a:spcBef>
                <a:spcPts val="800"/>
              </a:spcBef>
              <a:spcAft>
                <a:spcPts val="200"/>
              </a:spcAft>
              <a:buSzPct val="100000"/>
              <a:buChar char="●"/>
            </a:pPr>
            <a:r>
              <a:rPr lang="en-US" sz="1200" b="1" dirty="0">
                <a:solidFill>
                  <a:srgbClr val="FF7900"/>
                </a:solidFill>
                <a:latin typeface="Helvetica Neue"/>
              </a:rPr>
              <a:t>PROBLEM</a:t>
            </a:r>
            <a:r>
              <a:rPr lang="en-US" sz="1300" b="1" dirty="0">
                <a:solidFill>
                  <a:srgbClr val="FF6600"/>
                </a:solidFill>
                <a:latin typeface="Arial" pitchFamily="34" charset="0"/>
                <a:ea typeface="Arial" pitchFamily="34" charset="-122"/>
                <a:cs typeface="Arial" pitchFamily="34" charset="-120"/>
              </a:rPr>
              <a:t>. </a:t>
            </a:r>
            <a:r>
              <a:rPr lang="en-US" sz="1200" dirty="0">
                <a:solidFill>
                  <a:srgbClr val="FFFFFF"/>
                </a:solidFill>
                <a:latin typeface="Arial" pitchFamily="34" charset="0"/>
                <a:ea typeface="Arial" pitchFamily="34" charset="-122"/>
                <a:cs typeface="Arial" pitchFamily="34" charset="-120"/>
              </a:rPr>
              <a:t>Reasoning LLMs gain accuracy from more test-time compute, but most deployments apply a single fixed budget to every input. Because the difficulty of queries varies widely, no single budget can be right for all of them.</a:t>
            </a:r>
            <a:endParaRPr lang="en-US" sz="1200" dirty="0"/>
          </a:p>
          <a:p>
            <a:pPr marL="457200" lvl="1" indent="-228600">
              <a:buSzPct val="100000"/>
              <a:buChar char="•"/>
            </a:pPr>
            <a:r>
              <a:rPr lang="en-US" sz="1050" dirty="0">
                <a:solidFill>
                  <a:srgbClr val="FFFFFF"/>
                </a:solidFill>
                <a:latin typeface="Arial" pitchFamily="34" charset="0"/>
                <a:ea typeface="Arial" pitchFamily="34" charset="-122"/>
                <a:cs typeface="Arial" pitchFamily="34" charset="-120"/>
              </a:rPr>
              <a:t>Underthinking hard problems (stopping before a reliable solution is reached) and overthinking easy ones (spending tokens after the answer is settled), sometimes with flat or negative returns</a:t>
            </a:r>
            <a:endParaRPr lang="en-US" sz="1050" dirty="0"/>
          </a:p>
          <a:p>
            <a:pPr lvl="1" indent="-228600">
              <a:spcAft>
                <a:spcPts val="800"/>
              </a:spcAft>
              <a:buSzPct val="100000"/>
              <a:buChar char="•"/>
            </a:pPr>
            <a:r>
              <a:rPr lang="en-US" sz="1050" dirty="0">
                <a:solidFill>
                  <a:srgbClr val="FFFFFF"/>
                </a:solidFill>
                <a:latin typeface="Arial" pitchFamily="34" charset="0"/>
                <a:cs typeface="Arial" pitchFamily="34" charset="-120"/>
              </a:rPr>
              <a:t>Includes correct-to-incorrect “flips” — cases where extra compute turns a right answer into a wrong one, actively hurting accuracy</a:t>
            </a:r>
          </a:p>
          <a:p>
            <a:pPr marL="177800" indent="-177800">
              <a:spcAft>
                <a:spcPts val="400"/>
              </a:spcAft>
              <a:buSzPct val="100000"/>
              <a:buFontTx/>
              <a:buChar char="●"/>
            </a:pPr>
            <a:r>
              <a:rPr lang="en-US" sz="1200" b="1" dirty="0">
                <a:solidFill>
                  <a:srgbClr val="FF7900"/>
                </a:solidFill>
                <a:latin typeface="Helvetica Neue"/>
              </a:rPr>
              <a:t>CURRENT SOLUTIONS.</a:t>
            </a:r>
            <a:r>
              <a:rPr lang="en-US" sz="1300" dirty="0">
                <a:solidFill>
                  <a:srgbClr val="FFFFFF"/>
                </a:solidFill>
                <a:latin typeface="Arial" pitchFamily="34" charset="0"/>
                <a:ea typeface="Arial" pitchFamily="34" charset="-122"/>
                <a:cs typeface="Arial" pitchFamily="34" charset="-120"/>
              </a:rPr>
              <a:t> </a:t>
            </a:r>
            <a:r>
              <a:rPr lang="en-US" sz="1200" dirty="0">
                <a:solidFill>
                  <a:srgbClr val="FFFFFF"/>
                </a:solidFill>
                <a:latin typeface="Arial" pitchFamily="34" charset="0"/>
                <a:cs typeface="Arial" pitchFamily="34" charset="-120"/>
              </a:rPr>
              <a:t>Two families of dynamic allocation methods exist:</a:t>
            </a:r>
          </a:p>
          <a:p>
            <a:pPr lvl="1" indent="-228600">
              <a:spcAft>
                <a:spcPts val="500"/>
              </a:spcAft>
              <a:buSzPct val="100000"/>
              <a:buFontTx/>
              <a:buChar char="•"/>
            </a:pPr>
            <a:r>
              <a:rPr lang="en-US" sz="1200" b="1" dirty="0">
                <a:solidFill>
                  <a:schemeClr val="bg1"/>
                </a:solidFill>
                <a:effectLst/>
                <a:latin typeface="Consolas" panose="020B0609020204030204" pitchFamily="49" charset="0"/>
              </a:rPr>
              <a:t>Reactive</a:t>
            </a:r>
            <a:r>
              <a:rPr lang="en-US" sz="1200" dirty="0">
                <a:solidFill>
                  <a:srgbClr val="BBBEBF"/>
                </a:solidFill>
                <a:latin typeface="Consolas" panose="020B0609020204030204" pitchFamily="49" charset="0"/>
              </a:rPr>
              <a:t>_</a:t>
            </a:r>
            <a:r>
              <a:rPr lang="en-US" sz="1200" dirty="0">
                <a:solidFill>
                  <a:srgbClr val="FFFFFF"/>
                </a:solidFill>
                <a:latin typeface="Arial" pitchFamily="34" charset="0"/>
                <a:ea typeface="Arial" pitchFamily="34" charset="-122"/>
                <a:cs typeface="Arial" pitchFamily="34" charset="-120"/>
              </a:rPr>
              <a:t> </a:t>
            </a:r>
            <a:r>
              <a:rPr lang="en-US" sz="1050" dirty="0">
                <a:solidFill>
                  <a:srgbClr val="FFFFFF"/>
                </a:solidFill>
                <a:latin typeface="Arial" pitchFamily="34" charset="0"/>
                <a:cs typeface="Arial" pitchFamily="34" charset="-120"/>
              </a:rPr>
              <a:t>decide during generation, by monitoring a signal such as confidence or entropy while the model reasons, and stopping once a threshold is crossed (e.g., entropy-triggered stopping, DEER).</a:t>
            </a:r>
          </a:p>
          <a:p>
            <a:pPr lvl="1" indent="-228600">
              <a:spcAft>
                <a:spcPts val="800"/>
              </a:spcAft>
              <a:buSzPct val="100000"/>
              <a:buFontTx/>
              <a:buChar char="•"/>
            </a:pPr>
            <a:r>
              <a:rPr lang="en-US" sz="1200" b="1" dirty="0">
                <a:solidFill>
                  <a:schemeClr val="bg1"/>
                </a:solidFill>
                <a:latin typeface="Consolas" panose="020B0609020204030204" pitchFamily="49" charset="0"/>
              </a:rPr>
              <a:t>Predictive</a:t>
            </a:r>
            <a:r>
              <a:rPr lang="en-US" sz="1200" dirty="0">
                <a:solidFill>
                  <a:srgbClr val="BBBEBF"/>
                </a:solidFill>
                <a:latin typeface="Consolas" panose="020B0609020204030204" pitchFamily="49" charset="0"/>
              </a:rPr>
              <a:t>_</a:t>
            </a:r>
            <a:r>
              <a:rPr lang="en-US" sz="1200" dirty="0">
                <a:solidFill>
                  <a:srgbClr val="FFFFFF"/>
                </a:solidFill>
                <a:latin typeface="Arial" pitchFamily="34" charset="0"/>
                <a:ea typeface="Arial" pitchFamily="34" charset="-122"/>
                <a:cs typeface="Arial" pitchFamily="34" charset="-120"/>
              </a:rPr>
              <a:t> decide before generation, by reading a difficulty signal from the model or query (before any reasoning tokens are produced) and choosing a strategy up front (e.g., </a:t>
            </a:r>
            <a:r>
              <a:rPr lang="en-US" sz="1200" dirty="0" err="1">
                <a:solidFill>
                  <a:srgbClr val="FFFFFF"/>
                </a:solidFill>
                <a:latin typeface="Arial" pitchFamily="34" charset="0"/>
                <a:ea typeface="Arial" pitchFamily="34" charset="-122"/>
                <a:cs typeface="Arial" pitchFamily="34" charset="-120"/>
              </a:rPr>
              <a:t>DiffAdapt's</a:t>
            </a:r>
            <a:r>
              <a:rPr lang="en-US" sz="1200" dirty="0">
                <a:solidFill>
                  <a:srgbClr val="FFFFFF"/>
                </a:solidFill>
                <a:latin typeface="Arial" pitchFamily="34" charset="0"/>
                <a:ea typeface="Arial" pitchFamily="34" charset="-122"/>
                <a:cs typeface="Arial" pitchFamily="34" charset="-120"/>
              </a:rPr>
              <a:t> hidden-state probe, learned routers).</a:t>
            </a:r>
            <a:endParaRPr lang="en-US" sz="1200" dirty="0"/>
          </a:p>
          <a:p>
            <a:r>
              <a:rPr lang="en-US" sz="1200" b="1" dirty="0">
                <a:solidFill>
                  <a:srgbClr val="FF7900"/>
                </a:solidFill>
                <a:latin typeface="Helvetica Neue"/>
              </a:rPr>
              <a:t>Why it's suboptimal. </a:t>
            </a:r>
            <a:r>
              <a:rPr lang="en-US" sz="1200" dirty="0">
                <a:solidFill>
                  <a:srgbClr val="FFFFFF"/>
                </a:solidFill>
                <a:latin typeface="Arial" pitchFamily="34" charset="0"/>
                <a:cs typeface="Arial" pitchFamily="34" charset="-120"/>
              </a:rPr>
              <a:t>Each family has its own limitations:</a:t>
            </a:r>
          </a:p>
          <a:p>
            <a:pPr lvl="1" indent="-228600">
              <a:spcAft>
                <a:spcPts val="500"/>
              </a:spcAft>
              <a:buSzPct val="100000"/>
              <a:buFontTx/>
              <a:buChar char="•"/>
            </a:pPr>
            <a:r>
              <a:rPr lang="en-US" sz="1200" b="1" dirty="0">
                <a:solidFill>
                  <a:schemeClr val="bg1"/>
                </a:solidFill>
                <a:effectLst/>
                <a:latin typeface="Consolas" panose="020B0609020204030204" pitchFamily="49" charset="0"/>
              </a:rPr>
              <a:t>Reactive</a:t>
            </a:r>
            <a:r>
              <a:rPr lang="en-US" sz="1200" dirty="0">
                <a:solidFill>
                  <a:srgbClr val="BBBEBF"/>
                </a:solidFill>
                <a:latin typeface="Consolas" panose="020B0609020204030204" pitchFamily="49" charset="0"/>
              </a:rPr>
              <a:t>_</a:t>
            </a:r>
            <a:r>
              <a:rPr lang="en-US" sz="1200" dirty="0">
                <a:solidFill>
                  <a:srgbClr val="FFFFFF"/>
                </a:solidFill>
                <a:latin typeface="Arial" pitchFamily="34" charset="0"/>
                <a:ea typeface="Arial" pitchFamily="34" charset="-122"/>
                <a:cs typeface="Arial" pitchFamily="34" charset="-120"/>
              </a:rPr>
              <a:t> </a:t>
            </a:r>
            <a:r>
              <a:rPr lang="en-US" sz="1050" dirty="0">
                <a:solidFill>
                  <a:srgbClr val="FFFFFF"/>
                </a:solidFill>
                <a:latin typeface="Arial" pitchFamily="34" charset="0"/>
                <a:cs typeface="Arial" pitchFamily="34" charset="-120"/>
              </a:rPr>
              <a:t>methods are trained or calibrated per model, several operate at coarse granularity, and cross-model generalization of the predictor itself is untested, and each new model needs its own tuning or training effort.</a:t>
            </a:r>
          </a:p>
          <a:p>
            <a:pPr lvl="1" indent="-228600">
              <a:spcAft>
                <a:spcPts val="800"/>
              </a:spcAft>
              <a:buSzPct val="100000"/>
              <a:buFontTx/>
              <a:buChar char="•"/>
            </a:pPr>
            <a:r>
              <a:rPr lang="en-US" sz="1200" b="1" dirty="0">
                <a:solidFill>
                  <a:schemeClr val="bg1"/>
                </a:solidFill>
                <a:latin typeface="Consolas" panose="020B0609020204030204" pitchFamily="49" charset="0"/>
              </a:rPr>
              <a:t>Predictive</a:t>
            </a:r>
            <a:r>
              <a:rPr lang="en-US" sz="1200" dirty="0">
                <a:solidFill>
                  <a:srgbClr val="BBBEBF"/>
                </a:solidFill>
                <a:latin typeface="Consolas" panose="020B0609020204030204" pitchFamily="49" charset="0"/>
              </a:rPr>
              <a:t>_</a:t>
            </a:r>
            <a:r>
              <a:rPr lang="en-US" sz="1200" dirty="0">
                <a:solidFill>
                  <a:srgbClr val="FFFFFF"/>
                </a:solidFill>
                <a:latin typeface="Arial" pitchFamily="34" charset="0"/>
                <a:ea typeface="Arial" pitchFamily="34" charset="-122"/>
                <a:cs typeface="Arial" pitchFamily="34" charset="-120"/>
              </a:rPr>
              <a:t> methods rely on signals — confidence, entropy — that can be false positives (a model can be confidently wrong), and their thresholds are hand-tuned per model and temperature rather than transferring.</a:t>
            </a:r>
          </a:p>
          <a:p>
            <a:pPr lvl="1" indent="-228600">
              <a:spcAft>
                <a:spcPts val="800"/>
              </a:spcAft>
              <a:buSzPct val="100000"/>
              <a:buFontTx/>
              <a:buChar char="•"/>
            </a:pPr>
            <a:r>
              <a:rPr lang="en-US" sz="1200" dirty="0">
                <a:solidFill>
                  <a:srgbClr val="FFFFFF"/>
                </a:solidFill>
                <a:latin typeface="Arial" pitchFamily="34" charset="0"/>
                <a:cs typeface="Arial" pitchFamily="34" charset="-120"/>
              </a:rPr>
              <a:t>No study has compared a reactive and a predictive method head-to-head under one shared protocol that jointly reports accuracy, compute, and interpretability. As a result, it is unclear which family — or which combination — works best.</a:t>
            </a:r>
          </a:p>
          <a:p>
            <a:pPr lvl="1" indent="-228600">
              <a:spcAft>
                <a:spcPts val="800"/>
              </a:spcAft>
              <a:buSzPct val="100000"/>
              <a:buFontTx/>
              <a:buChar char="•"/>
            </a:pPr>
            <a:endParaRPr lang="en-US" sz="1200" dirty="0">
              <a:solidFill>
                <a:srgbClr val="FFFFFF"/>
              </a:solidFill>
              <a:latin typeface="Arial" pitchFamily="34" charset="0"/>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indent="0" algn="l">
              <a:buNone/>
            </a:pPr>
            <a:r>
              <a:rPr lang="en-US" sz="800" b="1" dirty="0">
                <a:solidFill>
                  <a:srgbClr val="FF6600"/>
                </a:solidFill>
                <a:latin typeface="Arial" pitchFamily="34" charset="0"/>
                <a:ea typeface="Arial" pitchFamily="34" charset="-122"/>
                <a:cs typeface="Arial" pitchFamily="34" charset="-120"/>
              </a:rPr>
              <a:t>Orange Restricted</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EXECUTIVE SUMMARY</a:t>
            </a: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pPr marL="177800" marR="0" lvl="0" indent="-177800" algn="l" defTabSz="914400" rtl="0" eaLnBrk="1" fontAlgn="auto" latinLnBrk="0" hangingPunct="1">
              <a:lnSpc>
                <a:spcPct val="100000"/>
              </a:lnSpc>
              <a:spcBef>
                <a:spcPts val="800"/>
              </a:spcBef>
              <a:spcAft>
                <a:spcPts val="200"/>
              </a:spcAft>
              <a:buClrTx/>
              <a:buSzPct val="100000"/>
              <a:buFontTx/>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mn-cs"/>
              </a:rPr>
              <a:t>CORE HYPOTHESIS</a:t>
            </a:r>
            <a:r>
              <a:rPr kumimoji="0" lang="en-US" sz="13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 </a:t>
            </a:r>
            <a:r>
              <a:rPr lang="en-US" sz="1200" dirty="0">
                <a:solidFill>
                  <a:srgbClr val="FFFFFF"/>
                </a:solidFill>
                <a:latin typeface="Arial" pitchFamily="34" charset="0"/>
                <a:cs typeface="Arial" pitchFamily="34" charset="-120"/>
              </a:rPr>
              <a:t>Improving Compute allocation can be improved through two complementary directions: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r>
              <a:rPr kumimoji="0" lang="en-US" sz="1200" b="1" i="0" u="none" strike="noStrike" kern="1200" cap="none" spc="0" normalizeH="0" baseline="0" noProof="0" dirty="0">
                <a:ln>
                  <a:noFill/>
                </a:ln>
                <a:solidFill>
                  <a:prstClr val="white"/>
                </a:solidFill>
                <a:effectLst/>
                <a:uLnTx/>
                <a:uFillTx/>
                <a:latin typeface="Consolas" panose="020B0609020204030204" pitchFamily="49" charset="0"/>
                <a:ea typeface="+mn-ea"/>
                <a:cs typeface="+mn-cs"/>
              </a:rPr>
              <a:t>Reactive</a:t>
            </a:r>
            <a:r>
              <a:rPr kumimoji="0" lang="en-US" sz="1200" b="0" i="0" u="none" strike="noStrike" kern="1200" cap="none" spc="0" normalizeH="0" baseline="0" noProof="0" dirty="0">
                <a:ln>
                  <a:noFill/>
                </a:ln>
                <a:solidFill>
                  <a:srgbClr val="BBBEBF"/>
                </a:solidFill>
                <a:effectLst/>
                <a:uLnTx/>
                <a:uFillTx/>
                <a:latin typeface="Consolas" panose="020B0609020204030204" pitchFamily="49" charset="0"/>
                <a:ea typeface="+mn-ea"/>
                <a:cs typeface="+mn-cs"/>
              </a:rPr>
              <a:t>_ </a:t>
            </a:r>
            <a:r>
              <a:rPr lang="en-US" sz="1050" dirty="0">
                <a:solidFill>
                  <a:srgbClr val="FFFFFF"/>
                </a:solidFill>
                <a:latin typeface="Arial" pitchFamily="34" charset="0"/>
                <a:cs typeface="Arial" pitchFamily="34" charset="-120"/>
              </a:rPr>
              <a:t>Allocation can also be improved by refining the signal used to detect when reasoning has actually converged—moving beyond surface-level confidence or entropy toward an internal, model-derived indicator that more accurately determines when thinking should stop.  That is, stop on evidence of convergence, not on how sure the output sounds.</a:t>
            </a: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r>
              <a:rPr kumimoji="0" lang="en-US" sz="1200" b="1" i="0" u="none" strike="noStrike" kern="1200" cap="none" spc="0" normalizeH="0" baseline="0" noProof="0" dirty="0">
                <a:ln>
                  <a:noFill/>
                </a:ln>
                <a:solidFill>
                  <a:prstClr val="white"/>
                </a:solidFill>
                <a:effectLst/>
                <a:uLnTx/>
                <a:uFillTx/>
                <a:latin typeface="Consolas" panose="020B0609020204030204" pitchFamily="49" charset="0"/>
                <a:ea typeface="+mn-ea"/>
                <a:cs typeface="+mn-cs"/>
              </a:rPr>
              <a:t>Predictive</a:t>
            </a:r>
            <a:r>
              <a:rPr kumimoji="0" lang="en-US" sz="1200" b="0" i="0" u="none" strike="noStrike" kern="1200" cap="none" spc="0" normalizeH="0" baseline="0" noProof="0" dirty="0">
                <a:ln>
                  <a:noFill/>
                </a:ln>
                <a:solidFill>
                  <a:srgbClr val="BBBEBF"/>
                </a:solidFill>
                <a:effectLst/>
                <a:uLnTx/>
                <a:uFillTx/>
                <a:latin typeface="Consolas" panose="020B0609020204030204" pitchFamily="49" charset="0"/>
                <a:ea typeface="+mn-ea"/>
                <a:cs typeface="+mn-cs"/>
              </a:rPr>
              <a:t>_</a:t>
            </a:r>
            <a:r>
              <a:rPr kumimoji="0" lang="en-US" sz="12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a:t>
            </a:r>
            <a:r>
              <a:rPr lang="en-US" sz="1050" dirty="0">
                <a:solidFill>
                  <a:srgbClr val="FFFFFF"/>
                </a:solidFill>
                <a:latin typeface="Arial" pitchFamily="34" charset="0"/>
                <a:cs typeface="Arial" pitchFamily="34" charset="-120"/>
              </a:rPr>
              <a:t>Required compute may be predictable from task difficulty beyond a difficulty-only baseline. The open question is whether this relationship holds generally or only in specific settings. Measuring this gap sets the bar any predictor must clear.</a:t>
            </a:r>
          </a:p>
          <a:p>
            <a:pPr marL="177800" marR="0" lvl="0" indent="-177800" algn="l" defTabSz="914400" rtl="0" eaLnBrk="1" fontAlgn="auto" latinLnBrk="0" hangingPunct="1">
              <a:lnSpc>
                <a:spcPct val="100000"/>
              </a:lnSpc>
              <a:spcBef>
                <a:spcPts val="800"/>
              </a:spcBef>
              <a:spcAft>
                <a:spcPts val="200"/>
              </a:spcAft>
              <a:buClrTx/>
              <a:buSzPct val="100000"/>
              <a:buFontTx/>
              <a:buChar char="●"/>
              <a:tabLst/>
              <a:defRPr/>
            </a:pPr>
            <a:r>
              <a:rPr lang="en-US" sz="1200" b="1" dirty="0">
                <a:solidFill>
                  <a:srgbClr val="FF7900"/>
                </a:solidFill>
                <a:latin typeface="Helvetica Neue"/>
              </a:rPr>
              <a:t>POSSIBLE CONTRIBUTION</a:t>
            </a:r>
            <a:r>
              <a:rPr kumimoji="0" lang="en-US" sz="13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 </a:t>
            </a:r>
            <a:endParaRPr lang="en-US" sz="1050" dirty="0">
              <a:solidFill>
                <a:srgbClr val="FFFFFF"/>
              </a:solidFill>
              <a:latin typeface="Arial" pitchFamily="34" charset="0"/>
              <a:cs typeface="Arial" pitchFamily="34" charset="-120"/>
            </a:endParaRP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r>
              <a:rPr lang="en-US" sz="1200" b="1" dirty="0">
                <a:solidFill>
                  <a:prstClr val="white"/>
                </a:solidFill>
                <a:latin typeface="Consolas" panose="020B0609020204030204" pitchFamily="49" charset="0"/>
              </a:rPr>
              <a:t>Hypothesis validation</a:t>
            </a:r>
            <a:r>
              <a:rPr lang="en-US" sz="1200" dirty="0"/>
              <a:t>:</a:t>
            </a:r>
            <a:r>
              <a:rPr kumimoji="0" lang="en-US" sz="1200" b="0" i="0" u="none" strike="noStrike" kern="1200" cap="none" spc="0" normalizeH="0" baseline="0" noProof="0" dirty="0">
                <a:ln>
                  <a:noFill/>
                </a:ln>
                <a:solidFill>
                  <a:srgbClr val="BBBEBF"/>
                </a:solidFill>
                <a:effectLst/>
                <a:uLnTx/>
                <a:uFillTx/>
                <a:latin typeface="Consolas" panose="020B0609020204030204" pitchFamily="49" charset="0"/>
                <a:ea typeface="+mn-ea"/>
                <a:cs typeface="+mn-cs"/>
              </a:rPr>
              <a:t>_</a:t>
            </a:r>
            <a:r>
              <a:rPr kumimoji="0" lang="en-US" sz="12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a:t>
            </a:r>
            <a:r>
              <a:rPr lang="en-US" sz="1050" dirty="0">
                <a:solidFill>
                  <a:srgbClr val="FFFFFF"/>
                </a:solidFill>
                <a:latin typeface="Arial" pitchFamily="34" charset="0"/>
                <a:cs typeface="Arial" pitchFamily="34" charset="-120"/>
              </a:rPr>
              <a:t>Test our hypotheses empirically and determine whether the proposed assumptions hold.</a:t>
            </a: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r>
              <a:rPr lang="en-US" sz="1200" b="1" dirty="0">
                <a:solidFill>
                  <a:prstClr val="white"/>
                </a:solidFill>
                <a:latin typeface="Consolas" panose="020B0609020204030204" pitchFamily="49" charset="0"/>
              </a:rPr>
              <a:t>Direction selection</a:t>
            </a:r>
            <a:r>
              <a:rPr lang="en-US" sz="1200" dirty="0"/>
              <a:t>:</a:t>
            </a:r>
            <a:r>
              <a:rPr kumimoji="0" lang="en-US" sz="1200" b="0" i="0" u="none" strike="noStrike" kern="1200" cap="none" spc="0" normalizeH="0" baseline="0" noProof="0" dirty="0">
                <a:ln>
                  <a:noFill/>
                </a:ln>
                <a:solidFill>
                  <a:srgbClr val="BBBEBF"/>
                </a:solidFill>
                <a:effectLst/>
                <a:uLnTx/>
                <a:uFillTx/>
                <a:latin typeface="Consolas" panose="020B0609020204030204" pitchFamily="49" charset="0"/>
                <a:ea typeface="+mn-ea"/>
                <a:cs typeface="+mn-cs"/>
              </a:rPr>
              <a:t>_</a:t>
            </a:r>
            <a:r>
              <a:rPr kumimoji="0" lang="en-US" sz="12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a:t>
            </a:r>
            <a:r>
              <a:rPr lang="en-US" sz="1050" dirty="0">
                <a:solidFill>
                  <a:srgbClr val="FFFFFF"/>
                </a:solidFill>
                <a:latin typeface="Arial" pitchFamily="34" charset="0"/>
                <a:cs typeface="Arial" pitchFamily="34" charset="-120"/>
              </a:rPr>
              <a:t>Based on the test results, determine which approach to pursue further; the final direction will be determined later according to the findings. Both tracks stay open until the evidence favors one.</a:t>
            </a: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Google Shape;72;p2">
            <a:extLst>
              <a:ext uri="{FF2B5EF4-FFF2-40B4-BE49-F238E27FC236}">
                <a16:creationId xmlns:a16="http://schemas.microsoft.com/office/drawing/2014/main" id="{A7947C86-202E-B7C0-6F37-E56773781535}"/>
              </a:ext>
            </a:extLst>
          </p:cNvPr>
          <p:cNvSpPr/>
          <p:nvPr/>
        </p:nvSpPr>
        <p:spPr>
          <a:xfrm>
            <a:off x="594360" y="2987040"/>
            <a:ext cx="5238413" cy="2294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400"/>
              <a:buFont typeface="Arial"/>
              <a:buNone/>
            </a:pPr>
            <a:endParaRPr sz="1400" i="0" u="none" strike="noStrike" cap="none" dirty="0">
              <a:solidFill>
                <a:schemeClr val="dk1"/>
              </a:solidFill>
              <a:latin typeface="Helvetica Neue"/>
              <a:ea typeface="Helvetica Neue"/>
              <a:cs typeface="Helvetica Neue"/>
              <a:sym typeface="Helvetica Neue"/>
            </a:endParaRPr>
          </a:p>
        </p:txBody>
      </p:sp>
      <p:sp>
        <p:nvSpPr>
          <p:cNvPr id="8" name="Google Shape;73;p2">
            <a:extLst>
              <a:ext uri="{FF2B5EF4-FFF2-40B4-BE49-F238E27FC236}">
                <a16:creationId xmlns:a16="http://schemas.microsoft.com/office/drawing/2014/main" id="{C26939E5-B13C-9DD2-A219-C7B489815949}"/>
              </a:ext>
            </a:extLst>
          </p:cNvPr>
          <p:cNvSpPr/>
          <p:nvPr/>
        </p:nvSpPr>
        <p:spPr>
          <a:xfrm>
            <a:off x="594360" y="3288180"/>
            <a:ext cx="3915714" cy="1520040"/>
          </a:xfrm>
          <a:prstGeom prst="roundRect">
            <a:avLst>
              <a:gd name="adj" fmla="val 2830"/>
            </a:avLst>
          </a:prstGeom>
          <a:solidFill>
            <a:srgbClr val="141414"/>
          </a:solidFill>
          <a:ln w="12700"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9" name="Google Shape;74;p2">
            <a:extLst>
              <a:ext uri="{FF2B5EF4-FFF2-40B4-BE49-F238E27FC236}">
                <a16:creationId xmlns:a16="http://schemas.microsoft.com/office/drawing/2014/main" id="{AFE601CE-FA8A-D8B1-2F84-2FCD50E04A97}"/>
              </a:ext>
            </a:extLst>
          </p:cNvPr>
          <p:cNvSpPr/>
          <p:nvPr/>
        </p:nvSpPr>
        <p:spPr>
          <a:xfrm>
            <a:off x="738416" y="3402900"/>
            <a:ext cx="3627601" cy="2151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9A9A"/>
              </a:buClr>
              <a:buSzPts val="1200"/>
              <a:buFont typeface="Arial"/>
              <a:buNone/>
            </a:pPr>
            <a:r>
              <a:rPr lang="en-US" sz="1200" b="1" i="0" u="none" strike="noStrike" cap="none" dirty="0">
                <a:solidFill>
                  <a:srgbClr val="9A9A9A"/>
                </a:solidFill>
                <a:latin typeface="Helvetica Neue"/>
                <a:ea typeface="Helvetica Neue"/>
                <a:cs typeface="Helvetica Neue"/>
                <a:sym typeface="Helvetica Neue"/>
              </a:rPr>
              <a:t>FIXED BUDGET — SAME REASONING BUDGET FOR EVERY INPUT</a:t>
            </a:r>
            <a:endParaRPr sz="1200" i="0" u="none" strike="noStrike" cap="none" dirty="0">
              <a:solidFill>
                <a:schemeClr val="dk1"/>
              </a:solidFill>
              <a:latin typeface="Helvetica Neue"/>
              <a:ea typeface="Helvetica Neue"/>
              <a:cs typeface="Helvetica Neue"/>
              <a:sym typeface="Helvetica Neue"/>
            </a:endParaRPr>
          </a:p>
        </p:txBody>
      </p:sp>
      <p:sp>
        <p:nvSpPr>
          <p:cNvPr id="10" name="Google Shape;75;p2">
            <a:extLst>
              <a:ext uri="{FF2B5EF4-FFF2-40B4-BE49-F238E27FC236}">
                <a16:creationId xmlns:a16="http://schemas.microsoft.com/office/drawing/2014/main" id="{E2291892-AEA5-41D9-4426-EFC15FCA0B60}"/>
              </a:ext>
            </a:extLst>
          </p:cNvPr>
          <p:cNvSpPr/>
          <p:nvPr/>
        </p:nvSpPr>
        <p:spPr>
          <a:xfrm>
            <a:off x="738416" y="3704040"/>
            <a:ext cx="1309603" cy="200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50"/>
              <a:buFont typeface="Arial"/>
              <a:buNone/>
            </a:pPr>
            <a:r>
              <a:rPr lang="en-US" sz="1150" b="1" i="0" u="none" strike="noStrike" cap="none">
                <a:solidFill>
                  <a:srgbClr val="FFFFFF"/>
                </a:solidFill>
                <a:latin typeface="Helvetica Neue"/>
                <a:ea typeface="Helvetica Neue"/>
                <a:cs typeface="Helvetica Neue"/>
                <a:sym typeface="Helvetica Neue"/>
              </a:rPr>
              <a:t>Easy problem</a:t>
            </a:r>
            <a:endParaRPr sz="1150" i="0" u="none" strike="noStrike" cap="none">
              <a:solidFill>
                <a:schemeClr val="dk1"/>
              </a:solidFill>
              <a:latin typeface="Helvetica Neue"/>
              <a:ea typeface="Helvetica Neue"/>
              <a:cs typeface="Helvetica Neue"/>
              <a:sym typeface="Helvetica Neue"/>
            </a:endParaRPr>
          </a:p>
        </p:txBody>
      </p:sp>
      <p:sp>
        <p:nvSpPr>
          <p:cNvPr id="11" name="Google Shape;76;p2">
            <a:extLst>
              <a:ext uri="{FF2B5EF4-FFF2-40B4-BE49-F238E27FC236}">
                <a16:creationId xmlns:a16="http://schemas.microsoft.com/office/drawing/2014/main" id="{5FF6EAFE-3C5D-297D-474D-237131C43710}"/>
              </a:ext>
            </a:extLst>
          </p:cNvPr>
          <p:cNvSpPr/>
          <p:nvPr/>
        </p:nvSpPr>
        <p:spPr>
          <a:xfrm>
            <a:off x="2100404" y="3718380"/>
            <a:ext cx="2213230" cy="172080"/>
          </a:xfrm>
          <a:prstGeom prst="roundRect">
            <a:avLst>
              <a:gd name="adj" fmla="val 16667"/>
            </a:avLst>
          </a:prstGeom>
          <a:no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2" name="Google Shape;77;p2">
            <a:extLst>
              <a:ext uri="{FF2B5EF4-FFF2-40B4-BE49-F238E27FC236}">
                <a16:creationId xmlns:a16="http://schemas.microsoft.com/office/drawing/2014/main" id="{CAD7EF88-0DEE-F01D-DF59-F31CF1A27D88}"/>
              </a:ext>
            </a:extLst>
          </p:cNvPr>
          <p:cNvSpPr/>
          <p:nvPr/>
        </p:nvSpPr>
        <p:spPr>
          <a:xfrm>
            <a:off x="2100404" y="3724396"/>
            <a:ext cx="1231312" cy="157740"/>
          </a:xfrm>
          <a:prstGeom prst="roundRect">
            <a:avLst>
              <a:gd name="adj" fmla="val 16667"/>
            </a:avLst>
          </a:prstGeom>
          <a:solidFill>
            <a:srgbClr val="9A9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3" name="Google Shape;78;p2">
            <a:extLst>
              <a:ext uri="{FF2B5EF4-FFF2-40B4-BE49-F238E27FC236}">
                <a16:creationId xmlns:a16="http://schemas.microsoft.com/office/drawing/2014/main" id="{383DDF31-81AC-5371-270A-B56756CB3638}"/>
              </a:ext>
            </a:extLst>
          </p:cNvPr>
          <p:cNvSpPr/>
          <p:nvPr/>
        </p:nvSpPr>
        <p:spPr>
          <a:xfrm>
            <a:off x="738416" y="3947820"/>
            <a:ext cx="3627601" cy="2294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9A9A"/>
              </a:buClr>
              <a:buSzPts val="950"/>
              <a:buFont typeface="Arial"/>
              <a:buNone/>
            </a:pPr>
            <a:r>
              <a:rPr lang="en-US" sz="950" b="1" i="1" u="none" strike="noStrike" cap="none">
                <a:solidFill>
                  <a:srgbClr val="9A9A9A"/>
                </a:solidFill>
                <a:latin typeface="Helvetica Neue"/>
                <a:ea typeface="Helvetica Neue"/>
                <a:cs typeface="Helvetica Neue"/>
                <a:sym typeface="Helvetica Neue"/>
              </a:rPr>
              <a:t>overthinks — wasted tokens, flat/negative return</a:t>
            </a:r>
            <a:endParaRPr sz="950" b="1" i="0" u="none" strike="noStrike" cap="none">
              <a:solidFill>
                <a:schemeClr val="dk1"/>
              </a:solidFill>
              <a:latin typeface="Helvetica Neue"/>
              <a:ea typeface="Helvetica Neue"/>
              <a:cs typeface="Helvetica Neue"/>
              <a:sym typeface="Helvetica Neue"/>
            </a:endParaRPr>
          </a:p>
        </p:txBody>
      </p:sp>
      <p:sp>
        <p:nvSpPr>
          <p:cNvPr id="14" name="Google Shape;79;p2">
            <a:extLst>
              <a:ext uri="{FF2B5EF4-FFF2-40B4-BE49-F238E27FC236}">
                <a16:creationId xmlns:a16="http://schemas.microsoft.com/office/drawing/2014/main" id="{2DC4900E-67D7-89CD-AB8C-B1E5E9D7A394}"/>
              </a:ext>
            </a:extLst>
          </p:cNvPr>
          <p:cNvSpPr/>
          <p:nvPr/>
        </p:nvSpPr>
        <p:spPr>
          <a:xfrm>
            <a:off x="738416" y="4263300"/>
            <a:ext cx="1309603" cy="200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50"/>
              <a:buFont typeface="Arial"/>
              <a:buNone/>
            </a:pPr>
            <a:r>
              <a:rPr lang="en-US" sz="1150" b="1" i="0" u="none" strike="noStrike" cap="none" dirty="0">
                <a:solidFill>
                  <a:srgbClr val="FFFFFF"/>
                </a:solidFill>
                <a:latin typeface="Helvetica Neue"/>
                <a:ea typeface="Helvetica Neue"/>
                <a:cs typeface="Helvetica Neue"/>
                <a:sym typeface="Helvetica Neue"/>
              </a:rPr>
              <a:t>Hard problem</a:t>
            </a:r>
            <a:endParaRPr sz="1150" i="0" u="none" strike="noStrike" cap="none" dirty="0">
              <a:solidFill>
                <a:schemeClr val="dk1"/>
              </a:solidFill>
              <a:latin typeface="Helvetica Neue"/>
              <a:ea typeface="Helvetica Neue"/>
              <a:cs typeface="Helvetica Neue"/>
              <a:sym typeface="Helvetica Neue"/>
            </a:endParaRPr>
          </a:p>
        </p:txBody>
      </p:sp>
      <p:sp>
        <p:nvSpPr>
          <p:cNvPr id="15" name="Google Shape;80;p2">
            <a:extLst>
              <a:ext uri="{FF2B5EF4-FFF2-40B4-BE49-F238E27FC236}">
                <a16:creationId xmlns:a16="http://schemas.microsoft.com/office/drawing/2014/main" id="{A0690DA5-B25F-2A13-8054-7D533B81CB52}"/>
              </a:ext>
            </a:extLst>
          </p:cNvPr>
          <p:cNvSpPr/>
          <p:nvPr/>
        </p:nvSpPr>
        <p:spPr>
          <a:xfrm>
            <a:off x="2100404" y="4277640"/>
            <a:ext cx="2213230" cy="172080"/>
          </a:xfrm>
          <a:prstGeom prst="roundRect">
            <a:avLst>
              <a:gd name="adj" fmla="val 16667"/>
            </a:avLst>
          </a:prstGeom>
          <a:no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6" name="Google Shape;81;p2">
            <a:extLst>
              <a:ext uri="{FF2B5EF4-FFF2-40B4-BE49-F238E27FC236}">
                <a16:creationId xmlns:a16="http://schemas.microsoft.com/office/drawing/2014/main" id="{FBC774A7-F0B6-BE93-2F66-E0779513F8C9}"/>
              </a:ext>
            </a:extLst>
          </p:cNvPr>
          <p:cNvSpPr/>
          <p:nvPr/>
        </p:nvSpPr>
        <p:spPr>
          <a:xfrm>
            <a:off x="2100404" y="4277640"/>
            <a:ext cx="1231313" cy="172080"/>
          </a:xfrm>
          <a:prstGeom prst="roundRect">
            <a:avLst>
              <a:gd name="adj" fmla="val 16667"/>
            </a:avLst>
          </a:prstGeom>
          <a:solidFill>
            <a:srgbClr val="9A9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7" name="Google Shape;82;p2">
            <a:extLst>
              <a:ext uri="{FF2B5EF4-FFF2-40B4-BE49-F238E27FC236}">
                <a16:creationId xmlns:a16="http://schemas.microsoft.com/office/drawing/2014/main" id="{04D406BC-2782-1F9F-59BE-55E163E1BC48}"/>
              </a:ext>
            </a:extLst>
          </p:cNvPr>
          <p:cNvSpPr/>
          <p:nvPr/>
        </p:nvSpPr>
        <p:spPr>
          <a:xfrm>
            <a:off x="738416" y="4507080"/>
            <a:ext cx="3627601" cy="2294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9A9A"/>
              </a:buClr>
              <a:buSzPts val="950"/>
              <a:buFont typeface="Arial"/>
              <a:buNone/>
            </a:pPr>
            <a:r>
              <a:rPr lang="en-US" sz="950" b="1" i="1" u="none" strike="noStrike" cap="none">
                <a:solidFill>
                  <a:srgbClr val="9A9A9A"/>
                </a:solidFill>
                <a:latin typeface="Helvetica Neue"/>
                <a:ea typeface="Helvetica Neue"/>
                <a:cs typeface="Helvetica Neue"/>
                <a:sym typeface="Helvetica Neue"/>
              </a:rPr>
              <a:t>underthinks — abandons promising reasoning</a:t>
            </a:r>
            <a:endParaRPr sz="950" b="1" i="0" u="none" strike="noStrike" cap="none">
              <a:solidFill>
                <a:schemeClr val="dk1"/>
              </a:solidFill>
              <a:latin typeface="Helvetica Neue"/>
              <a:ea typeface="Helvetica Neue"/>
              <a:cs typeface="Helvetica Neue"/>
              <a:sym typeface="Helvetica Neue"/>
            </a:endParaRPr>
          </a:p>
        </p:txBody>
      </p:sp>
      <p:sp>
        <p:nvSpPr>
          <p:cNvPr id="18" name="Google Shape;83;p2">
            <a:extLst>
              <a:ext uri="{FF2B5EF4-FFF2-40B4-BE49-F238E27FC236}">
                <a16:creationId xmlns:a16="http://schemas.microsoft.com/office/drawing/2014/main" id="{19AC2F44-881C-E244-6468-BDB26874F136}"/>
              </a:ext>
            </a:extLst>
          </p:cNvPr>
          <p:cNvSpPr/>
          <p:nvPr/>
        </p:nvSpPr>
        <p:spPr>
          <a:xfrm>
            <a:off x="4699966" y="3288180"/>
            <a:ext cx="3915714" cy="1520040"/>
          </a:xfrm>
          <a:prstGeom prst="roundRect">
            <a:avLst>
              <a:gd name="adj" fmla="val 2830"/>
            </a:avLst>
          </a:prstGeom>
          <a:solidFill>
            <a:srgbClr val="141414"/>
          </a:solidFill>
          <a:ln w="12700" cap="flat" cmpd="sng">
            <a:solidFill>
              <a:srgbClr val="FF79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9" name="Google Shape;84;p2">
            <a:extLst>
              <a:ext uri="{FF2B5EF4-FFF2-40B4-BE49-F238E27FC236}">
                <a16:creationId xmlns:a16="http://schemas.microsoft.com/office/drawing/2014/main" id="{7CEF4C4A-C122-4B1B-42C0-83CE89FF9DF5}"/>
              </a:ext>
            </a:extLst>
          </p:cNvPr>
          <p:cNvSpPr/>
          <p:nvPr/>
        </p:nvSpPr>
        <p:spPr>
          <a:xfrm>
            <a:off x="4844023" y="3402900"/>
            <a:ext cx="3627601" cy="2151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7900"/>
              </a:buClr>
              <a:buSzPts val="1200"/>
              <a:buFont typeface="Arial"/>
              <a:buNone/>
            </a:pPr>
            <a:r>
              <a:rPr lang="en-US" sz="1200" b="1" i="0" u="none" strike="noStrike" cap="none">
                <a:solidFill>
                  <a:srgbClr val="FF7900"/>
                </a:solidFill>
                <a:latin typeface="Helvetica Neue"/>
                <a:ea typeface="Helvetica Neue"/>
                <a:cs typeface="Helvetica Neue"/>
                <a:sym typeface="Helvetica Neue"/>
              </a:rPr>
              <a:t>PROPOSED — BUDGET MATCHED TO DIFFICULTY</a:t>
            </a:r>
            <a:endParaRPr sz="1200" i="0" u="none" strike="noStrike" cap="none">
              <a:solidFill>
                <a:schemeClr val="dk1"/>
              </a:solidFill>
              <a:latin typeface="Helvetica Neue"/>
              <a:ea typeface="Helvetica Neue"/>
              <a:cs typeface="Helvetica Neue"/>
              <a:sym typeface="Helvetica Neue"/>
            </a:endParaRPr>
          </a:p>
        </p:txBody>
      </p:sp>
      <p:sp>
        <p:nvSpPr>
          <p:cNvPr id="20" name="Google Shape;85;p2">
            <a:extLst>
              <a:ext uri="{FF2B5EF4-FFF2-40B4-BE49-F238E27FC236}">
                <a16:creationId xmlns:a16="http://schemas.microsoft.com/office/drawing/2014/main" id="{21BBF973-E6CE-59BF-1368-D93B3B80E52F}"/>
              </a:ext>
            </a:extLst>
          </p:cNvPr>
          <p:cNvSpPr/>
          <p:nvPr/>
        </p:nvSpPr>
        <p:spPr>
          <a:xfrm>
            <a:off x="4844023" y="3704040"/>
            <a:ext cx="1309603" cy="200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50"/>
              <a:buFont typeface="Arial"/>
              <a:buNone/>
            </a:pPr>
            <a:r>
              <a:rPr lang="en-US" sz="1150" b="1" i="0" u="none" strike="noStrike" cap="none">
                <a:solidFill>
                  <a:srgbClr val="FFFFFF"/>
                </a:solidFill>
                <a:latin typeface="Helvetica Neue"/>
                <a:ea typeface="Helvetica Neue"/>
                <a:cs typeface="Helvetica Neue"/>
                <a:sym typeface="Helvetica Neue"/>
              </a:rPr>
              <a:t>Easy problem</a:t>
            </a:r>
            <a:endParaRPr sz="1150" i="0" u="none" strike="noStrike" cap="none">
              <a:solidFill>
                <a:schemeClr val="dk1"/>
              </a:solidFill>
              <a:latin typeface="Helvetica Neue"/>
              <a:ea typeface="Helvetica Neue"/>
              <a:cs typeface="Helvetica Neue"/>
              <a:sym typeface="Helvetica Neue"/>
            </a:endParaRPr>
          </a:p>
        </p:txBody>
      </p:sp>
      <p:sp>
        <p:nvSpPr>
          <p:cNvPr id="21" name="Google Shape;86;p2">
            <a:extLst>
              <a:ext uri="{FF2B5EF4-FFF2-40B4-BE49-F238E27FC236}">
                <a16:creationId xmlns:a16="http://schemas.microsoft.com/office/drawing/2014/main" id="{9F7D1DD8-8C59-833B-A8D5-8B8FF20B86DA}"/>
              </a:ext>
            </a:extLst>
          </p:cNvPr>
          <p:cNvSpPr/>
          <p:nvPr/>
        </p:nvSpPr>
        <p:spPr>
          <a:xfrm>
            <a:off x="6206010" y="3718380"/>
            <a:ext cx="2213230" cy="172080"/>
          </a:xfrm>
          <a:prstGeom prst="roundRect">
            <a:avLst>
              <a:gd name="adj" fmla="val 16667"/>
            </a:avLst>
          </a:prstGeom>
          <a:no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22" name="Google Shape;87;p2">
            <a:extLst>
              <a:ext uri="{FF2B5EF4-FFF2-40B4-BE49-F238E27FC236}">
                <a16:creationId xmlns:a16="http://schemas.microsoft.com/office/drawing/2014/main" id="{7100365B-1F11-9D81-1586-D429EF7AEE61}"/>
              </a:ext>
            </a:extLst>
          </p:cNvPr>
          <p:cNvSpPr/>
          <p:nvPr/>
        </p:nvSpPr>
        <p:spPr>
          <a:xfrm>
            <a:off x="6206010" y="3718380"/>
            <a:ext cx="462347" cy="172080"/>
          </a:xfrm>
          <a:prstGeom prst="roundRect">
            <a:avLst>
              <a:gd name="adj" fmla="val 16667"/>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23" name="Google Shape;88;p2">
            <a:extLst>
              <a:ext uri="{FF2B5EF4-FFF2-40B4-BE49-F238E27FC236}">
                <a16:creationId xmlns:a16="http://schemas.microsoft.com/office/drawing/2014/main" id="{09A0CE0C-990F-2056-BD2A-34D27BAC64E0}"/>
              </a:ext>
            </a:extLst>
          </p:cNvPr>
          <p:cNvSpPr/>
          <p:nvPr/>
        </p:nvSpPr>
        <p:spPr>
          <a:xfrm>
            <a:off x="4844023" y="3947820"/>
            <a:ext cx="3627601" cy="2294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9A9A"/>
              </a:buClr>
              <a:buSzPts val="950"/>
              <a:buFont typeface="Arial"/>
              <a:buNone/>
            </a:pPr>
            <a:r>
              <a:rPr lang="en-US" sz="950" b="1" i="1" u="none" strike="noStrike" cap="none" dirty="0">
                <a:solidFill>
                  <a:srgbClr val="9A9A9A"/>
                </a:solidFill>
                <a:latin typeface="Helvetica Neue"/>
                <a:ea typeface="Helvetica Neue"/>
                <a:cs typeface="Helvetica Neue"/>
                <a:sym typeface="Helvetica Neue"/>
              </a:rPr>
              <a:t>stops once accuracy saturates</a:t>
            </a:r>
            <a:endParaRPr sz="950" b="1" i="0" u="none" strike="noStrike" cap="none" dirty="0">
              <a:solidFill>
                <a:schemeClr val="dk1"/>
              </a:solidFill>
              <a:latin typeface="Helvetica Neue"/>
              <a:ea typeface="Helvetica Neue"/>
              <a:cs typeface="Helvetica Neue"/>
              <a:sym typeface="Helvetica Neue"/>
            </a:endParaRPr>
          </a:p>
        </p:txBody>
      </p:sp>
      <p:sp>
        <p:nvSpPr>
          <p:cNvPr id="24" name="Google Shape;89;p2">
            <a:extLst>
              <a:ext uri="{FF2B5EF4-FFF2-40B4-BE49-F238E27FC236}">
                <a16:creationId xmlns:a16="http://schemas.microsoft.com/office/drawing/2014/main" id="{3BD24743-2FC3-03BF-3D3D-F43FE880B396}"/>
              </a:ext>
            </a:extLst>
          </p:cNvPr>
          <p:cNvSpPr/>
          <p:nvPr/>
        </p:nvSpPr>
        <p:spPr>
          <a:xfrm>
            <a:off x="4844023" y="4263300"/>
            <a:ext cx="1309603" cy="200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50"/>
              <a:buFont typeface="Arial"/>
              <a:buNone/>
            </a:pPr>
            <a:r>
              <a:rPr lang="en-US" sz="1150" b="1" i="0" u="none" strike="noStrike" cap="none">
                <a:solidFill>
                  <a:srgbClr val="FFFFFF"/>
                </a:solidFill>
                <a:latin typeface="Helvetica Neue"/>
                <a:ea typeface="Helvetica Neue"/>
                <a:cs typeface="Helvetica Neue"/>
                <a:sym typeface="Helvetica Neue"/>
              </a:rPr>
              <a:t>Hard problem</a:t>
            </a:r>
            <a:endParaRPr sz="1150" i="0" u="none" strike="noStrike" cap="none">
              <a:solidFill>
                <a:schemeClr val="dk1"/>
              </a:solidFill>
              <a:latin typeface="Helvetica Neue"/>
              <a:ea typeface="Helvetica Neue"/>
              <a:cs typeface="Helvetica Neue"/>
              <a:sym typeface="Helvetica Neue"/>
            </a:endParaRPr>
          </a:p>
        </p:txBody>
      </p:sp>
      <p:sp>
        <p:nvSpPr>
          <p:cNvPr id="25" name="Google Shape;90;p2">
            <a:extLst>
              <a:ext uri="{FF2B5EF4-FFF2-40B4-BE49-F238E27FC236}">
                <a16:creationId xmlns:a16="http://schemas.microsoft.com/office/drawing/2014/main" id="{497E435C-821F-605C-5DAC-C0BE6638C423}"/>
              </a:ext>
            </a:extLst>
          </p:cNvPr>
          <p:cNvSpPr/>
          <p:nvPr/>
        </p:nvSpPr>
        <p:spPr>
          <a:xfrm>
            <a:off x="6206010" y="4277640"/>
            <a:ext cx="2213230" cy="172080"/>
          </a:xfrm>
          <a:prstGeom prst="roundRect">
            <a:avLst>
              <a:gd name="adj" fmla="val 16667"/>
            </a:avLst>
          </a:prstGeom>
          <a:no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26" name="Google Shape;91;p2">
            <a:extLst>
              <a:ext uri="{FF2B5EF4-FFF2-40B4-BE49-F238E27FC236}">
                <a16:creationId xmlns:a16="http://schemas.microsoft.com/office/drawing/2014/main" id="{F2EA0E54-41DA-F6C5-1FF7-7A9BA5A924D9}"/>
              </a:ext>
            </a:extLst>
          </p:cNvPr>
          <p:cNvSpPr/>
          <p:nvPr/>
        </p:nvSpPr>
        <p:spPr>
          <a:xfrm>
            <a:off x="6206010" y="4277640"/>
            <a:ext cx="1947642" cy="172080"/>
          </a:xfrm>
          <a:prstGeom prst="roundRect">
            <a:avLst>
              <a:gd name="adj" fmla="val 16667"/>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27" name="Google Shape;92;p2">
            <a:extLst>
              <a:ext uri="{FF2B5EF4-FFF2-40B4-BE49-F238E27FC236}">
                <a16:creationId xmlns:a16="http://schemas.microsoft.com/office/drawing/2014/main" id="{AE5AACE7-570B-A17E-915F-0DF793AD8D6C}"/>
              </a:ext>
            </a:extLst>
          </p:cNvPr>
          <p:cNvSpPr/>
          <p:nvPr/>
        </p:nvSpPr>
        <p:spPr>
          <a:xfrm>
            <a:off x="4844023" y="4507080"/>
            <a:ext cx="3627601" cy="2294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9A9A"/>
              </a:buClr>
              <a:buSzPts val="950"/>
              <a:buFont typeface="Arial"/>
              <a:buNone/>
            </a:pPr>
            <a:r>
              <a:rPr lang="en-US" sz="950" b="1" i="1" u="none" strike="noStrike" cap="none">
                <a:solidFill>
                  <a:srgbClr val="9A9A9A"/>
                </a:solidFill>
                <a:latin typeface="Helvetica Neue"/>
                <a:ea typeface="Helvetica Neue"/>
                <a:cs typeface="Helvetica Neue"/>
                <a:sym typeface="Helvetica Neue"/>
              </a:rPr>
              <a:t>spends compute where it pays off</a:t>
            </a:r>
            <a:endParaRPr sz="950" b="1" i="0" u="none" strike="noStrike" cap="none">
              <a:solidFill>
                <a:schemeClr val="dk1"/>
              </a:solidFill>
              <a:latin typeface="Helvetica Neue"/>
              <a:ea typeface="Helvetica Neue"/>
              <a:cs typeface="Helvetica Neue"/>
              <a:sym typeface="Helvetica Neue"/>
            </a:endParaRPr>
          </a:p>
        </p:txBody>
      </p:sp>
      <p:sp>
        <p:nvSpPr>
          <p:cNvPr id="28" name="Google Shape;93;p2">
            <a:extLst>
              <a:ext uri="{FF2B5EF4-FFF2-40B4-BE49-F238E27FC236}">
                <a16:creationId xmlns:a16="http://schemas.microsoft.com/office/drawing/2014/main" id="{60D707C1-A081-C2B6-D5EA-90BDEA9A5B18}"/>
              </a:ext>
            </a:extLst>
          </p:cNvPr>
          <p:cNvSpPr/>
          <p:nvPr/>
        </p:nvSpPr>
        <p:spPr>
          <a:xfrm flipH="1">
            <a:off x="2477626" y="3718380"/>
            <a:ext cx="32739" cy="172080"/>
          </a:xfrm>
          <a:prstGeom prst="roundRect">
            <a:avLst>
              <a:gd name="adj" fmla="val 16667"/>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29" name="Google Shape;94;p2">
            <a:extLst>
              <a:ext uri="{FF2B5EF4-FFF2-40B4-BE49-F238E27FC236}">
                <a16:creationId xmlns:a16="http://schemas.microsoft.com/office/drawing/2014/main" id="{21F639C1-80C6-3833-4339-7355593AB99A}"/>
              </a:ext>
            </a:extLst>
          </p:cNvPr>
          <p:cNvSpPr/>
          <p:nvPr/>
        </p:nvSpPr>
        <p:spPr>
          <a:xfrm flipH="1">
            <a:off x="3902056" y="4276486"/>
            <a:ext cx="32739" cy="172080"/>
          </a:xfrm>
          <a:prstGeom prst="roundRect">
            <a:avLst>
              <a:gd name="adj" fmla="val 16667"/>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30" name="Google Shape;95;p2">
            <a:extLst>
              <a:ext uri="{FF2B5EF4-FFF2-40B4-BE49-F238E27FC236}">
                <a16:creationId xmlns:a16="http://schemas.microsoft.com/office/drawing/2014/main" id="{76DC54D7-E056-2BCB-8004-96A4C26EB18C}"/>
              </a:ext>
            </a:extLst>
          </p:cNvPr>
          <p:cNvSpPr txBox="1"/>
          <p:nvPr/>
        </p:nvSpPr>
        <p:spPr>
          <a:xfrm>
            <a:off x="2324102" y="3806801"/>
            <a:ext cx="1192310"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Clr>
                <a:schemeClr val="lt1"/>
              </a:buClr>
              <a:buSzPts val="1000"/>
              <a:buFont typeface="Arial"/>
              <a:buNone/>
            </a:pPr>
            <a:r>
              <a:rPr lang="en-US" sz="1000" b="1" i="1" u="none" strike="noStrike" cap="none" dirty="0">
                <a:solidFill>
                  <a:schemeClr val="lt1"/>
                </a:solidFill>
                <a:latin typeface="Helvetica Neue"/>
                <a:ea typeface="Helvetica Neue"/>
                <a:cs typeface="Helvetica Neue"/>
                <a:sym typeface="Helvetica Neue"/>
              </a:rPr>
              <a:t>optimal</a:t>
            </a:r>
            <a:endParaRPr sz="1000" b="1" i="0" u="none" strike="noStrike" cap="none" dirty="0">
              <a:solidFill>
                <a:schemeClr val="lt1"/>
              </a:solidFill>
              <a:latin typeface="Helvetica Neue"/>
              <a:ea typeface="Helvetica Neue"/>
              <a:cs typeface="Helvetica Neue"/>
              <a:sym typeface="Helvetica Neue"/>
            </a:endParaRPr>
          </a:p>
        </p:txBody>
      </p:sp>
      <p:sp>
        <p:nvSpPr>
          <p:cNvPr id="31" name="Google Shape;96;p2">
            <a:extLst>
              <a:ext uri="{FF2B5EF4-FFF2-40B4-BE49-F238E27FC236}">
                <a16:creationId xmlns:a16="http://schemas.microsoft.com/office/drawing/2014/main" id="{244F9978-B230-58CC-FEBE-37FC8E142DF3}"/>
              </a:ext>
            </a:extLst>
          </p:cNvPr>
          <p:cNvSpPr txBox="1"/>
          <p:nvPr/>
        </p:nvSpPr>
        <p:spPr>
          <a:xfrm>
            <a:off x="3711081" y="4425717"/>
            <a:ext cx="746609"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Clr>
                <a:schemeClr val="lt1"/>
              </a:buClr>
              <a:buSzPts val="1000"/>
              <a:buFont typeface="Arial"/>
              <a:buNone/>
            </a:pPr>
            <a:r>
              <a:rPr lang="en-US" sz="1000" b="1" i="1" u="none" strike="noStrike" cap="none" dirty="0">
                <a:solidFill>
                  <a:schemeClr val="lt1"/>
                </a:solidFill>
                <a:latin typeface="Helvetica Neue"/>
                <a:ea typeface="Helvetica Neue"/>
                <a:cs typeface="Helvetica Neue"/>
                <a:sym typeface="Helvetica Neue"/>
              </a:rPr>
              <a:t>optimal</a:t>
            </a:r>
            <a:endParaRPr sz="1000" b="1" i="0" u="none" strike="noStrike" cap="none" dirty="0">
              <a:solidFill>
                <a:schemeClr val="lt1"/>
              </a:solidFill>
              <a:latin typeface="Helvetica Neue"/>
              <a:ea typeface="Helvetica Neue"/>
              <a:cs typeface="Helvetica Neue"/>
              <a:sym typeface="Helvetica Neue"/>
            </a:endParaRPr>
          </a:p>
        </p:txBody>
      </p:sp>
    </p:spTree>
    <p:extLst>
      <p:ext uri="{BB962C8B-B14F-4D97-AF65-F5344CB8AC3E}">
        <p14:creationId xmlns:p14="http://schemas.microsoft.com/office/powerpoint/2010/main" val="18508968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2000" b="1" dirty="0">
                <a:solidFill>
                  <a:srgbClr val="FF7900"/>
                </a:solidFill>
                <a:latin typeface="Helvetica Neue"/>
                <a:sym typeface="Arial"/>
              </a:rPr>
              <a:t>1. BACKGROUND</a:t>
            </a:r>
            <a:endPar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endParaRP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r>
              <a:rPr lang="en-US" sz="1300" b="1" dirty="0">
                <a:solidFill>
                  <a:srgbClr val="FF7900"/>
                </a:solidFill>
                <a:latin typeface="Helvetica Neue"/>
              </a:rPr>
              <a:t>The two failure modes. </a:t>
            </a:r>
            <a:r>
              <a:rPr lang="en-US" sz="1200" dirty="0">
                <a:solidFill>
                  <a:srgbClr val="FFFFFF"/>
                </a:solidFill>
                <a:latin typeface="Arial" pitchFamily="34" charset="0"/>
                <a:cs typeface="Arial" pitchFamily="34" charset="-120"/>
              </a:rPr>
              <a:t>Test-time scaling improves accuracy by allocating more inference compute through longer reasoning, sampling, or search. However, fixed budgets for all inputs can lead to two opposite failure modes. Underthinking stops reasoning short where more was needed; overthinking keeps going after the answer is already settled.</a:t>
            </a:r>
          </a:p>
          <a:p>
            <a:endParaRPr lang="en-US" sz="1200" dirty="0">
              <a:solidFill>
                <a:srgbClr val="FFFFFF"/>
              </a:solidFill>
              <a:latin typeface="Arial" pitchFamily="34" charset="0"/>
              <a:cs typeface="Arial" pitchFamily="34" charset="-120"/>
            </a:endParaRPr>
          </a:p>
          <a:p>
            <a:pPr marL="171450" indent="-171450">
              <a:buFontTx/>
              <a:buChar char="-"/>
            </a:pPr>
            <a:r>
              <a:rPr lang="en-US" sz="1200" dirty="0">
                <a:solidFill>
                  <a:srgbClr val="FFFFFF"/>
                </a:solidFill>
                <a:latin typeface="Arial" pitchFamily="34" charset="0"/>
                <a:cs typeface="Arial" pitchFamily="34" charset="-120"/>
              </a:rPr>
              <a:t>Underthinking — Wang et al., “Thoughts Are All Over the Place” (</a:t>
            </a:r>
            <a:r>
              <a:rPr lang="en-US" sz="1200" dirty="0" err="1">
                <a:solidFill>
                  <a:srgbClr val="FFFFFF"/>
                </a:solidFill>
                <a:latin typeface="Arial" pitchFamily="34" charset="0"/>
                <a:cs typeface="Arial" pitchFamily="34" charset="-120"/>
              </a:rPr>
              <a:t>NeurIPS</a:t>
            </a:r>
            <a:r>
              <a:rPr lang="en-US" sz="1200" dirty="0">
                <a:solidFill>
                  <a:srgbClr val="FFFFFF"/>
                </a:solidFill>
                <a:latin typeface="Arial" pitchFamily="34" charset="0"/>
                <a:cs typeface="Arial" pitchFamily="34" charset="-120"/>
              </a:rPr>
              <a:t> 2025): can arise from two distinct compute-allocation failures: the model may either receive too little compute for the problem, or have sufficient compute but allocate it inefficiently. The two cases need different fixes: a larger budget in the first, a better stopping signal in the second.</a:t>
            </a: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r>
              <a:rPr kumimoji="0" lang="en-US" sz="1200" b="1" i="0" u="none" strike="noStrike" kern="1200" cap="none" spc="0" normalizeH="0" baseline="0" noProof="0" dirty="0">
                <a:ln>
                  <a:noFill/>
                </a:ln>
                <a:solidFill>
                  <a:prstClr val="white"/>
                </a:solidFill>
                <a:effectLst/>
                <a:uLnTx/>
                <a:uFillTx/>
                <a:latin typeface="Consolas" panose="020B0609020204030204" pitchFamily="49" charset="0"/>
                <a:ea typeface="+mn-ea"/>
                <a:cs typeface="+mn-cs"/>
              </a:rPr>
              <a:t>Insufficient Compute</a:t>
            </a:r>
            <a:r>
              <a:rPr kumimoji="0" lang="en-US" sz="1200" b="0" i="0" u="none" strike="noStrike" kern="1200" cap="none" spc="0" normalizeH="0" baseline="0" noProof="0" dirty="0">
                <a:ln>
                  <a:noFill/>
                </a:ln>
                <a:solidFill>
                  <a:srgbClr val="BBBEBF"/>
                </a:solidFill>
                <a:effectLst/>
                <a:uLnTx/>
                <a:uFillTx/>
                <a:latin typeface="Consolas" panose="020B0609020204030204" pitchFamily="49" charset="0"/>
                <a:ea typeface="+mn-ea"/>
                <a:cs typeface="+mn-cs"/>
              </a:rPr>
              <a:t>_</a:t>
            </a:r>
            <a:endParaRPr lang="en-US" sz="1050" dirty="0">
              <a:solidFill>
                <a:srgbClr val="FFFFFF"/>
              </a:solidFill>
              <a:latin typeface="Arial" pitchFamily="34" charset="0"/>
              <a:cs typeface="Arial" pitchFamily="34" charset="-120"/>
            </a:endParaRPr>
          </a:p>
          <a:p>
            <a:pPr marL="571500" marR="0" lvl="1" indent="-171450" algn="l" defTabSz="914400" rtl="0" eaLnBrk="1" fontAlgn="auto" latinLnBrk="0" hangingPunct="1">
              <a:lnSpc>
                <a:spcPct val="100000"/>
              </a:lnSpc>
              <a:spcBef>
                <a:spcPts val="0"/>
              </a:spcBef>
              <a:spcAft>
                <a:spcPts val="500"/>
              </a:spcAft>
              <a:buClrTx/>
              <a:buSzPct val="100000"/>
              <a:buFontTx/>
              <a:buChar char="-"/>
              <a:tabLst/>
              <a:defRPr/>
            </a:pPr>
            <a:r>
              <a:rPr lang="en-US" sz="1050" dirty="0">
                <a:solidFill>
                  <a:srgbClr val="FFFFFF"/>
                </a:solidFill>
                <a:latin typeface="Arial" pitchFamily="34" charset="0"/>
                <a:cs typeface="Arial" pitchFamily="34" charset="-120"/>
              </a:rPr>
              <a:t>Evidence: On hard problems, incorrect responses may stop before reaching a reliable solution because the allocated budget is insufficient. A larger budget would let the model finish reasoning it had already started.</a:t>
            </a:r>
          </a:p>
          <a:p>
            <a:pPr marL="571500" lvl="1" indent="-171450">
              <a:spcAft>
                <a:spcPts val="500"/>
              </a:spcAft>
              <a:buSzPct val="100000"/>
              <a:buFontTx/>
              <a:buChar char="-"/>
              <a:defRPr/>
            </a:pPr>
            <a:r>
              <a:rPr lang="en-US" sz="1050" dirty="0">
                <a:solidFill>
                  <a:srgbClr val="FFFFFF"/>
                </a:solidFill>
                <a:latin typeface="Arial" pitchFamily="34" charset="0"/>
                <a:cs typeface="Arial" pitchFamily="34" charset="-120"/>
              </a:rPr>
              <a:t>Research direction: identify queries that require more reasoning and allocate additional compute rather than using a fixed budget. This requires telling hard queries apart from easy ones early enough to assign the extra budget.</a:t>
            </a: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r>
              <a:rPr kumimoji="0" lang="en-US" sz="1200" b="1" i="0" u="none" strike="noStrike" kern="1200" cap="none" spc="0" normalizeH="0" baseline="0" noProof="0" dirty="0">
                <a:ln>
                  <a:noFill/>
                </a:ln>
                <a:solidFill>
                  <a:prstClr val="white"/>
                </a:solidFill>
                <a:effectLst/>
                <a:uLnTx/>
                <a:uFillTx/>
                <a:latin typeface="Consolas" panose="020B0609020204030204" pitchFamily="49" charset="0"/>
                <a:ea typeface="+mn-ea"/>
                <a:cs typeface="+mn-cs"/>
              </a:rPr>
              <a:t>Inefficient Compute</a:t>
            </a:r>
            <a:r>
              <a:rPr kumimoji="0" lang="en-US" sz="1200" b="0" i="0" u="none" strike="noStrike" kern="1200" cap="none" spc="0" normalizeH="0" baseline="0" noProof="0" dirty="0">
                <a:ln>
                  <a:noFill/>
                </a:ln>
                <a:solidFill>
                  <a:srgbClr val="BBBEBF"/>
                </a:solidFill>
                <a:effectLst/>
                <a:uLnTx/>
                <a:uFillTx/>
                <a:latin typeface="Consolas" panose="020B0609020204030204" pitchFamily="49" charset="0"/>
                <a:ea typeface="+mn-ea"/>
                <a:cs typeface="+mn-cs"/>
              </a:rPr>
              <a:t>_</a:t>
            </a:r>
            <a:r>
              <a:rPr lang="en-US" sz="1050" dirty="0"/>
              <a:t> </a:t>
            </a:r>
            <a:r>
              <a:rPr lang="en-US" sz="1200" dirty="0">
                <a:solidFill>
                  <a:srgbClr val="FFFFFF"/>
                </a:solidFill>
                <a:latin typeface="Arial" pitchFamily="34" charset="0"/>
                <a:cs typeface="Arial" pitchFamily="34" charset="-120"/>
              </a:rPr>
              <a:t>Partially out of scope</a:t>
            </a:r>
          </a:p>
          <a:p>
            <a:pPr marL="571500" marR="0" lvl="1" indent="-171450" algn="l" defTabSz="914400" rtl="0" eaLnBrk="1" fontAlgn="auto" latinLnBrk="0" hangingPunct="1">
              <a:lnSpc>
                <a:spcPct val="100000"/>
              </a:lnSpc>
              <a:spcBef>
                <a:spcPts val="0"/>
              </a:spcBef>
              <a:spcAft>
                <a:spcPts val="500"/>
              </a:spcAft>
              <a:buClrTx/>
              <a:buSzPct val="100000"/>
              <a:buFontTx/>
              <a:buChar char="-"/>
              <a:tabLst/>
              <a:defRPr/>
            </a:pPr>
            <a:r>
              <a:rPr lang="en-US" sz="1050" dirty="0">
                <a:solidFill>
                  <a:srgbClr val="FFFFFF"/>
                </a:solidFill>
                <a:latin typeface="Arial" pitchFamily="34" charset="0"/>
                <a:cs typeface="Arial" pitchFamily="34" charset="-120"/>
              </a:rPr>
              <a:t>Evidence: Incorrect responses show far more thought switches despite often being longer: QwQ-32B-Preview: 26.4 vs. 7.0 and DeepSeek-R1-671B: 59.3 vs. 12.6 switches on AIME2024. This suggests compute is being spent restarting thoughts rather than reasoning deeper (a thought switch is a point where the model abandons its current line of reasoning and starts a different one).</a:t>
            </a:r>
          </a:p>
          <a:p>
            <a:pPr marL="571500" lvl="1" indent="-171450">
              <a:spcAft>
                <a:spcPts val="500"/>
              </a:spcAft>
              <a:buSzPct val="100000"/>
              <a:buFontTx/>
              <a:buChar char="-"/>
              <a:defRPr/>
            </a:pPr>
            <a:r>
              <a:rPr lang="en-US" sz="1050" dirty="0">
                <a:solidFill>
                  <a:srgbClr val="FFFFFF"/>
                </a:solidFill>
                <a:latin typeface="Arial" pitchFamily="34" charset="0"/>
                <a:cs typeface="Arial" pitchFamily="34" charset="-120"/>
              </a:rPr>
              <a:t>Research direction: refine the convergence signal to distinguish genuine reasoning progress from inefficient thought switching and decide when to continue or stop. The goal is to stop on real convergence, not on length alone.</a:t>
            </a:r>
          </a:p>
          <a:p>
            <a:pPr marL="571500" lvl="1" indent="-171450">
              <a:spcAft>
                <a:spcPts val="500"/>
              </a:spcAft>
              <a:buSzPct val="100000"/>
              <a:buFontTx/>
              <a:buChar char="-"/>
              <a:defRPr/>
            </a:pPr>
            <a:endParaRPr lang="en-US" sz="1050" dirty="0">
              <a:solidFill>
                <a:srgbClr val="FFFFFF"/>
              </a:solidFill>
              <a:latin typeface="Arial" pitchFamily="34" charset="0"/>
              <a:cs typeface="Arial" pitchFamily="34" charset="-120"/>
            </a:endParaRP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endPar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265571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28" name="Google Shape;128;p3"/>
          <p:cNvSpPr/>
          <p:nvPr/>
        </p:nvSpPr>
        <p:spPr>
          <a:xfrm>
            <a:off x="251460" y="4008120"/>
            <a:ext cx="8656320" cy="847344"/>
          </a:xfrm>
          <a:prstGeom prst="roundRect">
            <a:avLst>
              <a:gd name="adj" fmla="val 8333"/>
            </a:avLst>
          </a:prstGeom>
          <a:solidFill>
            <a:srgbClr val="1F1409"/>
          </a:solidFill>
          <a:ln w="12700" cap="flat" cmpd="sng">
            <a:solidFill>
              <a:srgbClr val="FF79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1. BACKGROUND</a:t>
            </a: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pPr marL="171450" marR="0" lvl="0" indent="-171450" fontAlgn="auto">
              <a:lnSpc>
                <a:spcPct val="100000"/>
              </a:lnSpc>
              <a:spcBef>
                <a:spcPts val="0"/>
              </a:spcBef>
              <a:spcAft>
                <a:spcPts val="0"/>
              </a:spcAft>
              <a:buClrTx/>
              <a:buSzTx/>
              <a:buFontTx/>
              <a:buChar char="-"/>
              <a:tabLst/>
              <a:defRPr/>
            </a:pPr>
            <a:r>
              <a:rPr lang="en-US" sz="1200" dirty="0">
                <a:solidFill>
                  <a:srgbClr val="FFFFFF"/>
                </a:solidFill>
                <a:latin typeface="Arial" pitchFamily="34" charset="0"/>
                <a:cs typeface="Arial" pitchFamily="34" charset="-120"/>
              </a:rPr>
              <a:t>Overthinking can also arise from two distinct compute-allocation failures: the model may either spend unnecessary compute on easy problems, or allocate compute inefficiently across different domains. The first concerns how much compute is spent; the second, whether it matches the kind of problem.</a:t>
            </a:r>
            <a:endParaRPr kumimoji="0" lang="en-US" sz="1300" b="1" i="0" u="none" strike="noStrike" kern="1200" cap="none" spc="0" normalizeH="0" baseline="0" noProof="0" dirty="0">
              <a:ln>
                <a:noFill/>
              </a:ln>
              <a:solidFill>
                <a:srgbClr val="FF7900"/>
              </a:solidFill>
              <a:effectLst/>
              <a:uLnTx/>
              <a:uFillTx/>
              <a:latin typeface="Helvetica Neue"/>
              <a:ea typeface="+mn-ea"/>
              <a:cs typeface="+mn-cs"/>
            </a:endParaRPr>
          </a:p>
          <a:p>
            <a:pPr lvl="1" indent="-228600">
              <a:spcAft>
                <a:spcPts val="500"/>
              </a:spcAft>
              <a:buSzPct val="100000"/>
              <a:buFontTx/>
              <a:buChar char="•"/>
              <a:defRPr/>
            </a:pPr>
            <a:r>
              <a:rPr lang="en-US" sz="1200" b="1" dirty="0">
                <a:solidFill>
                  <a:prstClr val="white"/>
                </a:solidFill>
                <a:latin typeface="Consolas" panose="020B0609020204030204" pitchFamily="49" charset="0"/>
              </a:rPr>
              <a:t>Unnecessary Compute</a:t>
            </a:r>
            <a:r>
              <a:rPr kumimoji="0" lang="en-US" sz="1200" b="0" i="0" u="none" strike="noStrike" kern="1200" cap="none" spc="0" normalizeH="0" baseline="0" noProof="0" dirty="0">
                <a:ln>
                  <a:noFill/>
                </a:ln>
                <a:solidFill>
                  <a:srgbClr val="BBBEBF"/>
                </a:solidFill>
                <a:effectLst/>
                <a:uLnTx/>
                <a:uFillTx/>
                <a:latin typeface="Consolas" panose="020B0609020204030204" pitchFamily="49" charset="0"/>
                <a:ea typeface="+mn-ea"/>
                <a:cs typeface="+mn-cs"/>
              </a:rPr>
              <a:t>_</a:t>
            </a:r>
            <a:endParaRPr lang="en-US" sz="1050" dirty="0">
              <a:solidFill>
                <a:srgbClr val="FFFFFF"/>
              </a:solidFill>
              <a:latin typeface="Arial" pitchFamily="34" charset="0"/>
              <a:cs typeface="Arial" pitchFamily="34" charset="-120"/>
            </a:endParaRPr>
          </a:p>
          <a:p>
            <a:pPr marL="571500" lvl="1" indent="-171450">
              <a:spcAft>
                <a:spcPts val="500"/>
              </a:spcAft>
              <a:buSzPct val="100000"/>
              <a:buFontTx/>
              <a:buChar char="-"/>
              <a:defRPr/>
            </a:pPr>
            <a:r>
              <a:rPr lang="en-US" sz="1050" dirty="0">
                <a:solidFill>
                  <a:srgbClr val="FFFFFF"/>
                </a:solidFill>
                <a:latin typeface="Arial" pitchFamily="34" charset="0"/>
                <a:cs typeface="Arial" pitchFamily="34" charset="-120"/>
              </a:rPr>
              <a:t>Evidence: </a:t>
            </a:r>
            <a:r>
              <a:rPr lang="en-US" sz="1050" dirty="0" err="1">
                <a:solidFill>
                  <a:srgbClr val="FFFFFF"/>
                </a:solidFill>
                <a:latin typeface="Arial" pitchFamily="34" charset="0"/>
                <a:cs typeface="Arial" pitchFamily="34" charset="-120"/>
              </a:rPr>
              <a:t>DiffAdapt</a:t>
            </a:r>
            <a:r>
              <a:rPr lang="en-US" sz="1050" dirty="0">
                <a:solidFill>
                  <a:srgbClr val="FFFFFF"/>
                </a:solidFill>
                <a:latin typeface="Arial" pitchFamily="34" charset="0"/>
                <a:cs typeface="Arial" pitchFamily="34" charset="-120"/>
              </a:rPr>
              <a:t> finds a U-shaped entropy–difficulty relationship: entropy is high on easy problems despite high accuracy, drops by 22–25% at medium difficulty, then rises again on hard problems. This suggests that easy-problem entropy reflects wasted exploration rather than genuine uncertainty. Entropy therefore cannot be read at face value as a sign that more compute is needed.</a:t>
            </a:r>
          </a:p>
          <a:p>
            <a:pPr marL="571500" lvl="1" indent="-171450">
              <a:spcAft>
                <a:spcPts val="500"/>
              </a:spcAft>
              <a:buSzPct val="100000"/>
              <a:buFontTx/>
              <a:buChar char="-"/>
              <a:defRPr/>
            </a:pPr>
            <a:r>
              <a:rPr lang="en-US" sz="1050" dirty="0">
                <a:solidFill>
                  <a:srgbClr val="FFFFFF"/>
                </a:solidFill>
                <a:latin typeface="Arial" pitchFamily="34" charset="0"/>
                <a:cs typeface="Arial" pitchFamily="34" charset="-120"/>
              </a:rPr>
              <a:t>Research direction: identify easy queries and allocate less compute instead of applying a fixed budget — for example, stopping once accuracy saturates and further tokens add only cost.</a:t>
            </a:r>
            <a:endParaRPr kumimoji="0" lang="en-US" sz="1300" b="1" i="0" u="none" strike="noStrike" kern="1200" cap="none" spc="0" normalizeH="0" baseline="0" noProof="0" dirty="0">
              <a:ln>
                <a:noFill/>
              </a:ln>
              <a:solidFill>
                <a:srgbClr val="FF7900"/>
              </a:solidFill>
              <a:effectLst/>
              <a:uLnTx/>
              <a:uFillTx/>
              <a:latin typeface="Helvetica Neue"/>
              <a:ea typeface="+mn-ea"/>
              <a:cs typeface="+mn-cs"/>
            </a:endParaRPr>
          </a:p>
          <a:p>
            <a:pPr lvl="1" indent="-228600">
              <a:spcAft>
                <a:spcPts val="500"/>
              </a:spcAft>
              <a:buSzPct val="100000"/>
              <a:buFontTx/>
              <a:buChar char="•"/>
              <a:defRPr/>
            </a:pPr>
            <a:r>
              <a:rPr lang="en-US" sz="1200" b="1" dirty="0">
                <a:solidFill>
                  <a:prstClr val="white"/>
                </a:solidFill>
                <a:latin typeface="Consolas" panose="020B0609020204030204" pitchFamily="49" charset="0"/>
              </a:rPr>
              <a:t>Domain-Mismatched Compute</a:t>
            </a:r>
            <a:r>
              <a:rPr kumimoji="0" lang="en-US" sz="1200" b="0" i="0" u="none" strike="noStrike" kern="1200" cap="none" spc="0" normalizeH="0" baseline="0" noProof="0" dirty="0">
                <a:ln>
                  <a:noFill/>
                </a:ln>
                <a:solidFill>
                  <a:srgbClr val="BBBEBF"/>
                </a:solidFill>
                <a:effectLst/>
                <a:uLnTx/>
                <a:uFillTx/>
                <a:latin typeface="Consolas" panose="020B0609020204030204" pitchFamily="49" charset="0"/>
                <a:ea typeface="+mn-ea"/>
                <a:cs typeface="+mn-cs"/>
              </a:rPr>
              <a:t>_</a:t>
            </a:r>
            <a:endParaRPr lang="en-US" sz="1050" dirty="0">
              <a:solidFill>
                <a:srgbClr val="FFFFFF"/>
              </a:solidFill>
              <a:latin typeface="Arial" pitchFamily="34" charset="0"/>
              <a:cs typeface="Arial" pitchFamily="34" charset="-120"/>
            </a:endParaRPr>
          </a:p>
          <a:p>
            <a:pPr marL="571500" marR="0" lvl="1" indent="-171450" fontAlgn="auto">
              <a:lnSpc>
                <a:spcPct val="100000"/>
              </a:lnSpc>
              <a:spcBef>
                <a:spcPts val="0"/>
              </a:spcBef>
              <a:spcAft>
                <a:spcPts val="500"/>
              </a:spcAft>
              <a:buClrTx/>
              <a:buSzPct val="100000"/>
              <a:buFontTx/>
              <a:buChar char="-"/>
              <a:tabLst/>
              <a:defRPr/>
            </a:pPr>
            <a:r>
              <a:rPr lang="en-US" sz="1050" dirty="0">
                <a:solidFill>
                  <a:srgbClr val="FFFFFF"/>
                </a:solidFill>
                <a:latin typeface="Arial" pitchFamily="34" charset="0"/>
                <a:cs typeface="Arial" pitchFamily="34" charset="-120"/>
              </a:rPr>
              <a:t>Evidence: Yang et al. show that increasing </a:t>
            </a:r>
            <a:r>
              <a:rPr lang="en-US" sz="1050" dirty="0" err="1">
                <a:solidFill>
                  <a:srgbClr val="FFFFFF"/>
                </a:solidFill>
                <a:latin typeface="Arial" pitchFamily="34" charset="0"/>
                <a:cs typeface="Arial" pitchFamily="34" charset="-120"/>
              </a:rPr>
              <a:t>CoT</a:t>
            </a:r>
            <a:r>
              <a:rPr lang="en-US" sz="1050" dirty="0">
                <a:solidFill>
                  <a:srgbClr val="FFFFFF"/>
                </a:solidFill>
                <a:latin typeface="Arial" pitchFamily="34" charset="0"/>
                <a:cs typeface="Arial" pitchFamily="34" charset="-120"/>
              </a:rPr>
              <a:t> length has domain-dependent returns: it helps some problem sets but can harm others, and the optimal length distribution differs by domain rather than depending only on difficulty. The same extra tokens can therefore help in one domain and hurt in another.</a:t>
            </a:r>
          </a:p>
          <a:p>
            <a:pPr marL="571500" marR="0" lvl="1" indent="-171450" fontAlgn="auto">
              <a:lnSpc>
                <a:spcPct val="100000"/>
              </a:lnSpc>
              <a:spcBef>
                <a:spcPts val="0"/>
              </a:spcBef>
              <a:spcAft>
                <a:spcPts val="500"/>
              </a:spcAft>
              <a:buClrTx/>
              <a:buSzPct val="100000"/>
              <a:buFontTx/>
              <a:buChar char="-"/>
              <a:tabLst/>
              <a:defRPr/>
            </a:pPr>
            <a:r>
              <a:rPr lang="en-US" sz="1050" dirty="0">
                <a:solidFill>
                  <a:srgbClr val="FFFFFF"/>
                </a:solidFill>
                <a:latin typeface="Arial" pitchFamily="34" charset="0"/>
                <a:cs typeface="Arial" pitchFamily="34" charset="-120"/>
              </a:rPr>
              <a:t>Research direction: Refine the allocation signal to account for domain-specific reasoning behavior rather than relying solely on a difficulty-based estimate. Domain would then act as a second input to the budget, next to difficulty.</a:t>
            </a:r>
          </a:p>
          <a:p>
            <a:pPr marL="400050" marR="0" lvl="1" fontAlgn="auto">
              <a:lnSpc>
                <a:spcPct val="100000"/>
              </a:lnSpc>
              <a:spcBef>
                <a:spcPts val="0"/>
              </a:spcBef>
              <a:spcAft>
                <a:spcPts val="500"/>
              </a:spcAft>
              <a:buClrTx/>
              <a:buSzPct val="100000"/>
              <a:tabLst/>
              <a:defRPr/>
            </a:pPr>
            <a:endParaRPr lang="en-US" sz="1050" dirty="0">
              <a:solidFill>
                <a:srgbClr val="FFFFFF"/>
              </a:solidFill>
              <a:latin typeface="Arial" pitchFamily="34" charset="0"/>
              <a:cs typeface="Arial" pitchFamily="34" charset="-120"/>
            </a:endParaRPr>
          </a:p>
          <a:p>
            <a:r>
              <a:rPr lang="en-US" sz="1200" b="1" dirty="0">
                <a:solidFill>
                  <a:prstClr val="white"/>
                </a:solidFill>
                <a:latin typeface="Consolas" panose="020B0609020204030204" pitchFamily="49" charset="0"/>
              </a:rPr>
              <a:t>Open question</a:t>
            </a:r>
            <a:r>
              <a:rPr lang="en-US" sz="1050" b="1" dirty="0">
                <a:solidFill>
                  <a:srgbClr val="C9D1D9"/>
                </a:solidFill>
                <a:effectLst/>
                <a:latin typeface="Consolas" panose="020B0609020204030204" pitchFamily="49" charset="0"/>
              </a:rPr>
              <a:t>:</a:t>
            </a:r>
            <a:r>
              <a:rPr lang="en-US" sz="1050" b="0" dirty="0">
                <a:solidFill>
                  <a:srgbClr val="BBBEBF"/>
                </a:solidFill>
                <a:effectLst/>
                <a:latin typeface="Consolas" panose="020B0609020204030204" pitchFamily="49" charset="0"/>
              </a:rPr>
              <a:t> </a:t>
            </a:r>
            <a:r>
              <a:rPr lang="en-US" sz="1200" dirty="0">
                <a:solidFill>
                  <a:srgbClr val="FFFFFF"/>
                </a:solidFill>
                <a:latin typeface="Arial" pitchFamily="34" charset="0"/>
                <a:cs typeface="Arial" pitchFamily="34" charset="-120"/>
              </a:rPr>
              <a:t>the literature does not disagree on whether overthinking exists — </a:t>
            </a:r>
            <a:r>
              <a:rPr lang="en-US" sz="1200" dirty="0" err="1">
                <a:solidFill>
                  <a:srgbClr val="FFFFFF"/>
                </a:solidFill>
                <a:latin typeface="Arial" pitchFamily="34" charset="0"/>
                <a:cs typeface="Arial" pitchFamily="34" charset="-120"/>
              </a:rPr>
              <a:t>DiffAdapt</a:t>
            </a:r>
            <a:r>
              <a:rPr lang="en-US" sz="1200" dirty="0">
                <a:solidFill>
                  <a:srgbClr val="FFFFFF"/>
                </a:solidFill>
                <a:latin typeface="Arial" pitchFamily="34" charset="0"/>
                <a:cs typeface="Arial" pitchFamily="34" charset="-120"/>
              </a:rPr>
              <a:t>, TOPS, and Sui et al. all document it. What is unresolved is whether it is a true inverted-U (net accuracy loss) or pure saturation (flat accuracy, wasted compute only), and whether this differs by task type. This proposal treats net accuracy loss from overthinking as an open empirical question, verified per model/benchmark rather than assumed.</a:t>
            </a:r>
          </a:p>
          <a:p>
            <a:br>
              <a:rPr lang="en-US" sz="1050" b="0" dirty="0">
                <a:solidFill>
                  <a:srgbClr val="BBBEBF"/>
                </a:solidFill>
                <a:effectLst/>
                <a:latin typeface="Consolas" panose="020B0609020204030204" pitchFamily="49" charset="0"/>
              </a:rPr>
            </a:br>
            <a:endParaRPr lang="en-US" sz="1050" b="0" dirty="0">
              <a:solidFill>
                <a:srgbClr val="BBBEBF"/>
              </a:solidFill>
              <a:effectLst/>
              <a:latin typeface="Consolas" panose="020B0609020204030204" pitchFamily="49" charset="0"/>
            </a:endParaRPr>
          </a:p>
          <a:p>
            <a:pPr marL="400050" marR="0" lvl="1" fontAlgn="auto">
              <a:lnSpc>
                <a:spcPct val="100000"/>
              </a:lnSpc>
              <a:spcBef>
                <a:spcPts val="0"/>
              </a:spcBef>
              <a:spcAft>
                <a:spcPts val="500"/>
              </a:spcAft>
              <a:buClrTx/>
              <a:buSzPct val="100000"/>
              <a:tabLst/>
              <a:defRPr/>
            </a:pPr>
            <a:endParaRPr lang="en-US" sz="1050" dirty="0">
              <a:solidFill>
                <a:srgbClr val="FFFFFF"/>
              </a:solidFill>
              <a:latin typeface="Arial" pitchFamily="34" charset="0"/>
              <a:cs typeface="Arial" pitchFamily="34" charset="-120"/>
            </a:endParaRPr>
          </a:p>
          <a:p>
            <a:pPr marL="571500" marR="0" lvl="1" indent="-171450" algn="l" defTabSz="914400" rtl="0" eaLnBrk="1" fontAlgn="auto" latinLnBrk="0" hangingPunct="1">
              <a:lnSpc>
                <a:spcPct val="100000"/>
              </a:lnSpc>
              <a:spcBef>
                <a:spcPts val="0"/>
              </a:spcBef>
              <a:spcAft>
                <a:spcPts val="500"/>
              </a:spcAft>
              <a:buClrTx/>
              <a:buSzPct val="100000"/>
              <a:buFontTx/>
              <a:buChar char="-"/>
              <a:tabLst/>
              <a:defRPr/>
            </a:pPr>
            <a:endPar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endPar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32203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2. CURRENT SOLUTIONS</a:t>
            </a: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1300" b="1" dirty="0">
                <a:solidFill>
                  <a:srgbClr val="FF7900"/>
                </a:solidFill>
                <a:latin typeface="Helvetica Neue"/>
                <a:sym typeface="Arial"/>
              </a:rPr>
              <a:t>2.1 REACTIVE METHODS (decide during generation)</a:t>
            </a:r>
            <a:endPar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endParaRP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pPr>
              <a:spcAft>
                <a:spcPts val="1000"/>
              </a:spcAft>
            </a:pPr>
            <a:endParaRPr lang="en-US" sz="1200" b="1" dirty="0">
              <a:solidFill>
                <a:srgbClr val="FF7900"/>
              </a:solidFill>
              <a:latin typeface="Helvetica Neue"/>
            </a:endParaRPr>
          </a:p>
          <a:p>
            <a:pPr>
              <a:spcAft>
                <a:spcPts val="1000"/>
              </a:spcAft>
            </a:pPr>
            <a:r>
              <a:rPr lang="en-US" sz="1200" b="1" dirty="0">
                <a:solidFill>
                  <a:srgbClr val="FF7900"/>
                </a:solidFill>
                <a:latin typeface="Helvetica Neue"/>
              </a:rPr>
              <a:t>Confidence / Entropy-Based Early Exit</a:t>
            </a:r>
            <a:r>
              <a:rPr kumimoji="0" lang="en-US" sz="1200" b="1" i="0" u="none" strike="noStrike" kern="1200" cap="none" spc="0" normalizeH="0" baseline="0" noProof="0" dirty="0">
                <a:ln>
                  <a:noFill/>
                </a:ln>
                <a:solidFill>
                  <a:srgbClr val="FF7900"/>
                </a:solidFill>
                <a:effectLst/>
                <a:uLnTx/>
                <a:uFillTx/>
                <a:latin typeface="Helvetica Neue"/>
                <a:ea typeface="+mn-ea"/>
                <a:cs typeface="+mn-cs"/>
              </a:rPr>
              <a:t>. </a:t>
            </a:r>
            <a:r>
              <a:rPr lang="en-US" sz="1000" b="0" i="1" dirty="0">
                <a:solidFill>
                  <a:schemeClr val="bg1"/>
                </a:solidFill>
                <a:effectLst/>
                <a:latin typeface="Consolas" panose="020B0609020204030204" pitchFamily="49" charset="0"/>
              </a:rPr>
              <a:t>(Yang et al., "Dynamic Early Exit in Reasoning Models," 2025 — DEER; general confidence/entropy early-exit class)</a:t>
            </a:r>
            <a:endParaRPr lang="en-US" sz="1000" dirty="0">
              <a:solidFill>
                <a:schemeClr val="bg1"/>
              </a:solidFill>
              <a:latin typeface="Arial" pitchFamily="34" charset="0"/>
              <a:cs typeface="Arial" pitchFamily="34" charset="-120"/>
            </a:endParaRPr>
          </a:p>
          <a:p>
            <a:pPr lvl="1" indent="-228600">
              <a:spcAft>
                <a:spcPts val="800"/>
              </a:spcAft>
              <a:buSzPct val="100000"/>
              <a:buFontTx/>
              <a:buChar char="•"/>
              <a:defRPr/>
            </a:pPr>
            <a:r>
              <a:rPr lang="en-US" sz="1200" b="1" dirty="0">
                <a:solidFill>
                  <a:prstClr val="white"/>
                </a:solidFill>
                <a:latin typeface="Consolas" panose="020B0609020204030204" pitchFamily="49" charset="0"/>
              </a:rPr>
              <a:t>Mechanism: M</a:t>
            </a:r>
            <a:r>
              <a:rPr lang="en-US" sz="1200" dirty="0">
                <a:solidFill>
                  <a:srgbClr val="FFFFFF"/>
                </a:solidFill>
                <a:latin typeface="Arial" pitchFamily="34" charset="0"/>
                <a:cs typeface="Arial" pitchFamily="34" charset="-120"/>
              </a:rPr>
              <a:t>onitor a per-step scalar token entropy as a signal, self-consistency across sampled continuations, or logit-derived confidence — and stop once it crosses a threshold. DEER specifically detects "reasoning transition points" (e.g., the token "Wait"), injects a forced trial-answer prompt at that point, and reads the model's confidence in that trial answer; if confidence is high, it stops, otherwise it discards the trial and continues. In effect, the model is asked mid-reasoning whether it already knows the answer, and how sure it is.</a:t>
            </a:r>
          </a:p>
          <a:p>
            <a:pPr lvl="1" indent="-228600">
              <a:spcAft>
                <a:spcPts val="800"/>
              </a:spcAft>
              <a:buSzPct val="100000"/>
              <a:buFontTx/>
              <a:buChar char="•"/>
              <a:defRPr/>
            </a:pPr>
            <a:r>
              <a:rPr lang="en-US" sz="1200" b="1" dirty="0">
                <a:solidFill>
                  <a:prstClr val="white"/>
                </a:solidFill>
                <a:latin typeface="Consolas" panose="020B0609020204030204" pitchFamily="49" charset="0"/>
              </a:rPr>
              <a:t>Reported results: </a:t>
            </a:r>
            <a:r>
              <a:rPr lang="en-US" sz="1200" dirty="0">
                <a:solidFill>
                  <a:srgbClr val="FFFFFF"/>
                </a:solidFill>
                <a:latin typeface="Arial" pitchFamily="34" charset="0"/>
                <a:cs typeface="Arial" pitchFamily="34" charset="-120"/>
              </a:rPr>
              <a:t>DEER achieves 19–80% </a:t>
            </a:r>
            <a:r>
              <a:rPr lang="en-US" sz="1200" dirty="0" err="1">
                <a:solidFill>
                  <a:srgbClr val="FFFFFF"/>
                </a:solidFill>
                <a:latin typeface="Arial" pitchFamily="34" charset="0"/>
                <a:cs typeface="Arial" pitchFamily="34" charset="-120"/>
              </a:rPr>
              <a:t>CoT</a:t>
            </a:r>
            <a:r>
              <a:rPr lang="en-US" sz="1200" dirty="0">
                <a:solidFill>
                  <a:srgbClr val="FFFFFF"/>
                </a:solidFill>
                <a:latin typeface="Arial" pitchFamily="34" charset="0"/>
                <a:cs typeface="Arial" pitchFamily="34" charset="-120"/>
              </a:rPr>
              <a:t> length reduction with +0.3–5.0% accuracy across 11 models and 10 benchmarks — shorter reasoning chains without trading away accuracy.</a:t>
            </a:r>
          </a:p>
          <a:p>
            <a:pPr lvl="1" indent="-228600">
              <a:spcAft>
                <a:spcPts val="300"/>
              </a:spcAft>
              <a:buSzPct val="100000"/>
              <a:buFontTx/>
              <a:buChar char="•"/>
              <a:defRPr/>
            </a:pPr>
            <a:r>
              <a:rPr lang="en-US" sz="1200" b="1" dirty="0">
                <a:solidFill>
                  <a:prstClr val="white"/>
                </a:solidFill>
                <a:latin typeface="Consolas" panose="020B0609020204030204" pitchFamily="49" charset="0"/>
              </a:rPr>
              <a:t>Limitations: </a:t>
            </a:r>
          </a:p>
          <a:p>
            <a:pPr marL="517525" lvl="1">
              <a:spcAft>
                <a:spcPts val="300"/>
              </a:spcAft>
              <a:buSzPct val="100000"/>
              <a:defRPr/>
            </a:pPr>
            <a:r>
              <a:rPr lang="en-US" sz="1100" b="1" dirty="0">
                <a:solidFill>
                  <a:prstClr val="white"/>
                </a:solidFill>
                <a:latin typeface="Consolas" panose="020B0609020204030204" pitchFamily="49" charset="0"/>
                <a:cs typeface="Arial" pitchFamily="34" charset="-120"/>
              </a:rPr>
              <a:t>- False</a:t>
            </a:r>
            <a:r>
              <a:rPr lang="en-US" sz="1100" dirty="0">
                <a:solidFill>
                  <a:srgbClr val="FFFFFF"/>
                </a:solidFill>
                <a:latin typeface="Arial" pitchFamily="34" charset="0"/>
                <a:cs typeface="Arial" pitchFamily="34" charset="-120"/>
              </a:rPr>
              <a:t> </a:t>
            </a:r>
            <a:r>
              <a:rPr lang="en-US" sz="1100" b="1" dirty="0">
                <a:solidFill>
                  <a:prstClr val="white"/>
                </a:solidFill>
                <a:latin typeface="Consolas" panose="020B0609020204030204" pitchFamily="49" charset="0"/>
                <a:cs typeface="Arial" pitchFamily="34" charset="-120"/>
              </a:rPr>
              <a:t>positives</a:t>
            </a:r>
            <a:r>
              <a:rPr lang="en-US" sz="1100" dirty="0">
                <a:solidFill>
                  <a:srgbClr val="FFFFFF"/>
                </a:solidFill>
                <a:latin typeface="Arial" pitchFamily="34" charset="0"/>
                <a:cs typeface="Arial" pitchFamily="34" charset="-120"/>
              </a:rPr>
              <a:t>: The signal can be misleading—a model may be highly confident while still being wrong, especially after                 RLHF/RLVR where confidence and correctness can become decoupled.</a:t>
            </a:r>
          </a:p>
          <a:p>
            <a:pPr marL="517525" lvl="1">
              <a:spcAft>
                <a:spcPts val="300"/>
              </a:spcAft>
              <a:buSzPct val="100000"/>
              <a:defRPr/>
            </a:pPr>
            <a:r>
              <a:rPr lang="en-US" sz="1100" b="1" dirty="0">
                <a:solidFill>
                  <a:prstClr val="white"/>
                </a:solidFill>
                <a:latin typeface="Consolas" panose="020B0609020204030204" pitchFamily="49" charset="0"/>
                <a:cs typeface="Arial" pitchFamily="34" charset="-120"/>
              </a:rPr>
              <a:t>- Poor transferability: </a:t>
            </a:r>
            <a:r>
              <a:rPr lang="en-US" sz="1100" dirty="0">
                <a:solidFill>
                  <a:srgbClr val="FFFFFF"/>
                </a:solidFill>
                <a:latin typeface="Arial" pitchFamily="34" charset="0"/>
                <a:cs typeface="Arial" pitchFamily="34" charset="-120"/>
              </a:rPr>
              <a:t>Thresholds are typically hand-tuned for each model and temperature, limiting their ability to generalize across settings. Moving to a new model or temperature means re-tuning.</a:t>
            </a:r>
          </a:p>
          <a:p>
            <a:pPr marL="517525" lvl="1">
              <a:spcAft>
                <a:spcPts val="800"/>
              </a:spcAft>
              <a:buSzPct val="100000"/>
              <a:defRPr/>
            </a:pPr>
            <a:r>
              <a:rPr lang="en-US" sz="1100" b="1" dirty="0">
                <a:solidFill>
                  <a:prstClr val="white"/>
                </a:solidFill>
                <a:latin typeface="Consolas" panose="020B0609020204030204" pitchFamily="49" charset="0"/>
                <a:cs typeface="Arial" pitchFamily="34" charset="-120"/>
              </a:rPr>
              <a:t>- Blind spot: </a:t>
            </a:r>
            <a:r>
              <a:rPr lang="en-US" sz="1100" dirty="0">
                <a:solidFill>
                  <a:srgbClr val="FFFFFF"/>
                </a:solidFill>
                <a:latin typeface="Arial" pitchFamily="34" charset="0"/>
                <a:cs typeface="Arial" pitchFamily="34" charset="-120"/>
              </a:rPr>
              <a:t>DEER only stops when confidence is high; it cannot identify queries that remain uncertain and are likely to be wrong. Such queries keep generating instead of being cut off early.</a:t>
            </a:r>
          </a:p>
          <a:p>
            <a:br>
              <a:rPr lang="en-US" sz="1200" b="0" dirty="0">
                <a:solidFill>
                  <a:srgbClr val="BBBEBF"/>
                </a:solidFill>
                <a:effectLst/>
                <a:latin typeface="Consolas" panose="020B0609020204030204" pitchFamily="49" charset="0"/>
              </a:rPr>
            </a:br>
            <a:endPar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endPar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675863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2. CURRENT SOLUTIONS</a:t>
            </a: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rPr>
              <a:t>2.1 REACTIVE METHODS (decide during generation)</a:t>
            </a: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endParaRPr lang="en-US" sz="1300" b="1" dirty="0">
              <a:solidFill>
                <a:srgbClr val="FF7900"/>
              </a:solidFill>
              <a:latin typeface="Helvetica Neue"/>
              <a:sym typeface="Arial"/>
            </a:endParaRP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endPar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endParaRP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1000"/>
              </a:spcAft>
              <a:buClrTx/>
              <a:buSzTx/>
              <a:buFontTx/>
              <a:buNone/>
              <a:tabLst/>
              <a:defRPr/>
            </a:pPr>
            <a:endParaRPr kumimoji="0" lang="en-US" sz="1200" b="1" i="0" u="none" strike="noStrike" kern="1200" cap="none" spc="0" normalizeH="0" baseline="0" noProof="0" dirty="0">
              <a:ln>
                <a:noFill/>
              </a:ln>
              <a:solidFill>
                <a:srgbClr val="FF7900"/>
              </a:solidFill>
              <a:effectLst/>
              <a:uLnTx/>
              <a:uFillTx/>
              <a:latin typeface="Helvetica Neue"/>
              <a:ea typeface="+mn-ea"/>
              <a:cs typeface="+mn-cs"/>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mn-cs"/>
              </a:rPr>
              <a:t>Conformal / Risk-Controlled Stopping. </a:t>
            </a:r>
            <a:r>
              <a:rPr kumimoji="0" lang="en-US" sz="1000" b="0" i="1" u="none" strike="noStrike" kern="1200" cap="none" spc="0" normalizeH="0" baseline="0" noProof="0" dirty="0">
                <a:ln>
                  <a:noFill/>
                </a:ln>
                <a:solidFill>
                  <a:prstClr val="white"/>
                </a:solidFill>
                <a:effectLst/>
                <a:uLnTx/>
                <a:uFillTx/>
                <a:latin typeface="Consolas" panose="020B0609020204030204" pitchFamily="49" charset="0"/>
                <a:ea typeface="+mn-ea"/>
                <a:cs typeface="+mn-cs"/>
              </a:rPr>
              <a:t>(Conformal Thinking, Apple, 2026; Thought Calibration, 2025)</a:t>
            </a:r>
          </a:p>
          <a:p>
            <a:pPr marL="457200" marR="0" lvl="1" indent="-228600" algn="l" defTabSz="914400" rtl="0" eaLnBrk="1" fontAlgn="auto" latinLnBrk="0" hangingPunct="1">
              <a:lnSpc>
                <a:spcPct val="100000"/>
              </a:lnSpc>
              <a:spcBef>
                <a:spcPts val="0"/>
              </a:spcBef>
              <a:spcAft>
                <a:spcPts val="800"/>
              </a:spcAft>
              <a:buClrTx/>
              <a:buSzPct val="100000"/>
              <a:buFontTx/>
              <a:buChar char="•"/>
              <a:tabLst/>
              <a:defRPr/>
            </a:pPr>
            <a:r>
              <a:rPr kumimoji="0" lang="en-US" sz="1200" b="1" i="0" u="none" strike="noStrike" kern="1200" cap="none" spc="0" normalizeH="0" baseline="0" noProof="0" dirty="0">
                <a:ln>
                  <a:noFill/>
                </a:ln>
                <a:solidFill>
                  <a:prstClr val="white"/>
                </a:solidFill>
                <a:effectLst/>
                <a:uLnTx/>
                <a:uFillTx/>
                <a:latin typeface="Consolas" panose="020B0609020204030204" pitchFamily="49" charset="0"/>
                <a:ea typeface="+mn-ea"/>
                <a:cs typeface="+mn-cs"/>
              </a:rPr>
              <a:t>Mechanism: </a:t>
            </a:r>
            <a:r>
              <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Reframe budget-setting as distribution-free risk control (Learn-Then-Test): given a target error rate α and a calibration set, derive a stopping threshold with a finite-sample statistical guarantee that stopping error stays below α. Conformal Thinking adds a second, lower threshold that pre-emptively halts instances flagged as likely-unsolvable, directly addressing the blind spot in confidence-only early exit. In practice, candidate thresholds are tested on the calibration set and only those whose risk can be certified below α are kept.</a:t>
            </a:r>
          </a:p>
          <a:p>
            <a:pPr marL="457200" marR="0" lvl="1" indent="-228600" algn="l" defTabSz="914400" rtl="0" eaLnBrk="1" fontAlgn="auto" latinLnBrk="0" hangingPunct="1">
              <a:lnSpc>
                <a:spcPct val="100000"/>
              </a:lnSpc>
              <a:spcBef>
                <a:spcPts val="0"/>
              </a:spcBef>
              <a:spcAft>
                <a:spcPts val="300"/>
              </a:spcAft>
              <a:buClrTx/>
              <a:buSzPct val="100000"/>
              <a:buFontTx/>
              <a:buChar char="•"/>
              <a:tabLst/>
              <a:defRPr/>
            </a:pPr>
            <a:r>
              <a:rPr kumimoji="0" lang="en-US" sz="1200" b="1" i="0" u="none" strike="noStrike" kern="1200" cap="none" spc="0" normalizeH="0" baseline="0" noProof="0" dirty="0">
                <a:ln>
                  <a:noFill/>
                </a:ln>
                <a:solidFill>
                  <a:prstClr val="white"/>
                </a:solidFill>
                <a:effectLst/>
                <a:uLnTx/>
                <a:uFillTx/>
                <a:latin typeface="Consolas" panose="020B0609020204030204" pitchFamily="49" charset="0"/>
                <a:ea typeface="+mn-ea"/>
                <a:cs typeface="+mn-cs"/>
              </a:rPr>
              <a:t>Limitations: </a:t>
            </a:r>
          </a:p>
          <a:p>
            <a:pPr marL="517525" marR="0" lvl="1" indent="0" algn="l" defTabSz="914400" rtl="0" eaLnBrk="1" fontAlgn="auto" latinLnBrk="0" hangingPunct="1">
              <a:lnSpc>
                <a:spcPct val="100000"/>
              </a:lnSpc>
              <a:spcBef>
                <a:spcPts val="0"/>
              </a:spcBef>
              <a:spcAft>
                <a:spcPts val="300"/>
              </a:spcAft>
              <a:buClrTx/>
              <a:buSzPct val="100000"/>
              <a:buFontTx/>
              <a:buNone/>
              <a:tabLst/>
              <a:defRPr/>
            </a:pPr>
            <a:r>
              <a:rPr kumimoji="0" lang="en-US" sz="1100" b="1" i="0" u="none" strike="noStrike" kern="1200" cap="none" spc="0" normalizeH="0" baseline="0" noProof="0" dirty="0">
                <a:ln>
                  <a:noFill/>
                </a:ln>
                <a:solidFill>
                  <a:prstClr val="white"/>
                </a:solidFill>
                <a:effectLst/>
                <a:uLnTx/>
                <a:uFillTx/>
                <a:latin typeface="Consolas" panose="020B0609020204030204" pitchFamily="49" charset="0"/>
                <a:ea typeface="+mn-ea"/>
                <a:cs typeface="Arial" pitchFamily="34" charset="-120"/>
              </a:rPr>
              <a:t>- </a:t>
            </a:r>
            <a:r>
              <a:rPr lang="en-US" sz="1100" b="1" dirty="0">
                <a:solidFill>
                  <a:prstClr val="white"/>
                </a:solidFill>
                <a:latin typeface="Consolas" panose="020B0609020204030204" pitchFamily="49" charset="0"/>
                <a:cs typeface="Arial" pitchFamily="34" charset="-120"/>
              </a:rPr>
              <a:t>Calibration</a:t>
            </a:r>
            <a:r>
              <a:rPr lang="en-US" sz="1100" dirty="0"/>
              <a:t> </a:t>
            </a:r>
            <a:r>
              <a:rPr lang="en-US" sz="1100" b="1" dirty="0">
                <a:solidFill>
                  <a:prstClr val="white"/>
                </a:solidFill>
                <a:latin typeface="Consolas" panose="020B0609020204030204" pitchFamily="49" charset="0"/>
                <a:cs typeface="Arial" pitchFamily="34" charset="-120"/>
              </a:rPr>
              <a:t>required</a:t>
            </a:r>
            <a:r>
              <a:rPr kumimoji="0" lang="en-US" sz="11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 Requires a held-out calibration set for each model/task pair.</a:t>
            </a:r>
          </a:p>
          <a:p>
            <a:pPr marL="517525" marR="0" lvl="1" indent="0" algn="l" defTabSz="914400" rtl="0" eaLnBrk="1" fontAlgn="auto" latinLnBrk="0" hangingPunct="1">
              <a:lnSpc>
                <a:spcPct val="100000"/>
              </a:lnSpc>
              <a:spcBef>
                <a:spcPts val="0"/>
              </a:spcBef>
              <a:spcAft>
                <a:spcPts val="300"/>
              </a:spcAft>
              <a:buClrTx/>
              <a:buSzPct val="100000"/>
              <a:buFontTx/>
              <a:buNone/>
              <a:tabLst/>
              <a:defRPr/>
            </a:pPr>
            <a:r>
              <a:rPr kumimoji="0" lang="en-US" sz="1100" b="1" i="0" u="none" strike="noStrike" kern="1200" cap="none" spc="0" normalizeH="0" baseline="0" noProof="0" dirty="0">
                <a:ln>
                  <a:noFill/>
                </a:ln>
                <a:solidFill>
                  <a:prstClr val="white"/>
                </a:solidFill>
                <a:effectLst/>
                <a:uLnTx/>
                <a:uFillTx/>
                <a:latin typeface="Consolas" panose="020B0609020204030204" pitchFamily="49" charset="0"/>
                <a:ea typeface="+mn-ea"/>
                <a:cs typeface="Arial" pitchFamily="34" charset="-120"/>
              </a:rPr>
              <a:t>- Marginal guarantee: </a:t>
            </a:r>
            <a:r>
              <a:rPr lang="en-US" sz="1100" dirty="0">
                <a:solidFill>
                  <a:srgbClr val="FFFFFF"/>
                </a:solidFill>
                <a:latin typeface="Arial" pitchFamily="34" charset="0"/>
                <a:cs typeface="Arial" pitchFamily="34" charset="-120"/>
              </a:rPr>
              <a:t>The guarantee holds on average over the calibration distribution, not for each individual instance, so a particular hard query can still be stopped wrongly even when the average error stays below α.</a:t>
            </a:r>
          </a:p>
          <a:p>
            <a:pPr marL="688975" lvl="1" indent="-171450">
              <a:spcAft>
                <a:spcPts val="800"/>
              </a:spcAft>
              <a:buSzPct val="100000"/>
              <a:buFontTx/>
              <a:buChar char="-"/>
              <a:defRPr/>
            </a:pPr>
            <a:r>
              <a:rPr kumimoji="0" lang="en-US" sz="1100" b="1" i="0" u="none" strike="noStrike" kern="1200" cap="none" spc="0" normalizeH="0" baseline="0" noProof="0" dirty="0">
                <a:ln>
                  <a:noFill/>
                </a:ln>
                <a:solidFill>
                  <a:prstClr val="white"/>
                </a:solidFill>
                <a:effectLst/>
                <a:uLnTx/>
                <a:uFillTx/>
                <a:latin typeface="Consolas" panose="020B0609020204030204" pitchFamily="49" charset="0"/>
                <a:ea typeface="+mn-ea"/>
                <a:cs typeface="Arial" pitchFamily="34" charset="-120"/>
              </a:rPr>
              <a:t>Monotonicity assumption</a:t>
            </a:r>
            <a:r>
              <a:rPr lang="en-US" sz="1100" dirty="0">
                <a:solidFill>
                  <a:srgbClr val="FFFFFF"/>
                </a:solidFill>
                <a:latin typeface="Arial" pitchFamily="34" charset="0"/>
                <a:cs typeface="Arial" pitchFamily="34" charset="-120"/>
              </a:rPr>
              <a:t>: Assumes the risk function is monotonic with respect to the threshold, which is only reliably verifiable in the large-sample regime. If the risk does not move smoothly with the threshold, the certified threshold may not be reliable.</a:t>
            </a:r>
          </a:p>
          <a:p>
            <a:pPr lvl="1" indent="-228600">
              <a:spcAft>
                <a:spcPts val="800"/>
              </a:spcAft>
              <a:buSzPct val="100000"/>
              <a:buFontTx/>
              <a:buChar char="•"/>
              <a:defRPr/>
            </a:pPr>
            <a:r>
              <a:rPr lang="en-US" sz="1200" b="1" dirty="0">
                <a:solidFill>
                  <a:prstClr val="white"/>
                </a:solidFill>
                <a:latin typeface="Consolas" panose="020B0609020204030204" pitchFamily="49" charset="0"/>
              </a:rPr>
              <a:t>Our</a:t>
            </a:r>
            <a:r>
              <a:rPr lang="en-US" sz="1200" dirty="0"/>
              <a:t> </a:t>
            </a:r>
            <a:r>
              <a:rPr lang="en-US" sz="1200" b="1" dirty="0">
                <a:solidFill>
                  <a:prstClr val="white"/>
                </a:solidFill>
                <a:latin typeface="Consolas" panose="020B0609020204030204" pitchFamily="49" charset="0"/>
              </a:rPr>
              <a:t>Use</a:t>
            </a:r>
            <a:r>
              <a:rPr lang="en-US" sz="1200" dirty="0"/>
              <a:t> </a:t>
            </a:r>
            <a:r>
              <a:rPr lang="en-US" sz="1200" b="1" dirty="0">
                <a:solidFill>
                  <a:prstClr val="white"/>
                </a:solidFill>
                <a:latin typeface="Consolas" panose="020B0609020204030204" pitchFamily="49" charset="0"/>
              </a:rPr>
              <a:t>of</a:t>
            </a:r>
            <a:r>
              <a:rPr lang="en-US" sz="1200" dirty="0"/>
              <a:t> </a:t>
            </a:r>
            <a:r>
              <a:rPr lang="en-US" sz="1200" b="1" dirty="0">
                <a:solidFill>
                  <a:prstClr val="white"/>
                </a:solidFill>
                <a:latin typeface="Consolas" panose="020B0609020204030204" pitchFamily="49" charset="0"/>
              </a:rPr>
              <a:t>This</a:t>
            </a:r>
            <a:r>
              <a:rPr lang="en-US" sz="1200" dirty="0"/>
              <a:t> </a:t>
            </a:r>
            <a:r>
              <a:rPr lang="en-US" sz="1200" b="1" dirty="0">
                <a:solidFill>
                  <a:prstClr val="white"/>
                </a:solidFill>
                <a:latin typeface="Consolas" panose="020B0609020204030204" pitchFamily="49" charset="0"/>
              </a:rPr>
              <a:t>Method: </a:t>
            </a:r>
            <a:r>
              <a:rPr lang="en-US" sz="1200" dirty="0">
                <a:solidFill>
                  <a:srgbClr val="FFFFFF"/>
                </a:solidFill>
                <a:latin typeface="Arial" pitchFamily="34" charset="0"/>
                <a:cs typeface="Arial" pitchFamily="34" charset="-120"/>
              </a:rPr>
              <a:t>can serve directly as the statistical-validation layer for any adaptive method this proposal produces. Any policy built here can be wrapped with these thresholds, so its early stops are certified, not hand-tuned.</a:t>
            </a:r>
          </a:p>
          <a:p>
            <a:pPr marL="517525" lvl="1">
              <a:spcAft>
                <a:spcPts val="800"/>
              </a:spcAft>
              <a:buSzPct val="100000"/>
              <a:defRPr/>
            </a:pPr>
            <a:endParaRPr lang="en-US" sz="1100" dirty="0">
              <a:solidFill>
                <a:srgbClr val="FFFFFF"/>
              </a:solidFill>
              <a:latin typeface="Arial" pitchFamily="34" charset="0"/>
              <a:cs typeface="Arial" pitchFamily="34" charset="-120"/>
            </a:endParaRPr>
          </a:p>
          <a:p>
            <a:pPr marL="0" marR="0" lvl="0" indent="0" algn="l" defTabSz="914400" rtl="0" eaLnBrk="1" fontAlgn="auto" latinLnBrk="0" hangingPunct="1">
              <a:lnSpc>
                <a:spcPct val="100000"/>
              </a:lnSpc>
              <a:spcBef>
                <a:spcPts val="0"/>
              </a:spcBef>
              <a:spcAft>
                <a:spcPts val="0"/>
              </a:spcAft>
              <a:buClrTx/>
              <a:buSzTx/>
              <a:buFontTx/>
              <a:buNone/>
              <a:tabLst/>
              <a:defRPr/>
            </a:pPr>
            <a:br>
              <a:rPr kumimoji="0" lang="en-US" sz="1200" b="0" i="0" u="none" strike="noStrike" kern="1200" cap="none" spc="0" normalizeH="0" baseline="0" noProof="0" dirty="0">
                <a:ln>
                  <a:noFill/>
                </a:ln>
                <a:solidFill>
                  <a:srgbClr val="BBBEBF"/>
                </a:solidFill>
                <a:effectLst/>
                <a:uLnTx/>
                <a:uFillTx/>
                <a:latin typeface="Consolas" panose="020B0609020204030204" pitchFamily="49" charset="0"/>
                <a:ea typeface="+mn-ea"/>
                <a:cs typeface="+mn-cs"/>
              </a:rPr>
            </a:br>
            <a:endPar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endPar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50265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2. CURRENT SOLUTIONS</a:t>
            </a: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rPr>
              <a:t>2.2 PREDICTIVE METHODS (decide before generation)</a:t>
            </a: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pPr>
              <a:spcAft>
                <a:spcPts val="1000"/>
              </a:spcAft>
            </a:pPr>
            <a:endParaRPr lang="en-US" sz="1200" b="1" dirty="0">
              <a:solidFill>
                <a:srgbClr val="FF7900"/>
              </a:solidFill>
              <a:latin typeface="Helvetica Neue"/>
            </a:endParaRPr>
          </a:p>
          <a:p>
            <a:pPr>
              <a:spcAft>
                <a:spcPts val="1000"/>
              </a:spcAft>
            </a:pPr>
            <a:r>
              <a:rPr lang="en-US" sz="1200" b="1" dirty="0">
                <a:solidFill>
                  <a:srgbClr val="FF7900"/>
                </a:solidFill>
                <a:latin typeface="Helvetica Neue"/>
              </a:rPr>
              <a:t>Budget Forcing. </a:t>
            </a:r>
            <a:r>
              <a:rPr lang="en-US" sz="1000" i="1" dirty="0">
                <a:solidFill>
                  <a:prstClr val="white"/>
                </a:solidFill>
                <a:latin typeface="Consolas" panose="020B0609020204030204" pitchFamily="49" charset="0"/>
              </a:rPr>
              <a:t>(</a:t>
            </a:r>
            <a:r>
              <a:rPr lang="en-US" sz="1000" i="1" dirty="0" err="1">
                <a:solidFill>
                  <a:prstClr val="white"/>
                </a:solidFill>
                <a:latin typeface="Consolas" panose="020B0609020204030204" pitchFamily="49" charset="0"/>
              </a:rPr>
              <a:t>Muennighoff</a:t>
            </a:r>
            <a:r>
              <a:rPr lang="en-US" sz="1000" i="1" dirty="0">
                <a:solidFill>
                  <a:prstClr val="white"/>
                </a:solidFill>
                <a:latin typeface="Consolas" panose="020B0609020204030204" pitchFamily="49" charset="0"/>
              </a:rPr>
              <a:t> et al., "s1: Simple Test-Time Scaling," EMNLP 2025)</a:t>
            </a:r>
          </a:p>
          <a:p>
            <a:pPr lvl="1" indent="-228600">
              <a:spcAft>
                <a:spcPts val="800"/>
              </a:spcAft>
              <a:buSzPct val="100000"/>
              <a:buFontTx/>
              <a:buChar char="•"/>
              <a:defRPr/>
            </a:pPr>
            <a:r>
              <a:rPr lang="en-US" sz="1200" b="1" dirty="0">
                <a:solidFill>
                  <a:prstClr val="white"/>
                </a:solidFill>
                <a:latin typeface="Consolas" panose="020B0609020204030204" pitchFamily="49" charset="0"/>
              </a:rPr>
              <a:t>Mechanism: </a:t>
            </a:r>
            <a:r>
              <a:rPr lang="en-US" sz="1200" dirty="0">
                <a:solidFill>
                  <a:srgbClr val="FFFFFF"/>
                </a:solidFill>
                <a:latin typeface="Arial" pitchFamily="34" charset="0"/>
                <a:cs typeface="Arial" pitchFamily="34" charset="-120"/>
              </a:rPr>
              <a:t>a fixed, global token cap; if the model tries to stop early, suppress the end-of-thinking token and append "Wait" to force continuation; if it exceeds the cap, force termination. It is a decoding-time intervention that needs no extra training, and it lets one model be run at different budgets: the appended “Wait” pushes the model to keep reasoning and often re-check its work, while the cap sets a hard upper limit on length.</a:t>
            </a:r>
          </a:p>
          <a:p>
            <a:pPr lvl="1" indent="-228600">
              <a:spcAft>
                <a:spcPts val="800"/>
              </a:spcAft>
              <a:buSzPct val="100000"/>
              <a:buFontTx/>
              <a:buChar char="•"/>
              <a:defRPr/>
            </a:pPr>
            <a:r>
              <a:rPr lang="en-US" sz="1200" b="1" dirty="0">
                <a:solidFill>
                  <a:prstClr val="white"/>
                </a:solidFill>
                <a:latin typeface="Consolas" panose="020B0609020204030204" pitchFamily="49" charset="0"/>
              </a:rPr>
              <a:t>Limitation: </a:t>
            </a:r>
            <a:r>
              <a:rPr lang="en-US" sz="1200" dirty="0">
                <a:solidFill>
                  <a:srgbClr val="FFFFFF"/>
                </a:solidFill>
                <a:latin typeface="Arial" pitchFamily="34" charset="0"/>
                <a:cs typeface="Arial" pitchFamily="34" charset="-120"/>
              </a:rPr>
              <a:t>the cap is a single hand-set number for all inputs — it is control, not adaptation; later work (L1) shows this crude intervention degrades performance relative to a length-conditioned policy. Because it ignores how hard each query is, easy queries can still be pushed to think longer than needed while hard queries are cut at the same cap, and it gives no signal about when extra thinking is actually useful.</a:t>
            </a:r>
          </a:p>
          <a:p>
            <a:pPr lvl="1" indent="-228600">
              <a:spcAft>
                <a:spcPts val="800"/>
              </a:spcAft>
              <a:buSzPct val="100000"/>
              <a:buFontTx/>
              <a:buChar char="•"/>
              <a:defRPr/>
            </a:pPr>
            <a:r>
              <a:rPr lang="en-US" sz="1200" b="1" dirty="0">
                <a:solidFill>
                  <a:prstClr val="white"/>
                </a:solidFill>
                <a:latin typeface="Consolas" panose="020B0609020204030204" pitchFamily="49" charset="0"/>
              </a:rPr>
              <a:t>Our</a:t>
            </a:r>
            <a:r>
              <a:rPr lang="en-US" sz="1200" dirty="0"/>
              <a:t> </a:t>
            </a:r>
            <a:r>
              <a:rPr lang="en-US" sz="1200" b="1" dirty="0">
                <a:solidFill>
                  <a:prstClr val="white"/>
                </a:solidFill>
                <a:latin typeface="Consolas" panose="020B0609020204030204" pitchFamily="49" charset="0"/>
              </a:rPr>
              <a:t>Use</a:t>
            </a:r>
            <a:r>
              <a:rPr lang="en-US" sz="1200" dirty="0"/>
              <a:t> </a:t>
            </a:r>
            <a:r>
              <a:rPr lang="en-US" sz="1200" b="1" dirty="0">
                <a:solidFill>
                  <a:prstClr val="white"/>
                </a:solidFill>
                <a:latin typeface="Consolas" panose="020B0609020204030204" pitchFamily="49" charset="0"/>
              </a:rPr>
              <a:t>of</a:t>
            </a:r>
            <a:r>
              <a:rPr lang="en-US" sz="1200" dirty="0"/>
              <a:t> </a:t>
            </a:r>
            <a:r>
              <a:rPr lang="en-US" sz="1200" b="1" dirty="0">
                <a:solidFill>
                  <a:prstClr val="white"/>
                </a:solidFill>
                <a:latin typeface="Consolas" panose="020B0609020204030204" pitchFamily="49" charset="0"/>
              </a:rPr>
              <a:t>This</a:t>
            </a:r>
            <a:r>
              <a:rPr lang="en-US" sz="1200" dirty="0"/>
              <a:t> </a:t>
            </a:r>
            <a:r>
              <a:rPr lang="en-US" sz="1200" b="1" dirty="0">
                <a:solidFill>
                  <a:prstClr val="white"/>
                </a:solidFill>
                <a:latin typeface="Consolas" panose="020B0609020204030204" pitchFamily="49" charset="0"/>
              </a:rPr>
              <a:t>Method: </a:t>
            </a:r>
            <a:r>
              <a:rPr lang="en-US" sz="1200" dirty="0">
                <a:solidFill>
                  <a:srgbClr val="FFFFFF"/>
                </a:solidFill>
                <a:latin typeface="Arial" pitchFamily="34" charset="0"/>
                <a:cs typeface="Arial" pitchFamily="34" charset="-120"/>
              </a:rPr>
              <a:t>serves as the right lower-bound ablation baseline — any adaptive method here must beat naive budget forcing at matched average token count. Matching average token count keeps the comparison fair: it shows whether a gain comes from allocating compute more intelligently rather than from simply using more or fewer tokens overall.</a:t>
            </a:r>
          </a:p>
          <a:p>
            <a:br>
              <a:rPr lang="en-US" sz="1200" b="0" dirty="0">
                <a:solidFill>
                  <a:srgbClr val="BBBEBF"/>
                </a:solidFill>
                <a:effectLst/>
                <a:latin typeface="Consolas" panose="020B0609020204030204" pitchFamily="49" charset="0"/>
              </a:rPr>
            </a:br>
            <a:endParaRPr lang="en-US" sz="1200" b="0" dirty="0">
              <a:solidFill>
                <a:srgbClr val="BBBEBF"/>
              </a:solidFill>
              <a:effectLst/>
              <a:latin typeface="Consolas" panose="020B0609020204030204" pitchFamily="49" charset="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249514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2. CURRENT SOLUTIONS</a:t>
            </a: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rPr>
              <a:t>2.2 PREDICTIVE METHODS (decide before generation)</a:t>
            </a:r>
          </a:p>
        </p:txBody>
      </p:sp>
      <p:sp>
        <p:nvSpPr>
          <p:cNvPr id="3" name="Text 1"/>
          <p:cNvSpPr txBox="1"/>
          <p:nvPr/>
        </p:nvSpPr>
        <p:spPr>
          <a:xfrm>
            <a:off x="320040" y="990039"/>
            <a:ext cx="8503920" cy="3574341"/>
          </a:xfrm>
          <a:prstGeom prst="rect">
            <a:avLst/>
          </a:prstGeom>
          <a:noFill/>
          <a:ln/>
        </p:spPr>
        <p:txBody>
          <a:bodyPr wrap="square" lIns="0" tIns="0" rIns="0" bIns="0" rtlCol="0" anchor="t"/>
          <a:lstStyle/>
          <a:p>
            <a:pPr>
              <a:spcAft>
                <a:spcPts val="1000"/>
              </a:spcAft>
            </a:pPr>
            <a:endParaRPr lang="en-US" sz="1200" b="1" dirty="0">
              <a:solidFill>
                <a:srgbClr val="FF7900"/>
              </a:solidFill>
              <a:latin typeface="Helvetica Neue"/>
            </a:endParaRPr>
          </a:p>
          <a:p>
            <a:pPr>
              <a:spcAft>
                <a:spcPts val="1000"/>
              </a:spcAft>
            </a:pPr>
            <a:r>
              <a:rPr lang="en-US" sz="1200" b="1" dirty="0" err="1">
                <a:solidFill>
                  <a:srgbClr val="FF7900"/>
                </a:solidFill>
                <a:latin typeface="Helvetica Neue"/>
              </a:rPr>
              <a:t>DiffAdapt</a:t>
            </a:r>
            <a:r>
              <a:rPr lang="en-US" sz="1200" b="1" dirty="0">
                <a:solidFill>
                  <a:srgbClr val="FF7900"/>
                </a:solidFill>
                <a:latin typeface="Helvetica Neue"/>
              </a:rPr>
              <a:t>. </a:t>
            </a:r>
            <a:r>
              <a:rPr lang="en-US" sz="1000" i="1" dirty="0">
                <a:solidFill>
                  <a:prstClr val="white"/>
                </a:solidFill>
                <a:latin typeface="Consolas" panose="020B0609020204030204" pitchFamily="49" charset="0"/>
              </a:rPr>
              <a:t>(Liu, Hu, Chu &amp; Choi, "</a:t>
            </a:r>
            <a:r>
              <a:rPr lang="en-US" sz="1000" i="1" dirty="0" err="1">
                <a:solidFill>
                  <a:prstClr val="white"/>
                </a:solidFill>
                <a:latin typeface="Consolas" panose="020B0609020204030204" pitchFamily="49" charset="0"/>
              </a:rPr>
              <a:t>DiffAdapt</a:t>
            </a:r>
            <a:r>
              <a:rPr lang="en-US" sz="1000" i="1" dirty="0">
                <a:solidFill>
                  <a:prstClr val="white"/>
                </a:solidFill>
                <a:latin typeface="Consolas" panose="020B0609020204030204" pitchFamily="49" charset="0"/>
              </a:rPr>
              <a:t>: Difficulty-Adaptive Reasoning for Token-Efficient LLM Inference," 2025)</a:t>
            </a:r>
          </a:p>
          <a:p>
            <a:pPr lvl="1" indent="-228600">
              <a:spcAft>
                <a:spcPts val="800"/>
              </a:spcAft>
              <a:buSzPct val="100000"/>
              <a:buFontTx/>
              <a:buChar char="•"/>
              <a:defRPr/>
            </a:pPr>
            <a:r>
              <a:rPr lang="en-US" sz="1200" b="1" dirty="0">
                <a:solidFill>
                  <a:prstClr val="white"/>
                </a:solidFill>
                <a:latin typeface="Consolas" panose="020B0609020204030204" pitchFamily="49" charset="0"/>
              </a:rPr>
              <a:t>Mechanism: </a:t>
            </a:r>
            <a:r>
              <a:rPr lang="en-US" sz="1200" dirty="0">
                <a:solidFill>
                  <a:srgbClr val="FFFFFF"/>
                </a:solidFill>
                <a:latin typeface="Arial" pitchFamily="34" charset="0"/>
                <a:cs typeface="Arial" pitchFamily="34" charset="-120"/>
              </a:rPr>
              <a:t>a three-stage framework — label difficulty, predict it from hidden states, pick a setup:</a:t>
            </a:r>
          </a:p>
          <a:p>
            <a:pPr lvl="1">
              <a:spcAft>
                <a:spcPts val="800"/>
              </a:spcAft>
              <a:buSzPct val="100000"/>
              <a:defRPr/>
            </a:pPr>
            <a:r>
              <a:rPr lang="en-US" sz="1100" b="1" dirty="0">
                <a:solidFill>
                  <a:prstClr val="white"/>
                </a:solidFill>
                <a:latin typeface="Consolas" panose="020B0609020204030204" pitchFamily="49" charset="0"/>
                <a:cs typeface="Arial" pitchFamily="34" charset="-120"/>
              </a:rPr>
              <a:t>- </a:t>
            </a:r>
            <a:r>
              <a:rPr lang="en-US" sz="1100" dirty="0">
                <a:solidFill>
                  <a:srgbClr val="FFFFFF"/>
                </a:solidFill>
                <a:latin typeface="Arial" pitchFamily="34" charset="0"/>
                <a:cs typeface="Arial" pitchFamily="34" charset="-120"/>
              </a:rPr>
              <a:t>sample a proxy model's responses to heuristically label each training query Easy/Normal/Hard from observed entropy and  correctness. The labels come from how the proxy model actually behaves, not from hand annotation.</a:t>
            </a:r>
          </a:p>
          <a:p>
            <a:pPr lvl="1">
              <a:spcAft>
                <a:spcPts val="800"/>
              </a:spcAft>
              <a:buSzPct val="100000"/>
              <a:defRPr/>
            </a:pPr>
            <a:r>
              <a:rPr lang="en-US" sz="1100" b="1" dirty="0">
                <a:solidFill>
                  <a:prstClr val="white"/>
                </a:solidFill>
                <a:latin typeface="Consolas" panose="020B0609020204030204" pitchFamily="49" charset="0"/>
                <a:cs typeface="Arial" pitchFamily="34" charset="-120"/>
              </a:rPr>
              <a:t>- </a:t>
            </a:r>
            <a:r>
              <a:rPr lang="en-US" sz="1100" dirty="0">
                <a:solidFill>
                  <a:srgbClr val="FFFFFF"/>
                </a:solidFill>
                <a:latin typeface="Arial" pitchFamily="34" charset="0"/>
                <a:cs typeface="Arial" pitchFamily="34" charset="-120"/>
              </a:rPr>
              <a:t>train a lightweight probe on the base model's final hidden state to predict that label. </a:t>
            </a:r>
          </a:p>
          <a:p>
            <a:pPr lvl="1">
              <a:spcAft>
                <a:spcPts val="800"/>
              </a:spcAft>
              <a:buSzPct val="100000"/>
              <a:defRPr/>
            </a:pPr>
            <a:r>
              <a:rPr lang="en-US" sz="1100" b="1" dirty="0">
                <a:solidFill>
                  <a:prstClr val="white"/>
                </a:solidFill>
                <a:latin typeface="Consolas" panose="020B0609020204030204" pitchFamily="49" charset="0"/>
                <a:cs typeface="Arial" pitchFamily="34" charset="-120"/>
              </a:rPr>
              <a:t>- </a:t>
            </a:r>
            <a:r>
              <a:rPr lang="en-US" sz="1100" dirty="0">
                <a:solidFill>
                  <a:srgbClr val="FFFFFF"/>
                </a:solidFill>
                <a:latin typeface="Arial" pitchFamily="34" charset="0"/>
                <a:cs typeface="Arial" pitchFamily="34" charset="-120"/>
              </a:rPr>
              <a:t>at inference, the probe selects one of three fixed (prompt, temperature, max-length) configurations. No base-model fine-tuning. Each of the three difficulty classes is tied to its own setting for how much, and how freely, the model may reason.</a:t>
            </a:r>
          </a:p>
          <a:p>
            <a:pPr lvl="1" indent="-228600">
              <a:spcAft>
                <a:spcPts val="800"/>
              </a:spcAft>
              <a:buSzPct val="100000"/>
              <a:buFontTx/>
              <a:buChar char="•"/>
              <a:defRPr/>
            </a:pPr>
            <a:r>
              <a:rPr lang="en-US" sz="1200" b="1" dirty="0">
                <a:solidFill>
                  <a:prstClr val="white"/>
                </a:solidFill>
                <a:latin typeface="Consolas" panose="020B0609020204030204" pitchFamily="49" charset="0"/>
              </a:rPr>
              <a:t>Reported results: </a:t>
            </a:r>
            <a:r>
              <a:rPr lang="en-US" sz="1200" dirty="0">
                <a:solidFill>
                  <a:srgbClr val="FFFFFF"/>
                </a:solidFill>
                <a:latin typeface="Arial" pitchFamily="34" charset="0"/>
                <a:cs typeface="Arial" pitchFamily="34" charset="-120"/>
              </a:rPr>
              <a:t>up to 22.4% token reduction with comparable or improved accuracy, across 5 models and 8 benchmarks — fewer tokens spent with little or no accuracy cost.</a:t>
            </a:r>
          </a:p>
          <a:p>
            <a:pPr lvl="1" indent="-228600">
              <a:spcAft>
                <a:spcPts val="800"/>
              </a:spcAft>
              <a:buSzPct val="100000"/>
              <a:buFontTx/>
              <a:buChar char="•"/>
              <a:defRPr/>
            </a:pPr>
            <a:r>
              <a:rPr lang="en-US" sz="1200" b="1" dirty="0">
                <a:solidFill>
                  <a:prstClr val="white"/>
                </a:solidFill>
                <a:latin typeface="Consolas" panose="020B0609020204030204" pitchFamily="49" charset="0"/>
              </a:rPr>
              <a:t>Limitation: </a:t>
            </a:r>
          </a:p>
          <a:p>
            <a:pPr marL="228600" lvl="1" indent="228600">
              <a:spcAft>
                <a:spcPts val="800"/>
              </a:spcAft>
              <a:buSzPct val="100000"/>
              <a:defRPr/>
            </a:pPr>
            <a:r>
              <a:rPr lang="en-US" sz="1100" dirty="0">
                <a:solidFill>
                  <a:srgbClr val="FFFFFF"/>
                </a:solidFill>
                <a:latin typeface="Arial" pitchFamily="34" charset="0"/>
                <a:cs typeface="Arial" pitchFamily="34" charset="-120"/>
              </a:rPr>
              <a:t>- only three discrete strategies (coarse granularity, not a continuous budget), so unlike queries can share one setting.</a:t>
            </a:r>
          </a:p>
          <a:p>
            <a:pPr marL="228600" lvl="1" indent="228600">
              <a:spcAft>
                <a:spcPts val="800"/>
              </a:spcAft>
              <a:buSzPct val="100000"/>
              <a:defRPr/>
            </a:pPr>
            <a:r>
              <a:rPr lang="en-US" sz="1100" dirty="0">
                <a:solidFill>
                  <a:srgbClr val="FFFFFF"/>
                </a:solidFill>
                <a:latin typeface="Arial" pitchFamily="34" charset="0"/>
                <a:cs typeface="Arial" pitchFamily="34" charset="-120"/>
              </a:rPr>
              <a:t>- the probe is trained per base model, since hidden-state geometry is model-specific, so each new model needs retraining.</a:t>
            </a: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311032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2. CURRENT SOLUTIONS</a:t>
            </a: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rPr>
              <a:t>2.2 PREDICTIVE METHODS (decide before generation)</a:t>
            </a:r>
          </a:p>
        </p:txBody>
      </p:sp>
      <p:sp>
        <p:nvSpPr>
          <p:cNvPr id="3" name="Text 1"/>
          <p:cNvSpPr txBox="1"/>
          <p:nvPr/>
        </p:nvSpPr>
        <p:spPr>
          <a:xfrm>
            <a:off x="320040" y="997659"/>
            <a:ext cx="8503920" cy="3575304"/>
          </a:xfrm>
          <a:prstGeom prst="rect">
            <a:avLst/>
          </a:prstGeom>
          <a:noFill/>
          <a:ln/>
        </p:spPr>
        <p:txBody>
          <a:bodyPr wrap="square" lIns="0" tIns="0" rIns="0" bIns="0" rtlCol="0" anchor="t"/>
          <a:lstStyle/>
          <a:p>
            <a:endParaRPr lang="en-US" sz="1200" b="1" dirty="0">
              <a:solidFill>
                <a:srgbClr val="FF7900"/>
              </a:solidFill>
              <a:latin typeface="Helvetica Neue"/>
            </a:endParaRPr>
          </a:p>
          <a:p>
            <a:r>
              <a:rPr lang="en-US" sz="1200" b="1" dirty="0">
                <a:solidFill>
                  <a:srgbClr val="FF7900"/>
                </a:solidFill>
                <a:latin typeface="Helvetica Neue"/>
              </a:rPr>
              <a:t>Learned Routers. </a:t>
            </a:r>
            <a:r>
              <a:rPr lang="en-US" sz="1000" i="1" dirty="0">
                <a:solidFill>
                  <a:prstClr val="white"/>
                </a:solidFill>
                <a:latin typeface="Consolas" panose="020B0609020204030204" pitchFamily="49" charset="0"/>
              </a:rPr>
              <a:t>(Damani, </a:t>
            </a:r>
            <a:r>
              <a:rPr lang="en-US" sz="1000" i="1" dirty="0" err="1">
                <a:solidFill>
                  <a:prstClr val="white"/>
                </a:solidFill>
                <a:latin typeface="Consolas" panose="020B0609020204030204" pitchFamily="49" charset="0"/>
              </a:rPr>
              <a:t>Shenfeld</a:t>
            </a:r>
            <a:r>
              <a:rPr lang="en-US" sz="1000" i="1" dirty="0">
                <a:solidFill>
                  <a:prstClr val="white"/>
                </a:solidFill>
                <a:latin typeface="Consolas" panose="020B0609020204030204" pitchFamily="49" charset="0"/>
              </a:rPr>
              <a:t>, Peng, </a:t>
            </a:r>
            <a:r>
              <a:rPr lang="en-US" sz="1000" i="1" dirty="0" err="1">
                <a:solidFill>
                  <a:prstClr val="white"/>
                </a:solidFill>
                <a:latin typeface="Consolas" panose="020B0609020204030204" pitchFamily="49" charset="0"/>
              </a:rPr>
              <a:t>Bobu</a:t>
            </a:r>
            <a:r>
              <a:rPr lang="en-US" sz="1000" i="1" dirty="0">
                <a:solidFill>
                  <a:prstClr val="white"/>
                </a:solidFill>
                <a:latin typeface="Consolas" panose="020B0609020204030204" pitchFamily="49" charset="0"/>
              </a:rPr>
              <a:t>, and Andreas, "Learning How Hard to Think: Input-Adaptive Allocation of LM Computation," ICLR 2025)</a:t>
            </a:r>
          </a:p>
          <a:p>
            <a:pPr lvl="1" indent="-228600">
              <a:spcAft>
                <a:spcPts val="800"/>
              </a:spcAft>
              <a:buSzPct val="100000"/>
              <a:buFontTx/>
              <a:buChar char="•"/>
              <a:defRPr/>
            </a:pPr>
            <a:r>
              <a:rPr lang="en-US" sz="1200" b="1" dirty="0">
                <a:solidFill>
                  <a:prstClr val="white"/>
                </a:solidFill>
                <a:latin typeface="Consolas" panose="020B0609020204030204" pitchFamily="49" charset="0"/>
              </a:rPr>
              <a:t>Mechanism: </a:t>
            </a:r>
            <a:r>
              <a:rPr lang="en-US" sz="1200" dirty="0">
                <a:solidFill>
                  <a:srgbClr val="FFFFFF"/>
                </a:solidFill>
                <a:latin typeface="Arial" pitchFamily="34" charset="0"/>
                <a:cs typeface="Arial" pitchFamily="34" charset="-120"/>
              </a:rPr>
              <a:t>trains a marginal reward predictor — the expected accuracy gain from allocating one more unit of compute (e.g., one more best-of-N sample) to a given query — and allocates compute where the predicted marginal value is highest. For example, in a best-of-N setting the router predicts how much each additional sample would raise the chance of a correct answer for that query, so compute flows to queries where an extra sample is most likely to change the outcome and away from those that are already solved or unlikely to be solved.</a:t>
            </a:r>
          </a:p>
          <a:p>
            <a:pPr lvl="1" indent="-228600">
              <a:spcAft>
                <a:spcPts val="800"/>
              </a:spcAft>
              <a:buSzPct val="100000"/>
              <a:buFontTx/>
              <a:buChar char="•"/>
              <a:defRPr/>
            </a:pPr>
            <a:r>
              <a:rPr lang="en-US" sz="1200" b="1" dirty="0">
                <a:solidFill>
                  <a:prstClr val="white"/>
                </a:solidFill>
                <a:latin typeface="Consolas" panose="020B0609020204030204" pitchFamily="49" charset="0"/>
              </a:rPr>
              <a:t>Limitation: </a:t>
            </a:r>
            <a:r>
              <a:rPr lang="en-US" sz="1200" dirty="0">
                <a:solidFill>
                  <a:srgbClr val="FFFFFF"/>
                </a:solidFill>
                <a:latin typeface="Arial" pitchFamily="34" charset="0"/>
                <a:cs typeface="Arial" pitchFamily="34" charset="-120"/>
              </a:rPr>
              <a:t>the predictor is trained per model/task, cross-model transfer is not reported, and the best-of-N framing does not directly cover single-chain </a:t>
            </a:r>
            <a:r>
              <a:rPr lang="en-US" sz="1200" dirty="0" err="1">
                <a:solidFill>
                  <a:srgbClr val="FFFFFF"/>
                </a:solidFill>
                <a:latin typeface="Arial" pitchFamily="34" charset="0"/>
                <a:cs typeface="Arial" pitchFamily="34" charset="-120"/>
              </a:rPr>
              <a:t>CoT</a:t>
            </a:r>
            <a:r>
              <a:rPr lang="en-US" sz="1200" dirty="0">
                <a:solidFill>
                  <a:srgbClr val="FFFFFF"/>
                </a:solidFill>
                <a:latin typeface="Arial" pitchFamily="34" charset="0"/>
                <a:cs typeface="Arial" pitchFamily="34" charset="-120"/>
              </a:rPr>
              <a:t> length control. In short, the idea transfers conceptually, but the trained predictor and its evidence base are tied to the specific model, task, and sampling setup it was built for.</a:t>
            </a:r>
          </a:p>
          <a:p>
            <a:pPr lvl="1" indent="-228600">
              <a:spcAft>
                <a:spcPts val="800"/>
              </a:spcAft>
              <a:buSzPct val="100000"/>
              <a:buFontTx/>
              <a:buChar char="•"/>
              <a:defRPr/>
            </a:pPr>
            <a:r>
              <a:rPr lang="en-US" sz="1200" b="1" dirty="0">
                <a:solidFill>
                  <a:prstClr val="white"/>
                </a:solidFill>
                <a:latin typeface="Consolas" panose="020B0609020204030204" pitchFamily="49" charset="0"/>
              </a:rPr>
              <a:t>Our Use of This Method: </a:t>
            </a:r>
            <a:r>
              <a:rPr lang="en-US" sz="1200" dirty="0">
                <a:solidFill>
                  <a:srgbClr val="FFFFFF"/>
                </a:solidFill>
                <a:latin typeface="Arial" pitchFamily="34" charset="0"/>
                <a:cs typeface="Arial" pitchFamily="34" charset="-120"/>
              </a:rPr>
              <a:t>reuse the marginal-value framing — "allocate compute where its predicted value is highest" — as the guiding principle for a compute-allocation equation grounded in prior work rather than assumed from scratch. The same logic applies here: a query’s budget should grow only while the expected gain from additional tokens is worth their cost, which is what the scaling-law baseline in Section 3.2 is meant to encode.</a:t>
            </a:r>
          </a:p>
          <a:p>
            <a:br>
              <a:rPr lang="en-US" sz="1200" b="0" dirty="0">
                <a:solidFill>
                  <a:srgbClr val="BBBEBF"/>
                </a:solidFill>
                <a:effectLst/>
                <a:latin typeface="Consolas" panose="020B0609020204030204" pitchFamily="49" charset="0"/>
              </a:rPr>
            </a:br>
            <a:endParaRPr lang="en-US" sz="1200" b="0" dirty="0">
              <a:solidFill>
                <a:srgbClr val="BBBEBF"/>
              </a:solidFill>
              <a:effectLst/>
              <a:latin typeface="Consolas" panose="020B0609020204030204" pitchFamily="49" charset="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0659730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2. CURRENT SOLUTIONS</a:t>
            </a: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rPr>
              <a:t>2.2 PREDICTIVE METHODS (decide before generation)</a:t>
            </a: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pPr>
              <a:spcAft>
                <a:spcPts val="1000"/>
              </a:spcAft>
            </a:pPr>
            <a:endParaRPr lang="en-US" sz="1200" b="1" dirty="0">
              <a:solidFill>
                <a:srgbClr val="FF7900"/>
              </a:solidFill>
              <a:latin typeface="Helvetica Neue"/>
            </a:endParaRPr>
          </a:p>
          <a:p>
            <a:pPr>
              <a:spcAft>
                <a:spcPts val="1000"/>
              </a:spcAft>
            </a:pPr>
            <a:r>
              <a:rPr lang="en-US" sz="1200" b="1" dirty="0">
                <a:solidFill>
                  <a:srgbClr val="FF7900"/>
                </a:solidFill>
                <a:latin typeface="Helvetica Neue"/>
              </a:rPr>
              <a:t>Thinking-Optimal Scaling (TOPS). </a:t>
            </a:r>
            <a:r>
              <a:rPr lang="en-US" sz="1000" i="1" dirty="0">
                <a:solidFill>
                  <a:prstClr val="white"/>
                </a:solidFill>
                <a:latin typeface="Consolas" panose="020B0609020204030204" pitchFamily="49" charset="0"/>
              </a:rPr>
              <a:t>(Yang et al., "Towards Thinking-Optimal Scaling of Test-Time Compute for LLM Reasoning," </a:t>
            </a:r>
            <a:r>
              <a:rPr lang="en-US" sz="1000" i="1" dirty="0" err="1">
                <a:solidFill>
                  <a:prstClr val="white"/>
                </a:solidFill>
                <a:latin typeface="Consolas" panose="020B0609020204030204" pitchFamily="49" charset="0"/>
              </a:rPr>
              <a:t>NeurIPS</a:t>
            </a:r>
            <a:r>
              <a:rPr lang="en-US" sz="1000" i="1" dirty="0">
                <a:solidFill>
                  <a:prstClr val="white"/>
                </a:solidFill>
                <a:latin typeface="Consolas" panose="020B0609020204030204" pitchFamily="49" charset="0"/>
              </a:rPr>
              <a:t> 2025)</a:t>
            </a:r>
          </a:p>
          <a:p>
            <a:pPr lvl="1" indent="-228600">
              <a:spcAft>
                <a:spcPts val="800"/>
              </a:spcAft>
              <a:buSzPct val="100000"/>
              <a:buFontTx/>
              <a:buChar char="•"/>
              <a:defRPr/>
            </a:pPr>
            <a:r>
              <a:rPr lang="en-US" sz="1200" b="1" dirty="0">
                <a:solidFill>
                  <a:prstClr val="white"/>
                </a:solidFill>
                <a:latin typeface="Consolas" panose="020B0609020204030204" pitchFamily="49" charset="0"/>
              </a:rPr>
              <a:t>Mechanism: </a:t>
            </a:r>
            <a:r>
              <a:rPr lang="en-US" sz="1200" dirty="0">
                <a:solidFill>
                  <a:srgbClr val="FFFFFF"/>
                </a:solidFill>
                <a:latin typeface="Arial" pitchFamily="34" charset="0"/>
                <a:cs typeface="Arial" pitchFamily="34" charset="-120"/>
              </a:rPr>
              <a:t>supervised fine-tuning on a small seed set spanning several reasoning-effort levels ("format imitation"), then self-improvement by sampling multiple efforts per training query and keeping the shortest correct response as the preferred target — baking a domain-conditioned length policy into the weights. In other words, the model learns from its own best past behavior: among its correct answers it is taught to prefer the one that reached the answer with the least reasoning.</a:t>
            </a:r>
          </a:p>
          <a:p>
            <a:pPr lvl="1" indent="-228600">
              <a:spcAft>
                <a:spcPts val="800"/>
              </a:spcAft>
              <a:buSzPct val="100000"/>
              <a:buFontTx/>
              <a:buChar char="•"/>
              <a:defRPr/>
            </a:pPr>
            <a:r>
              <a:rPr lang="en-US" sz="1200" b="1" dirty="0">
                <a:solidFill>
                  <a:prstClr val="white"/>
                </a:solidFill>
                <a:latin typeface="Consolas" panose="020B0609020204030204" pitchFamily="49" charset="0"/>
              </a:rPr>
              <a:t>Limitation: </a:t>
            </a:r>
            <a:r>
              <a:rPr lang="en-US" sz="1200" dirty="0">
                <a:solidFill>
                  <a:srgbClr val="FFFFFF"/>
                </a:solidFill>
                <a:latin typeface="Arial" pitchFamily="34" charset="0"/>
                <a:cs typeface="Arial" pitchFamily="34" charset="-120"/>
              </a:rPr>
              <a:t>granularity is domain-level, not instance-level — a domain gets one length distribution, not each query its own budget — and building the training set requires generating multiple full responses per example. Two queries from the same domain therefore receive the same length behavior even if one needs far more reasoning, and data-generation cost grows with the number of efforts sampled per training example.</a:t>
            </a:r>
          </a:p>
          <a:p>
            <a:pPr lvl="1" indent="-228600">
              <a:spcAft>
                <a:spcPts val="800"/>
              </a:spcAft>
              <a:buSzPct val="100000"/>
              <a:buFontTx/>
              <a:buChar char="•"/>
              <a:defRPr/>
            </a:pPr>
            <a:r>
              <a:rPr lang="en-US" sz="1200" b="1" dirty="0">
                <a:solidFill>
                  <a:prstClr val="white"/>
                </a:solidFill>
                <a:latin typeface="Consolas" panose="020B0609020204030204" pitchFamily="49" charset="0"/>
              </a:rPr>
              <a:t>Our</a:t>
            </a:r>
            <a:r>
              <a:rPr lang="en-US" sz="1200" dirty="0"/>
              <a:t> </a:t>
            </a:r>
            <a:r>
              <a:rPr lang="en-US" sz="1200" b="1" dirty="0">
                <a:solidFill>
                  <a:prstClr val="white"/>
                </a:solidFill>
                <a:latin typeface="Consolas" panose="020B0609020204030204" pitchFamily="49" charset="0"/>
              </a:rPr>
              <a:t>Use</a:t>
            </a:r>
            <a:r>
              <a:rPr lang="en-US" sz="1200" dirty="0"/>
              <a:t> </a:t>
            </a:r>
            <a:r>
              <a:rPr lang="en-US" sz="1200" b="1" dirty="0">
                <a:solidFill>
                  <a:prstClr val="white"/>
                </a:solidFill>
                <a:latin typeface="Consolas" panose="020B0609020204030204" pitchFamily="49" charset="0"/>
              </a:rPr>
              <a:t>of</a:t>
            </a:r>
            <a:r>
              <a:rPr lang="en-US" sz="1200" dirty="0"/>
              <a:t> </a:t>
            </a:r>
            <a:r>
              <a:rPr lang="en-US" sz="1200" b="1" dirty="0">
                <a:solidFill>
                  <a:prstClr val="white"/>
                </a:solidFill>
                <a:latin typeface="Consolas" panose="020B0609020204030204" pitchFamily="49" charset="0"/>
              </a:rPr>
              <a:t>This</a:t>
            </a:r>
            <a:r>
              <a:rPr lang="en-US" sz="1200" dirty="0"/>
              <a:t> </a:t>
            </a:r>
            <a:r>
              <a:rPr lang="en-US" sz="1200" b="1" dirty="0">
                <a:solidFill>
                  <a:prstClr val="white"/>
                </a:solidFill>
                <a:latin typeface="Consolas" panose="020B0609020204030204" pitchFamily="49" charset="0"/>
              </a:rPr>
              <a:t>Method: </a:t>
            </a:r>
            <a:r>
              <a:rPr lang="en-US" sz="1200" dirty="0">
                <a:solidFill>
                  <a:srgbClr val="FFFFFF"/>
                </a:solidFill>
                <a:latin typeface="Arial" pitchFamily="34" charset="0"/>
                <a:cs typeface="Arial" pitchFamily="34" charset="-120"/>
              </a:rPr>
              <a:t>TOPS's finding that the optimal length distribution differs by domain is direct prior evidence for a task-type hypothesis, and an instance-level predictor can be tested against TOPS's domain-level one at matched compute. This gives a concrete comparison: if instance-level prediction beats domain-level length control at the same average token budget, the gain can be attributed to finer-grained allocation rather than to extra compute.</a:t>
            </a: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300370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2. CURRENT SOLUTIONS</a:t>
            </a: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rPr>
              <a:t>SUMMARY</a:t>
            </a:r>
          </a:p>
        </p:txBody>
      </p:sp>
      <p:sp>
        <p:nvSpPr>
          <p:cNvPr id="3" name="Text 1"/>
          <p:cNvSpPr txBox="1"/>
          <p:nvPr/>
        </p:nvSpPr>
        <p:spPr>
          <a:xfrm>
            <a:off x="190158" y="840005"/>
            <a:ext cx="8503920" cy="366522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1000"/>
              </a:spcAft>
              <a:buClrTx/>
              <a:buSzTx/>
              <a:buFontTx/>
              <a:buNone/>
              <a:tabLst/>
              <a:defRPr/>
            </a:pPr>
            <a:endParaRPr lang="en-US" sz="1200" dirty="0">
              <a:solidFill>
                <a:schemeClr val="tx1">
                  <a:lumMod val="95000"/>
                  <a:lumOff val="5000"/>
                </a:schemeClr>
              </a:solidFill>
              <a:latin typeface="Arial" pitchFamily="34" charset="0"/>
              <a:cs typeface="Arial" pitchFamily="34" charset="-120"/>
            </a:endParaRPr>
          </a:p>
          <a:p>
            <a:pPr marL="228600" lvl="1">
              <a:spcAft>
                <a:spcPts val="800"/>
              </a:spcAft>
              <a:buSzPct val="100000"/>
              <a:defRPr/>
            </a:pPr>
            <a:endParaRPr lang="en-US" sz="1200" b="1" dirty="0">
              <a:solidFill>
                <a:schemeClr val="tx1">
                  <a:lumMod val="95000"/>
                  <a:lumOff val="5000"/>
                </a:schemeClr>
              </a:solidFill>
              <a:latin typeface="Consolas" panose="020B0609020204030204" pitchFamily="49" charset="0"/>
            </a:endParaRPr>
          </a:p>
          <a:p>
            <a:pPr marL="228600" lvl="1">
              <a:spcAft>
                <a:spcPts val="800"/>
              </a:spcAft>
              <a:buSzPct val="100000"/>
              <a:defRPr/>
            </a:pPr>
            <a:endParaRPr lang="en-US" sz="1200" b="1" dirty="0">
              <a:solidFill>
                <a:schemeClr val="tx1">
                  <a:lumMod val="95000"/>
                  <a:lumOff val="5000"/>
                </a:schemeClr>
              </a:solidFill>
              <a:latin typeface="Consolas" panose="020B0609020204030204" pitchFamily="49" charset="0"/>
            </a:endParaRPr>
          </a:p>
          <a:p>
            <a:pPr marL="228600" lvl="1">
              <a:spcAft>
                <a:spcPts val="800"/>
              </a:spcAft>
              <a:buSzPct val="100000"/>
              <a:defRPr/>
            </a:pPr>
            <a:endParaRPr lang="en-US" sz="1200" b="1" dirty="0">
              <a:solidFill>
                <a:schemeClr val="tx1">
                  <a:lumMod val="95000"/>
                  <a:lumOff val="5000"/>
                </a:schemeClr>
              </a:solidFill>
              <a:latin typeface="Consolas" panose="020B0609020204030204" pitchFamily="49" charset="0"/>
            </a:endParaRPr>
          </a:p>
          <a:p>
            <a:pPr marL="228600" lvl="1">
              <a:spcAft>
                <a:spcPts val="800"/>
              </a:spcAft>
              <a:buSzPct val="100000"/>
              <a:defRPr/>
            </a:pPr>
            <a:endParaRPr lang="en-US" sz="1200" b="1" dirty="0">
              <a:solidFill>
                <a:schemeClr val="tx1">
                  <a:lumMod val="95000"/>
                  <a:lumOff val="5000"/>
                </a:schemeClr>
              </a:solidFill>
              <a:latin typeface="Consolas" panose="020B0609020204030204" pitchFamily="49" charset="0"/>
            </a:endParaRPr>
          </a:p>
          <a:p>
            <a:pPr marL="228600" lvl="1">
              <a:spcAft>
                <a:spcPts val="800"/>
              </a:spcAft>
              <a:buSzPct val="100000"/>
              <a:defRPr/>
            </a:pPr>
            <a:endParaRPr lang="en-US" sz="1200" b="1" dirty="0">
              <a:solidFill>
                <a:schemeClr val="tx1">
                  <a:lumMod val="95000"/>
                  <a:lumOff val="5000"/>
                </a:schemeClr>
              </a:solidFill>
              <a:latin typeface="Consolas" panose="020B0609020204030204" pitchFamily="49" charset="0"/>
            </a:endParaRPr>
          </a:p>
          <a:p>
            <a:pPr marL="228600" lvl="1">
              <a:spcAft>
                <a:spcPts val="800"/>
              </a:spcAft>
              <a:buSzPct val="100000"/>
              <a:defRPr/>
            </a:pPr>
            <a:endParaRPr lang="en-US" sz="1200" b="1" dirty="0">
              <a:solidFill>
                <a:schemeClr val="tx1">
                  <a:lumMod val="95000"/>
                  <a:lumOff val="5000"/>
                </a:schemeClr>
              </a:solidFill>
              <a:latin typeface="Consolas" panose="020B0609020204030204" pitchFamily="49" charset="0"/>
            </a:endParaRPr>
          </a:p>
          <a:p>
            <a:pPr marL="228600" lvl="1">
              <a:spcAft>
                <a:spcPts val="800"/>
              </a:spcAft>
              <a:buSzPct val="100000"/>
              <a:defRPr/>
            </a:pPr>
            <a:endParaRPr lang="en-US" sz="1200" b="1" dirty="0">
              <a:solidFill>
                <a:schemeClr val="tx1">
                  <a:lumMod val="95000"/>
                  <a:lumOff val="5000"/>
                </a:schemeClr>
              </a:solidFill>
              <a:latin typeface="Consolas" panose="020B0609020204030204" pitchFamily="49" charset="0"/>
            </a:endParaRPr>
          </a:p>
          <a:p>
            <a:pPr marL="228600" lvl="1">
              <a:spcAft>
                <a:spcPts val="800"/>
              </a:spcAft>
              <a:buSzPct val="100000"/>
              <a:defRPr/>
            </a:pPr>
            <a:endParaRPr lang="en-US" sz="1200" b="1" dirty="0">
              <a:solidFill>
                <a:schemeClr val="tx1">
                  <a:lumMod val="95000"/>
                  <a:lumOff val="5000"/>
                </a:schemeClr>
              </a:solidFill>
              <a:latin typeface="Consolas" panose="020B0609020204030204" pitchFamily="49" charset="0"/>
            </a:endParaRPr>
          </a:p>
          <a:p>
            <a:pPr marL="228600" lvl="1">
              <a:spcAft>
                <a:spcPts val="800"/>
              </a:spcAft>
              <a:buSzPct val="100000"/>
              <a:defRPr/>
            </a:pPr>
            <a:endParaRPr lang="en-US" sz="1200" b="1" dirty="0">
              <a:solidFill>
                <a:schemeClr val="tx1">
                  <a:lumMod val="95000"/>
                  <a:lumOff val="5000"/>
                </a:schemeClr>
              </a:solidFill>
              <a:latin typeface="Consolas" panose="020B0609020204030204" pitchFamily="49" charset="0"/>
            </a:endParaRPr>
          </a:p>
          <a:p>
            <a:pPr marL="228600" lvl="1">
              <a:spcAft>
                <a:spcPts val="800"/>
              </a:spcAft>
              <a:buSzPct val="100000"/>
              <a:defRPr/>
            </a:pPr>
            <a:r>
              <a:rPr lang="en-US" sz="1200" b="1" dirty="0">
                <a:solidFill>
                  <a:schemeClr val="bg1"/>
                </a:solidFill>
                <a:latin typeface="Consolas" panose="020B0609020204030204" pitchFamily="49" charset="0"/>
              </a:rPr>
              <a:t>Conclusion: </a:t>
            </a:r>
            <a:r>
              <a:rPr lang="en-US" sz="1200" dirty="0">
                <a:solidFill>
                  <a:schemeClr val="bg1"/>
                </a:solidFill>
                <a:latin typeface="Arial" pitchFamily="34" charset="0"/>
                <a:cs typeface="Arial" pitchFamily="34" charset="-120"/>
              </a:rPr>
              <a:t>Existing methods address different aspects of adaptive compute allocation, but none simultaneously provides instance-level allocation, cross-model generalization, and statistical calibration. This work targets their intersection and evaluates it under a unified experimental protocol. Read across the table, each method fixes one weakness but keeps another: per-model tuning or training, coarse granularity, or a guarantee that holds only on average. The proposed pipeline is therefore compared against each baseline on accuracy, token cost, and interpretability.</a:t>
            </a:r>
          </a:p>
          <a:p>
            <a:pPr marL="457200" marR="0" lvl="1" indent="-228600" algn="l" defTabSz="914400" rtl="0" eaLnBrk="1" fontAlgn="auto" latinLnBrk="0" hangingPunct="1">
              <a:lnSpc>
                <a:spcPct val="100000"/>
              </a:lnSpc>
              <a:spcBef>
                <a:spcPts val="0"/>
              </a:spcBef>
              <a:spcAft>
                <a:spcPts val="800"/>
              </a:spcAft>
              <a:buClrTx/>
              <a:buSzPct val="100000"/>
              <a:buFontTx/>
              <a:buChar char="•"/>
              <a:tabLst/>
              <a:defRPr/>
            </a:pPr>
            <a:endParaRPr kumimoji="0" lang="en-US" sz="1200" b="0" i="0" u="none" strike="noStrike" kern="1200" cap="none" spc="0" normalizeH="0" baseline="0" noProof="0" dirty="0">
              <a:ln>
                <a:noFill/>
              </a:ln>
              <a:solidFill>
                <a:schemeClr val="tx1">
                  <a:lumMod val="95000"/>
                  <a:lumOff val="5000"/>
                </a:schemeClr>
              </a:solidFill>
              <a:effectLst/>
              <a:uLnTx/>
              <a:uFillTx/>
              <a:latin typeface="Arial" pitchFamily="34" charset="0"/>
              <a:ea typeface="+mn-ea"/>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4" name="Google Shape;144;p4"/>
          <p:cNvSpPr/>
          <p:nvPr/>
        </p:nvSpPr>
        <p:spPr>
          <a:xfrm>
            <a:off x="381000" y="1074419"/>
            <a:ext cx="2067664" cy="324312"/>
          </a:xfrm>
          <a:prstGeom prst="rect">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45" name="Google Shape;145;p4"/>
          <p:cNvSpPr/>
          <p:nvPr/>
        </p:nvSpPr>
        <p:spPr>
          <a:xfrm>
            <a:off x="449922" y="1074419"/>
            <a:ext cx="1929819" cy="324312"/>
          </a:xfrm>
          <a:prstGeom prst="rect">
            <a:avLst/>
          </a:prstGeom>
          <a:noFill/>
          <a:ln>
            <a:noFill/>
          </a:ln>
        </p:spPr>
        <p:txBody>
          <a:bodyPr spcFirstLastPara="1" wrap="square" lIns="0" tIns="0" rIns="0" bIns="0" anchor="ctr" anchorCtr="0">
            <a:noAutofit/>
          </a:bodyPr>
          <a:lstStyle/>
          <a:p>
            <a:pPr>
              <a:buClr>
                <a:srgbClr val="000000"/>
              </a:buClr>
              <a:buSzPts val="1050"/>
            </a:pPr>
            <a:r>
              <a:rPr lang="en-US" sz="1050" b="1" dirty="0">
                <a:latin typeface="Helvetica Neue"/>
                <a:sym typeface="Helvetica Neue"/>
              </a:rPr>
              <a:t>Method</a:t>
            </a:r>
            <a:endParaRPr sz="1050" b="1" dirty="0">
              <a:latin typeface="Helvetica Neue"/>
              <a:sym typeface="Helvetica Neue"/>
            </a:endParaRPr>
          </a:p>
        </p:txBody>
      </p:sp>
      <p:sp>
        <p:nvSpPr>
          <p:cNvPr id="146" name="Google Shape;146;p4"/>
          <p:cNvSpPr/>
          <p:nvPr/>
        </p:nvSpPr>
        <p:spPr>
          <a:xfrm>
            <a:off x="2448664" y="1074419"/>
            <a:ext cx="1964280" cy="324312"/>
          </a:xfrm>
          <a:prstGeom prst="rect">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47" name="Google Shape;147;p4"/>
          <p:cNvSpPr/>
          <p:nvPr/>
        </p:nvSpPr>
        <p:spPr>
          <a:xfrm>
            <a:off x="2517586" y="1074419"/>
            <a:ext cx="1826436" cy="3243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050"/>
              <a:buFont typeface="Arial"/>
              <a:buNone/>
            </a:pPr>
            <a:r>
              <a:rPr lang="en-US" sz="1050" b="1" dirty="0">
                <a:latin typeface="Helvetica Neue"/>
                <a:ea typeface="Helvetica Neue"/>
                <a:cs typeface="Helvetica Neue"/>
                <a:sym typeface="Helvetica Neue"/>
              </a:rPr>
              <a:t>Compute control</a:t>
            </a:r>
            <a:endParaRPr sz="1050" dirty="0">
              <a:latin typeface="Helvetica Neue"/>
              <a:ea typeface="Helvetica Neue"/>
              <a:cs typeface="Helvetica Neue"/>
              <a:sym typeface="Helvetica Neue"/>
            </a:endParaRPr>
          </a:p>
        </p:txBody>
      </p:sp>
      <p:sp>
        <p:nvSpPr>
          <p:cNvPr id="148" name="Google Shape;148;p4"/>
          <p:cNvSpPr/>
          <p:nvPr/>
        </p:nvSpPr>
        <p:spPr>
          <a:xfrm>
            <a:off x="4412944" y="1074419"/>
            <a:ext cx="1378442" cy="324312"/>
          </a:xfrm>
          <a:prstGeom prst="rect">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49" name="Google Shape;149;p4"/>
          <p:cNvSpPr/>
          <p:nvPr/>
        </p:nvSpPr>
        <p:spPr>
          <a:xfrm>
            <a:off x="4412943" y="1074419"/>
            <a:ext cx="1378442" cy="324312"/>
          </a:xfrm>
          <a:prstGeom prst="rect">
            <a:avLst/>
          </a:prstGeom>
          <a:noFill/>
          <a:ln>
            <a:noFill/>
          </a:ln>
        </p:spPr>
        <p:txBody>
          <a:bodyPr spcFirstLastPara="1" wrap="square" lIns="0" tIns="0" rIns="0" bIns="0" anchor="ctr" anchorCtr="0">
            <a:noAutofit/>
          </a:bodyPr>
          <a:lstStyle/>
          <a:p>
            <a:pPr algn="ctr">
              <a:buClr>
                <a:srgbClr val="000000"/>
              </a:buClr>
              <a:buSzPts val="1050"/>
            </a:pPr>
            <a:r>
              <a:rPr lang="en-US" sz="1050" b="1" dirty="0">
                <a:latin typeface="Helvetica Neue"/>
              </a:rPr>
              <a:t>Per-model</a:t>
            </a:r>
          </a:p>
          <a:p>
            <a:pPr algn="ctr">
              <a:buClr>
                <a:srgbClr val="000000"/>
              </a:buClr>
              <a:buSzPts val="1050"/>
            </a:pPr>
            <a:r>
              <a:rPr lang="en-US" sz="1050" b="1" dirty="0">
                <a:latin typeface="Helvetica Neue"/>
              </a:rPr>
              <a:t>training?</a:t>
            </a:r>
          </a:p>
        </p:txBody>
      </p:sp>
      <p:sp>
        <p:nvSpPr>
          <p:cNvPr id="150" name="Google Shape;150;p4"/>
          <p:cNvSpPr/>
          <p:nvPr/>
        </p:nvSpPr>
        <p:spPr>
          <a:xfrm>
            <a:off x="5791387" y="1074419"/>
            <a:ext cx="3032573" cy="324312"/>
          </a:xfrm>
          <a:prstGeom prst="rect">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51" name="Google Shape;151;p4"/>
          <p:cNvSpPr/>
          <p:nvPr/>
        </p:nvSpPr>
        <p:spPr>
          <a:xfrm>
            <a:off x="5860309" y="1074419"/>
            <a:ext cx="2894729" cy="324312"/>
          </a:xfrm>
          <a:prstGeom prst="rect">
            <a:avLst/>
          </a:prstGeom>
          <a:noFill/>
          <a:ln>
            <a:noFill/>
          </a:ln>
        </p:spPr>
        <p:txBody>
          <a:bodyPr spcFirstLastPara="1" wrap="square" lIns="0" tIns="0" rIns="0" bIns="0" anchor="ctr" anchorCtr="0">
            <a:noAutofit/>
          </a:bodyPr>
          <a:lstStyle/>
          <a:p>
            <a:pPr>
              <a:buClr>
                <a:srgbClr val="000000"/>
              </a:buClr>
              <a:buSzPts val="1050"/>
            </a:pPr>
            <a:r>
              <a:rPr lang="en-US" sz="1050" b="1" dirty="0">
                <a:latin typeface="Helvetica Neue"/>
                <a:sym typeface="Helvetica Neue"/>
              </a:rPr>
              <a:t>Key limitation</a:t>
            </a:r>
            <a:endParaRPr sz="1050" b="1" dirty="0">
              <a:latin typeface="Helvetica Neue"/>
              <a:sym typeface="Helvetica Neue"/>
            </a:endParaRPr>
          </a:p>
        </p:txBody>
      </p:sp>
      <p:sp>
        <p:nvSpPr>
          <p:cNvPr id="152" name="Google Shape;152;p4"/>
          <p:cNvSpPr/>
          <p:nvPr/>
        </p:nvSpPr>
        <p:spPr>
          <a:xfrm>
            <a:off x="381000" y="1398731"/>
            <a:ext cx="2067664"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53" name="Google Shape;153;p4"/>
          <p:cNvSpPr/>
          <p:nvPr/>
        </p:nvSpPr>
        <p:spPr>
          <a:xfrm>
            <a:off x="449922" y="1398731"/>
            <a:ext cx="1929729" cy="343301"/>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050"/>
              <a:buFont typeface="Arial"/>
              <a:buNone/>
            </a:pPr>
            <a:r>
              <a:rPr lang="en-US" sz="1050" b="1" dirty="0">
                <a:latin typeface="Helvetica Neue"/>
                <a:ea typeface="Helvetica Neue"/>
                <a:cs typeface="Helvetica Neue"/>
                <a:sym typeface="Helvetica Neue"/>
              </a:rPr>
              <a:t>DEER</a:t>
            </a:r>
            <a:endParaRPr sz="1050" dirty="0">
              <a:latin typeface="Helvetica Neue"/>
              <a:ea typeface="Helvetica Neue"/>
              <a:cs typeface="Helvetica Neue"/>
              <a:sym typeface="Helvetica Neue"/>
            </a:endParaRPr>
          </a:p>
        </p:txBody>
      </p:sp>
      <p:sp>
        <p:nvSpPr>
          <p:cNvPr id="154" name="Google Shape;154;p4"/>
          <p:cNvSpPr/>
          <p:nvPr/>
        </p:nvSpPr>
        <p:spPr>
          <a:xfrm>
            <a:off x="2448664" y="1398731"/>
            <a:ext cx="1964280"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55" name="Google Shape;155;p4"/>
          <p:cNvSpPr/>
          <p:nvPr/>
        </p:nvSpPr>
        <p:spPr>
          <a:xfrm>
            <a:off x="2517586" y="1398731"/>
            <a:ext cx="1826436"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Reactive, per-step</a:t>
            </a:r>
          </a:p>
        </p:txBody>
      </p:sp>
      <p:sp>
        <p:nvSpPr>
          <p:cNvPr id="156" name="Google Shape;156;p4"/>
          <p:cNvSpPr/>
          <p:nvPr/>
        </p:nvSpPr>
        <p:spPr>
          <a:xfrm>
            <a:off x="4412944" y="1398731"/>
            <a:ext cx="1378442"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57" name="Google Shape;157;p4"/>
          <p:cNvSpPr/>
          <p:nvPr/>
        </p:nvSpPr>
        <p:spPr>
          <a:xfrm>
            <a:off x="4481866" y="1398731"/>
            <a:ext cx="1240598" cy="343389"/>
          </a:xfrm>
          <a:prstGeom prst="rect">
            <a:avLst/>
          </a:prstGeom>
          <a:solidFill>
            <a:srgbClr val="FFD6CA"/>
          </a:solidFill>
          <a:ln>
            <a:noFill/>
          </a:ln>
        </p:spPr>
        <p:txBody>
          <a:bodyPr spcFirstLastPara="1" wrap="square" lIns="0" tIns="0" rIns="0" bIns="0" anchor="ctr" anchorCtr="0">
            <a:noAutofit/>
          </a:bodyPr>
          <a:lstStyle/>
          <a:p>
            <a:pPr marL="0" indent="0">
              <a:buNone/>
            </a:pPr>
            <a:r>
              <a:rPr lang="en-US" sz="1000" dirty="0">
                <a:latin typeface="Arial" pitchFamily="34" charset="0"/>
                <a:ea typeface="Arial" pitchFamily="34" charset="-122"/>
                <a:cs typeface="Arial" pitchFamily="34" charset="-120"/>
              </a:rPr>
              <a:t>Threshold tuned</a:t>
            </a:r>
            <a:endParaRPr lang="en-US" sz="1000" dirty="0">
              <a:latin typeface="Arial" charset="0"/>
              <a:ea typeface="Arial" charset="0"/>
              <a:cs typeface="Arial" charset="0"/>
            </a:endParaRPr>
          </a:p>
        </p:txBody>
      </p:sp>
      <p:sp>
        <p:nvSpPr>
          <p:cNvPr id="158" name="Google Shape;158;p4"/>
          <p:cNvSpPr/>
          <p:nvPr/>
        </p:nvSpPr>
        <p:spPr>
          <a:xfrm>
            <a:off x="5791387" y="1398731"/>
            <a:ext cx="3032573"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59" name="Google Shape;159;p4"/>
          <p:cNvSpPr/>
          <p:nvPr/>
        </p:nvSpPr>
        <p:spPr>
          <a:xfrm>
            <a:off x="5860309" y="1398731"/>
            <a:ext cx="2894729"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Threshold tuning; calibration-sensitive</a:t>
            </a:r>
          </a:p>
        </p:txBody>
      </p:sp>
      <p:sp>
        <p:nvSpPr>
          <p:cNvPr id="160" name="Google Shape;160;p4"/>
          <p:cNvSpPr/>
          <p:nvPr/>
        </p:nvSpPr>
        <p:spPr>
          <a:xfrm>
            <a:off x="381000" y="1742119"/>
            <a:ext cx="2067664"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61" name="Google Shape;161;p4"/>
          <p:cNvSpPr/>
          <p:nvPr/>
        </p:nvSpPr>
        <p:spPr>
          <a:xfrm>
            <a:off x="449922" y="1742119"/>
            <a:ext cx="1929819" cy="343389"/>
          </a:xfrm>
          <a:prstGeom prst="rect">
            <a:avLst/>
          </a:prstGeom>
          <a:solidFill>
            <a:srgbClr val="FFD6CA"/>
          </a:solidFill>
          <a:ln>
            <a:noFill/>
          </a:ln>
        </p:spPr>
        <p:txBody>
          <a:bodyPr spcFirstLastPara="1" wrap="square" lIns="0" tIns="0" rIns="0" bIns="0" anchor="ctr" anchorCtr="0">
            <a:noAutofit/>
          </a:bodyPr>
          <a:lstStyle/>
          <a:p>
            <a:pPr>
              <a:buClr>
                <a:srgbClr val="FFFFFF"/>
              </a:buClr>
              <a:buSzPts val="1050"/>
            </a:pPr>
            <a:r>
              <a:rPr lang="en-US" sz="1050" b="1" dirty="0">
                <a:latin typeface="Helvetica Neue"/>
              </a:rPr>
              <a:t>Conformal Thinking</a:t>
            </a:r>
            <a:endParaRPr sz="1050" b="1" dirty="0">
              <a:latin typeface="Helvetica Neue"/>
              <a:sym typeface="Helvetica Neue"/>
            </a:endParaRPr>
          </a:p>
        </p:txBody>
      </p:sp>
      <p:sp>
        <p:nvSpPr>
          <p:cNvPr id="162" name="Google Shape;162;p4"/>
          <p:cNvSpPr/>
          <p:nvPr/>
        </p:nvSpPr>
        <p:spPr>
          <a:xfrm>
            <a:off x="2448664" y="1742119"/>
            <a:ext cx="1964280"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63" name="Google Shape;163;p4"/>
          <p:cNvSpPr/>
          <p:nvPr/>
        </p:nvSpPr>
        <p:spPr>
          <a:xfrm>
            <a:off x="2517586" y="1742119"/>
            <a:ext cx="1826436"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a:latin typeface="Helvetica Neue"/>
                <a:ea typeface="Helvetica Neue"/>
                <a:cs typeface="Helvetica Neue"/>
                <a:sym typeface="Helvetica Neue"/>
              </a:rPr>
              <a:t>Confidence-threshold triggered</a:t>
            </a:r>
            <a:endParaRPr sz="950">
              <a:latin typeface="Helvetica Neue"/>
              <a:ea typeface="Helvetica Neue"/>
              <a:cs typeface="Helvetica Neue"/>
              <a:sym typeface="Helvetica Neue"/>
            </a:endParaRPr>
          </a:p>
        </p:txBody>
      </p:sp>
      <p:sp>
        <p:nvSpPr>
          <p:cNvPr id="164" name="Google Shape;164;p4"/>
          <p:cNvSpPr/>
          <p:nvPr/>
        </p:nvSpPr>
        <p:spPr>
          <a:xfrm>
            <a:off x="4412944" y="1742119"/>
            <a:ext cx="1378442"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65" name="Google Shape;165;p4"/>
          <p:cNvSpPr/>
          <p:nvPr/>
        </p:nvSpPr>
        <p:spPr>
          <a:xfrm>
            <a:off x="4481866" y="1764979"/>
            <a:ext cx="1240598" cy="343389"/>
          </a:xfrm>
          <a:prstGeom prst="rect">
            <a:avLst/>
          </a:prstGeom>
          <a:solidFill>
            <a:srgbClr val="FFD6CA"/>
          </a:solidFill>
          <a:ln>
            <a:noFill/>
          </a:ln>
        </p:spPr>
        <p:txBody>
          <a:bodyPr spcFirstLastPara="1" wrap="square" lIns="0" tIns="0" rIns="0" bIns="0" anchor="ctr" anchorCtr="0">
            <a:noAutofit/>
          </a:bodyPr>
          <a:lstStyle/>
          <a:p>
            <a:pPr>
              <a:buClr>
                <a:srgbClr val="D6D6D6"/>
              </a:buClr>
              <a:buSzPts val="950"/>
            </a:pPr>
            <a:r>
              <a:rPr lang="en-US" sz="1000" dirty="0">
                <a:latin typeface="Arial" pitchFamily="34" charset="0"/>
                <a:ea typeface="Arial" pitchFamily="34" charset="-122"/>
                <a:cs typeface="Arial" pitchFamily="34" charset="-120"/>
              </a:rPr>
              <a:t>Calibration set</a:t>
            </a:r>
            <a:endParaRPr lang="en-US" sz="1000" dirty="0">
              <a:latin typeface="Arial" charset="0"/>
              <a:ea typeface="Arial" charset="0"/>
              <a:cs typeface="Arial" charset="0"/>
            </a:endParaRPr>
          </a:p>
          <a:p>
            <a:pPr marL="0" marR="0" lvl="0" indent="0" algn="l" rtl="0">
              <a:spcBef>
                <a:spcPts val="0"/>
              </a:spcBef>
              <a:spcAft>
                <a:spcPts val="0"/>
              </a:spcAft>
              <a:buClr>
                <a:srgbClr val="D6D6D6"/>
              </a:buClr>
              <a:buSzPts val="950"/>
              <a:buFont typeface="Arial"/>
              <a:buNone/>
            </a:pPr>
            <a:endParaRPr sz="950" dirty="0">
              <a:latin typeface="Helvetica Neue"/>
              <a:ea typeface="Helvetica Neue"/>
              <a:cs typeface="Helvetica Neue"/>
              <a:sym typeface="Helvetica Neue"/>
            </a:endParaRPr>
          </a:p>
        </p:txBody>
      </p:sp>
      <p:sp>
        <p:nvSpPr>
          <p:cNvPr id="166" name="Google Shape;166;p4"/>
          <p:cNvSpPr/>
          <p:nvPr/>
        </p:nvSpPr>
        <p:spPr>
          <a:xfrm>
            <a:off x="5791387" y="1742119"/>
            <a:ext cx="3032573"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67" name="Google Shape;167;p4"/>
          <p:cNvSpPr/>
          <p:nvPr/>
        </p:nvSpPr>
        <p:spPr>
          <a:xfrm>
            <a:off x="5860309" y="1742119"/>
            <a:ext cx="2894729"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Needs calibration data; marginal guarantee</a:t>
            </a:r>
          </a:p>
        </p:txBody>
      </p:sp>
      <p:sp>
        <p:nvSpPr>
          <p:cNvPr id="168" name="Google Shape;168;p4"/>
          <p:cNvSpPr/>
          <p:nvPr/>
        </p:nvSpPr>
        <p:spPr>
          <a:xfrm>
            <a:off x="381000" y="2085508"/>
            <a:ext cx="2067664"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69" name="Google Shape;169;p4"/>
          <p:cNvSpPr/>
          <p:nvPr/>
        </p:nvSpPr>
        <p:spPr>
          <a:xfrm>
            <a:off x="449922" y="2146469"/>
            <a:ext cx="1929819" cy="343389"/>
          </a:xfrm>
          <a:prstGeom prst="rect">
            <a:avLst/>
          </a:prstGeom>
          <a:solidFill>
            <a:srgbClr val="FFD6CA"/>
          </a:solidFill>
          <a:ln>
            <a:noFill/>
          </a:ln>
        </p:spPr>
        <p:txBody>
          <a:bodyPr spcFirstLastPara="1" wrap="square" lIns="0" tIns="0" rIns="0" bIns="0" anchor="ctr" anchorCtr="0">
            <a:noAutofit/>
          </a:bodyPr>
          <a:lstStyle/>
          <a:p>
            <a:pPr>
              <a:buClr>
                <a:srgbClr val="FFFFFF"/>
              </a:buClr>
              <a:buSzPts val="1050"/>
            </a:pPr>
            <a:r>
              <a:rPr lang="en-US" sz="1050" b="1" dirty="0">
                <a:latin typeface="Helvetica Neue"/>
              </a:rPr>
              <a:t>Budget Forcing (s1)</a:t>
            </a:r>
          </a:p>
          <a:p>
            <a:pPr marL="0" indent="0">
              <a:buNone/>
            </a:pPr>
            <a:endParaRPr lang="en-US" sz="1050" dirty="0">
              <a:latin typeface="Arial" charset="0"/>
              <a:ea typeface="Arial" charset="0"/>
              <a:cs typeface="Arial" charset="0"/>
            </a:endParaRPr>
          </a:p>
        </p:txBody>
      </p:sp>
      <p:sp>
        <p:nvSpPr>
          <p:cNvPr id="170" name="Google Shape;170;p4"/>
          <p:cNvSpPr/>
          <p:nvPr/>
        </p:nvSpPr>
        <p:spPr>
          <a:xfrm>
            <a:off x="2448664" y="2085508"/>
            <a:ext cx="1964280"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71" name="Google Shape;171;p4"/>
          <p:cNvSpPr/>
          <p:nvPr/>
        </p:nvSpPr>
        <p:spPr>
          <a:xfrm>
            <a:off x="2517586" y="2085508"/>
            <a:ext cx="1826436"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a:latin typeface="Helvetica Neue"/>
                <a:ea typeface="Helvetica Neue"/>
                <a:cs typeface="Helvetica Neue"/>
                <a:sym typeface="Helvetica Neue"/>
              </a:rPr>
              <a:t>Fixed token cap</a:t>
            </a:r>
            <a:endParaRPr sz="950">
              <a:latin typeface="Helvetica Neue"/>
              <a:ea typeface="Helvetica Neue"/>
              <a:cs typeface="Helvetica Neue"/>
              <a:sym typeface="Helvetica Neue"/>
            </a:endParaRPr>
          </a:p>
        </p:txBody>
      </p:sp>
      <p:sp>
        <p:nvSpPr>
          <p:cNvPr id="172" name="Google Shape;172;p4"/>
          <p:cNvSpPr/>
          <p:nvPr/>
        </p:nvSpPr>
        <p:spPr>
          <a:xfrm>
            <a:off x="4412944" y="2085508"/>
            <a:ext cx="1378442"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73" name="Google Shape;173;p4"/>
          <p:cNvSpPr/>
          <p:nvPr/>
        </p:nvSpPr>
        <p:spPr>
          <a:xfrm>
            <a:off x="4481866" y="2085508"/>
            <a:ext cx="1240598" cy="343389"/>
          </a:xfrm>
          <a:prstGeom prst="rect">
            <a:avLst/>
          </a:prstGeom>
          <a:solidFill>
            <a:srgbClr val="FFD6CA"/>
          </a:solidFill>
          <a:ln>
            <a:noFill/>
          </a:ln>
        </p:spPr>
        <p:txBody>
          <a:bodyPr spcFirstLastPara="1" wrap="square" lIns="0" tIns="0" rIns="0" bIns="0" anchor="ctr" anchorCtr="0">
            <a:noAutofit/>
          </a:bodyPr>
          <a:lstStyle/>
          <a:p>
            <a:pPr marL="0" indent="0">
              <a:buNone/>
            </a:pPr>
            <a:r>
              <a:rPr lang="en-US" sz="1000" dirty="0">
                <a:latin typeface="Arial" pitchFamily="34" charset="0"/>
                <a:ea typeface="Arial" pitchFamily="34" charset="-122"/>
                <a:cs typeface="Arial" pitchFamily="34" charset="-120"/>
              </a:rPr>
              <a:t>NO (fixed cap)</a:t>
            </a:r>
            <a:endParaRPr lang="en-US" sz="1000" dirty="0">
              <a:latin typeface="Arial" charset="0"/>
              <a:ea typeface="Arial" charset="0"/>
              <a:cs typeface="Arial" charset="0"/>
            </a:endParaRPr>
          </a:p>
        </p:txBody>
      </p:sp>
      <p:sp>
        <p:nvSpPr>
          <p:cNvPr id="174" name="Google Shape;174;p4"/>
          <p:cNvSpPr/>
          <p:nvPr/>
        </p:nvSpPr>
        <p:spPr>
          <a:xfrm>
            <a:off x="5791387" y="2085508"/>
            <a:ext cx="3032573"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75" name="Google Shape;175;p4"/>
          <p:cNvSpPr/>
          <p:nvPr/>
        </p:nvSpPr>
        <p:spPr>
          <a:xfrm>
            <a:off x="5860309" y="2085508"/>
            <a:ext cx="2894729"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Fixed</a:t>
            </a:r>
            <a:endParaRPr sz="950" dirty="0">
              <a:latin typeface="Helvetica Neue"/>
              <a:ea typeface="Helvetica Neue"/>
              <a:cs typeface="Helvetica Neue"/>
              <a:sym typeface="Helvetica Neue"/>
            </a:endParaRPr>
          </a:p>
        </p:txBody>
      </p:sp>
      <p:sp>
        <p:nvSpPr>
          <p:cNvPr id="176" name="Google Shape;176;p4"/>
          <p:cNvSpPr/>
          <p:nvPr/>
        </p:nvSpPr>
        <p:spPr>
          <a:xfrm>
            <a:off x="381000" y="2428897"/>
            <a:ext cx="2067664"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77" name="Google Shape;177;p4"/>
          <p:cNvSpPr/>
          <p:nvPr/>
        </p:nvSpPr>
        <p:spPr>
          <a:xfrm>
            <a:off x="449922" y="2428897"/>
            <a:ext cx="1929819" cy="343389"/>
          </a:xfrm>
          <a:prstGeom prst="rect">
            <a:avLst/>
          </a:prstGeom>
          <a:solidFill>
            <a:srgbClr val="FFD6CA"/>
          </a:solidFill>
          <a:ln>
            <a:noFill/>
          </a:ln>
        </p:spPr>
        <p:txBody>
          <a:bodyPr spcFirstLastPara="1" wrap="square" lIns="0" tIns="0" rIns="0" bIns="0" anchor="ctr" anchorCtr="0">
            <a:noAutofit/>
          </a:bodyPr>
          <a:lstStyle/>
          <a:p>
            <a:pPr>
              <a:buClr>
                <a:srgbClr val="FFFFFF"/>
              </a:buClr>
              <a:buSzPts val="1050"/>
            </a:pPr>
            <a:r>
              <a:rPr lang="en-US" sz="1050" b="1" dirty="0" err="1">
                <a:latin typeface="Helvetica Neue"/>
                <a:sym typeface="Helvetica Neue"/>
              </a:rPr>
              <a:t>DiffAdapt</a:t>
            </a:r>
            <a:r>
              <a:rPr lang="en-US" sz="1050" b="1" dirty="0">
                <a:latin typeface="Helvetica Neue"/>
                <a:sym typeface="Helvetica Neue"/>
              </a:rPr>
              <a:t> (difficulty classifier)</a:t>
            </a:r>
          </a:p>
        </p:txBody>
      </p:sp>
      <p:sp>
        <p:nvSpPr>
          <p:cNvPr id="178" name="Google Shape;178;p4"/>
          <p:cNvSpPr/>
          <p:nvPr/>
        </p:nvSpPr>
        <p:spPr>
          <a:xfrm>
            <a:off x="2448664" y="2428897"/>
            <a:ext cx="1964280"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79" name="Google Shape;179;p4"/>
          <p:cNvSpPr/>
          <p:nvPr/>
        </p:nvSpPr>
        <p:spPr>
          <a:xfrm>
            <a:off x="2517586" y="2428897"/>
            <a:ext cx="1826436"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a:latin typeface="Helvetica Neue"/>
                <a:ea typeface="Helvetica Neue"/>
                <a:cs typeface="Helvetica Neue"/>
                <a:sym typeface="Helvetica Neue"/>
              </a:rPr>
              <a:t>Predictive, difficulty-driven</a:t>
            </a:r>
            <a:endParaRPr sz="950">
              <a:latin typeface="Helvetica Neue"/>
              <a:ea typeface="Helvetica Neue"/>
              <a:cs typeface="Helvetica Neue"/>
              <a:sym typeface="Helvetica Neue"/>
            </a:endParaRPr>
          </a:p>
        </p:txBody>
      </p:sp>
      <p:sp>
        <p:nvSpPr>
          <p:cNvPr id="180" name="Google Shape;180;p4"/>
          <p:cNvSpPr/>
          <p:nvPr/>
        </p:nvSpPr>
        <p:spPr>
          <a:xfrm>
            <a:off x="4412944" y="2428897"/>
            <a:ext cx="1378442"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81" name="Google Shape;181;p4"/>
          <p:cNvSpPr/>
          <p:nvPr/>
        </p:nvSpPr>
        <p:spPr>
          <a:xfrm>
            <a:off x="4481866" y="2428897"/>
            <a:ext cx="1240598" cy="343389"/>
          </a:xfrm>
          <a:prstGeom prst="rect">
            <a:avLst/>
          </a:prstGeom>
          <a:solidFill>
            <a:srgbClr val="FFD6CA"/>
          </a:solidFill>
          <a:ln>
            <a:noFill/>
          </a:ln>
        </p:spPr>
        <p:txBody>
          <a:bodyPr spcFirstLastPara="1" wrap="square" lIns="0" tIns="0" rIns="0" bIns="0" anchor="ctr" anchorCtr="0">
            <a:noAutofit/>
          </a:bodyPr>
          <a:lstStyle/>
          <a:p>
            <a:pPr marL="0" indent="0">
              <a:buNone/>
            </a:pPr>
            <a:r>
              <a:rPr lang="en-US" sz="1000" dirty="0">
                <a:latin typeface="Arial" pitchFamily="34" charset="0"/>
                <a:ea typeface="Arial" pitchFamily="34" charset="-122"/>
                <a:cs typeface="Arial" pitchFamily="34" charset="-120"/>
              </a:rPr>
              <a:t>probe per model</a:t>
            </a:r>
            <a:endParaRPr lang="en-US" sz="1000" dirty="0">
              <a:latin typeface="Arial" charset="0"/>
              <a:ea typeface="Arial" charset="0"/>
              <a:cs typeface="Arial" charset="0"/>
            </a:endParaRPr>
          </a:p>
        </p:txBody>
      </p:sp>
      <p:sp>
        <p:nvSpPr>
          <p:cNvPr id="182" name="Google Shape;182;p4"/>
          <p:cNvSpPr/>
          <p:nvPr/>
        </p:nvSpPr>
        <p:spPr>
          <a:xfrm>
            <a:off x="5791387" y="2428897"/>
            <a:ext cx="3032573"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83" name="Google Shape;183;p4"/>
          <p:cNvSpPr/>
          <p:nvPr/>
        </p:nvSpPr>
        <p:spPr>
          <a:xfrm>
            <a:off x="5860309" y="2428897"/>
            <a:ext cx="2894729"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Per-model classifier training required, discrete</a:t>
            </a:r>
          </a:p>
        </p:txBody>
      </p:sp>
      <p:sp>
        <p:nvSpPr>
          <p:cNvPr id="184" name="Google Shape;184;p4"/>
          <p:cNvSpPr/>
          <p:nvPr/>
        </p:nvSpPr>
        <p:spPr>
          <a:xfrm>
            <a:off x="381000" y="2772286"/>
            <a:ext cx="2067664"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85" name="Google Shape;185;p4"/>
          <p:cNvSpPr/>
          <p:nvPr/>
        </p:nvSpPr>
        <p:spPr>
          <a:xfrm>
            <a:off x="449922" y="2772286"/>
            <a:ext cx="1929819" cy="343389"/>
          </a:xfrm>
          <a:prstGeom prst="rect">
            <a:avLst/>
          </a:prstGeom>
          <a:solidFill>
            <a:srgbClr val="FFD6CA"/>
          </a:solidFill>
          <a:ln>
            <a:noFill/>
          </a:ln>
        </p:spPr>
        <p:txBody>
          <a:bodyPr spcFirstLastPara="1" wrap="square" lIns="0" tIns="0" rIns="0" bIns="0" anchor="ctr" anchorCtr="0">
            <a:noAutofit/>
          </a:bodyPr>
          <a:lstStyle/>
          <a:p>
            <a:pPr>
              <a:buClr>
                <a:srgbClr val="FFFFFF"/>
              </a:buClr>
              <a:buSzPts val="1050"/>
            </a:pPr>
            <a:r>
              <a:rPr lang="en-US" sz="1050" b="1" dirty="0">
                <a:latin typeface="Helvetica Neue"/>
                <a:sym typeface="Helvetica Neue"/>
              </a:rPr>
              <a:t>Learned Routers</a:t>
            </a:r>
            <a:endParaRPr sz="1050" b="1" dirty="0">
              <a:latin typeface="Helvetica Neue"/>
              <a:sym typeface="Helvetica Neue"/>
            </a:endParaRPr>
          </a:p>
        </p:txBody>
      </p:sp>
      <p:sp>
        <p:nvSpPr>
          <p:cNvPr id="186" name="Google Shape;186;p4"/>
          <p:cNvSpPr/>
          <p:nvPr/>
        </p:nvSpPr>
        <p:spPr>
          <a:xfrm>
            <a:off x="2448664" y="2772286"/>
            <a:ext cx="1964280"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87" name="Google Shape;187;p4"/>
          <p:cNvSpPr/>
          <p:nvPr/>
        </p:nvSpPr>
        <p:spPr>
          <a:xfrm>
            <a:off x="2517586" y="2772286"/>
            <a:ext cx="1826436"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a:latin typeface="Helvetica Neue"/>
                <a:ea typeface="Helvetica Neue"/>
                <a:cs typeface="Helvetica Neue"/>
                <a:sym typeface="Helvetica Neue"/>
              </a:rPr>
              <a:t>Predictive, trained</a:t>
            </a:r>
            <a:endParaRPr sz="950">
              <a:latin typeface="Helvetica Neue"/>
              <a:ea typeface="Helvetica Neue"/>
              <a:cs typeface="Helvetica Neue"/>
              <a:sym typeface="Helvetica Neue"/>
            </a:endParaRPr>
          </a:p>
        </p:txBody>
      </p:sp>
      <p:sp>
        <p:nvSpPr>
          <p:cNvPr id="188" name="Google Shape;188;p4"/>
          <p:cNvSpPr/>
          <p:nvPr/>
        </p:nvSpPr>
        <p:spPr>
          <a:xfrm>
            <a:off x="4412944" y="2772286"/>
            <a:ext cx="1378442"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89" name="Google Shape;189;p4"/>
          <p:cNvSpPr/>
          <p:nvPr/>
        </p:nvSpPr>
        <p:spPr>
          <a:xfrm>
            <a:off x="4481866" y="2772286"/>
            <a:ext cx="1240598" cy="343389"/>
          </a:xfrm>
          <a:prstGeom prst="rect">
            <a:avLst/>
          </a:prstGeom>
          <a:solidFill>
            <a:srgbClr val="FFD6CA"/>
          </a:solidFill>
          <a:ln>
            <a:noFill/>
          </a:ln>
        </p:spPr>
        <p:txBody>
          <a:bodyPr spcFirstLastPara="1" wrap="square" lIns="0" tIns="0" rIns="0" bIns="0" anchor="ctr" anchorCtr="0">
            <a:noAutofit/>
          </a:bodyPr>
          <a:lstStyle/>
          <a:p>
            <a:pPr marL="0" indent="0">
              <a:buNone/>
            </a:pPr>
            <a:r>
              <a:rPr lang="en-US" sz="1000" dirty="0">
                <a:latin typeface="Arial" pitchFamily="34" charset="0"/>
                <a:ea typeface="Arial" pitchFamily="34" charset="-122"/>
                <a:cs typeface="Arial" pitchFamily="34" charset="-120"/>
              </a:rPr>
              <a:t>Per model/task</a:t>
            </a:r>
            <a:endParaRPr lang="en-US" sz="1000" dirty="0">
              <a:latin typeface="Arial" charset="0"/>
              <a:ea typeface="Arial" charset="0"/>
              <a:cs typeface="Arial" charset="0"/>
            </a:endParaRPr>
          </a:p>
        </p:txBody>
      </p:sp>
      <p:sp>
        <p:nvSpPr>
          <p:cNvPr id="190" name="Google Shape;190;p4"/>
          <p:cNvSpPr/>
          <p:nvPr/>
        </p:nvSpPr>
        <p:spPr>
          <a:xfrm>
            <a:off x="5791387" y="2772286"/>
            <a:ext cx="3032573"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91" name="Google Shape;191;p4"/>
          <p:cNvSpPr/>
          <p:nvPr/>
        </p:nvSpPr>
        <p:spPr>
          <a:xfrm>
            <a:off x="5860309" y="2772286"/>
            <a:ext cx="2894729"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Untested generalization</a:t>
            </a:r>
          </a:p>
        </p:txBody>
      </p:sp>
      <p:sp>
        <p:nvSpPr>
          <p:cNvPr id="192" name="Google Shape;192;p4"/>
          <p:cNvSpPr/>
          <p:nvPr/>
        </p:nvSpPr>
        <p:spPr>
          <a:xfrm>
            <a:off x="381000" y="3108055"/>
            <a:ext cx="2075626" cy="351763"/>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93" name="Google Shape;193;p4"/>
          <p:cNvSpPr/>
          <p:nvPr/>
        </p:nvSpPr>
        <p:spPr>
          <a:xfrm>
            <a:off x="449922" y="3207116"/>
            <a:ext cx="1929819" cy="183367"/>
          </a:xfrm>
          <a:prstGeom prst="rect">
            <a:avLst/>
          </a:prstGeom>
          <a:solidFill>
            <a:srgbClr val="FFD6CA"/>
          </a:solidFill>
          <a:ln>
            <a:noFill/>
          </a:ln>
        </p:spPr>
        <p:txBody>
          <a:bodyPr spcFirstLastPara="1" wrap="square" lIns="0" tIns="0" rIns="0" bIns="0" anchor="ctr" anchorCtr="0">
            <a:noAutofit/>
          </a:bodyPr>
          <a:lstStyle/>
          <a:p>
            <a:pPr>
              <a:buClr>
                <a:srgbClr val="FFFFFF"/>
              </a:buClr>
              <a:buSzPts val="1050"/>
            </a:pPr>
            <a:r>
              <a:rPr lang="en-US" sz="1050" b="1" dirty="0">
                <a:latin typeface="Helvetica Neue"/>
                <a:sym typeface="Helvetica Neue"/>
              </a:rPr>
              <a:t>TOPS </a:t>
            </a:r>
          </a:p>
          <a:p>
            <a:pPr marL="0" marR="0" lvl="0" indent="0" algn="l" rtl="0">
              <a:spcBef>
                <a:spcPts val="0"/>
              </a:spcBef>
              <a:spcAft>
                <a:spcPts val="0"/>
              </a:spcAft>
              <a:buClr>
                <a:srgbClr val="FFFFFF"/>
              </a:buClr>
              <a:buSzPts val="1050"/>
              <a:buFont typeface="Arial"/>
              <a:buNone/>
            </a:pPr>
            <a:endParaRPr sz="1050" dirty="0">
              <a:latin typeface="Helvetica Neue"/>
              <a:ea typeface="Helvetica Neue"/>
              <a:cs typeface="Helvetica Neue"/>
              <a:sym typeface="Helvetica Neue"/>
            </a:endParaRPr>
          </a:p>
        </p:txBody>
      </p:sp>
      <p:sp>
        <p:nvSpPr>
          <p:cNvPr id="194" name="Google Shape;194;p4"/>
          <p:cNvSpPr/>
          <p:nvPr/>
        </p:nvSpPr>
        <p:spPr>
          <a:xfrm>
            <a:off x="2448664" y="3115675"/>
            <a:ext cx="1964280"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95" name="Google Shape;195;p4"/>
          <p:cNvSpPr/>
          <p:nvPr/>
        </p:nvSpPr>
        <p:spPr>
          <a:xfrm>
            <a:off x="2517586" y="3115675"/>
            <a:ext cx="1826436"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a:latin typeface="Helvetica Neue"/>
                <a:ea typeface="Helvetica Neue"/>
                <a:cs typeface="Helvetica Neue"/>
                <a:sym typeface="Helvetica Neue"/>
              </a:rPr>
              <a:t>Trained length-conditioning</a:t>
            </a:r>
            <a:endParaRPr sz="950">
              <a:latin typeface="Helvetica Neue"/>
              <a:ea typeface="Helvetica Neue"/>
              <a:cs typeface="Helvetica Neue"/>
              <a:sym typeface="Helvetica Neue"/>
            </a:endParaRPr>
          </a:p>
        </p:txBody>
      </p:sp>
      <p:sp>
        <p:nvSpPr>
          <p:cNvPr id="196" name="Google Shape;196;p4"/>
          <p:cNvSpPr/>
          <p:nvPr/>
        </p:nvSpPr>
        <p:spPr>
          <a:xfrm>
            <a:off x="4412944" y="3115675"/>
            <a:ext cx="1378442"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97" name="Google Shape;197;p4"/>
          <p:cNvSpPr/>
          <p:nvPr/>
        </p:nvSpPr>
        <p:spPr>
          <a:xfrm>
            <a:off x="4481866" y="3115675"/>
            <a:ext cx="1240598" cy="343389"/>
          </a:xfrm>
          <a:prstGeom prst="rect">
            <a:avLst/>
          </a:prstGeom>
          <a:solidFill>
            <a:srgbClr val="FFD6CA"/>
          </a:solidFill>
          <a:ln>
            <a:noFill/>
          </a:ln>
        </p:spPr>
        <p:txBody>
          <a:bodyPr spcFirstLastPara="1" wrap="square" lIns="0" tIns="0" rIns="0" bIns="0" anchor="ctr" anchorCtr="0">
            <a:noAutofit/>
          </a:bodyPr>
          <a:lstStyle/>
          <a:p>
            <a:pPr marL="0" indent="0">
              <a:buNone/>
            </a:pPr>
            <a:r>
              <a:rPr lang="en-US" sz="1000" dirty="0">
                <a:latin typeface="Arial" pitchFamily="34" charset="0"/>
                <a:ea typeface="Arial" pitchFamily="34" charset="-122"/>
                <a:cs typeface="Arial" pitchFamily="34" charset="-120"/>
              </a:rPr>
              <a:t>SFT per model</a:t>
            </a:r>
            <a:endParaRPr lang="en-US" sz="1000" dirty="0">
              <a:latin typeface="Arial" charset="0"/>
              <a:ea typeface="Arial" charset="0"/>
              <a:cs typeface="Arial" charset="0"/>
            </a:endParaRPr>
          </a:p>
        </p:txBody>
      </p:sp>
      <p:sp>
        <p:nvSpPr>
          <p:cNvPr id="198" name="Google Shape;198;p4"/>
          <p:cNvSpPr/>
          <p:nvPr/>
        </p:nvSpPr>
        <p:spPr>
          <a:xfrm>
            <a:off x="5791387" y="3115675"/>
            <a:ext cx="3032573"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99" name="Google Shape;199;p4"/>
          <p:cNvSpPr/>
          <p:nvPr/>
        </p:nvSpPr>
        <p:spPr>
          <a:xfrm>
            <a:off x="5860309" y="3115675"/>
            <a:ext cx="2894729"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Coarse granularity (domain, not instance)</a:t>
            </a:r>
          </a:p>
        </p:txBody>
      </p:sp>
    </p:spTree>
    <p:extLst>
      <p:ext uri="{BB962C8B-B14F-4D97-AF65-F5344CB8AC3E}">
        <p14:creationId xmlns:p14="http://schemas.microsoft.com/office/powerpoint/2010/main" val="9183156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947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2000" b="1" dirty="0">
                <a:solidFill>
                  <a:srgbClr val="FF7900"/>
                </a:solidFill>
                <a:latin typeface="Helvetica Neue"/>
                <a:sym typeface="Arial"/>
              </a:rPr>
              <a:t>3</a:t>
            </a: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 </a:t>
            </a:r>
            <a:r>
              <a:rPr lang="en-US" sz="2000" b="1" dirty="0">
                <a:solidFill>
                  <a:srgbClr val="FF6600"/>
                </a:solidFill>
                <a:latin typeface="Arial" pitchFamily="34" charset="0"/>
                <a:ea typeface="Arial" pitchFamily="34" charset="-122"/>
                <a:cs typeface="Arial" pitchFamily="34" charset="-120"/>
              </a:rPr>
              <a:t>Methodology</a:t>
            </a:r>
            <a:endPar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endParaRP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1300" b="1" dirty="0">
                <a:solidFill>
                  <a:srgbClr val="FF7900"/>
                </a:solidFill>
                <a:latin typeface="Helvetica Neue"/>
                <a:sym typeface="Arial"/>
              </a:rPr>
              <a:t>3</a:t>
            </a:r>
            <a:r>
              <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rPr>
              <a:t>.1 </a:t>
            </a:r>
            <a:r>
              <a:rPr lang="en-US" sz="1400" b="1" dirty="0">
                <a:solidFill>
                  <a:srgbClr val="FF6600"/>
                </a:solidFill>
                <a:latin typeface="Arial" pitchFamily="34" charset="0"/>
                <a:ea typeface="Arial" pitchFamily="34" charset="-122"/>
                <a:cs typeface="Arial" pitchFamily="34" charset="-120"/>
              </a:rPr>
              <a:t>INVESTIGATION</a:t>
            </a:r>
            <a:endPar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endParaRPr>
          </a:p>
        </p:txBody>
      </p:sp>
      <p:sp>
        <p:nvSpPr>
          <p:cNvPr id="3" name="Text 1"/>
          <p:cNvSpPr txBox="1"/>
          <p:nvPr/>
        </p:nvSpPr>
        <p:spPr>
          <a:xfrm>
            <a:off x="320040" y="997660"/>
            <a:ext cx="8503920" cy="427280"/>
          </a:xfrm>
          <a:prstGeom prst="rect">
            <a:avLst/>
          </a:prstGeom>
          <a:noFill/>
          <a:ln/>
        </p:spPr>
        <p:txBody>
          <a:bodyPr wrap="square" lIns="0" tIns="0" rIns="0" bIns="0" rtlCol="0" anchor="t"/>
          <a:lstStyle/>
          <a:p>
            <a:pPr>
              <a:spcAft>
                <a:spcPts val="800"/>
              </a:spcAft>
              <a:buSzPct val="100000"/>
            </a:pPr>
            <a:r>
              <a:rPr lang="en-US" sz="1200" dirty="0">
                <a:solidFill>
                  <a:srgbClr val="FFFFFF"/>
                </a:solidFill>
                <a:latin typeface="Arial" pitchFamily="34" charset="0"/>
                <a:ea typeface="Arial" pitchFamily="34" charset="-122"/>
                <a:cs typeface="Arial" pitchFamily="34" charset="-120"/>
              </a:rPr>
              <a:t>Building in stages — each hypothesis widens the scope of the previous, from confirming the phenomenon exists, to testing how far it generalizes, to isolating what predicts it within each family. Each stage must hold before the next is worth testing.</a:t>
            </a:r>
            <a:endParaRPr lang="en-US" sz="1200" dirty="0"/>
          </a:p>
          <a:p>
            <a:pPr marL="177800" indent="-177800">
              <a:spcAft>
                <a:spcPts val="600"/>
              </a:spcAft>
              <a:buSzPct val="100000"/>
              <a:buChar char="●"/>
            </a:pPr>
            <a:r>
              <a:rPr lang="en-US" sz="1200" b="1" dirty="0">
                <a:solidFill>
                  <a:srgbClr val="FF6600"/>
                </a:solidFill>
                <a:latin typeface="Arial" pitchFamily="34" charset="0"/>
                <a:ea typeface="Arial" pitchFamily="34" charset="-122"/>
                <a:cs typeface="Arial" pitchFamily="34" charset="-120"/>
              </a:rPr>
              <a:t>H1. </a:t>
            </a:r>
            <a:r>
              <a:rPr lang="en-US" sz="1200" dirty="0">
                <a:solidFill>
                  <a:srgbClr val="FFFFFF"/>
                </a:solidFill>
                <a:latin typeface="Arial" pitchFamily="34" charset="0"/>
                <a:ea typeface="Arial" pitchFamily="34" charset="-122"/>
                <a:cs typeface="Arial" pitchFamily="34" charset="-120"/>
              </a:rPr>
              <a:t>Poor test-time compute allocation harms performance — underthinking on hard problems, overthinking on easy ones. Tested via statistically controlled compute–accuracy curves (≥ 5 samples per compute level), checking for saturation or an inverted-U pattern.</a:t>
            </a:r>
            <a:endParaRPr lang="en-US" sz="1200" dirty="0"/>
          </a:p>
          <a:p>
            <a:pPr marL="177800" indent="-177800">
              <a:spcAft>
                <a:spcPts val="600"/>
              </a:spcAft>
              <a:buSzPct val="100000"/>
              <a:buChar char="●"/>
            </a:pPr>
            <a:r>
              <a:rPr lang="en-US" sz="1200" b="1" dirty="0">
                <a:solidFill>
                  <a:srgbClr val="FF6600"/>
                </a:solidFill>
                <a:latin typeface="Arial" pitchFamily="34" charset="0"/>
                <a:ea typeface="Arial" pitchFamily="34" charset="-122"/>
                <a:cs typeface="Arial" pitchFamily="34" charset="-120"/>
              </a:rPr>
              <a:t>H2. </a:t>
            </a:r>
            <a:r>
              <a:rPr lang="en-US" sz="1200" dirty="0">
                <a:solidFill>
                  <a:srgbClr val="FFFFFF"/>
                </a:solidFill>
                <a:latin typeface="Arial" pitchFamily="34" charset="0"/>
                <a:ea typeface="Arial" pitchFamily="34" charset="-122"/>
                <a:cs typeface="Arial" pitchFamily="34" charset="-120"/>
              </a:rPr>
              <a:t>This holds across model families rather than being model-specific. Tested for whether curve shape — saturating, inverted-U, or monotonic — is consistent across at least three model families. If not, rules need re-fitting.</a:t>
            </a:r>
            <a:endParaRPr lang="en-US" sz="1200" dirty="0"/>
          </a:p>
          <a:p>
            <a:pPr marL="177800" indent="-177800">
              <a:spcAft>
                <a:spcPts val="600"/>
              </a:spcAft>
              <a:buSzPct val="100000"/>
              <a:buChar char="●"/>
            </a:pPr>
            <a:r>
              <a:rPr lang="en-US" sz="1200" b="1" dirty="0">
                <a:solidFill>
                  <a:srgbClr val="FF6600"/>
                </a:solidFill>
                <a:latin typeface="Arial" pitchFamily="34" charset="0"/>
                <a:ea typeface="Arial" pitchFamily="34" charset="-122"/>
                <a:cs typeface="Arial" pitchFamily="34" charset="-120"/>
              </a:rPr>
              <a:t>H3. </a:t>
            </a:r>
            <a:r>
              <a:rPr lang="en-US" sz="1200" dirty="0">
                <a:solidFill>
                  <a:srgbClr val="FFFFFF"/>
                </a:solidFill>
                <a:latin typeface="Arial" pitchFamily="34" charset="0"/>
                <a:ea typeface="Arial" pitchFamily="34" charset="-122"/>
                <a:cs typeface="Arial" pitchFamily="34" charset="-120"/>
              </a:rPr>
              <a:t>This varies by task type — open-ended generation (proof writing, code synthesis) vs. selection among a fixed set of options (multiple-choice, verification): does the generation-vs-selection distinction, not just difficulty, shape the optimal budget curve? If it does, task type becomes a second input to the budget, alongside difficulty.</a:t>
            </a:r>
            <a:endParaRPr lang="en-US" sz="1200" dirty="0"/>
          </a:p>
          <a:p>
            <a:pPr marL="177800" indent="-177800">
              <a:spcAft>
                <a:spcPts val="500"/>
              </a:spcAft>
              <a:buSzPct val="100000"/>
              <a:buChar char="●"/>
            </a:pPr>
            <a:r>
              <a:rPr lang="en-US" sz="1200" b="1" dirty="0">
                <a:solidFill>
                  <a:srgbClr val="FF6600"/>
                </a:solidFill>
                <a:latin typeface="Arial" pitchFamily="34" charset="0"/>
                <a:ea typeface="Arial" pitchFamily="34" charset="-122"/>
                <a:cs typeface="Arial" pitchFamily="34" charset="-120"/>
              </a:rPr>
              <a:t>H4. </a:t>
            </a:r>
            <a:r>
              <a:rPr lang="en-US" sz="1200" dirty="0">
                <a:solidFill>
                  <a:srgbClr val="FFFFFF"/>
                </a:solidFill>
                <a:latin typeface="Arial" pitchFamily="34" charset="0"/>
                <a:ea typeface="Arial" pitchFamily="34" charset="-122"/>
                <a:cs typeface="Arial" pitchFamily="34" charset="-120"/>
              </a:rPr>
              <a:t>A difficulty-only baseline explains only part of the variance in the compute a query actually needs — measuring the residual variance that remains sets the bar the next hypothesis must clear. A large residual leaves room for improvement.</a:t>
            </a:r>
          </a:p>
          <a:p>
            <a:pPr marL="177800" indent="-177800">
              <a:spcAft>
                <a:spcPts val="500"/>
              </a:spcAft>
              <a:buSzPct val="100000"/>
              <a:buChar char="●"/>
            </a:pPr>
            <a:endParaRPr lang="en-US" sz="1200" dirty="0"/>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4716609" y="3718560"/>
            <a:ext cx="1252305" cy="382016"/>
          </a:xfrm>
          <a:prstGeom prst="roundRect">
            <a:avLst>
              <a:gd name="adj" fmla="val 10909"/>
            </a:avLst>
          </a:prstGeom>
          <a:solidFill>
            <a:srgbClr val="000000"/>
          </a:solidFill>
          <a:ln w="15875">
            <a:solidFill>
              <a:srgbClr val="FF6600"/>
            </a:solidFill>
            <a:prstDash val="solid"/>
          </a:ln>
        </p:spPr>
      </p:sp>
      <p:sp>
        <p:nvSpPr>
          <p:cNvPr id="33" name="Shape 1"/>
          <p:cNvSpPr/>
          <p:nvPr/>
        </p:nvSpPr>
        <p:spPr>
          <a:xfrm>
            <a:off x="556260" y="4100576"/>
            <a:ext cx="680806" cy="382016"/>
          </a:xfrm>
          <a:prstGeom prst="roundRect">
            <a:avLst>
              <a:gd name="adj" fmla="val 10909"/>
            </a:avLst>
          </a:prstGeom>
          <a:solidFill>
            <a:srgbClr val="000000"/>
          </a:solidFill>
          <a:ln w="15875">
            <a:solidFill>
              <a:srgbClr val="FF6600"/>
            </a:solidFill>
            <a:prstDash val="solid"/>
          </a:ln>
        </p:spPr>
      </p:sp>
      <p:sp>
        <p:nvSpPr>
          <p:cNvPr id="34" name="Text 2"/>
          <p:cNvSpPr txBox="1"/>
          <p:nvPr/>
        </p:nvSpPr>
        <p:spPr>
          <a:xfrm>
            <a:off x="599259" y="4189984"/>
            <a:ext cx="590594" cy="292608"/>
          </a:xfrm>
          <a:prstGeom prst="rect">
            <a:avLst/>
          </a:prstGeom>
          <a:noFill/>
          <a:ln/>
        </p:spPr>
        <p:txBody>
          <a:bodyPr wrap="square" lIns="0" tIns="0" rIns="0" bIns="0" rtlCol="0" anchor="t"/>
          <a:lstStyle/>
          <a:p>
            <a:pPr marL="0" indent="0" algn="ctr">
              <a:buNone/>
            </a:pPr>
            <a:r>
              <a:rPr lang="en-US" sz="1300" b="1" dirty="0">
                <a:solidFill>
                  <a:srgbClr val="FFFFFF"/>
                </a:solidFill>
                <a:latin typeface="Arial" pitchFamily="34" charset="0"/>
                <a:ea typeface="Arial" pitchFamily="34" charset="-122"/>
                <a:cs typeface="Arial" pitchFamily="34" charset="-120"/>
              </a:rPr>
              <a:t>H1</a:t>
            </a:r>
            <a:endParaRPr lang="en-US" sz="1300" dirty="0"/>
          </a:p>
        </p:txBody>
      </p:sp>
      <p:sp>
        <p:nvSpPr>
          <p:cNvPr id="35" name="Shape 3"/>
          <p:cNvSpPr/>
          <p:nvPr/>
        </p:nvSpPr>
        <p:spPr>
          <a:xfrm>
            <a:off x="1237066" y="4291584"/>
            <a:ext cx="200659" cy="0"/>
          </a:xfrm>
          <a:prstGeom prst="line">
            <a:avLst/>
          </a:prstGeom>
          <a:noFill/>
          <a:ln w="19050">
            <a:solidFill>
              <a:srgbClr val="FF6600"/>
            </a:solidFill>
            <a:prstDash val="solid"/>
            <a:tailEnd type="triangle"/>
          </a:ln>
        </p:spPr>
      </p:sp>
      <p:sp>
        <p:nvSpPr>
          <p:cNvPr id="36" name="Shape 4"/>
          <p:cNvSpPr/>
          <p:nvPr/>
        </p:nvSpPr>
        <p:spPr>
          <a:xfrm>
            <a:off x="1437725" y="4100576"/>
            <a:ext cx="680806" cy="382016"/>
          </a:xfrm>
          <a:prstGeom prst="roundRect">
            <a:avLst>
              <a:gd name="adj" fmla="val 10909"/>
            </a:avLst>
          </a:prstGeom>
          <a:solidFill>
            <a:srgbClr val="000000"/>
          </a:solidFill>
          <a:ln w="15875">
            <a:solidFill>
              <a:srgbClr val="FF6600"/>
            </a:solidFill>
            <a:prstDash val="solid"/>
          </a:ln>
        </p:spPr>
      </p:sp>
      <p:sp>
        <p:nvSpPr>
          <p:cNvPr id="37" name="Text 5"/>
          <p:cNvSpPr txBox="1"/>
          <p:nvPr/>
        </p:nvSpPr>
        <p:spPr>
          <a:xfrm>
            <a:off x="1480724" y="4189983"/>
            <a:ext cx="594804" cy="292607"/>
          </a:xfrm>
          <a:prstGeom prst="rect">
            <a:avLst/>
          </a:prstGeom>
          <a:noFill/>
          <a:ln/>
        </p:spPr>
        <p:txBody>
          <a:bodyPr wrap="square" lIns="0" tIns="0" rIns="0" bIns="0" rtlCol="0" anchor="t"/>
          <a:lstStyle/>
          <a:p>
            <a:pPr marL="0" indent="0" algn="ctr">
              <a:buNone/>
            </a:pPr>
            <a:r>
              <a:rPr lang="en-US" sz="1300" b="1" dirty="0">
                <a:solidFill>
                  <a:srgbClr val="FFFFFF"/>
                </a:solidFill>
                <a:latin typeface="Arial" pitchFamily="34" charset="0"/>
                <a:ea typeface="Arial" pitchFamily="34" charset="-122"/>
                <a:cs typeface="Arial" pitchFamily="34" charset="-120"/>
              </a:rPr>
              <a:t>H2</a:t>
            </a:r>
            <a:endParaRPr lang="en-US" sz="1300" dirty="0"/>
          </a:p>
        </p:txBody>
      </p:sp>
      <p:sp>
        <p:nvSpPr>
          <p:cNvPr id="38" name="Shape 6"/>
          <p:cNvSpPr/>
          <p:nvPr/>
        </p:nvSpPr>
        <p:spPr>
          <a:xfrm>
            <a:off x="2118530" y="4291584"/>
            <a:ext cx="200659" cy="0"/>
          </a:xfrm>
          <a:prstGeom prst="line">
            <a:avLst/>
          </a:prstGeom>
          <a:noFill/>
          <a:ln w="19050">
            <a:solidFill>
              <a:srgbClr val="FF6600"/>
            </a:solidFill>
            <a:prstDash val="solid"/>
            <a:tailEnd type="triangle"/>
          </a:ln>
        </p:spPr>
      </p:sp>
      <p:sp>
        <p:nvSpPr>
          <p:cNvPr id="39" name="Shape 7"/>
          <p:cNvSpPr/>
          <p:nvPr/>
        </p:nvSpPr>
        <p:spPr>
          <a:xfrm>
            <a:off x="2319189" y="4100576"/>
            <a:ext cx="680806" cy="382016"/>
          </a:xfrm>
          <a:prstGeom prst="roundRect">
            <a:avLst>
              <a:gd name="adj" fmla="val 10909"/>
            </a:avLst>
          </a:prstGeom>
          <a:solidFill>
            <a:srgbClr val="000000"/>
          </a:solidFill>
          <a:ln w="15875">
            <a:solidFill>
              <a:srgbClr val="FF6600"/>
            </a:solidFill>
            <a:prstDash val="solid"/>
          </a:ln>
        </p:spPr>
      </p:sp>
      <p:sp>
        <p:nvSpPr>
          <p:cNvPr id="40" name="Text 8"/>
          <p:cNvSpPr txBox="1"/>
          <p:nvPr/>
        </p:nvSpPr>
        <p:spPr>
          <a:xfrm>
            <a:off x="2362187" y="4189984"/>
            <a:ext cx="594809" cy="292606"/>
          </a:xfrm>
          <a:prstGeom prst="rect">
            <a:avLst/>
          </a:prstGeom>
          <a:noFill/>
          <a:ln/>
        </p:spPr>
        <p:txBody>
          <a:bodyPr wrap="square" lIns="0" tIns="0" rIns="0" bIns="0" rtlCol="0" anchor="t"/>
          <a:lstStyle/>
          <a:p>
            <a:pPr marL="0" indent="0" algn="ctr">
              <a:buNone/>
            </a:pPr>
            <a:r>
              <a:rPr lang="en-US" sz="1300" b="1" dirty="0">
                <a:solidFill>
                  <a:srgbClr val="FFFFFF"/>
                </a:solidFill>
                <a:latin typeface="Arial" pitchFamily="34" charset="0"/>
                <a:ea typeface="Arial" pitchFamily="34" charset="-122"/>
                <a:cs typeface="Arial" pitchFamily="34" charset="-120"/>
              </a:rPr>
              <a:t>H3</a:t>
            </a:r>
            <a:endParaRPr lang="en-US" sz="1300" dirty="0"/>
          </a:p>
        </p:txBody>
      </p:sp>
      <p:sp>
        <p:nvSpPr>
          <p:cNvPr id="41" name="Shape 9"/>
          <p:cNvSpPr/>
          <p:nvPr/>
        </p:nvSpPr>
        <p:spPr>
          <a:xfrm>
            <a:off x="2999995" y="4291584"/>
            <a:ext cx="200659" cy="0"/>
          </a:xfrm>
          <a:prstGeom prst="line">
            <a:avLst/>
          </a:prstGeom>
          <a:noFill/>
          <a:ln w="19050">
            <a:solidFill>
              <a:srgbClr val="FF6600"/>
            </a:solidFill>
            <a:prstDash val="solid"/>
            <a:tailEnd type="triangle"/>
          </a:ln>
        </p:spPr>
      </p:sp>
      <p:sp>
        <p:nvSpPr>
          <p:cNvPr id="42" name="Shape 10"/>
          <p:cNvSpPr/>
          <p:nvPr/>
        </p:nvSpPr>
        <p:spPr>
          <a:xfrm>
            <a:off x="3200654" y="4100576"/>
            <a:ext cx="680806" cy="382016"/>
          </a:xfrm>
          <a:prstGeom prst="roundRect">
            <a:avLst>
              <a:gd name="adj" fmla="val 10909"/>
            </a:avLst>
          </a:prstGeom>
          <a:solidFill>
            <a:srgbClr val="000000"/>
          </a:solidFill>
          <a:ln w="15875">
            <a:solidFill>
              <a:srgbClr val="FF6600"/>
            </a:solidFill>
            <a:prstDash val="solid"/>
          </a:ln>
        </p:spPr>
      </p:sp>
      <p:sp>
        <p:nvSpPr>
          <p:cNvPr id="43" name="Text 11"/>
          <p:cNvSpPr txBox="1"/>
          <p:nvPr/>
        </p:nvSpPr>
        <p:spPr>
          <a:xfrm>
            <a:off x="3243653" y="4189984"/>
            <a:ext cx="594804" cy="382016"/>
          </a:xfrm>
          <a:prstGeom prst="rect">
            <a:avLst/>
          </a:prstGeom>
          <a:noFill/>
          <a:ln/>
        </p:spPr>
        <p:txBody>
          <a:bodyPr wrap="square" lIns="0" tIns="0" rIns="0" bIns="0" rtlCol="0" anchor="t"/>
          <a:lstStyle/>
          <a:p>
            <a:pPr marL="0" indent="0" algn="ctr">
              <a:buNone/>
            </a:pPr>
            <a:r>
              <a:rPr lang="en-US" sz="1300" b="1" dirty="0">
                <a:solidFill>
                  <a:srgbClr val="FFFFFF"/>
                </a:solidFill>
                <a:latin typeface="Arial" pitchFamily="34" charset="0"/>
                <a:ea typeface="Arial" pitchFamily="34" charset="-122"/>
                <a:cs typeface="Arial" pitchFamily="34" charset="-120"/>
              </a:rPr>
              <a:t>H4</a:t>
            </a:r>
            <a:endParaRPr lang="en-US" sz="1300" dirty="0"/>
          </a:p>
        </p:txBody>
      </p:sp>
      <p:sp>
        <p:nvSpPr>
          <p:cNvPr id="47" name="Text 16"/>
          <p:cNvSpPr txBox="1"/>
          <p:nvPr/>
        </p:nvSpPr>
        <p:spPr>
          <a:xfrm>
            <a:off x="4759609" y="3673297"/>
            <a:ext cx="1209302" cy="427279"/>
          </a:xfrm>
          <a:prstGeom prst="rect">
            <a:avLst/>
          </a:prstGeom>
          <a:noFill/>
          <a:ln/>
        </p:spPr>
        <p:txBody>
          <a:bodyPr wrap="square" lIns="0" tIns="0" rIns="0" bIns="0" rtlCol="0" anchor="t"/>
          <a:lstStyle/>
          <a:p>
            <a:pPr marL="0" indent="0" algn="ctr">
              <a:buNone/>
            </a:pPr>
            <a:endParaRPr lang="en-US" sz="1050" b="1" dirty="0">
              <a:solidFill>
                <a:srgbClr val="FFFFFF"/>
              </a:solidFill>
              <a:latin typeface="Arial" pitchFamily="34" charset="0"/>
              <a:ea typeface="Arial" pitchFamily="34" charset="-122"/>
              <a:cs typeface="Arial" pitchFamily="34" charset="-120"/>
            </a:endParaRPr>
          </a:p>
          <a:p>
            <a:pPr marL="0" indent="0" algn="ctr">
              <a:buNone/>
            </a:pPr>
            <a:r>
              <a:rPr lang="en-US" sz="1300" b="1" dirty="0">
                <a:solidFill>
                  <a:srgbClr val="FFFFFF"/>
                </a:solidFill>
                <a:latin typeface="Arial" pitchFamily="34" charset="0"/>
                <a:ea typeface="Arial" pitchFamily="34" charset="-122"/>
                <a:cs typeface="Arial" pitchFamily="34" charset="-120"/>
              </a:rPr>
              <a:t>(reactive)</a:t>
            </a:r>
            <a:endParaRPr lang="en-US" sz="1300" dirty="0"/>
          </a:p>
        </p:txBody>
      </p:sp>
      <p:sp>
        <p:nvSpPr>
          <p:cNvPr id="48" name="Shape 17"/>
          <p:cNvSpPr/>
          <p:nvPr/>
        </p:nvSpPr>
        <p:spPr>
          <a:xfrm>
            <a:off x="4716610" y="4482592"/>
            <a:ext cx="1252304" cy="382016"/>
          </a:xfrm>
          <a:prstGeom prst="roundRect">
            <a:avLst>
              <a:gd name="adj" fmla="val 10909"/>
            </a:avLst>
          </a:prstGeom>
          <a:solidFill>
            <a:srgbClr val="000000"/>
          </a:solidFill>
          <a:ln w="15875">
            <a:solidFill>
              <a:srgbClr val="FF6600"/>
            </a:solidFill>
            <a:prstDash val="solid"/>
          </a:ln>
        </p:spPr>
      </p:sp>
      <p:sp>
        <p:nvSpPr>
          <p:cNvPr id="49" name="Text 18"/>
          <p:cNvSpPr txBox="1"/>
          <p:nvPr/>
        </p:nvSpPr>
        <p:spPr>
          <a:xfrm>
            <a:off x="4759608" y="4431791"/>
            <a:ext cx="1209306" cy="432818"/>
          </a:xfrm>
          <a:prstGeom prst="rect">
            <a:avLst/>
          </a:prstGeom>
          <a:noFill/>
          <a:ln/>
        </p:spPr>
        <p:txBody>
          <a:bodyPr wrap="square" lIns="0" tIns="0" rIns="0" bIns="0" rtlCol="0" anchor="t"/>
          <a:lstStyle/>
          <a:p>
            <a:pPr marL="0" indent="0" algn="ctr">
              <a:buNone/>
            </a:pPr>
            <a:endParaRPr lang="en-US" sz="1050" dirty="0"/>
          </a:p>
          <a:p>
            <a:pPr algn="ctr"/>
            <a:r>
              <a:rPr lang="en-US" sz="1300" b="1" dirty="0">
                <a:solidFill>
                  <a:srgbClr val="FFFFFF"/>
                </a:solidFill>
                <a:latin typeface="Arial" pitchFamily="34" charset="0"/>
                <a:cs typeface="Arial" pitchFamily="34" charset="-120"/>
              </a:rPr>
              <a:t>(predictive)</a:t>
            </a:r>
          </a:p>
        </p:txBody>
      </p:sp>
      <p:sp>
        <p:nvSpPr>
          <p:cNvPr id="52" name="Shape 21"/>
          <p:cNvSpPr/>
          <p:nvPr/>
        </p:nvSpPr>
        <p:spPr>
          <a:xfrm>
            <a:off x="7014517" y="4049776"/>
            <a:ext cx="1252306" cy="382016"/>
          </a:xfrm>
          <a:prstGeom prst="roundRect">
            <a:avLst>
              <a:gd name="adj" fmla="val 10909"/>
            </a:avLst>
          </a:prstGeom>
          <a:solidFill>
            <a:srgbClr val="000000"/>
          </a:solidFill>
          <a:ln w="19050">
            <a:solidFill>
              <a:srgbClr val="FF6600"/>
            </a:solidFill>
            <a:prstDash val="solid"/>
          </a:ln>
        </p:spPr>
      </p:sp>
      <p:sp>
        <p:nvSpPr>
          <p:cNvPr id="53" name="Text 22"/>
          <p:cNvSpPr txBox="1"/>
          <p:nvPr/>
        </p:nvSpPr>
        <p:spPr>
          <a:xfrm>
            <a:off x="7057515" y="4077559"/>
            <a:ext cx="1209308" cy="354231"/>
          </a:xfrm>
          <a:prstGeom prst="rect">
            <a:avLst/>
          </a:prstGeom>
          <a:noFill/>
          <a:ln/>
        </p:spPr>
        <p:txBody>
          <a:bodyPr wrap="square" lIns="0" tIns="0" rIns="0" bIns="0" rtlCol="0" anchor="t"/>
          <a:lstStyle/>
          <a:p>
            <a:pPr algn="ctr"/>
            <a:r>
              <a:rPr lang="en-US" sz="1050" b="1" dirty="0">
                <a:solidFill>
                  <a:srgbClr val="FFFFFF"/>
                </a:solidFill>
                <a:latin typeface="Arial" pitchFamily="34" charset="0"/>
                <a:cs typeface="Arial" pitchFamily="34" charset="-120"/>
              </a:rPr>
              <a:t>Development</a:t>
            </a:r>
          </a:p>
        </p:txBody>
      </p:sp>
      <p:sp>
        <p:nvSpPr>
          <p:cNvPr id="6" name="Shape 9">
            <a:extLst>
              <a:ext uri="{FF2B5EF4-FFF2-40B4-BE49-F238E27FC236}">
                <a16:creationId xmlns:a16="http://schemas.microsoft.com/office/drawing/2014/main" id="{00356466-D125-8E6E-1106-91697E7CA77E}"/>
              </a:ext>
            </a:extLst>
          </p:cNvPr>
          <p:cNvSpPr/>
          <p:nvPr/>
        </p:nvSpPr>
        <p:spPr>
          <a:xfrm>
            <a:off x="4008120" y="3887724"/>
            <a:ext cx="708489" cy="0"/>
          </a:xfrm>
          <a:prstGeom prst="line">
            <a:avLst/>
          </a:prstGeom>
          <a:noFill/>
          <a:ln w="19050">
            <a:solidFill>
              <a:srgbClr val="FF6600"/>
            </a:solidFill>
            <a:prstDash val="solid"/>
            <a:tailEnd type="triangle"/>
          </a:ln>
        </p:spPr>
        <p:txBody>
          <a:bodyPr/>
          <a:lstStyle/>
          <a:p>
            <a:endParaRPr lang="en-US" dirty="0"/>
          </a:p>
        </p:txBody>
      </p:sp>
      <p:sp>
        <p:nvSpPr>
          <p:cNvPr id="7" name="Shape 9">
            <a:extLst>
              <a:ext uri="{FF2B5EF4-FFF2-40B4-BE49-F238E27FC236}">
                <a16:creationId xmlns:a16="http://schemas.microsoft.com/office/drawing/2014/main" id="{7892B8F5-F2D7-F5D4-D4DF-4C76E1D96701}"/>
              </a:ext>
            </a:extLst>
          </p:cNvPr>
          <p:cNvSpPr/>
          <p:nvPr/>
        </p:nvSpPr>
        <p:spPr>
          <a:xfrm>
            <a:off x="4008120" y="4636008"/>
            <a:ext cx="708489" cy="0"/>
          </a:xfrm>
          <a:prstGeom prst="line">
            <a:avLst/>
          </a:prstGeom>
          <a:noFill/>
          <a:ln w="19050">
            <a:solidFill>
              <a:srgbClr val="FF6600"/>
            </a:solidFill>
            <a:prstDash val="solid"/>
            <a:tailEnd type="triangle"/>
          </a:ln>
        </p:spPr>
      </p:sp>
      <p:sp>
        <p:nvSpPr>
          <p:cNvPr id="9" name="Shape 9">
            <a:extLst>
              <a:ext uri="{FF2B5EF4-FFF2-40B4-BE49-F238E27FC236}">
                <a16:creationId xmlns:a16="http://schemas.microsoft.com/office/drawing/2014/main" id="{41CB776C-7CB0-1B09-69BB-CC99601FC858}"/>
              </a:ext>
            </a:extLst>
          </p:cNvPr>
          <p:cNvSpPr/>
          <p:nvPr/>
        </p:nvSpPr>
        <p:spPr>
          <a:xfrm>
            <a:off x="5968914" y="3896868"/>
            <a:ext cx="1023512" cy="382016"/>
          </a:xfrm>
          <a:prstGeom prst="line">
            <a:avLst/>
          </a:prstGeom>
          <a:noFill/>
          <a:ln w="19050">
            <a:solidFill>
              <a:srgbClr val="FF6600"/>
            </a:solidFill>
            <a:prstDash val="solid"/>
            <a:tailEnd type="triangle"/>
          </a:ln>
        </p:spPr>
      </p:sp>
      <p:sp>
        <p:nvSpPr>
          <p:cNvPr id="10" name="Shape 9">
            <a:extLst>
              <a:ext uri="{FF2B5EF4-FFF2-40B4-BE49-F238E27FC236}">
                <a16:creationId xmlns:a16="http://schemas.microsoft.com/office/drawing/2014/main" id="{C4FDE003-0C00-CCCD-0AE9-0DF782EA3914}"/>
              </a:ext>
            </a:extLst>
          </p:cNvPr>
          <p:cNvSpPr/>
          <p:nvPr/>
        </p:nvSpPr>
        <p:spPr>
          <a:xfrm flipV="1">
            <a:off x="5968912" y="4300726"/>
            <a:ext cx="1040083" cy="382015"/>
          </a:xfrm>
          <a:prstGeom prst="line">
            <a:avLst/>
          </a:prstGeom>
          <a:noFill/>
          <a:ln w="19050">
            <a:solidFill>
              <a:srgbClr val="FF6600"/>
            </a:solidFill>
            <a:prstDash val="solid"/>
            <a:tailEnd type="triangle"/>
          </a:ln>
        </p:spPr>
      </p:sp>
      <p:cxnSp>
        <p:nvCxnSpPr>
          <p:cNvPr id="12" name="Straight Connector 11">
            <a:extLst>
              <a:ext uri="{FF2B5EF4-FFF2-40B4-BE49-F238E27FC236}">
                <a16:creationId xmlns:a16="http://schemas.microsoft.com/office/drawing/2014/main" id="{293162A4-5701-B2D7-D57F-78DD577382F7}"/>
              </a:ext>
            </a:extLst>
          </p:cNvPr>
          <p:cNvCxnSpPr>
            <a:cxnSpLocks/>
            <a:stCxn id="6" idx="0"/>
            <a:endCxn id="7" idx="0"/>
          </p:cNvCxnSpPr>
          <p:nvPr/>
        </p:nvCxnSpPr>
        <p:spPr>
          <a:xfrm>
            <a:off x="4008120" y="3887724"/>
            <a:ext cx="0" cy="748284"/>
          </a:xfrm>
          <a:prstGeom prst="line">
            <a:avLst/>
          </a:prstGeom>
          <a:ln w="12700">
            <a:solidFill>
              <a:srgbClr val="FF6600"/>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55AA8E3-D620-942B-912B-909B4419494A}"/>
              </a:ext>
            </a:extLst>
          </p:cNvPr>
          <p:cNvCxnSpPr>
            <a:cxnSpLocks/>
          </p:cNvCxnSpPr>
          <p:nvPr/>
        </p:nvCxnSpPr>
        <p:spPr>
          <a:xfrm flipH="1" flipV="1">
            <a:off x="3881460" y="4276344"/>
            <a:ext cx="126660" cy="9141"/>
          </a:xfrm>
          <a:prstGeom prst="line">
            <a:avLst/>
          </a:prstGeom>
          <a:ln w="12700">
            <a:solidFill>
              <a:srgbClr val="FF6600"/>
            </a:solidFill>
          </a:ln>
        </p:spPr>
        <p:style>
          <a:lnRef idx="1">
            <a:schemeClr val="accent1"/>
          </a:lnRef>
          <a:fillRef idx="0">
            <a:schemeClr val="accent1"/>
          </a:fillRef>
          <a:effectRef idx="0">
            <a:schemeClr val="accent1"/>
          </a:effectRef>
          <a:fontRef idx="minor">
            <a:schemeClr val="tx1"/>
          </a:fontRef>
        </p:style>
      </p:cxnSp>
      <p:sp>
        <p:nvSpPr>
          <p:cNvPr id="26" name="Shape 24"/>
          <p:cNvSpPr/>
          <p:nvPr/>
        </p:nvSpPr>
        <p:spPr>
          <a:xfrm>
            <a:off x="3933444" y="4968240"/>
            <a:ext cx="5035296" cy="0"/>
          </a:xfrm>
          <a:prstGeom prst="line">
            <a:avLst/>
          </a:prstGeom>
          <a:noFill/>
          <a:ln w="25400">
            <a:solidFill>
              <a:srgbClr val="FFFFFF"/>
            </a:solidFill>
            <a:prstDash val="solid"/>
          </a:ln>
        </p:spPr>
        <p:txBody>
          <a:bodyPr/>
          <a:lstStyle/>
          <a:p>
            <a:endParaRPr lang="en-US" dirty="0"/>
          </a:p>
        </p:txBody>
      </p:sp>
      <p:sp>
        <p:nvSpPr>
          <p:cNvPr id="23" name="TextBox 22">
            <a:extLst>
              <a:ext uri="{FF2B5EF4-FFF2-40B4-BE49-F238E27FC236}">
                <a16:creationId xmlns:a16="http://schemas.microsoft.com/office/drawing/2014/main" id="{0B1375A4-B4AC-6E49-C890-02BCCA86A3F9}"/>
              </a:ext>
            </a:extLst>
          </p:cNvPr>
          <p:cNvSpPr txBox="1"/>
          <p:nvPr/>
        </p:nvSpPr>
        <p:spPr>
          <a:xfrm flipH="1">
            <a:off x="6225192" y="4718327"/>
            <a:ext cx="2873197" cy="246221"/>
          </a:xfrm>
          <a:prstGeom prst="rect">
            <a:avLst/>
          </a:prstGeom>
          <a:noFill/>
        </p:spPr>
        <p:txBody>
          <a:bodyPr wrap="square">
            <a:spAutoFit/>
          </a:bodyPr>
          <a:lstStyle/>
          <a:p>
            <a:r>
              <a:rPr lang="en-US" sz="1000" i="1" dirty="0">
                <a:solidFill>
                  <a:prstClr val="white"/>
                </a:solidFill>
                <a:latin typeface="Consolas" panose="020B0609020204030204" pitchFamily="49" charset="0"/>
              </a:rPr>
              <a:t>To be determined based on the findings</a:t>
            </a:r>
          </a:p>
        </p:txBody>
      </p:sp>
    </p:spTree>
    <p:extLst>
      <p:ext uri="{BB962C8B-B14F-4D97-AF65-F5344CB8AC3E}">
        <p14:creationId xmlns:p14="http://schemas.microsoft.com/office/powerpoint/2010/main" val="36372027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137160"/>
            <a:ext cx="8503920" cy="566928"/>
          </a:xfrm>
          <a:prstGeom prst="rect">
            <a:avLst/>
          </a:prstGeom>
          <a:noFill/>
          <a:ln/>
        </p:spPr>
        <p:txBody>
          <a:bodyPr wrap="square" lIns="0" tIns="0" rIns="0" bIns="0" rtlCol="0" anchor="t"/>
          <a:lstStyle/>
          <a:p>
            <a:pPr marL="0" indent="0" algn="l">
              <a:buNone/>
            </a:pPr>
            <a:endParaRPr lang="en-US" sz="2500" dirty="0"/>
          </a:p>
        </p:txBody>
      </p:sp>
      <p:sp>
        <p:nvSpPr>
          <p:cNvPr id="3" name="Text 1"/>
          <p:cNvSpPr txBox="1"/>
          <p:nvPr/>
        </p:nvSpPr>
        <p:spPr>
          <a:xfrm>
            <a:off x="320040" y="960120"/>
            <a:ext cx="8503920" cy="502920"/>
          </a:xfrm>
          <a:prstGeom prst="rect">
            <a:avLst/>
          </a:prstGeom>
          <a:noFill/>
          <a:ln/>
        </p:spPr>
        <p:txBody>
          <a:bodyPr wrap="square" lIns="0" tIns="0" rIns="0" bIns="0" rtlCol="0" anchor="t"/>
          <a:lstStyle/>
          <a:p>
            <a:pPr marL="0" indent="0">
              <a:buNone/>
            </a:pPr>
            <a:r>
              <a:rPr lang="en-US" sz="1200" dirty="0">
                <a:solidFill>
                  <a:srgbClr val="FFFFFF"/>
                </a:solidFill>
                <a:latin typeface="Arial" pitchFamily="34" charset="0"/>
                <a:ea typeface="Arial" pitchFamily="34" charset="-122"/>
                <a:cs typeface="Arial" pitchFamily="34" charset="-120"/>
              </a:rPr>
              <a:t>Four components combine into a single pipeline — each stage covers the previous stage's blind spot. Stages 1–3 target the predictive side (deciding a budget before generation); Stage 4 targets the reactive side (deciding, during generation, whether to stop). Cheap checks run on every query; the costly reactive check runs only on flagged cases.</a:t>
            </a:r>
            <a:endParaRPr lang="en-US" sz="1200" dirty="0"/>
          </a:p>
        </p:txBody>
      </p:sp>
      <p:sp>
        <p:nvSpPr>
          <p:cNvPr id="29" name="Text 27"/>
          <p:cNvSpPr txBox="1"/>
          <p:nvPr/>
        </p:nvSpPr>
        <p:spPr>
          <a:xfrm>
            <a:off x="320040" y="1752600"/>
            <a:ext cx="8503920" cy="502920"/>
          </a:xfrm>
          <a:prstGeom prst="rect">
            <a:avLst/>
          </a:prstGeom>
          <a:noFill/>
          <a:ln/>
        </p:spPr>
        <p:txBody>
          <a:bodyPr wrap="square" lIns="0" tIns="0" rIns="0" bIns="0" rtlCol="0" anchor="t"/>
          <a:lstStyle/>
          <a:p>
            <a:pPr marL="0" indent="0" algn="ctr">
              <a:buNone/>
            </a:pPr>
            <a:endParaRPr lang="en-US" sz="1100" dirty="0"/>
          </a:p>
        </p:txBody>
      </p:sp>
      <p:sp>
        <p:nvSpPr>
          <p:cNvPr id="30" name="Text 28"/>
          <p:cNvSpPr txBox="1"/>
          <p:nvPr/>
        </p:nvSpPr>
        <p:spPr>
          <a:xfrm>
            <a:off x="320040" y="3728720"/>
            <a:ext cx="8503920" cy="1005840"/>
          </a:xfrm>
          <a:prstGeom prst="rect">
            <a:avLst/>
          </a:prstGeom>
          <a:noFill/>
          <a:ln/>
        </p:spPr>
        <p:txBody>
          <a:bodyPr wrap="square" lIns="0" tIns="0" rIns="0" bIns="0" rtlCol="0" anchor="t"/>
          <a:lstStyle/>
          <a:p>
            <a:pPr algn="ctr">
              <a:spcBef>
                <a:spcPts val="0"/>
              </a:spcBef>
              <a:spcAft>
                <a:spcPts val="0"/>
              </a:spcAft>
            </a:pPr>
            <a:r>
              <a:rPr lang="en-US" sz="1200" b="1" dirty="0">
                <a:solidFill>
                  <a:schemeClr val="bg1"/>
                </a:solidFill>
                <a:latin typeface="Consolas" panose="020B0609020204030204" pitchFamily="49" charset="0"/>
              </a:rPr>
              <a:t>Worked example.</a:t>
            </a:r>
          </a:p>
          <a:p>
            <a:pPr algn="ctr">
              <a:spcBef>
                <a:spcPts val="0"/>
              </a:spcBef>
              <a:spcAft>
                <a:spcPts val="0"/>
              </a:spcAft>
            </a:pPr>
            <a:r>
              <a:rPr lang="en-US" sz="1200" dirty="0">
                <a:solidFill>
                  <a:srgbClr val="FFFFFF"/>
                </a:solidFill>
                <a:latin typeface="Arial" pitchFamily="34" charset="0"/>
                <a:cs typeface="Arial" pitchFamily="34" charset="-120"/>
              </a:rPr>
              <a:t> difficulty 0.72, 70B model → theoretical estimate C₀ = 1,200 tokens → predictive correction ΔC = +150 → flagged long-tail → reactive gate confirms → final budget = 1,800 tokens, traceable at every step. Here the theoretical formula alone gives 1,200 tokens and the learned correction lifts it to 1,350; because this query is flagged as long-tail, the reactive layer overrides that value and sets 1,800. Every number traces back to the stage that produced it.</a:t>
            </a:r>
          </a:p>
          <a:p>
            <a:pPr marL="177800" indent="-177800" algn="ctr">
              <a:spcAft>
                <a:spcPts val="300"/>
              </a:spcAft>
              <a:buSzPct val="100000"/>
              <a:buChar char="●"/>
            </a:pPr>
            <a:endParaRPr lang="en-US" sz="1100" dirty="0">
              <a:solidFill>
                <a:srgbClr val="FFFFFF"/>
              </a:solidFill>
              <a:latin typeface="Arial" pitchFamily="34" charset="0"/>
              <a:cs typeface="Arial" pitchFamily="34" charset="-120"/>
            </a:endParaRPr>
          </a:p>
        </p:txBody>
      </p:sp>
      <p:sp>
        <p:nvSpPr>
          <p:cNvPr id="31" name="Text 29"/>
          <p:cNvSpPr txBox="1"/>
          <p:nvPr/>
        </p:nvSpPr>
        <p:spPr>
          <a:xfrm>
            <a:off x="320040" y="4864608"/>
            <a:ext cx="1828800" cy="182880"/>
          </a:xfrm>
          <a:prstGeom prst="rect">
            <a:avLst/>
          </a:prstGeom>
          <a:noFill/>
          <a:ln/>
        </p:spPr>
        <p:txBody>
          <a:bodyPr wrap="square" lIns="0" tIns="0" rIns="0" bIns="0" rtlCol="0" anchor="ctr"/>
          <a:lstStyle/>
          <a:p>
            <a:pPr marL="0" indent="0" algn="l">
              <a:buNone/>
            </a:pPr>
            <a:r>
              <a:rPr lang="en-US" sz="800" b="1" dirty="0">
                <a:solidFill>
                  <a:srgbClr val="FF6600"/>
                </a:solidFill>
                <a:latin typeface="Arial" pitchFamily="34" charset="0"/>
                <a:ea typeface="Arial" pitchFamily="34" charset="-122"/>
                <a:cs typeface="Arial" pitchFamily="34" charset="-120"/>
              </a:rPr>
              <a:t>Orange Restricted</a:t>
            </a:r>
            <a:endParaRPr lang="en-US" sz="800" dirty="0"/>
          </a:p>
        </p:txBody>
      </p:sp>
      <p:sp>
        <p:nvSpPr>
          <p:cNvPr id="34" name="Text 0">
            <a:extLst>
              <a:ext uri="{FF2B5EF4-FFF2-40B4-BE49-F238E27FC236}">
                <a16:creationId xmlns:a16="http://schemas.microsoft.com/office/drawing/2014/main" id="{9F8E4AFC-BAB9-09E6-A8AF-EB937DE9DD0C}"/>
              </a:ext>
            </a:extLst>
          </p:cNvPr>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2000" b="1" dirty="0">
                <a:solidFill>
                  <a:srgbClr val="FF7900"/>
                </a:solidFill>
                <a:latin typeface="Helvetica Neue"/>
                <a:sym typeface="Arial"/>
              </a:rPr>
              <a:t>3</a:t>
            </a: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 </a:t>
            </a:r>
            <a:r>
              <a:rPr lang="en-US" sz="2000" b="1" dirty="0">
                <a:solidFill>
                  <a:srgbClr val="FF6600"/>
                </a:solidFill>
                <a:latin typeface="Arial" pitchFamily="34" charset="0"/>
                <a:ea typeface="Arial" pitchFamily="34" charset="-122"/>
                <a:cs typeface="Arial" pitchFamily="34" charset="-120"/>
              </a:rPr>
              <a:t>Methodology</a:t>
            </a:r>
            <a:endPar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endParaRP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1300" b="1" dirty="0">
                <a:solidFill>
                  <a:srgbClr val="FF7900"/>
                </a:solidFill>
                <a:latin typeface="Helvetica Neue"/>
                <a:sym typeface="Arial"/>
              </a:rPr>
              <a:t>3</a:t>
            </a:r>
            <a:r>
              <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rPr>
              <a:t>.2 THE PROPOSED APPROACH</a:t>
            </a:r>
          </a:p>
        </p:txBody>
      </p:sp>
      <p:grpSp>
        <p:nvGrpSpPr>
          <p:cNvPr id="39" name="Group 38">
            <a:extLst>
              <a:ext uri="{FF2B5EF4-FFF2-40B4-BE49-F238E27FC236}">
                <a16:creationId xmlns:a16="http://schemas.microsoft.com/office/drawing/2014/main" id="{E9F74B8E-83FF-5557-84DE-E8D4B8864BCD}"/>
              </a:ext>
            </a:extLst>
          </p:cNvPr>
          <p:cNvGrpSpPr/>
          <p:nvPr/>
        </p:nvGrpSpPr>
        <p:grpSpPr>
          <a:xfrm>
            <a:off x="320041" y="1493004"/>
            <a:ext cx="8610600" cy="2123956"/>
            <a:chOff x="111189" y="2376924"/>
            <a:chExt cx="11392850" cy="2396304"/>
          </a:xfrm>
        </p:grpSpPr>
        <p:grpSp>
          <p:nvGrpSpPr>
            <p:cNvPr id="40" name="Group 39">
              <a:extLst>
                <a:ext uri="{FF2B5EF4-FFF2-40B4-BE49-F238E27FC236}">
                  <a16:creationId xmlns:a16="http://schemas.microsoft.com/office/drawing/2014/main" id="{56462C75-D66B-B6F7-5111-AD09222D5C49}"/>
                </a:ext>
              </a:extLst>
            </p:cNvPr>
            <p:cNvGrpSpPr/>
            <p:nvPr/>
          </p:nvGrpSpPr>
          <p:grpSpPr>
            <a:xfrm>
              <a:off x="111189" y="2606050"/>
              <a:ext cx="1602000" cy="960000"/>
              <a:chOff x="1182111" y="2606050"/>
              <a:chExt cx="1602000" cy="960000"/>
            </a:xfrm>
          </p:grpSpPr>
          <p:sp>
            <p:nvSpPr>
              <p:cNvPr id="261" name="Google Shape;261;p7"/>
              <p:cNvSpPr/>
              <p:nvPr/>
            </p:nvSpPr>
            <p:spPr>
              <a:xfrm>
                <a:off x="1182111" y="2606050"/>
                <a:ext cx="1602000" cy="960000"/>
              </a:xfrm>
              <a:prstGeom prst="roundRect">
                <a:avLst>
                  <a:gd name="adj" fmla="val 5714"/>
                </a:avLst>
              </a:prstGeom>
              <a:solidFill>
                <a:srgbClr val="FFD6CA"/>
              </a:solidFill>
              <a:ln w="12700"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7"/>
              <p:cNvSpPr/>
              <p:nvPr/>
            </p:nvSpPr>
            <p:spPr>
              <a:xfrm>
                <a:off x="1319271" y="2697480"/>
                <a:ext cx="1280100" cy="411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FFFF"/>
                  </a:buClr>
                  <a:buSzPts val="1150"/>
                  <a:buFont typeface="Arial"/>
                  <a:buNone/>
                </a:pPr>
                <a:r>
                  <a:rPr lang="en-US" sz="1150" b="1" dirty="0">
                    <a:latin typeface="Helvetica Neue"/>
                    <a:ea typeface="Helvetica Neue"/>
                    <a:cs typeface="Helvetica Neue"/>
                    <a:sym typeface="Helvetica Neue"/>
                  </a:rPr>
                  <a:t>Input</a:t>
                </a:r>
                <a:endParaRPr sz="1150" dirty="0">
                  <a:latin typeface="Helvetica Neue"/>
                  <a:ea typeface="Helvetica Neue"/>
                  <a:cs typeface="Helvetica Neue"/>
                  <a:sym typeface="Helvetica Neue"/>
                </a:endParaRPr>
              </a:p>
            </p:txBody>
          </p:sp>
          <p:sp>
            <p:nvSpPr>
              <p:cNvPr id="263" name="Google Shape;263;p7"/>
              <p:cNvSpPr/>
              <p:nvPr/>
            </p:nvSpPr>
            <p:spPr>
              <a:xfrm>
                <a:off x="1319271" y="3154680"/>
                <a:ext cx="1280100" cy="3840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Question + model params</a:t>
                </a:r>
                <a:endParaRPr sz="950" dirty="0">
                  <a:latin typeface="Helvetica Neue"/>
                  <a:ea typeface="Helvetica Neue"/>
                  <a:cs typeface="Helvetica Neue"/>
                  <a:sym typeface="Helvetica Neue"/>
                </a:endParaRPr>
              </a:p>
            </p:txBody>
          </p:sp>
        </p:grpSp>
        <p:sp>
          <p:nvSpPr>
            <p:cNvPr id="264" name="Google Shape;264;p7"/>
            <p:cNvSpPr/>
            <p:nvPr/>
          </p:nvSpPr>
          <p:spPr>
            <a:xfrm>
              <a:off x="3870369" y="2606050"/>
              <a:ext cx="1602000" cy="960000"/>
            </a:xfrm>
            <a:prstGeom prst="roundRect">
              <a:avLst>
                <a:gd name="adj" fmla="val 5714"/>
              </a:avLst>
            </a:prstGeom>
            <a:solidFill>
              <a:srgbClr val="FFD6CA"/>
            </a:solidFill>
            <a:ln w="12700"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7"/>
            <p:cNvSpPr/>
            <p:nvPr/>
          </p:nvSpPr>
          <p:spPr>
            <a:xfrm>
              <a:off x="4007522" y="2697475"/>
              <a:ext cx="1090500" cy="411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FFFF"/>
                </a:buClr>
                <a:buSzPts val="1150"/>
                <a:buFont typeface="Arial"/>
                <a:buNone/>
              </a:pPr>
              <a:r>
                <a:rPr lang="en-US" sz="1150" b="1" dirty="0">
                  <a:latin typeface="Helvetica Neue"/>
                  <a:ea typeface="Helvetica Neue"/>
                  <a:cs typeface="Helvetica Neue"/>
                  <a:sym typeface="Helvetica Neue"/>
                </a:rPr>
                <a:t>Theoretical</a:t>
              </a:r>
              <a:endParaRPr sz="1150" dirty="0">
                <a:latin typeface="Helvetica Neue"/>
                <a:ea typeface="Helvetica Neue"/>
                <a:cs typeface="Helvetica Neue"/>
                <a:sym typeface="Helvetica Neue"/>
              </a:endParaRPr>
            </a:p>
            <a:p>
              <a:pPr marL="0" marR="0" lvl="0" indent="0" algn="l" rtl="0">
                <a:lnSpc>
                  <a:spcPct val="100000"/>
                </a:lnSpc>
                <a:spcBef>
                  <a:spcPts val="0"/>
                </a:spcBef>
                <a:spcAft>
                  <a:spcPts val="0"/>
                </a:spcAft>
                <a:buClr>
                  <a:srgbClr val="FFFFFF"/>
                </a:buClr>
                <a:buSzPts val="1150"/>
                <a:buFont typeface="Arial"/>
                <a:buNone/>
              </a:pPr>
              <a:r>
                <a:rPr lang="en-US" sz="1150" b="1" dirty="0">
                  <a:latin typeface="Helvetica Neue"/>
                  <a:ea typeface="Helvetica Neue"/>
                  <a:cs typeface="Helvetica Neue"/>
                  <a:sym typeface="Helvetica Neue"/>
                </a:rPr>
                <a:t>Estimate</a:t>
              </a:r>
              <a:endParaRPr sz="1150" dirty="0">
                <a:latin typeface="Helvetica Neue"/>
                <a:ea typeface="Helvetica Neue"/>
                <a:cs typeface="Helvetica Neue"/>
                <a:sym typeface="Helvetica Neue"/>
              </a:endParaRPr>
            </a:p>
          </p:txBody>
        </p:sp>
        <p:sp>
          <p:nvSpPr>
            <p:cNvPr id="266" name="Google Shape;266;p7"/>
            <p:cNvSpPr/>
            <p:nvPr/>
          </p:nvSpPr>
          <p:spPr>
            <a:xfrm>
              <a:off x="3994079" y="3154675"/>
              <a:ext cx="1419249" cy="3840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C₀ = f(difficulty, params) </a:t>
              </a:r>
              <a:endParaRPr sz="950" dirty="0">
                <a:latin typeface="Helvetica Neue"/>
                <a:ea typeface="Helvetica Neue"/>
                <a:cs typeface="Helvetica Neue"/>
                <a:sym typeface="Helvetica Neue"/>
              </a:endParaRPr>
            </a:p>
          </p:txBody>
        </p:sp>
        <p:sp>
          <p:nvSpPr>
            <p:cNvPr id="270" name="Google Shape;270;p7"/>
            <p:cNvSpPr/>
            <p:nvPr/>
          </p:nvSpPr>
          <p:spPr>
            <a:xfrm>
              <a:off x="3550324" y="2880360"/>
              <a:ext cx="32010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9A9A9A"/>
                </a:buClr>
                <a:buSzPts val="2000"/>
                <a:buFont typeface="Arial"/>
                <a:buNone/>
              </a:pPr>
              <a:r>
                <a:rPr lang="en-US" sz="2000" dirty="0">
                  <a:solidFill>
                    <a:srgbClr val="9A9A9A"/>
                  </a:solidFill>
                  <a:latin typeface="Arial"/>
                  <a:ea typeface="Arial"/>
                  <a:cs typeface="Arial"/>
                  <a:sym typeface="Arial"/>
                </a:rPr>
                <a:t>→</a:t>
              </a:r>
              <a:endParaRPr sz="2000" dirty="0">
                <a:solidFill>
                  <a:schemeClr val="lt1"/>
                </a:solidFill>
                <a:latin typeface="Calibri"/>
                <a:ea typeface="Calibri"/>
                <a:cs typeface="Calibri"/>
                <a:sym typeface="Calibri"/>
              </a:endParaRPr>
            </a:p>
          </p:txBody>
        </p:sp>
        <p:grpSp>
          <p:nvGrpSpPr>
            <p:cNvPr id="41" name="Group 40">
              <a:extLst>
                <a:ext uri="{FF2B5EF4-FFF2-40B4-BE49-F238E27FC236}">
                  <a16:creationId xmlns:a16="http://schemas.microsoft.com/office/drawing/2014/main" id="{BB46C2AB-D552-EBEA-7B21-C345E9768298}"/>
                </a:ext>
              </a:extLst>
            </p:cNvPr>
            <p:cNvGrpSpPr/>
            <p:nvPr/>
          </p:nvGrpSpPr>
          <p:grpSpPr>
            <a:xfrm>
              <a:off x="5432614" y="2613346"/>
              <a:ext cx="2115563" cy="960000"/>
              <a:chOff x="6061789" y="2613346"/>
              <a:chExt cx="2115563" cy="960000"/>
            </a:xfrm>
          </p:grpSpPr>
          <p:sp>
            <p:nvSpPr>
              <p:cNvPr id="267" name="Google Shape;267;p7"/>
              <p:cNvSpPr/>
              <p:nvPr/>
            </p:nvSpPr>
            <p:spPr>
              <a:xfrm>
                <a:off x="6374077" y="2613346"/>
                <a:ext cx="1602000" cy="960000"/>
              </a:xfrm>
              <a:prstGeom prst="roundRect">
                <a:avLst>
                  <a:gd name="adj" fmla="val 5714"/>
                </a:avLst>
              </a:prstGeom>
              <a:solidFill>
                <a:srgbClr val="FFD6CA"/>
              </a:solidFill>
              <a:ln w="12700"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7"/>
              <p:cNvSpPr/>
              <p:nvPr/>
            </p:nvSpPr>
            <p:spPr>
              <a:xfrm>
                <a:off x="6486730" y="2697474"/>
                <a:ext cx="1446929" cy="411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FFFF"/>
                  </a:buClr>
                  <a:buSzPts val="1150"/>
                  <a:buFont typeface="Arial"/>
                  <a:buNone/>
                </a:pPr>
                <a:r>
                  <a:rPr lang="en-US" sz="1150" b="1" dirty="0">
                    <a:latin typeface="Helvetica Neue"/>
                    <a:ea typeface="Helvetica Neue"/>
                    <a:cs typeface="Helvetica Neue"/>
                    <a:sym typeface="Helvetica Neue"/>
                  </a:rPr>
                  <a:t>Predictive</a:t>
                </a:r>
                <a:endParaRPr sz="1150" dirty="0">
                  <a:latin typeface="Helvetica Neue"/>
                  <a:ea typeface="Helvetica Neue"/>
                  <a:cs typeface="Helvetica Neue"/>
                  <a:sym typeface="Helvetica Neue"/>
                </a:endParaRPr>
              </a:p>
              <a:p>
                <a:pPr marL="0" marR="0" lvl="0" indent="0" algn="l" rtl="0">
                  <a:lnSpc>
                    <a:spcPct val="100000"/>
                  </a:lnSpc>
                  <a:spcBef>
                    <a:spcPts val="0"/>
                  </a:spcBef>
                  <a:spcAft>
                    <a:spcPts val="0"/>
                  </a:spcAft>
                  <a:buClr>
                    <a:srgbClr val="FFFFFF"/>
                  </a:buClr>
                  <a:buSzPts val="1150"/>
                  <a:buFont typeface="Arial"/>
                  <a:buNone/>
                </a:pPr>
                <a:r>
                  <a:rPr lang="en-US" sz="1150" b="1" dirty="0">
                    <a:latin typeface="Helvetica Neue"/>
                    <a:ea typeface="Helvetica Neue"/>
                    <a:cs typeface="Helvetica Neue"/>
                    <a:sym typeface="Helvetica Neue"/>
                  </a:rPr>
                  <a:t>Correction</a:t>
                </a:r>
                <a:endParaRPr sz="1150" dirty="0">
                  <a:latin typeface="Helvetica Neue"/>
                  <a:ea typeface="Helvetica Neue"/>
                  <a:cs typeface="Helvetica Neue"/>
                  <a:sym typeface="Helvetica Neue"/>
                </a:endParaRPr>
              </a:p>
            </p:txBody>
          </p:sp>
          <p:sp>
            <p:nvSpPr>
              <p:cNvPr id="269" name="Google Shape;269;p7"/>
              <p:cNvSpPr/>
              <p:nvPr/>
            </p:nvSpPr>
            <p:spPr>
              <a:xfrm>
                <a:off x="6486729" y="3154675"/>
                <a:ext cx="1690623" cy="3840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ΔC = g(C₀, features)</a:t>
                </a:r>
                <a:endParaRPr sz="950" dirty="0">
                  <a:latin typeface="Helvetica Neue"/>
                  <a:ea typeface="Helvetica Neue"/>
                  <a:cs typeface="Helvetica Neue"/>
                  <a:sym typeface="Helvetica Neue"/>
                </a:endParaRPr>
              </a:p>
              <a:p>
                <a:pPr marL="0" marR="0" lvl="0" indent="0" algn="l" rtl="0">
                  <a:lnSpc>
                    <a:spcPct val="105000"/>
                  </a:lnSpc>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learned residual</a:t>
                </a:r>
                <a:endParaRPr sz="950" dirty="0">
                  <a:latin typeface="Helvetica Neue"/>
                  <a:ea typeface="Helvetica Neue"/>
                  <a:cs typeface="Helvetica Neue"/>
                  <a:sym typeface="Helvetica Neue"/>
                </a:endParaRPr>
              </a:p>
            </p:txBody>
          </p:sp>
          <p:sp>
            <p:nvSpPr>
              <p:cNvPr id="271" name="Google Shape;271;p7"/>
              <p:cNvSpPr/>
              <p:nvPr/>
            </p:nvSpPr>
            <p:spPr>
              <a:xfrm>
                <a:off x="6061789" y="2880360"/>
                <a:ext cx="32010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9A9A9A"/>
                  </a:buClr>
                  <a:buSzPts val="2000"/>
                  <a:buFont typeface="Arial"/>
                  <a:buNone/>
                </a:pPr>
                <a:r>
                  <a:rPr lang="en-US" sz="2000">
                    <a:solidFill>
                      <a:srgbClr val="9A9A9A"/>
                    </a:solidFill>
                    <a:latin typeface="Arial"/>
                    <a:ea typeface="Arial"/>
                    <a:cs typeface="Arial"/>
                    <a:sym typeface="Arial"/>
                  </a:rPr>
                  <a:t>→</a:t>
                </a:r>
                <a:endParaRPr sz="2000">
                  <a:solidFill>
                    <a:schemeClr val="dk1"/>
                  </a:solidFill>
                  <a:latin typeface="Calibri"/>
                  <a:ea typeface="Calibri"/>
                  <a:cs typeface="Calibri"/>
                  <a:sym typeface="Calibri"/>
                </a:endParaRPr>
              </a:p>
            </p:txBody>
          </p:sp>
        </p:grpSp>
        <p:sp>
          <p:nvSpPr>
            <p:cNvPr id="272" name="Google Shape;272;p7"/>
            <p:cNvSpPr/>
            <p:nvPr/>
          </p:nvSpPr>
          <p:spPr>
            <a:xfrm>
              <a:off x="7643811" y="2468880"/>
              <a:ext cx="1691700" cy="1234500"/>
            </a:xfrm>
            <a:prstGeom prst="diamond">
              <a:avLst/>
            </a:prstGeom>
            <a:solidFill>
              <a:srgbClr val="1F1409"/>
            </a:solidFill>
            <a:ln w="15875" cap="flat" cmpd="sng">
              <a:solidFill>
                <a:srgbClr val="FF79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7"/>
            <p:cNvSpPr/>
            <p:nvPr/>
          </p:nvSpPr>
          <p:spPr>
            <a:xfrm>
              <a:off x="7643811" y="2507907"/>
              <a:ext cx="1691700" cy="12345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7900"/>
                </a:buClr>
                <a:buSzPts val="1050"/>
                <a:buFont typeface="Arial"/>
                <a:buNone/>
              </a:pPr>
              <a:r>
                <a:rPr lang="en-US" sz="1050" b="1" dirty="0">
                  <a:solidFill>
                    <a:schemeClr val="bg1"/>
                  </a:solidFill>
                  <a:latin typeface="Helvetica Neue"/>
                  <a:ea typeface="Helvetica Neue"/>
                  <a:cs typeface="Helvetica Neue"/>
                  <a:sym typeface="Helvetica Neue"/>
                </a:rPr>
                <a:t>Long-tail /</a:t>
              </a:r>
              <a:endParaRPr sz="1050" dirty="0">
                <a:solidFill>
                  <a:schemeClr val="bg1"/>
                </a:solidFill>
                <a:latin typeface="Helvetica Neue"/>
                <a:ea typeface="Helvetica Neue"/>
                <a:cs typeface="Helvetica Neue"/>
                <a:sym typeface="Helvetica Neue"/>
              </a:endParaRPr>
            </a:p>
            <a:p>
              <a:pPr marL="0" marR="0" lvl="0" indent="0" algn="ctr" rtl="0">
                <a:spcBef>
                  <a:spcPts val="0"/>
                </a:spcBef>
                <a:spcAft>
                  <a:spcPts val="0"/>
                </a:spcAft>
                <a:buClr>
                  <a:srgbClr val="FF7900"/>
                </a:buClr>
                <a:buSzPts val="1050"/>
                <a:buFont typeface="Arial"/>
                <a:buNone/>
              </a:pPr>
              <a:r>
                <a:rPr lang="en-US" sz="1050" b="1" dirty="0">
                  <a:solidFill>
                    <a:schemeClr val="bg1"/>
                  </a:solidFill>
                  <a:latin typeface="Helvetica Neue"/>
                  <a:ea typeface="Helvetica Neue"/>
                  <a:cs typeface="Helvetica Neue"/>
                  <a:sym typeface="Helvetica Neue"/>
                </a:rPr>
                <a:t>misjudged</a:t>
              </a:r>
              <a:endParaRPr sz="1050" dirty="0">
                <a:solidFill>
                  <a:schemeClr val="bg1"/>
                </a:solidFill>
                <a:latin typeface="Helvetica Neue"/>
                <a:ea typeface="Helvetica Neue"/>
                <a:cs typeface="Helvetica Neue"/>
                <a:sym typeface="Helvetica Neue"/>
              </a:endParaRPr>
            </a:p>
            <a:p>
              <a:pPr marL="0" marR="0" lvl="0" indent="0" algn="ctr" rtl="0">
                <a:spcBef>
                  <a:spcPts val="0"/>
                </a:spcBef>
                <a:spcAft>
                  <a:spcPts val="0"/>
                </a:spcAft>
                <a:buClr>
                  <a:srgbClr val="FF7900"/>
                </a:buClr>
                <a:buSzPts val="1050"/>
                <a:buFont typeface="Arial"/>
                <a:buNone/>
              </a:pPr>
              <a:r>
                <a:rPr lang="en-US" sz="1050" b="1" dirty="0">
                  <a:solidFill>
                    <a:schemeClr val="bg1"/>
                  </a:solidFill>
                  <a:latin typeface="Helvetica Neue"/>
                  <a:ea typeface="Helvetica Neue"/>
                  <a:cs typeface="Helvetica Neue"/>
                  <a:sym typeface="Helvetica Neue"/>
                </a:rPr>
                <a:t>case?</a:t>
              </a:r>
              <a:endParaRPr sz="1050" dirty="0">
                <a:solidFill>
                  <a:schemeClr val="bg1"/>
                </a:solidFill>
                <a:latin typeface="Helvetica Neue"/>
                <a:ea typeface="Helvetica Neue"/>
                <a:cs typeface="Helvetica Neue"/>
                <a:sym typeface="Helvetica Neue"/>
              </a:endParaRPr>
            </a:p>
          </p:txBody>
        </p:sp>
        <p:sp>
          <p:nvSpPr>
            <p:cNvPr id="274" name="Google Shape;274;p7"/>
            <p:cNvSpPr/>
            <p:nvPr/>
          </p:nvSpPr>
          <p:spPr>
            <a:xfrm>
              <a:off x="7323771" y="2880360"/>
              <a:ext cx="32010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9A9A9A"/>
                </a:buClr>
                <a:buSzPts val="2000"/>
                <a:buFont typeface="Arial"/>
                <a:buNone/>
              </a:pPr>
              <a:r>
                <a:rPr lang="en-US" sz="2000">
                  <a:solidFill>
                    <a:srgbClr val="9A9A9A"/>
                  </a:solidFill>
                  <a:latin typeface="Arial"/>
                  <a:ea typeface="Arial"/>
                  <a:cs typeface="Arial"/>
                  <a:sym typeface="Arial"/>
                </a:rPr>
                <a:t>→</a:t>
              </a:r>
              <a:endParaRPr sz="2000">
                <a:solidFill>
                  <a:schemeClr val="dk1"/>
                </a:solidFill>
                <a:latin typeface="Calibri"/>
                <a:ea typeface="Calibri"/>
                <a:cs typeface="Calibri"/>
                <a:sym typeface="Calibri"/>
              </a:endParaRPr>
            </a:p>
          </p:txBody>
        </p:sp>
        <p:sp>
          <p:nvSpPr>
            <p:cNvPr id="275" name="Google Shape;275;p7"/>
            <p:cNvSpPr/>
            <p:nvPr/>
          </p:nvSpPr>
          <p:spPr>
            <a:xfrm>
              <a:off x="9987534" y="2377440"/>
              <a:ext cx="1508700" cy="1417200"/>
            </a:xfrm>
            <a:prstGeom prst="roundRect">
              <a:avLst>
                <a:gd name="adj" fmla="val 3871"/>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7"/>
            <p:cNvSpPr/>
            <p:nvPr/>
          </p:nvSpPr>
          <p:spPr>
            <a:xfrm>
              <a:off x="9995339" y="2376924"/>
              <a:ext cx="1508700" cy="141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00000"/>
                </a:buClr>
                <a:buSzPts val="1200"/>
                <a:buFont typeface="Arial"/>
                <a:buNone/>
              </a:pPr>
              <a:r>
                <a:rPr lang="en-US" sz="1200" b="1">
                  <a:solidFill>
                    <a:srgbClr val="000000"/>
                  </a:solidFill>
                  <a:latin typeface="Helvetica Neue"/>
                  <a:ea typeface="Helvetica Neue"/>
                  <a:cs typeface="Helvetica Neue"/>
                  <a:sym typeface="Helvetica Neue"/>
                </a:rPr>
                <a:t>Final</a:t>
              </a:r>
              <a:endParaRPr sz="1200">
                <a:solidFill>
                  <a:schemeClr val="dk1"/>
                </a:solidFill>
                <a:latin typeface="Helvetica Neue"/>
                <a:ea typeface="Helvetica Neue"/>
                <a:cs typeface="Helvetica Neue"/>
                <a:sym typeface="Helvetica Neue"/>
              </a:endParaRPr>
            </a:p>
            <a:p>
              <a:pPr marL="0" marR="0" lvl="0" indent="0" algn="ctr" rtl="0">
                <a:spcBef>
                  <a:spcPts val="0"/>
                </a:spcBef>
                <a:spcAft>
                  <a:spcPts val="0"/>
                </a:spcAft>
                <a:buClr>
                  <a:srgbClr val="000000"/>
                </a:buClr>
                <a:buSzPts val="1200"/>
                <a:buFont typeface="Arial"/>
                <a:buNone/>
              </a:pPr>
              <a:r>
                <a:rPr lang="en-US" sz="1200" b="1">
                  <a:solidFill>
                    <a:srgbClr val="000000"/>
                  </a:solidFill>
                  <a:latin typeface="Helvetica Neue"/>
                  <a:ea typeface="Helvetica Neue"/>
                  <a:cs typeface="Helvetica Neue"/>
                  <a:sym typeface="Helvetica Neue"/>
                </a:rPr>
                <a:t>Compute</a:t>
              </a:r>
              <a:endParaRPr sz="1200">
                <a:solidFill>
                  <a:schemeClr val="dk1"/>
                </a:solidFill>
                <a:latin typeface="Helvetica Neue"/>
                <a:ea typeface="Helvetica Neue"/>
                <a:cs typeface="Helvetica Neue"/>
                <a:sym typeface="Helvetica Neue"/>
              </a:endParaRPr>
            </a:p>
            <a:p>
              <a:pPr marL="0" marR="0" lvl="0" indent="0" algn="ctr" rtl="0">
                <a:spcBef>
                  <a:spcPts val="0"/>
                </a:spcBef>
                <a:spcAft>
                  <a:spcPts val="0"/>
                </a:spcAft>
                <a:buClr>
                  <a:srgbClr val="000000"/>
                </a:buClr>
                <a:buSzPts val="1200"/>
                <a:buFont typeface="Arial"/>
                <a:buNone/>
              </a:pPr>
              <a:r>
                <a:rPr lang="en-US" sz="1200" b="1">
                  <a:solidFill>
                    <a:srgbClr val="000000"/>
                  </a:solidFill>
                  <a:latin typeface="Helvetica Neue"/>
                  <a:ea typeface="Helvetica Neue"/>
                  <a:cs typeface="Helvetica Neue"/>
                  <a:sym typeface="Helvetica Neue"/>
                </a:rPr>
                <a:t>Budget</a:t>
              </a:r>
              <a:endParaRPr sz="1200">
                <a:solidFill>
                  <a:schemeClr val="dk1"/>
                </a:solidFill>
                <a:latin typeface="Helvetica Neue"/>
                <a:ea typeface="Helvetica Neue"/>
                <a:cs typeface="Helvetica Neue"/>
                <a:sym typeface="Helvetica Neue"/>
              </a:endParaRPr>
            </a:p>
          </p:txBody>
        </p:sp>
        <p:sp>
          <p:nvSpPr>
            <p:cNvPr id="277" name="Google Shape;277;p7"/>
            <p:cNvSpPr/>
            <p:nvPr/>
          </p:nvSpPr>
          <p:spPr>
            <a:xfrm>
              <a:off x="9457637" y="2843046"/>
              <a:ext cx="548700" cy="219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9A9A"/>
                </a:buClr>
                <a:buSzPts val="900"/>
                <a:buFont typeface="Arial"/>
                <a:buNone/>
              </a:pPr>
              <a:r>
                <a:rPr lang="en-US" sz="900" i="1">
                  <a:solidFill>
                    <a:srgbClr val="9A9A9A"/>
                  </a:solidFill>
                  <a:latin typeface="Arial"/>
                  <a:ea typeface="Arial"/>
                  <a:cs typeface="Arial"/>
                  <a:sym typeface="Arial"/>
                </a:rPr>
                <a:t>no</a:t>
              </a:r>
              <a:endParaRPr sz="900">
                <a:solidFill>
                  <a:schemeClr val="dk1"/>
                </a:solidFill>
                <a:latin typeface="Calibri"/>
                <a:ea typeface="Calibri"/>
                <a:cs typeface="Calibri"/>
                <a:sym typeface="Calibri"/>
              </a:endParaRPr>
            </a:p>
          </p:txBody>
        </p:sp>
        <p:cxnSp>
          <p:nvCxnSpPr>
            <p:cNvPr id="278" name="Google Shape;278;p7"/>
            <p:cNvCxnSpPr/>
            <p:nvPr/>
          </p:nvCxnSpPr>
          <p:spPr>
            <a:xfrm>
              <a:off x="8489631" y="3703320"/>
              <a:ext cx="0" cy="292500"/>
            </a:xfrm>
            <a:prstGeom prst="straightConnector1">
              <a:avLst/>
            </a:prstGeom>
            <a:noFill/>
            <a:ln w="12700" cap="flat" cmpd="sng">
              <a:solidFill>
                <a:srgbClr val="9A9A9A"/>
              </a:solidFill>
              <a:prstDash val="solid"/>
              <a:round/>
              <a:headEnd type="none" w="sm" len="sm"/>
              <a:tailEnd type="triangle" w="med" len="med"/>
            </a:ln>
          </p:spPr>
        </p:cxnSp>
        <p:sp>
          <p:nvSpPr>
            <p:cNvPr id="279" name="Google Shape;279;p7"/>
            <p:cNvSpPr/>
            <p:nvPr/>
          </p:nvSpPr>
          <p:spPr>
            <a:xfrm>
              <a:off x="8544495" y="3696320"/>
              <a:ext cx="548700" cy="219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9A9A"/>
                </a:buClr>
                <a:buSzPts val="900"/>
                <a:buFont typeface="Arial"/>
                <a:buNone/>
              </a:pPr>
              <a:r>
                <a:rPr lang="en-US" sz="900" i="1">
                  <a:solidFill>
                    <a:srgbClr val="9A9A9A"/>
                  </a:solidFill>
                  <a:latin typeface="Arial"/>
                  <a:ea typeface="Arial"/>
                  <a:cs typeface="Arial"/>
                  <a:sym typeface="Arial"/>
                </a:rPr>
                <a:t>yes</a:t>
              </a:r>
              <a:endParaRPr sz="900">
                <a:solidFill>
                  <a:schemeClr val="dk1"/>
                </a:solidFill>
                <a:latin typeface="Calibri"/>
                <a:ea typeface="Calibri"/>
                <a:cs typeface="Calibri"/>
                <a:sym typeface="Calibri"/>
              </a:endParaRPr>
            </a:p>
          </p:txBody>
        </p:sp>
        <p:sp>
          <p:nvSpPr>
            <p:cNvPr id="280" name="Google Shape;280;p7"/>
            <p:cNvSpPr/>
            <p:nvPr/>
          </p:nvSpPr>
          <p:spPr>
            <a:xfrm>
              <a:off x="7438071" y="3995928"/>
              <a:ext cx="2103000" cy="777300"/>
            </a:xfrm>
            <a:prstGeom prst="roundRect">
              <a:avLst>
                <a:gd name="adj" fmla="val 7059"/>
              </a:avLst>
            </a:prstGeom>
            <a:solidFill>
              <a:srgbClr val="FFD6CA"/>
            </a:solidFill>
            <a:ln w="12700"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7"/>
            <p:cNvSpPr/>
            <p:nvPr/>
          </p:nvSpPr>
          <p:spPr>
            <a:xfrm>
              <a:off x="7575231" y="4087368"/>
              <a:ext cx="1828800" cy="274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050"/>
                <a:buFont typeface="Arial"/>
                <a:buNone/>
              </a:pPr>
              <a:r>
                <a:rPr lang="en-US" sz="1050" b="1" dirty="0">
                  <a:latin typeface="Helvetica Neue"/>
                  <a:ea typeface="Helvetica Neue"/>
                  <a:cs typeface="Helvetica Neue"/>
                  <a:sym typeface="Helvetica Neue"/>
                </a:rPr>
                <a:t>RL Residual Correction</a:t>
              </a:r>
              <a:endParaRPr sz="1050" dirty="0">
                <a:latin typeface="Helvetica Neue"/>
                <a:ea typeface="Helvetica Neue"/>
                <a:cs typeface="Helvetica Neue"/>
                <a:sym typeface="Helvetica Neue"/>
              </a:endParaRPr>
            </a:p>
          </p:txBody>
        </p:sp>
        <p:sp>
          <p:nvSpPr>
            <p:cNvPr id="282" name="Google Shape;282;p7"/>
            <p:cNvSpPr/>
            <p:nvPr/>
          </p:nvSpPr>
          <p:spPr>
            <a:xfrm>
              <a:off x="7575231" y="4379976"/>
              <a:ext cx="1828800" cy="365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a:latin typeface="Helvetica Neue"/>
                  <a:ea typeface="Helvetica Neue"/>
                  <a:cs typeface="Helvetica Neue"/>
                  <a:sym typeface="Helvetica Neue"/>
                </a:rPr>
                <a:t>Overrides C₀ + ΔC for this case only</a:t>
              </a:r>
              <a:endParaRPr sz="950">
                <a:latin typeface="Helvetica Neue"/>
                <a:ea typeface="Helvetica Neue"/>
                <a:cs typeface="Helvetica Neue"/>
                <a:sym typeface="Helvetica Neue"/>
              </a:endParaRPr>
            </a:p>
          </p:txBody>
        </p:sp>
        <p:cxnSp>
          <p:nvCxnSpPr>
            <p:cNvPr id="285" name="Google Shape;285;p7"/>
            <p:cNvCxnSpPr/>
            <p:nvPr/>
          </p:nvCxnSpPr>
          <p:spPr>
            <a:xfrm rot="10800000" flipH="1">
              <a:off x="9354798" y="3083118"/>
              <a:ext cx="569700" cy="7800"/>
            </a:xfrm>
            <a:prstGeom prst="straightConnector1">
              <a:avLst/>
            </a:prstGeom>
            <a:noFill/>
            <a:ln w="9525" cap="flat" cmpd="sng">
              <a:solidFill>
                <a:srgbClr val="9A9A9A"/>
              </a:solidFill>
              <a:prstDash val="solid"/>
              <a:round/>
              <a:headEnd type="none" w="med" len="med"/>
              <a:tailEnd type="triangle" w="med" len="med"/>
            </a:ln>
          </p:spPr>
        </p:cxnSp>
        <p:grpSp>
          <p:nvGrpSpPr>
            <p:cNvPr id="42" name="Group 41">
              <a:extLst>
                <a:ext uri="{FF2B5EF4-FFF2-40B4-BE49-F238E27FC236}">
                  <a16:creationId xmlns:a16="http://schemas.microsoft.com/office/drawing/2014/main" id="{50951743-CE69-E147-E5D3-20F236A2AF78}"/>
                </a:ext>
              </a:extLst>
            </p:cNvPr>
            <p:cNvGrpSpPr/>
            <p:nvPr/>
          </p:nvGrpSpPr>
          <p:grpSpPr>
            <a:xfrm>
              <a:off x="1973547" y="2623271"/>
              <a:ext cx="1602000" cy="960000"/>
              <a:chOff x="1182111" y="2606050"/>
              <a:chExt cx="1602000" cy="960000"/>
            </a:xfrm>
          </p:grpSpPr>
          <p:sp>
            <p:nvSpPr>
              <p:cNvPr id="44" name="Google Shape;261;p7">
                <a:extLst>
                  <a:ext uri="{FF2B5EF4-FFF2-40B4-BE49-F238E27FC236}">
                    <a16:creationId xmlns:a16="http://schemas.microsoft.com/office/drawing/2014/main" id="{7E8CE55F-B731-AAEE-C51B-02F5F9120D12}"/>
                  </a:ext>
                </a:extLst>
              </p:cNvPr>
              <p:cNvSpPr/>
              <p:nvPr/>
            </p:nvSpPr>
            <p:spPr>
              <a:xfrm>
                <a:off x="1182111" y="2606050"/>
                <a:ext cx="1602000" cy="960000"/>
              </a:xfrm>
              <a:prstGeom prst="roundRect">
                <a:avLst>
                  <a:gd name="adj" fmla="val 5714"/>
                </a:avLst>
              </a:prstGeom>
              <a:solidFill>
                <a:srgbClr val="FFD6CA"/>
              </a:solidFill>
              <a:ln w="12700"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262;p7">
                <a:extLst>
                  <a:ext uri="{FF2B5EF4-FFF2-40B4-BE49-F238E27FC236}">
                    <a16:creationId xmlns:a16="http://schemas.microsoft.com/office/drawing/2014/main" id="{6E81AA32-E99C-E00B-A53E-A15642F90264}"/>
                  </a:ext>
                </a:extLst>
              </p:cNvPr>
              <p:cNvSpPr/>
              <p:nvPr/>
            </p:nvSpPr>
            <p:spPr>
              <a:xfrm>
                <a:off x="1319271" y="2697480"/>
                <a:ext cx="1280100" cy="411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FFFF"/>
                  </a:buClr>
                  <a:buSzPts val="1150"/>
                  <a:buFont typeface="Arial"/>
                  <a:buNone/>
                </a:pPr>
                <a:r>
                  <a:rPr lang="en-US" sz="1150" b="1" dirty="0">
                    <a:latin typeface="Helvetica Neue"/>
                    <a:ea typeface="Helvetica Neue"/>
                    <a:cs typeface="Helvetica Neue"/>
                    <a:sym typeface="Helvetica Neue"/>
                  </a:rPr>
                  <a:t>Difficulty probe</a:t>
                </a:r>
                <a:endParaRPr sz="1150" dirty="0">
                  <a:latin typeface="Helvetica Neue"/>
                  <a:ea typeface="Helvetica Neue"/>
                  <a:cs typeface="Helvetica Neue"/>
                  <a:sym typeface="Helvetica Neue"/>
                </a:endParaRPr>
              </a:p>
            </p:txBody>
          </p:sp>
          <p:sp>
            <p:nvSpPr>
              <p:cNvPr id="46" name="Google Shape;263;p7">
                <a:extLst>
                  <a:ext uri="{FF2B5EF4-FFF2-40B4-BE49-F238E27FC236}">
                    <a16:creationId xmlns:a16="http://schemas.microsoft.com/office/drawing/2014/main" id="{D78881B8-DB63-15C6-8663-B880EA33E8C9}"/>
                  </a:ext>
                </a:extLst>
              </p:cNvPr>
              <p:cNvSpPr/>
              <p:nvPr/>
            </p:nvSpPr>
            <p:spPr>
              <a:xfrm>
                <a:off x="1319271" y="3154680"/>
                <a:ext cx="1280100" cy="3840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D6D6D6"/>
                  </a:buClr>
                  <a:buSzPts val="950"/>
                  <a:buFont typeface="Arial"/>
                  <a:buNone/>
                </a:pPr>
                <a:endParaRPr sz="950" dirty="0">
                  <a:solidFill>
                    <a:schemeClr val="lt1"/>
                  </a:solidFill>
                  <a:latin typeface="Helvetica Neue"/>
                  <a:ea typeface="Helvetica Neue"/>
                  <a:cs typeface="Helvetica Neue"/>
                  <a:sym typeface="Helvetica Neue"/>
                </a:endParaRPr>
              </a:p>
            </p:txBody>
          </p:sp>
        </p:grpSp>
        <p:sp>
          <p:nvSpPr>
            <p:cNvPr id="43" name="Google Shape;270;p7">
              <a:extLst>
                <a:ext uri="{FF2B5EF4-FFF2-40B4-BE49-F238E27FC236}">
                  <a16:creationId xmlns:a16="http://schemas.microsoft.com/office/drawing/2014/main" id="{47581CC3-8317-3EF6-6AD1-50E96874A801}"/>
                </a:ext>
              </a:extLst>
            </p:cNvPr>
            <p:cNvSpPr/>
            <p:nvPr/>
          </p:nvSpPr>
          <p:spPr>
            <a:xfrm>
              <a:off x="1664197" y="2873369"/>
              <a:ext cx="32010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9A9A9A"/>
                </a:buClr>
                <a:buSzPts val="2000"/>
                <a:buFont typeface="Arial"/>
                <a:buNone/>
              </a:pPr>
              <a:r>
                <a:rPr lang="en-US" sz="2000" dirty="0">
                  <a:solidFill>
                    <a:srgbClr val="9A9A9A"/>
                  </a:solidFill>
                  <a:latin typeface="Arial"/>
                  <a:ea typeface="Arial"/>
                  <a:cs typeface="Arial"/>
                  <a:sym typeface="Arial"/>
                </a:rPr>
                <a:t>→</a:t>
              </a:r>
              <a:endParaRPr sz="2000" dirty="0">
                <a:solidFill>
                  <a:schemeClr val="lt1"/>
                </a:solidFill>
                <a:latin typeface="Calibri"/>
                <a:ea typeface="Calibri"/>
                <a:cs typeface="Calibri"/>
                <a:sym typeface="Calibri"/>
              </a:endParaRPr>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137160"/>
            <a:ext cx="8503920" cy="566928"/>
          </a:xfrm>
          <a:prstGeom prst="rect">
            <a:avLst/>
          </a:prstGeom>
          <a:noFill/>
          <a:ln/>
        </p:spPr>
        <p:txBody>
          <a:bodyPr wrap="square" lIns="0" tIns="0" rIns="0" bIns="0" rtlCol="0" anchor="t"/>
          <a:lstStyle/>
          <a:p>
            <a:pPr marL="0" indent="0" algn="l">
              <a:buNone/>
            </a:pPr>
            <a:endParaRPr lang="en-US" sz="2500" dirty="0"/>
          </a:p>
        </p:txBody>
      </p:sp>
      <p:sp>
        <p:nvSpPr>
          <p:cNvPr id="3" name="Text 1"/>
          <p:cNvSpPr txBox="1"/>
          <p:nvPr/>
        </p:nvSpPr>
        <p:spPr>
          <a:xfrm>
            <a:off x="320040" y="1231392"/>
            <a:ext cx="4160520" cy="2880360"/>
          </a:xfrm>
          <a:prstGeom prst="rect">
            <a:avLst/>
          </a:prstGeom>
          <a:noFill/>
          <a:ln/>
        </p:spPr>
        <p:txBody>
          <a:bodyPr wrap="square" lIns="0" tIns="0" rIns="0" bIns="0" rtlCol="0" anchor="t"/>
          <a:lstStyle/>
          <a:p>
            <a:pPr marL="177800" indent="-177800">
              <a:spcAft>
                <a:spcPts val="500"/>
              </a:spcAft>
              <a:buSzPct val="100000"/>
              <a:buChar char="●"/>
            </a:pPr>
            <a:r>
              <a:rPr lang="en-US" sz="1200" b="1" dirty="0">
                <a:solidFill>
                  <a:srgbClr val="FF7900"/>
                </a:solidFill>
                <a:latin typeface="Helvetica Neue"/>
              </a:rPr>
              <a:t>Stage 1. Cheap Difficulty Signal Extraction</a:t>
            </a:r>
          </a:p>
          <a:p>
            <a:pPr marL="457200" lvl="1" indent="-228600">
              <a:spcAft>
                <a:spcPts val="400"/>
              </a:spcAft>
              <a:buSzPct val="100000"/>
              <a:buChar char="•"/>
            </a:pPr>
            <a:r>
              <a:rPr lang="en-US" sz="950" dirty="0">
                <a:solidFill>
                  <a:srgbClr val="FFFFFF"/>
                </a:solidFill>
                <a:latin typeface="Arial" pitchFamily="34" charset="0"/>
                <a:ea typeface="Arial" pitchFamily="34" charset="-122"/>
                <a:cs typeface="Arial" pitchFamily="34" charset="-120"/>
              </a:rPr>
              <a:t>Before any budget estimate, run a short, fixed-cost probe on the query — far cheaper than solving the problem itself</a:t>
            </a:r>
            <a:endParaRPr lang="en-US" sz="1150" dirty="0"/>
          </a:p>
          <a:p>
            <a:pPr marL="457200" lvl="1" indent="-228600">
              <a:spcAft>
                <a:spcPts val="400"/>
              </a:spcAft>
              <a:buSzPct val="100000"/>
              <a:buChar char="•"/>
            </a:pPr>
            <a:r>
              <a:rPr lang="en-US" sz="900" dirty="0">
                <a:solidFill>
                  <a:srgbClr val="FFFFFF"/>
                </a:solidFill>
                <a:latin typeface="Arial" pitchFamily="34" charset="0"/>
                <a:ea typeface="Arial" pitchFamily="34" charset="-122"/>
                <a:cs typeface="Arial" pitchFamily="34" charset="-120"/>
              </a:rPr>
              <a:t>(a) A short forced-CoT prefix (64–128 tokens) whose token-probability entropy trajectory is read out, in the style of DiffAdapt's U-shaped signal — the shape of the trajectory, not one value, carries the signal</a:t>
            </a:r>
            <a:endParaRPr lang="en-US" sz="1150" dirty="0"/>
          </a:p>
          <a:p>
            <a:pPr marL="457200" lvl="1" indent="-228600">
              <a:spcAft>
                <a:spcPts val="400"/>
              </a:spcAft>
              <a:buSzPct val="100000"/>
              <a:buChar char="•"/>
            </a:pPr>
            <a:r>
              <a:rPr lang="en-US" sz="900" dirty="0">
                <a:solidFill>
                  <a:srgbClr val="FFFFFF"/>
                </a:solidFill>
                <a:latin typeface="Arial" pitchFamily="34" charset="0"/>
                <a:ea typeface="Arial" pitchFamily="34" charset="-122"/>
                <a:cs typeface="Arial" pitchFamily="34" charset="-120"/>
              </a:rPr>
              <a:t>(b) The base model's final hidden state after reading the question only — no generation yet — fed to a small trained classifier; the classifier outputs a difficulty label or score</a:t>
            </a:r>
            <a:endParaRPr lang="en-US" sz="1150" dirty="0"/>
          </a:p>
          <a:p>
            <a:pPr marL="457200" lvl="1" indent="-228600">
              <a:spcAft>
                <a:spcPts val="400"/>
              </a:spcAft>
              <a:buSzPct val="100000"/>
              <a:buChar char="•"/>
            </a:pPr>
            <a:r>
              <a:rPr lang="en-US" sz="900" dirty="0">
                <a:solidFill>
                  <a:srgbClr val="FFFFFF"/>
                </a:solidFill>
                <a:latin typeface="Arial" pitchFamily="34" charset="0"/>
                <a:ea typeface="Arial" pitchFamily="34" charset="-122"/>
                <a:cs typeface="Arial" pitchFamily="34" charset="-120"/>
              </a:rPr>
              <a:t>Both cost a small, fixed number of extra tokens or a single forward pass, avoiding the chicken-and-egg problem of needing difficulty before any computation has happened</a:t>
            </a:r>
            <a:endParaRPr lang="en-US" sz="1150" dirty="0"/>
          </a:p>
          <a:p>
            <a:pPr marL="457200" lvl="1" indent="-228600">
              <a:spcAft>
                <a:spcPts val="500"/>
              </a:spcAft>
              <a:buSzPct val="100000"/>
              <a:buChar char="•"/>
            </a:pPr>
            <a:r>
              <a:rPr lang="en-US" sz="900" dirty="0">
                <a:solidFill>
                  <a:srgbClr val="FFFFFF"/>
                </a:solidFill>
                <a:latin typeface="Arial" pitchFamily="34" charset="0"/>
                <a:ea typeface="Arial" pitchFamily="34" charset="-122"/>
                <a:cs typeface="Arial" pitchFamily="34" charset="-120"/>
              </a:rPr>
              <a:t>Produces a cheap difficulty proxy d̂, reused to seed the predictive baseline (Stage 2) and as a candidate feature for the reactive signal (Stage 4) — computed once, so no stage pays for difficulty twice</a:t>
            </a:r>
            <a:endParaRPr lang="en-US" sz="1150" dirty="0"/>
          </a:p>
        </p:txBody>
      </p:sp>
      <p:sp>
        <p:nvSpPr>
          <p:cNvPr id="4" name="Shape 2"/>
          <p:cNvSpPr/>
          <p:nvPr/>
        </p:nvSpPr>
        <p:spPr>
          <a:xfrm>
            <a:off x="320040" y="3794760"/>
            <a:ext cx="1988820" cy="868680"/>
          </a:xfrm>
          <a:prstGeom prst="roundRect">
            <a:avLst>
              <a:gd name="adj" fmla="val 6316"/>
            </a:avLst>
          </a:prstGeom>
          <a:solidFill>
            <a:srgbClr val="000000"/>
          </a:solidFill>
          <a:ln w="12700">
            <a:solidFill>
              <a:srgbClr val="FF6600"/>
            </a:solidFill>
            <a:prstDash val="solid"/>
          </a:ln>
        </p:spPr>
      </p:sp>
      <p:sp>
        <p:nvSpPr>
          <p:cNvPr id="5" name="Text 3"/>
          <p:cNvSpPr txBox="1"/>
          <p:nvPr/>
        </p:nvSpPr>
        <p:spPr>
          <a:xfrm>
            <a:off x="374904" y="3831336"/>
            <a:ext cx="1879092" cy="201168"/>
          </a:xfrm>
          <a:prstGeom prst="rect">
            <a:avLst/>
          </a:prstGeom>
          <a:noFill/>
          <a:ln/>
        </p:spPr>
        <p:txBody>
          <a:bodyPr wrap="square" lIns="0" tIns="0" rIns="0" bIns="0" rtlCol="0" anchor="t"/>
          <a:lstStyle/>
          <a:p>
            <a:pPr marL="0" indent="0" algn="ctr">
              <a:buNone/>
            </a:pPr>
            <a:r>
              <a:rPr lang="en-US" sz="900" b="1" dirty="0">
                <a:solidFill>
                  <a:srgbClr val="FFFFFF"/>
                </a:solidFill>
                <a:latin typeface="Arial" pitchFamily="34" charset="0"/>
                <a:ea typeface="Arial" pitchFamily="34" charset="-122"/>
                <a:cs typeface="Arial" pitchFamily="34" charset="-120"/>
              </a:rPr>
              <a:t>Option A</a:t>
            </a:r>
            <a:endParaRPr lang="en-US" sz="900" dirty="0"/>
          </a:p>
        </p:txBody>
      </p:sp>
      <p:sp>
        <p:nvSpPr>
          <p:cNvPr id="6" name="Text 4"/>
          <p:cNvSpPr txBox="1"/>
          <p:nvPr/>
        </p:nvSpPr>
        <p:spPr>
          <a:xfrm>
            <a:off x="374904" y="4069080"/>
            <a:ext cx="1879092" cy="548640"/>
          </a:xfrm>
          <a:prstGeom prst="rect">
            <a:avLst/>
          </a:prstGeom>
          <a:noFill/>
          <a:ln/>
        </p:spPr>
        <p:txBody>
          <a:bodyPr wrap="square" lIns="0" tIns="0" rIns="0" bIns="0" rtlCol="0" anchor="t"/>
          <a:lstStyle/>
          <a:p>
            <a:pPr marL="0" indent="0" algn="ctr">
              <a:lnSpc>
                <a:spcPct val="105000"/>
              </a:lnSpc>
              <a:buNone/>
            </a:pPr>
            <a:r>
              <a:rPr lang="en-US" sz="800" dirty="0">
                <a:solidFill>
                  <a:srgbClr val="FFFFFF"/>
                </a:solidFill>
                <a:latin typeface="Arial" pitchFamily="34" charset="0"/>
                <a:ea typeface="Arial" pitchFamily="34" charset="-122"/>
                <a:cs typeface="Arial" pitchFamily="34" charset="-120"/>
              </a:rPr>
              <a:t>Forced-CoT prefix</a:t>
            </a:r>
            <a:endParaRPr lang="en-US" sz="800" dirty="0"/>
          </a:p>
          <a:p>
            <a:pPr marL="0" indent="0" algn="ctr">
              <a:lnSpc>
                <a:spcPct val="105000"/>
              </a:lnSpc>
              <a:buNone/>
            </a:pPr>
            <a:r>
              <a:rPr lang="en-US" sz="800" dirty="0">
                <a:solidFill>
                  <a:srgbClr val="FFFFFF"/>
                </a:solidFill>
                <a:latin typeface="Arial" pitchFamily="34" charset="0"/>
                <a:ea typeface="Arial" pitchFamily="34" charset="-122"/>
                <a:cs typeface="Arial" pitchFamily="34" charset="-120"/>
              </a:rPr>
              <a:t>→ entropy trajectory</a:t>
            </a:r>
            <a:endParaRPr lang="en-US" sz="800" dirty="0"/>
          </a:p>
        </p:txBody>
      </p:sp>
      <p:sp>
        <p:nvSpPr>
          <p:cNvPr id="7" name="Shape 5"/>
          <p:cNvSpPr/>
          <p:nvPr/>
        </p:nvSpPr>
        <p:spPr>
          <a:xfrm>
            <a:off x="2491740" y="3794760"/>
            <a:ext cx="1988820" cy="868680"/>
          </a:xfrm>
          <a:prstGeom prst="roundRect">
            <a:avLst>
              <a:gd name="adj" fmla="val 6316"/>
            </a:avLst>
          </a:prstGeom>
          <a:solidFill>
            <a:srgbClr val="000000"/>
          </a:solidFill>
          <a:ln w="12700">
            <a:solidFill>
              <a:srgbClr val="FF6600"/>
            </a:solidFill>
            <a:prstDash val="solid"/>
          </a:ln>
        </p:spPr>
      </p:sp>
      <p:sp>
        <p:nvSpPr>
          <p:cNvPr id="8" name="Text 6"/>
          <p:cNvSpPr txBox="1"/>
          <p:nvPr/>
        </p:nvSpPr>
        <p:spPr>
          <a:xfrm>
            <a:off x="2546604" y="3831336"/>
            <a:ext cx="1879092" cy="201168"/>
          </a:xfrm>
          <a:prstGeom prst="rect">
            <a:avLst/>
          </a:prstGeom>
          <a:noFill/>
          <a:ln/>
        </p:spPr>
        <p:txBody>
          <a:bodyPr wrap="square" lIns="0" tIns="0" rIns="0" bIns="0" rtlCol="0" anchor="t"/>
          <a:lstStyle/>
          <a:p>
            <a:pPr marL="0" indent="0" algn="ctr">
              <a:buNone/>
            </a:pPr>
            <a:r>
              <a:rPr lang="en-US" sz="900" b="1" dirty="0">
                <a:solidFill>
                  <a:srgbClr val="FFFFFF"/>
                </a:solidFill>
                <a:latin typeface="Arial" pitchFamily="34" charset="0"/>
                <a:ea typeface="Arial" pitchFamily="34" charset="-122"/>
                <a:cs typeface="Arial" pitchFamily="34" charset="-120"/>
              </a:rPr>
              <a:t>Option B</a:t>
            </a:r>
            <a:endParaRPr lang="en-US" sz="900" dirty="0"/>
          </a:p>
        </p:txBody>
      </p:sp>
      <p:sp>
        <p:nvSpPr>
          <p:cNvPr id="9" name="Text 7"/>
          <p:cNvSpPr txBox="1"/>
          <p:nvPr/>
        </p:nvSpPr>
        <p:spPr>
          <a:xfrm>
            <a:off x="2546604" y="4069080"/>
            <a:ext cx="1879092" cy="548640"/>
          </a:xfrm>
          <a:prstGeom prst="rect">
            <a:avLst/>
          </a:prstGeom>
          <a:noFill/>
          <a:ln/>
        </p:spPr>
        <p:txBody>
          <a:bodyPr wrap="square" lIns="0" tIns="0" rIns="0" bIns="0" rtlCol="0" anchor="t"/>
          <a:lstStyle/>
          <a:p>
            <a:pPr marL="0" indent="0" algn="ctr">
              <a:lnSpc>
                <a:spcPct val="105000"/>
              </a:lnSpc>
              <a:buNone/>
            </a:pPr>
            <a:r>
              <a:rPr lang="en-US" sz="800" dirty="0">
                <a:solidFill>
                  <a:srgbClr val="FFFFFF"/>
                </a:solidFill>
                <a:latin typeface="Arial" pitchFamily="34" charset="0"/>
                <a:ea typeface="Arial" pitchFamily="34" charset="-122"/>
                <a:cs typeface="Arial" pitchFamily="34" charset="-120"/>
              </a:rPr>
              <a:t>Hidden state</a:t>
            </a:r>
            <a:endParaRPr lang="en-US" sz="800" dirty="0"/>
          </a:p>
          <a:p>
            <a:pPr marL="0" indent="0" algn="ctr">
              <a:lnSpc>
                <a:spcPct val="105000"/>
              </a:lnSpc>
              <a:buNone/>
            </a:pPr>
            <a:r>
              <a:rPr lang="en-US" sz="800" dirty="0">
                <a:solidFill>
                  <a:srgbClr val="FFFFFF"/>
                </a:solidFill>
                <a:latin typeface="Arial" pitchFamily="34" charset="0"/>
                <a:ea typeface="Arial" pitchFamily="34" charset="-122"/>
                <a:cs typeface="Arial" pitchFamily="34" charset="-120"/>
              </a:rPr>
              <a:t>→ trained classifier</a:t>
            </a:r>
            <a:endParaRPr lang="en-US" sz="800" dirty="0"/>
          </a:p>
        </p:txBody>
      </p:sp>
      <p:sp>
        <p:nvSpPr>
          <p:cNvPr id="10" name="Text 8"/>
          <p:cNvSpPr txBox="1"/>
          <p:nvPr/>
        </p:nvSpPr>
        <p:spPr>
          <a:xfrm>
            <a:off x="4754880" y="1274064"/>
            <a:ext cx="4069080" cy="3389376"/>
          </a:xfrm>
          <a:prstGeom prst="rect">
            <a:avLst/>
          </a:prstGeom>
          <a:noFill/>
          <a:ln/>
        </p:spPr>
        <p:txBody>
          <a:bodyPr wrap="square" lIns="0" tIns="0" rIns="0" bIns="0" rtlCol="0" anchor="t"/>
          <a:lstStyle/>
          <a:p>
            <a:pPr marL="177800" indent="-177800">
              <a:spcAft>
                <a:spcPts val="500"/>
              </a:spcAft>
              <a:buSzPct val="100000"/>
              <a:buChar char="●"/>
            </a:pPr>
            <a:r>
              <a:rPr lang="en-US" sz="1200" b="1" dirty="0">
                <a:solidFill>
                  <a:srgbClr val="FF7900"/>
                </a:solidFill>
                <a:latin typeface="Helvetica Neue"/>
              </a:rPr>
              <a:t>Stage 2. Calibrated Theoretical Baseline</a:t>
            </a:r>
          </a:p>
          <a:p>
            <a:pPr marL="457200" lvl="1" indent="-228600">
              <a:spcAft>
                <a:spcPts val="400"/>
              </a:spcAft>
              <a:buSzPct val="100000"/>
              <a:buChar char="•"/>
            </a:pPr>
            <a:r>
              <a:rPr lang="en-US" sz="950" dirty="0">
                <a:solidFill>
                  <a:srgbClr val="FFFFFF"/>
                </a:solidFill>
                <a:latin typeface="Arial" pitchFamily="34" charset="0"/>
                <a:ea typeface="Arial" pitchFamily="34" charset="-122"/>
                <a:cs typeface="Arial" pitchFamily="34" charset="-120"/>
              </a:rPr>
              <a:t>A scaling-law fit, C₀ = A · d̂^β + C_min, where A, β, and C_min are fit per model family from a modest calibration set — A scales how fast compute grows with d̂, β sets curvature, C_min is the floor</a:t>
            </a:r>
            <a:endParaRPr lang="en-US" sz="1150" dirty="0"/>
          </a:p>
          <a:p>
            <a:pPr marL="457200" lvl="1" indent="-228600">
              <a:spcAft>
                <a:spcPts val="400"/>
              </a:spcAft>
              <a:buSzPct val="100000"/>
              <a:buChar char="•"/>
            </a:pPr>
            <a:r>
              <a:rPr lang="en-US" sz="900" dirty="0">
                <a:solidFill>
                  <a:srgbClr val="FFFFFF"/>
                </a:solidFill>
                <a:latin typeface="Arial" pitchFamily="34" charset="0"/>
                <a:ea typeface="Arial" pitchFamily="34" charset="-122"/>
                <a:cs typeface="Arial" pitchFamily="34" charset="-120"/>
              </a:rPr>
              <a:t>Grounded in compute-optimal scaling curves (accuracy rising, then saturating, with compute) and the marginal-value principle from learned-router work, i.e., diminishing returns beyond a point</a:t>
            </a:r>
            <a:endParaRPr lang="en-US" sz="1150" dirty="0"/>
          </a:p>
          <a:p>
            <a:pPr marL="457200" lvl="1" indent="-228600">
              <a:spcAft>
                <a:spcPts val="500"/>
              </a:spcAft>
              <a:buSzPct val="100000"/>
              <a:buChar char="•"/>
            </a:pPr>
            <a:r>
              <a:rPr lang="en-US" sz="900" dirty="0">
                <a:solidFill>
                  <a:srgbClr val="FFFFFF"/>
                </a:solidFill>
                <a:latin typeface="Arial" pitchFamily="34" charset="0"/>
                <a:ea typeface="Arial" pitchFamily="34" charset="-122"/>
                <a:cs typeface="Arial" pitchFamily="34" charset="-120"/>
              </a:rPr>
              <a:t>Only three free parameters per model family → needs little calibration data, stays interpretable, and gives every downstream stage a sane starting point instead of starting from zero</a:t>
            </a:r>
            <a:endParaRPr lang="en-US" sz="1150" dirty="0"/>
          </a:p>
        </p:txBody>
      </p:sp>
      <p:sp>
        <p:nvSpPr>
          <p:cNvPr id="11" name="Shape 9"/>
          <p:cNvSpPr/>
          <p:nvPr/>
        </p:nvSpPr>
        <p:spPr>
          <a:xfrm>
            <a:off x="4754880" y="3246120"/>
            <a:ext cx="4069080" cy="1417320"/>
          </a:xfrm>
          <a:prstGeom prst="roundRect">
            <a:avLst>
              <a:gd name="adj" fmla="val 3871"/>
            </a:avLst>
          </a:prstGeom>
          <a:solidFill>
            <a:srgbClr val="000000"/>
          </a:solidFill>
          <a:ln w="12700">
            <a:solidFill>
              <a:srgbClr val="FF6600"/>
            </a:solidFill>
            <a:prstDash val="solid"/>
          </a:ln>
        </p:spPr>
      </p:sp>
      <p:sp>
        <p:nvSpPr>
          <p:cNvPr id="12" name="Text 10"/>
          <p:cNvSpPr txBox="1"/>
          <p:nvPr/>
        </p:nvSpPr>
        <p:spPr>
          <a:xfrm>
            <a:off x="4864608" y="3300984"/>
            <a:ext cx="3849624" cy="219456"/>
          </a:xfrm>
          <a:prstGeom prst="rect">
            <a:avLst/>
          </a:prstGeom>
          <a:noFill/>
          <a:ln/>
        </p:spPr>
        <p:txBody>
          <a:bodyPr wrap="square" lIns="0" tIns="0" rIns="0" bIns="0" rtlCol="0" anchor="ctr"/>
          <a:lstStyle/>
          <a:p>
            <a:pPr marL="0" indent="0">
              <a:buNone/>
            </a:pPr>
            <a:r>
              <a:rPr lang="en-US" sz="900" b="1" dirty="0">
                <a:solidFill>
                  <a:srgbClr val="FF6600"/>
                </a:solidFill>
                <a:latin typeface="Arial" pitchFamily="34" charset="0"/>
                <a:ea typeface="Arial" pitchFamily="34" charset="-122"/>
                <a:cs typeface="Arial" pitchFamily="34" charset="-120"/>
              </a:rPr>
              <a:t>C₀ = A·d̂^β + C_min</a:t>
            </a:r>
            <a:endParaRPr lang="en-US" sz="900" dirty="0"/>
          </a:p>
        </p:txBody>
      </p:sp>
      <p:sp>
        <p:nvSpPr>
          <p:cNvPr id="13" name="Shape 11"/>
          <p:cNvSpPr/>
          <p:nvPr/>
        </p:nvSpPr>
        <p:spPr>
          <a:xfrm>
            <a:off x="5120640" y="3584448"/>
            <a:ext cx="0" cy="822960"/>
          </a:xfrm>
          <a:prstGeom prst="line">
            <a:avLst/>
          </a:prstGeom>
          <a:noFill/>
          <a:ln w="12700">
            <a:solidFill>
              <a:srgbClr val="FFFFFF"/>
            </a:solidFill>
            <a:prstDash val="solid"/>
          </a:ln>
        </p:spPr>
      </p:sp>
      <p:sp>
        <p:nvSpPr>
          <p:cNvPr id="14" name="Shape 12"/>
          <p:cNvSpPr/>
          <p:nvPr/>
        </p:nvSpPr>
        <p:spPr>
          <a:xfrm>
            <a:off x="5120640" y="4407408"/>
            <a:ext cx="3474720" cy="0"/>
          </a:xfrm>
          <a:prstGeom prst="line">
            <a:avLst/>
          </a:prstGeom>
          <a:noFill/>
          <a:ln w="12700">
            <a:solidFill>
              <a:srgbClr val="FFFFFF"/>
            </a:solidFill>
            <a:prstDash val="solid"/>
          </a:ln>
        </p:spPr>
      </p:sp>
      <p:sp>
        <p:nvSpPr>
          <p:cNvPr id="15" name="Shape 13"/>
          <p:cNvSpPr/>
          <p:nvPr/>
        </p:nvSpPr>
        <p:spPr>
          <a:xfrm flipV="1">
            <a:off x="5120640" y="4226357"/>
            <a:ext cx="1042416" cy="139903"/>
          </a:xfrm>
          <a:prstGeom prst="line">
            <a:avLst/>
          </a:prstGeom>
          <a:noFill/>
          <a:ln w="25400">
            <a:solidFill>
              <a:srgbClr val="FF6600"/>
            </a:solidFill>
            <a:prstDash val="solid"/>
          </a:ln>
        </p:spPr>
      </p:sp>
      <p:sp>
        <p:nvSpPr>
          <p:cNvPr id="16" name="Shape 14"/>
          <p:cNvSpPr/>
          <p:nvPr/>
        </p:nvSpPr>
        <p:spPr>
          <a:xfrm flipV="1">
            <a:off x="6163056" y="3995928"/>
            <a:ext cx="1042416" cy="230429"/>
          </a:xfrm>
          <a:prstGeom prst="line">
            <a:avLst/>
          </a:prstGeom>
          <a:noFill/>
          <a:ln w="25400">
            <a:solidFill>
              <a:srgbClr val="FF6600"/>
            </a:solidFill>
            <a:prstDash val="solid"/>
          </a:ln>
        </p:spPr>
      </p:sp>
      <p:sp>
        <p:nvSpPr>
          <p:cNvPr id="17" name="Shape 15"/>
          <p:cNvSpPr/>
          <p:nvPr/>
        </p:nvSpPr>
        <p:spPr>
          <a:xfrm flipV="1">
            <a:off x="7205472" y="3790188"/>
            <a:ext cx="694944" cy="205740"/>
          </a:xfrm>
          <a:prstGeom prst="line">
            <a:avLst/>
          </a:prstGeom>
          <a:noFill/>
          <a:ln w="25400">
            <a:solidFill>
              <a:srgbClr val="FF6600"/>
            </a:solidFill>
            <a:prstDash val="solid"/>
          </a:ln>
        </p:spPr>
      </p:sp>
      <p:sp>
        <p:nvSpPr>
          <p:cNvPr id="18" name="Shape 16"/>
          <p:cNvSpPr/>
          <p:nvPr/>
        </p:nvSpPr>
        <p:spPr>
          <a:xfrm flipV="1">
            <a:off x="7900416" y="3625596"/>
            <a:ext cx="694944" cy="164592"/>
          </a:xfrm>
          <a:prstGeom prst="line">
            <a:avLst/>
          </a:prstGeom>
          <a:noFill/>
          <a:ln w="25400">
            <a:solidFill>
              <a:srgbClr val="FF6600"/>
            </a:solidFill>
            <a:prstDash val="solid"/>
          </a:ln>
        </p:spPr>
      </p:sp>
      <p:sp>
        <p:nvSpPr>
          <p:cNvPr id="19" name="Text 17"/>
          <p:cNvSpPr txBox="1"/>
          <p:nvPr/>
        </p:nvSpPr>
        <p:spPr>
          <a:xfrm>
            <a:off x="6400800" y="4434840"/>
            <a:ext cx="914400" cy="164592"/>
          </a:xfrm>
          <a:prstGeom prst="rect">
            <a:avLst/>
          </a:prstGeom>
          <a:noFill/>
          <a:ln/>
        </p:spPr>
        <p:txBody>
          <a:bodyPr wrap="square" lIns="0" tIns="0" rIns="0" bIns="0" rtlCol="0" anchor="ctr"/>
          <a:lstStyle/>
          <a:p>
            <a:pPr marL="0" indent="0" algn="ctr">
              <a:buNone/>
            </a:pPr>
            <a:r>
              <a:rPr lang="en-US" sz="750" dirty="0">
                <a:solidFill>
                  <a:srgbClr val="FFFFFF"/>
                </a:solidFill>
                <a:latin typeface="Arial" pitchFamily="34" charset="0"/>
                <a:ea typeface="Arial" pitchFamily="34" charset="-122"/>
                <a:cs typeface="Arial" pitchFamily="34" charset="-120"/>
              </a:rPr>
              <a:t>difficulty (d̂)</a:t>
            </a:r>
            <a:endParaRPr lang="en-US" sz="750" dirty="0"/>
          </a:p>
        </p:txBody>
      </p:sp>
      <p:sp>
        <p:nvSpPr>
          <p:cNvPr id="20" name="Text 18"/>
          <p:cNvSpPr txBox="1"/>
          <p:nvPr/>
        </p:nvSpPr>
        <p:spPr>
          <a:xfrm>
            <a:off x="320040" y="4864608"/>
            <a:ext cx="1828800" cy="182880"/>
          </a:xfrm>
          <a:prstGeom prst="rect">
            <a:avLst/>
          </a:prstGeom>
          <a:noFill/>
          <a:ln/>
        </p:spPr>
        <p:txBody>
          <a:bodyPr wrap="square" lIns="0" tIns="0" rIns="0" bIns="0" rtlCol="0" anchor="ctr"/>
          <a:lstStyle/>
          <a:p>
            <a:pPr marL="0" indent="0" algn="l">
              <a:buNone/>
            </a:pPr>
            <a:r>
              <a:rPr lang="en-US" sz="800" b="1" dirty="0">
                <a:solidFill>
                  <a:srgbClr val="FF6600"/>
                </a:solidFill>
                <a:latin typeface="Arial" pitchFamily="34" charset="0"/>
                <a:ea typeface="Arial" pitchFamily="34" charset="-122"/>
                <a:cs typeface="Arial" pitchFamily="34" charset="-120"/>
              </a:rPr>
              <a:t>Orange Restricted</a:t>
            </a:r>
            <a:endParaRPr lang="en-US" sz="800" dirty="0"/>
          </a:p>
        </p:txBody>
      </p:sp>
      <p:sp>
        <p:nvSpPr>
          <p:cNvPr id="23" name="Text 0">
            <a:extLst>
              <a:ext uri="{FF2B5EF4-FFF2-40B4-BE49-F238E27FC236}">
                <a16:creationId xmlns:a16="http://schemas.microsoft.com/office/drawing/2014/main" id="{638B0010-06CA-9A34-5474-92101EE15333}"/>
              </a:ext>
            </a:extLst>
          </p:cNvPr>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2000" b="1" dirty="0">
                <a:solidFill>
                  <a:srgbClr val="FF7900"/>
                </a:solidFill>
                <a:latin typeface="Helvetica Neue"/>
                <a:sym typeface="Arial"/>
              </a:rPr>
              <a:t>3</a:t>
            </a: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 </a:t>
            </a:r>
            <a:r>
              <a:rPr lang="en-US" sz="2000" b="1" dirty="0">
                <a:solidFill>
                  <a:srgbClr val="FF6600"/>
                </a:solidFill>
                <a:latin typeface="Arial" pitchFamily="34" charset="0"/>
                <a:ea typeface="Arial" pitchFamily="34" charset="-122"/>
                <a:cs typeface="Arial" pitchFamily="34" charset="-120"/>
              </a:rPr>
              <a:t>Methodology</a:t>
            </a:r>
            <a:endPar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endParaRP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1300" b="1" dirty="0">
                <a:solidFill>
                  <a:srgbClr val="FF7900"/>
                </a:solidFill>
                <a:latin typeface="Helvetica Neue"/>
                <a:sym typeface="Arial"/>
              </a:rPr>
              <a:t>3</a:t>
            </a:r>
            <a:r>
              <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rPr>
              <a:t>.2 THE PROPOSED APPROACH IN DETAILS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137160"/>
            <a:ext cx="8503920" cy="566928"/>
          </a:xfrm>
          <a:prstGeom prst="rect">
            <a:avLst/>
          </a:prstGeom>
          <a:noFill/>
          <a:ln/>
        </p:spPr>
        <p:txBody>
          <a:bodyPr wrap="square" lIns="0" tIns="0" rIns="0" bIns="0" rtlCol="0" anchor="t"/>
          <a:lstStyle/>
          <a:p>
            <a:pPr marL="0" indent="0" algn="l">
              <a:buNone/>
            </a:pPr>
            <a:endParaRPr lang="en-US" sz="2500" dirty="0"/>
          </a:p>
        </p:txBody>
      </p:sp>
      <p:sp>
        <p:nvSpPr>
          <p:cNvPr id="3" name="Text 1"/>
          <p:cNvSpPr txBox="1"/>
          <p:nvPr/>
        </p:nvSpPr>
        <p:spPr>
          <a:xfrm>
            <a:off x="320040" y="1115568"/>
            <a:ext cx="8503920" cy="2880360"/>
          </a:xfrm>
          <a:prstGeom prst="rect">
            <a:avLst/>
          </a:prstGeom>
          <a:noFill/>
          <a:ln/>
        </p:spPr>
        <p:txBody>
          <a:bodyPr wrap="square" lIns="0" tIns="0" rIns="0" bIns="0" rtlCol="0" anchor="t"/>
          <a:lstStyle/>
          <a:p>
            <a:pPr marL="177800" indent="-177800">
              <a:spcAft>
                <a:spcPts val="400"/>
              </a:spcAft>
              <a:buSzPct val="100000"/>
              <a:buChar char="●"/>
            </a:pPr>
            <a:r>
              <a:rPr lang="en-US" sz="1200" b="1" dirty="0">
                <a:solidFill>
                  <a:srgbClr val="FF7900"/>
                </a:solidFill>
                <a:latin typeface="Helvetica Neue"/>
              </a:rPr>
              <a:t>Stage 3. Predictive Correction</a:t>
            </a:r>
          </a:p>
          <a:p>
            <a:pPr marL="457200" lvl="1" indent="-228600">
              <a:spcAft>
                <a:spcPts val="400"/>
              </a:spcAft>
              <a:buSzPct val="100000"/>
              <a:buChar char="•"/>
            </a:pPr>
            <a:r>
              <a:rPr lang="en-US" sz="950" dirty="0">
                <a:solidFill>
                  <a:srgbClr val="FFFFFF"/>
                </a:solidFill>
                <a:latin typeface="Arial" pitchFamily="34" charset="0"/>
                <a:ea typeface="Arial" pitchFamily="34" charset="-122"/>
                <a:cs typeface="Arial" pitchFamily="34" charset="-120"/>
              </a:rPr>
              <a:t>ΔC = g(C₀, x), where x = {entropy trajectory from Stage 1, hidden-state probe output, optionally one extra short self-consistency sample}</a:t>
            </a:r>
            <a:endParaRPr lang="en-US" sz="1100" dirty="0"/>
          </a:p>
          <a:p>
            <a:pPr marL="457200" lvl="1" indent="-228600">
              <a:spcAft>
                <a:spcPts val="400"/>
              </a:spcAft>
              <a:buSzPct val="100000"/>
              <a:buChar char="•"/>
            </a:pPr>
            <a:r>
              <a:rPr lang="en-US" sz="950" dirty="0">
                <a:solidFill>
                  <a:srgbClr val="FFFFFF"/>
                </a:solidFill>
                <a:latin typeface="Arial" pitchFamily="34" charset="0"/>
                <a:ea typeface="Arial" pitchFamily="34" charset="-122"/>
                <a:cs typeface="Arial" pitchFamily="34" charset="-120"/>
              </a:rPr>
              <a:t>g is a lightweight regression model (not a full retraining of the base LLM) trained on the residual between C₀ and the empirically optimal compute measured during the Methodology A experiments — it only learns the correction on top of Stage 2's starting point</a:t>
            </a:r>
            <a:endParaRPr lang="en-US" sz="1100" dirty="0"/>
          </a:p>
          <a:p>
            <a:pPr marL="457200" lvl="1" indent="-228600">
              <a:spcAft>
                <a:spcPts val="800"/>
              </a:spcAft>
              <a:buSzPct val="100000"/>
              <a:buChar char="•"/>
            </a:pPr>
            <a:r>
              <a:rPr lang="en-US" sz="950" dirty="0">
                <a:solidFill>
                  <a:srgbClr val="FFFFFF"/>
                </a:solidFill>
                <a:latin typeface="Arial" pitchFamily="34" charset="0"/>
                <a:ea typeface="Arial" pitchFamily="34" charset="-122"/>
                <a:cs typeface="Arial" pitchFamily="34" charset="-120"/>
              </a:rPr>
              <a:t>Compared directly against DiffAdapt's probe and Damani's marginal-value predictor in the evaluation, since all three occupy the same predictive slot in the pipeline</a:t>
            </a:r>
            <a:endParaRPr lang="en-US" sz="1100" dirty="0"/>
          </a:p>
          <a:p>
            <a:pPr marL="177800" indent="-177800">
              <a:spcAft>
                <a:spcPts val="400"/>
              </a:spcAft>
              <a:buSzPct val="100000"/>
              <a:buChar char="●"/>
            </a:pPr>
            <a:r>
              <a:rPr lang="en-US" sz="1200" b="1">
                <a:solidFill>
                  <a:srgbClr val="FF7900"/>
                </a:solidFill>
                <a:latin typeface="Helvetica Neue"/>
              </a:rPr>
              <a:t>Stage 4. </a:t>
            </a:r>
            <a:r>
              <a:rPr lang="en-US" sz="1200" b="1" dirty="0">
                <a:solidFill>
                  <a:srgbClr val="FF7900"/>
                </a:solidFill>
                <a:latin typeface="Helvetica Neue"/>
              </a:rPr>
              <a:t>Reactive Exception Layer with a Statistical Guarantee</a:t>
            </a:r>
          </a:p>
          <a:p>
            <a:pPr marL="457200" lvl="1" indent="-228600">
              <a:spcAft>
                <a:spcPts val="400"/>
              </a:spcAft>
              <a:buSzPct val="100000"/>
              <a:buChar char="•"/>
            </a:pPr>
            <a:r>
              <a:rPr lang="en-US" sz="950" dirty="0">
                <a:solidFill>
                  <a:srgbClr val="FFFFFF"/>
                </a:solidFill>
                <a:latin typeface="Arial" pitchFamily="34" charset="0"/>
                <a:ea typeface="Arial" pitchFamily="34" charset="-122"/>
                <a:cs typeface="Arial" pitchFamily="34" charset="-120"/>
              </a:rPr>
              <a:t>Stages 1–3 fix a budget before generation starts; Stage 4 watches the generation as it happens for the subset of queries where the pre-set budget is likely wrong — this keeps costly monitoring off queries the baseline already handles</a:t>
            </a:r>
            <a:endParaRPr lang="en-US" sz="1100" dirty="0"/>
          </a:p>
          <a:p>
            <a:pPr marL="457200" lvl="1" indent="-228600">
              <a:spcAft>
                <a:spcPts val="400"/>
              </a:spcAft>
              <a:buSzPct val="100000"/>
              <a:buChar char="•"/>
            </a:pPr>
            <a:r>
              <a:rPr lang="en-US" sz="950" b="1" dirty="0">
                <a:solidFill>
                  <a:srgbClr val="FFFFFF"/>
                </a:solidFill>
                <a:latin typeface="Arial" pitchFamily="34" charset="0"/>
                <a:ea typeface="Arial" pitchFamily="34" charset="-122"/>
                <a:cs typeface="Arial" pitchFamily="34" charset="-120"/>
              </a:rPr>
              <a:t>A better reactive signal is tested, not assumed: </a:t>
            </a:r>
            <a:r>
              <a:rPr lang="en-US" sz="950" dirty="0">
                <a:solidFill>
                  <a:srgbClr val="FFFFFF"/>
                </a:solidFill>
                <a:latin typeface="Arial" pitchFamily="34" charset="0"/>
                <a:ea typeface="Arial" pitchFamily="34" charset="-122"/>
                <a:cs typeface="Arial" pitchFamily="34" charset="-120"/>
              </a:rPr>
              <a:t>evaluates the same hidden-state-derived indicator investigated in the reactive track as the stopping trigger, on calibration (ECE) and stopping accuracy against confidence/entropy baselines</a:t>
            </a:r>
            <a:endParaRPr lang="en-US" sz="1100" dirty="0"/>
          </a:p>
          <a:p>
            <a:pPr marL="457200" lvl="1" indent="-228600">
              <a:spcAft>
                <a:spcPts val="500"/>
              </a:spcAft>
              <a:buSzPct val="100000"/>
              <a:buChar char="•"/>
            </a:pPr>
            <a:r>
              <a:rPr lang="en-US" sz="950" b="1" dirty="0">
                <a:solidFill>
                  <a:srgbClr val="FFFFFF"/>
                </a:solidFill>
                <a:latin typeface="Arial" pitchFamily="34" charset="0"/>
                <a:ea typeface="Arial" pitchFamily="34" charset="-122"/>
                <a:cs typeface="Arial" pitchFamily="34" charset="-120"/>
              </a:rPr>
              <a:t>The trigger is calibrated, not hand-tuned: </a:t>
            </a:r>
            <a:r>
              <a:rPr lang="en-US" sz="950" dirty="0">
                <a:solidFill>
                  <a:srgbClr val="FFFFFF"/>
                </a:solidFill>
                <a:latin typeface="Arial" pitchFamily="34" charset="0"/>
                <a:ea typeface="Arial" pitchFamily="34" charset="-122"/>
                <a:cs typeface="Arial" pitchFamily="34" charset="-120"/>
              </a:rPr>
              <a:t>Learn-Then-Test conformal risk control derives an upper threshold (stop when confident) and a lower threshold (pre-emptively stop likely-unsolvable queries) with a finite-sample guarantee that stopping error stays below α — overriding C₀ + ΔC only for the flagged long-tail cases — the lower threshold covers queries a confidence-only rule would never stop</a:t>
            </a:r>
            <a:endParaRPr lang="en-US" sz="1100" dirty="0"/>
          </a:p>
        </p:txBody>
      </p:sp>
      <p:sp>
        <p:nvSpPr>
          <p:cNvPr id="4" name="Shape 2"/>
          <p:cNvSpPr/>
          <p:nvPr/>
        </p:nvSpPr>
        <p:spPr>
          <a:xfrm>
            <a:off x="320040" y="3840480"/>
            <a:ext cx="8503920" cy="868680"/>
          </a:xfrm>
          <a:prstGeom prst="roundRect">
            <a:avLst>
              <a:gd name="adj" fmla="val 6316"/>
            </a:avLst>
          </a:prstGeom>
          <a:solidFill>
            <a:srgbClr val="000000"/>
          </a:solidFill>
          <a:ln w="12700">
            <a:solidFill>
              <a:srgbClr val="FF6600"/>
            </a:solidFill>
            <a:prstDash val="solid"/>
          </a:ln>
        </p:spPr>
      </p:sp>
      <p:sp>
        <p:nvSpPr>
          <p:cNvPr id="5" name="Text 3"/>
          <p:cNvSpPr txBox="1"/>
          <p:nvPr/>
        </p:nvSpPr>
        <p:spPr>
          <a:xfrm>
            <a:off x="429768" y="3886200"/>
            <a:ext cx="8284464" cy="182880"/>
          </a:xfrm>
          <a:prstGeom prst="rect">
            <a:avLst/>
          </a:prstGeom>
          <a:noFill/>
          <a:ln/>
        </p:spPr>
        <p:txBody>
          <a:bodyPr wrap="square" lIns="0" tIns="0" rIns="0" bIns="0" rtlCol="0" anchor="ctr"/>
          <a:lstStyle/>
          <a:p>
            <a:pPr marL="0" indent="0">
              <a:buNone/>
            </a:pPr>
            <a:r>
              <a:rPr lang="en-US" sz="850" b="1" dirty="0">
                <a:solidFill>
                  <a:srgbClr val="FF6600"/>
                </a:solidFill>
                <a:latin typeface="Arial" pitchFamily="34" charset="0"/>
                <a:ea typeface="Arial" pitchFamily="34" charset="-122"/>
                <a:cs typeface="Arial" pitchFamily="34" charset="-120"/>
              </a:rPr>
              <a:t>Generation timeline with conformal thresholds</a:t>
            </a:r>
            <a:endParaRPr lang="en-US" sz="850" dirty="0"/>
          </a:p>
        </p:txBody>
      </p:sp>
      <p:sp>
        <p:nvSpPr>
          <p:cNvPr id="6" name="Shape 4"/>
          <p:cNvSpPr/>
          <p:nvPr/>
        </p:nvSpPr>
        <p:spPr>
          <a:xfrm>
            <a:off x="777240" y="4407408"/>
            <a:ext cx="7589520" cy="0"/>
          </a:xfrm>
          <a:prstGeom prst="line">
            <a:avLst/>
          </a:prstGeom>
          <a:noFill/>
          <a:ln w="19050">
            <a:solidFill>
              <a:srgbClr val="FFFFFF"/>
            </a:solidFill>
            <a:prstDash val="solid"/>
          </a:ln>
        </p:spPr>
      </p:sp>
      <p:sp>
        <p:nvSpPr>
          <p:cNvPr id="7" name="Shape 5"/>
          <p:cNvSpPr/>
          <p:nvPr/>
        </p:nvSpPr>
        <p:spPr>
          <a:xfrm>
            <a:off x="5938114" y="4242816"/>
            <a:ext cx="0" cy="164592"/>
          </a:xfrm>
          <a:prstGeom prst="line">
            <a:avLst/>
          </a:prstGeom>
          <a:noFill/>
          <a:ln w="19050">
            <a:solidFill>
              <a:srgbClr val="FF6600"/>
            </a:solidFill>
            <a:prstDash val="dash"/>
          </a:ln>
        </p:spPr>
      </p:sp>
      <p:sp>
        <p:nvSpPr>
          <p:cNvPr id="8" name="Text 6"/>
          <p:cNvSpPr txBox="1"/>
          <p:nvPr/>
        </p:nvSpPr>
        <p:spPr>
          <a:xfrm>
            <a:off x="5435194" y="4023360"/>
            <a:ext cx="1097280" cy="256032"/>
          </a:xfrm>
          <a:prstGeom prst="rect">
            <a:avLst/>
          </a:prstGeom>
          <a:noFill/>
          <a:ln/>
        </p:spPr>
        <p:txBody>
          <a:bodyPr wrap="square" lIns="0" tIns="0" rIns="0" bIns="0" rtlCol="0" anchor="ctr"/>
          <a:lstStyle/>
          <a:p>
            <a:pPr marL="0" indent="0" algn="ctr">
              <a:buNone/>
            </a:pPr>
            <a:r>
              <a:rPr lang="en-US" sz="700" dirty="0">
                <a:solidFill>
                  <a:srgbClr val="FF6600"/>
                </a:solidFill>
                <a:latin typeface="Arial" pitchFamily="34" charset="0"/>
                <a:ea typeface="Arial" pitchFamily="34" charset="-122"/>
                <a:cs typeface="Arial" pitchFamily="34" charset="-120"/>
              </a:rPr>
              <a:t>lower threshold</a:t>
            </a:r>
            <a:endParaRPr lang="en-US" sz="700" dirty="0"/>
          </a:p>
          <a:p>
            <a:pPr marL="0" indent="0" algn="ctr">
              <a:buNone/>
            </a:pPr>
            <a:r>
              <a:rPr lang="en-US" sz="700" dirty="0">
                <a:solidFill>
                  <a:srgbClr val="FF6600"/>
                </a:solidFill>
                <a:latin typeface="Arial" pitchFamily="34" charset="0"/>
                <a:ea typeface="Arial" pitchFamily="34" charset="-122"/>
                <a:cs typeface="Arial" pitchFamily="34" charset="-120"/>
              </a:rPr>
              <a:t>(pre-emptive stop)</a:t>
            </a:r>
            <a:endParaRPr lang="en-US" sz="700" dirty="0"/>
          </a:p>
        </p:txBody>
      </p:sp>
      <p:sp>
        <p:nvSpPr>
          <p:cNvPr id="9" name="Shape 7"/>
          <p:cNvSpPr/>
          <p:nvPr/>
        </p:nvSpPr>
        <p:spPr>
          <a:xfrm>
            <a:off x="3433572" y="4242816"/>
            <a:ext cx="0" cy="164592"/>
          </a:xfrm>
          <a:prstGeom prst="line">
            <a:avLst/>
          </a:prstGeom>
          <a:noFill/>
          <a:ln w="19050">
            <a:solidFill>
              <a:srgbClr val="FF6600"/>
            </a:solidFill>
            <a:prstDash val="dash"/>
          </a:ln>
        </p:spPr>
      </p:sp>
      <p:sp>
        <p:nvSpPr>
          <p:cNvPr id="10" name="Text 8"/>
          <p:cNvSpPr txBox="1"/>
          <p:nvPr/>
        </p:nvSpPr>
        <p:spPr>
          <a:xfrm>
            <a:off x="2884932" y="4023360"/>
            <a:ext cx="1188720" cy="256032"/>
          </a:xfrm>
          <a:prstGeom prst="rect">
            <a:avLst/>
          </a:prstGeom>
          <a:noFill/>
          <a:ln/>
        </p:spPr>
        <p:txBody>
          <a:bodyPr wrap="square" lIns="0" tIns="0" rIns="0" bIns="0" rtlCol="0" anchor="ctr"/>
          <a:lstStyle/>
          <a:p>
            <a:pPr marL="0" indent="0" algn="ctr">
              <a:buNone/>
            </a:pPr>
            <a:r>
              <a:rPr lang="en-US" sz="700" dirty="0">
                <a:solidFill>
                  <a:srgbClr val="FF6600"/>
                </a:solidFill>
                <a:latin typeface="Arial" pitchFamily="34" charset="0"/>
                <a:ea typeface="Arial" pitchFamily="34" charset="-122"/>
                <a:cs typeface="Arial" pitchFamily="34" charset="-120"/>
              </a:rPr>
              <a:t>upper threshold</a:t>
            </a:r>
            <a:endParaRPr lang="en-US" sz="700" dirty="0"/>
          </a:p>
          <a:p>
            <a:pPr marL="0" indent="0" algn="ctr">
              <a:buNone/>
            </a:pPr>
            <a:r>
              <a:rPr lang="en-US" sz="700" dirty="0">
                <a:solidFill>
                  <a:srgbClr val="FF6600"/>
                </a:solidFill>
                <a:latin typeface="Arial" pitchFamily="34" charset="0"/>
                <a:ea typeface="Arial" pitchFamily="34" charset="-122"/>
                <a:cs typeface="Arial" pitchFamily="34" charset="-120"/>
              </a:rPr>
              <a:t>(stop when confident)</a:t>
            </a:r>
            <a:endParaRPr lang="en-US" sz="700" dirty="0"/>
          </a:p>
        </p:txBody>
      </p:sp>
      <p:sp>
        <p:nvSpPr>
          <p:cNvPr id="11" name="Text 9"/>
          <p:cNvSpPr txBox="1"/>
          <p:nvPr/>
        </p:nvSpPr>
        <p:spPr>
          <a:xfrm>
            <a:off x="320040" y="4864608"/>
            <a:ext cx="1828800" cy="182880"/>
          </a:xfrm>
          <a:prstGeom prst="rect">
            <a:avLst/>
          </a:prstGeom>
          <a:noFill/>
          <a:ln/>
        </p:spPr>
        <p:txBody>
          <a:bodyPr wrap="square" lIns="0" tIns="0" rIns="0" bIns="0" rtlCol="0" anchor="ctr"/>
          <a:lstStyle/>
          <a:p>
            <a:pPr marL="0" indent="0" algn="l">
              <a:buNone/>
            </a:pPr>
            <a:r>
              <a:rPr lang="en-US" sz="800" b="1" dirty="0">
                <a:solidFill>
                  <a:srgbClr val="FF6600"/>
                </a:solidFill>
                <a:latin typeface="Arial" pitchFamily="34" charset="0"/>
                <a:ea typeface="Arial" pitchFamily="34" charset="-122"/>
                <a:cs typeface="Arial" pitchFamily="34" charset="-120"/>
              </a:rPr>
              <a:t>Orange Restricted</a:t>
            </a:r>
            <a:endParaRPr lang="en-US" sz="800" dirty="0"/>
          </a:p>
        </p:txBody>
      </p:sp>
      <p:sp>
        <p:nvSpPr>
          <p:cNvPr id="12" name="Text 0">
            <a:extLst>
              <a:ext uri="{FF2B5EF4-FFF2-40B4-BE49-F238E27FC236}">
                <a16:creationId xmlns:a16="http://schemas.microsoft.com/office/drawing/2014/main" id="{EA728A91-AC16-2DCE-931E-B3087F0C76D3}"/>
              </a:ext>
            </a:extLst>
          </p:cNvPr>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2000" b="1" dirty="0">
                <a:solidFill>
                  <a:srgbClr val="FF7900"/>
                </a:solidFill>
                <a:latin typeface="Helvetica Neue"/>
                <a:sym typeface="Arial"/>
              </a:rPr>
              <a:t>3</a:t>
            </a: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 </a:t>
            </a:r>
            <a:r>
              <a:rPr lang="en-US" sz="2000" b="1" dirty="0">
                <a:solidFill>
                  <a:srgbClr val="FF6600"/>
                </a:solidFill>
                <a:latin typeface="Arial" pitchFamily="34" charset="0"/>
                <a:ea typeface="Arial" pitchFamily="34" charset="-122"/>
                <a:cs typeface="Arial" pitchFamily="34" charset="-120"/>
              </a:rPr>
              <a:t>Methodology</a:t>
            </a:r>
            <a:endPar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endParaRP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1300" b="1" dirty="0">
                <a:solidFill>
                  <a:srgbClr val="FF7900"/>
                </a:solidFill>
                <a:latin typeface="Helvetica Neue"/>
                <a:sym typeface="Arial"/>
              </a:rPr>
              <a:t>3</a:t>
            </a:r>
            <a:r>
              <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rPr>
              <a:t>.2 THE PROPOSED APPROACH</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bg>
      <p:bgPr>
        <a:solidFill>
          <a:srgbClr val="000000"/>
        </a:solidFill>
        <a:effectLst/>
      </p:bgPr>
    </p:bg>
    <p:spTree>
      <p:nvGrpSpPr>
        <p:cNvPr id="1" name="Shape 290"/>
        <p:cNvGrpSpPr/>
        <p:nvPr/>
      </p:nvGrpSpPr>
      <p:grpSpPr>
        <a:xfrm>
          <a:off x="0" y="0"/>
          <a:ext cx="0" cy="0"/>
          <a:chOff x="0" y="0"/>
          <a:chExt cx="0" cy="0"/>
        </a:xfrm>
      </p:grpSpPr>
      <p:sp>
        <p:nvSpPr>
          <p:cNvPr id="291" name="Google Shape;291;p8"/>
          <p:cNvSpPr/>
          <p:nvPr/>
        </p:nvSpPr>
        <p:spPr>
          <a:xfrm>
            <a:off x="342900" y="240030"/>
            <a:ext cx="30861" cy="342900"/>
          </a:xfrm>
          <a:prstGeom prst="rect">
            <a:avLst/>
          </a:prstGeom>
          <a:solidFill>
            <a:srgbClr val="FF7900"/>
          </a:solidFill>
          <a:ln>
            <a:noFill/>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Helvetica Neue"/>
              <a:ea typeface="Helvetica Neue"/>
              <a:cs typeface="Helvetica Neue"/>
              <a:sym typeface="Helvetica Neue"/>
            </a:endParaRPr>
          </a:p>
        </p:txBody>
      </p:sp>
      <p:sp>
        <p:nvSpPr>
          <p:cNvPr id="292" name="Google Shape;292;p8"/>
          <p:cNvSpPr/>
          <p:nvPr/>
        </p:nvSpPr>
        <p:spPr>
          <a:xfrm>
            <a:off x="452628" y="198882"/>
            <a:ext cx="1783080" cy="192024"/>
          </a:xfrm>
          <a:prstGeom prst="rect">
            <a:avLst/>
          </a:prstGeom>
          <a:noFill/>
          <a:ln>
            <a:noFill/>
          </a:ln>
        </p:spPr>
        <p:txBody>
          <a:bodyPr spcFirstLastPara="1" wrap="square" lIns="0" tIns="0" rIns="0" bIns="0" anchor="t" anchorCtr="0">
            <a:noAutofit/>
          </a:bodyPr>
          <a:lstStyle/>
          <a:p>
            <a:pPr defTabSz="685800">
              <a:buClr>
                <a:srgbClr val="FF7900"/>
              </a:buClr>
              <a:buSzPts val="1400"/>
            </a:pPr>
            <a:r>
              <a:rPr lang="en-US" sz="1050" b="1" kern="0">
                <a:solidFill>
                  <a:srgbClr val="FF7900"/>
                </a:solidFill>
                <a:latin typeface="Helvetica Neue"/>
                <a:ea typeface="Helvetica Neue"/>
                <a:cs typeface="Helvetica Neue"/>
                <a:sym typeface="Helvetica Neue"/>
              </a:rPr>
              <a:t>Orange</a:t>
            </a:r>
            <a:endParaRPr sz="1050" kern="0">
              <a:solidFill>
                <a:srgbClr val="FFFFFF"/>
              </a:solidFill>
              <a:latin typeface="Helvetica Neue"/>
              <a:ea typeface="Helvetica Neue"/>
              <a:cs typeface="Helvetica Neue"/>
              <a:sym typeface="Helvetica Neue"/>
            </a:endParaRPr>
          </a:p>
        </p:txBody>
      </p:sp>
      <p:sp>
        <p:nvSpPr>
          <p:cNvPr id="293" name="Google Shape;293;p8"/>
          <p:cNvSpPr/>
          <p:nvPr/>
        </p:nvSpPr>
        <p:spPr>
          <a:xfrm>
            <a:off x="452628" y="384048"/>
            <a:ext cx="1783080" cy="192024"/>
          </a:xfrm>
          <a:prstGeom prst="rect">
            <a:avLst/>
          </a:prstGeom>
          <a:noFill/>
          <a:ln>
            <a:noFill/>
          </a:ln>
        </p:spPr>
        <p:txBody>
          <a:bodyPr spcFirstLastPara="1" wrap="square" lIns="0" tIns="0" rIns="0" bIns="0" anchor="t" anchorCtr="0">
            <a:noAutofit/>
          </a:bodyPr>
          <a:lstStyle/>
          <a:p>
            <a:pPr defTabSz="685800">
              <a:buClr>
                <a:srgbClr val="FFFFFF"/>
              </a:buClr>
              <a:buSzPts val="1400"/>
            </a:pPr>
            <a:r>
              <a:rPr lang="en-US" sz="1050" b="1" kern="0">
                <a:solidFill>
                  <a:srgbClr val="FFFFFF"/>
                </a:solidFill>
                <a:latin typeface="Helvetica Neue"/>
                <a:ea typeface="Helvetica Neue"/>
                <a:cs typeface="Helvetica Neue"/>
                <a:sym typeface="Helvetica Neue"/>
              </a:rPr>
              <a:t>Innovation</a:t>
            </a:r>
            <a:endParaRPr sz="1050" kern="0">
              <a:solidFill>
                <a:srgbClr val="FFFFFF"/>
              </a:solidFill>
              <a:latin typeface="Helvetica Neue"/>
              <a:ea typeface="Helvetica Neue"/>
              <a:cs typeface="Helvetica Neue"/>
              <a:sym typeface="Helvetica Neue"/>
            </a:endParaRPr>
          </a:p>
        </p:txBody>
      </p:sp>
      <p:sp>
        <p:nvSpPr>
          <p:cNvPr id="294" name="Google Shape;294;p8"/>
          <p:cNvSpPr/>
          <p:nvPr/>
        </p:nvSpPr>
        <p:spPr>
          <a:xfrm>
            <a:off x="342900" y="672084"/>
            <a:ext cx="7886700" cy="219456"/>
          </a:xfrm>
          <a:prstGeom prst="rect">
            <a:avLst/>
          </a:prstGeom>
          <a:noFill/>
          <a:ln>
            <a:noFill/>
          </a:ln>
        </p:spPr>
        <p:txBody>
          <a:bodyPr spcFirstLastPara="1" wrap="square" lIns="0" tIns="0" rIns="0" bIns="0" anchor="ctr" anchorCtr="0">
            <a:noAutofit/>
          </a:bodyPr>
          <a:lstStyle/>
          <a:p>
            <a:pPr>
              <a:buClr>
                <a:srgbClr val="FF7900"/>
              </a:buClr>
              <a:buSzPts val="1500"/>
              <a:defRPr/>
            </a:pPr>
            <a:r>
              <a:rPr lang="en-US" sz="2000" b="1" dirty="0">
                <a:solidFill>
                  <a:srgbClr val="FF7900"/>
                </a:solidFill>
                <a:latin typeface="Helvetica Neue"/>
                <a:sym typeface="Helvetica Neue"/>
              </a:rPr>
              <a:t>4. TIMELINE</a:t>
            </a:r>
            <a:endParaRPr sz="2000" b="1" dirty="0">
              <a:solidFill>
                <a:srgbClr val="FF7900"/>
              </a:solidFill>
              <a:latin typeface="Helvetica Neue"/>
              <a:sym typeface="Helvetica Neue"/>
            </a:endParaRPr>
          </a:p>
        </p:txBody>
      </p:sp>
      <p:sp>
        <p:nvSpPr>
          <p:cNvPr id="295" name="Google Shape;295;p8"/>
          <p:cNvSpPr/>
          <p:nvPr/>
        </p:nvSpPr>
        <p:spPr>
          <a:xfrm>
            <a:off x="342900" y="905256"/>
            <a:ext cx="8435340" cy="425196"/>
          </a:xfrm>
          <a:prstGeom prst="rect">
            <a:avLst/>
          </a:prstGeom>
          <a:noFill/>
          <a:ln>
            <a:noFill/>
          </a:ln>
        </p:spPr>
        <p:txBody>
          <a:bodyPr spcFirstLastPara="1" wrap="square" lIns="0" tIns="0" rIns="0" bIns="0" anchor="ctr" anchorCtr="0">
            <a:noAutofit/>
          </a:bodyPr>
          <a:lstStyle/>
          <a:p>
            <a:pPr defTabSz="685800">
              <a:buClr>
                <a:srgbClr val="FFFFFF"/>
              </a:buClr>
              <a:buSzPts val="2600"/>
            </a:pPr>
            <a:r>
              <a:rPr lang="en-US" sz="1500" b="1" kern="0" dirty="0">
                <a:solidFill>
                  <a:srgbClr val="FFFFFF"/>
                </a:solidFill>
                <a:latin typeface="Helvetica Neue"/>
                <a:ea typeface="Helvetica Neue"/>
                <a:cs typeface="Helvetica Neue"/>
                <a:sym typeface="Helvetica Neue"/>
              </a:rPr>
              <a:t>10-week research plan</a:t>
            </a:r>
            <a:endParaRPr sz="1500" kern="0" dirty="0">
              <a:solidFill>
                <a:srgbClr val="FFFFFF"/>
              </a:solidFill>
              <a:latin typeface="Helvetica Neue"/>
              <a:ea typeface="Helvetica Neue"/>
              <a:cs typeface="Helvetica Neue"/>
              <a:sym typeface="Helvetica Neue"/>
            </a:endParaRPr>
          </a:p>
        </p:txBody>
      </p:sp>
      <p:sp>
        <p:nvSpPr>
          <p:cNvPr id="296" name="Google Shape;296;p8"/>
          <p:cNvSpPr/>
          <p:nvPr/>
        </p:nvSpPr>
        <p:spPr>
          <a:xfrm>
            <a:off x="342900" y="4855464"/>
            <a:ext cx="4114800" cy="205650"/>
          </a:xfrm>
          <a:prstGeom prst="rect">
            <a:avLst/>
          </a:prstGeom>
          <a:noFill/>
          <a:ln>
            <a:noFill/>
          </a:ln>
        </p:spPr>
        <p:txBody>
          <a:bodyPr spcFirstLastPara="1" wrap="square" lIns="0" tIns="0" rIns="0" bIns="0" anchor="ctr" anchorCtr="0">
            <a:noAutofit/>
          </a:bodyPr>
          <a:lstStyle/>
          <a:p>
            <a:pPr defTabSz="685800">
              <a:buClr>
                <a:srgbClr val="9A9A9A"/>
              </a:buClr>
              <a:buSzPts val="1000"/>
            </a:pPr>
            <a:r>
              <a:rPr lang="en-US" sz="750" kern="0">
                <a:solidFill>
                  <a:srgbClr val="9A9A9A"/>
                </a:solidFill>
                <a:latin typeface="Helvetica Neue"/>
                <a:ea typeface="Helvetica Neue"/>
                <a:cs typeface="Helvetica Neue"/>
                <a:sym typeface="Helvetica Neue"/>
              </a:rPr>
              <a:t>Dynamic Test-Time Compute Allocation</a:t>
            </a:r>
            <a:endParaRPr sz="750" kern="0">
              <a:solidFill>
                <a:srgbClr val="FFFFFF"/>
              </a:solidFill>
              <a:latin typeface="Helvetica Neue"/>
              <a:ea typeface="Helvetica Neue"/>
              <a:cs typeface="Helvetica Neue"/>
              <a:sym typeface="Helvetica Neue"/>
            </a:endParaRPr>
          </a:p>
        </p:txBody>
      </p:sp>
      <p:sp>
        <p:nvSpPr>
          <p:cNvPr id="297" name="Google Shape;297;p8"/>
          <p:cNvSpPr/>
          <p:nvPr/>
        </p:nvSpPr>
        <p:spPr>
          <a:xfrm>
            <a:off x="8320811" y="4855464"/>
            <a:ext cx="480060" cy="205740"/>
          </a:xfrm>
          <a:prstGeom prst="rect">
            <a:avLst/>
          </a:prstGeom>
          <a:noFill/>
          <a:ln>
            <a:noFill/>
          </a:ln>
        </p:spPr>
        <p:txBody>
          <a:bodyPr spcFirstLastPara="1" wrap="square" lIns="0" tIns="0" rIns="0" bIns="0" anchor="ctr" anchorCtr="0">
            <a:noAutofit/>
          </a:bodyPr>
          <a:lstStyle/>
          <a:p>
            <a:pPr algn="r" defTabSz="685800">
              <a:buClr>
                <a:srgbClr val="9A9A9A"/>
              </a:buClr>
              <a:buSzPts val="1000"/>
            </a:pPr>
            <a:r>
              <a:rPr lang="en-US" sz="750" kern="0">
                <a:solidFill>
                  <a:srgbClr val="9A9A9A"/>
                </a:solidFill>
                <a:latin typeface="Helvetica Neue"/>
                <a:ea typeface="Helvetica Neue"/>
                <a:cs typeface="Helvetica Neue"/>
                <a:sym typeface="Helvetica Neue"/>
              </a:rPr>
              <a:t>08</a:t>
            </a:r>
            <a:endParaRPr sz="750" kern="0">
              <a:solidFill>
                <a:srgbClr val="FFFFFF"/>
              </a:solidFill>
              <a:latin typeface="Helvetica Neue"/>
              <a:ea typeface="Helvetica Neue"/>
              <a:cs typeface="Helvetica Neue"/>
              <a:sym typeface="Helvetica Neue"/>
            </a:endParaRPr>
          </a:p>
        </p:txBody>
      </p:sp>
      <p:graphicFrame>
        <p:nvGraphicFramePr>
          <p:cNvPr id="298" name="Google Shape;298;p8"/>
          <p:cNvGraphicFramePr/>
          <p:nvPr>
            <p:extLst>
              <p:ext uri="{D42A27DB-BD31-4B8C-83A1-F6EECF244321}">
                <p14:modId xmlns:p14="http://schemas.microsoft.com/office/powerpoint/2010/main" val="367530726"/>
              </p:ext>
            </p:extLst>
          </p:nvPr>
        </p:nvGraphicFramePr>
        <p:xfrm>
          <a:off x="377190" y="1371600"/>
          <a:ext cx="8401050" cy="2160270"/>
        </p:xfrm>
        <a:graphic>
          <a:graphicData uri="http://schemas.openxmlformats.org/drawingml/2006/chart">
            <c:chart xmlns:c="http://schemas.openxmlformats.org/drawingml/2006/chart" xmlns:r="http://schemas.openxmlformats.org/officeDocument/2006/relationships" r:id="rId3"/>
          </a:graphicData>
        </a:graphic>
      </p:graphicFrame>
      <p:sp>
        <p:nvSpPr>
          <p:cNvPr id="299" name="Google Shape;299;p8"/>
          <p:cNvSpPr/>
          <p:nvPr/>
        </p:nvSpPr>
        <p:spPr>
          <a:xfrm>
            <a:off x="377190" y="3669030"/>
            <a:ext cx="8366760" cy="1303020"/>
          </a:xfrm>
          <a:prstGeom prst="rect">
            <a:avLst/>
          </a:prstGeom>
          <a:noFill/>
          <a:ln>
            <a:noFill/>
          </a:ln>
        </p:spPr>
        <p:txBody>
          <a:bodyPr spcFirstLastPara="1" wrap="square" lIns="68569" tIns="34275" rIns="68569" bIns="34275" anchor="t" anchorCtr="0">
            <a:noAutofit/>
          </a:bodyPr>
          <a:lstStyle/>
          <a:p>
            <a:pPr marL="133350" lvl="1" defTabSz="685800">
              <a:buClr>
                <a:srgbClr val="D6D6D6"/>
              </a:buClr>
              <a:buSzPts val="1050"/>
            </a:pPr>
            <a:r>
              <a:rPr lang="en-US" sz="1000" kern="0" dirty="0">
                <a:solidFill>
                  <a:srgbClr val="D6D6D6"/>
                </a:solidFill>
                <a:latin typeface="Helvetica Neue"/>
                <a:ea typeface="Helvetica Neue"/>
                <a:cs typeface="Helvetica Neue"/>
                <a:sym typeface="Helvetica Neue"/>
              </a:rPr>
              <a:t>W1&amp;2 : single-model, single-task compute–performance curves; confirm under/overthinking exists (the H1 baseline).</a:t>
            </a:r>
            <a:endParaRPr lang="en-US" sz="1000" kern="0" dirty="0">
              <a:solidFill>
                <a:srgbClr val="FFFFFF"/>
              </a:solidFill>
              <a:latin typeface="Helvetica Neue"/>
              <a:ea typeface="Helvetica Neue"/>
              <a:cs typeface="Helvetica Neue"/>
              <a:sym typeface="Helvetica Neue"/>
            </a:endParaRPr>
          </a:p>
          <a:p>
            <a:pPr marL="133350" lvl="1" defTabSz="685800">
              <a:spcBef>
                <a:spcPts val="375"/>
              </a:spcBef>
              <a:buClr>
                <a:srgbClr val="D6D6D6"/>
              </a:buClr>
              <a:buSzPts val="1050"/>
            </a:pPr>
            <a:r>
              <a:rPr lang="en-US" sz="1000" kern="0" dirty="0">
                <a:solidFill>
                  <a:srgbClr val="D6D6D6"/>
                </a:solidFill>
                <a:latin typeface="Helvetica Neue"/>
                <a:ea typeface="Helvetica Neue"/>
                <a:cs typeface="Helvetica Neue"/>
                <a:sym typeface="Helvetica Neue"/>
              </a:rPr>
              <a:t>W3&amp;4 : repeat the H1 protocol across model families and sizes (H2): does the curve shape hold beyond one model?</a:t>
            </a:r>
            <a:endParaRPr lang="en-US" sz="1000" kern="0" dirty="0">
              <a:solidFill>
                <a:srgbClr val="FFFFFF"/>
              </a:solidFill>
              <a:latin typeface="Helvetica Neue"/>
              <a:ea typeface="Helvetica Neue"/>
              <a:cs typeface="Helvetica Neue"/>
              <a:sym typeface="Helvetica Neue"/>
            </a:endParaRPr>
          </a:p>
          <a:p>
            <a:pPr marL="133350" lvl="1" defTabSz="685800">
              <a:spcBef>
                <a:spcPts val="375"/>
              </a:spcBef>
              <a:buClr>
                <a:srgbClr val="D6D6D6"/>
              </a:buClr>
              <a:buSzPts val="1050"/>
            </a:pPr>
            <a:r>
              <a:rPr lang="en-US" sz="1000" kern="0" dirty="0">
                <a:solidFill>
                  <a:srgbClr val="D6D6D6"/>
                </a:solidFill>
                <a:latin typeface="Helvetica Neue"/>
                <a:ea typeface="Helvetica Neue"/>
                <a:cs typeface="Helvetica Neue"/>
                <a:sym typeface="Helvetica Neue"/>
              </a:rPr>
              <a:t>W5&amp;6 : cross-task generalization tests; derive the theoretical allocation equation (H3); fit A, β, C_min.</a:t>
            </a:r>
            <a:endParaRPr lang="en-US" sz="1000" kern="0" dirty="0">
              <a:solidFill>
                <a:srgbClr val="FFFFFF"/>
              </a:solidFill>
              <a:latin typeface="Helvetica Neue"/>
              <a:ea typeface="Helvetica Neue"/>
              <a:cs typeface="Helvetica Neue"/>
              <a:sym typeface="Helvetica Neue"/>
            </a:endParaRPr>
          </a:p>
          <a:p>
            <a:pPr marL="133350" lvl="1" defTabSz="685800">
              <a:spcBef>
                <a:spcPts val="375"/>
              </a:spcBef>
              <a:buClr>
                <a:srgbClr val="D6D6D6"/>
              </a:buClr>
              <a:buSzPts val="1050"/>
            </a:pPr>
            <a:r>
              <a:rPr lang="en-US" sz="1000" kern="0" dirty="0" err="1">
                <a:solidFill>
                  <a:srgbClr val="D6D6D6"/>
                </a:solidFill>
                <a:latin typeface="Helvetica Neue"/>
                <a:ea typeface="Helvetica Neue"/>
                <a:cs typeface="Helvetica Neue"/>
                <a:sym typeface="Helvetica Neue"/>
              </a:rPr>
              <a:t>Wk</a:t>
            </a:r>
            <a:r>
              <a:rPr lang="en-US" sz="1000" kern="0" dirty="0">
                <a:solidFill>
                  <a:srgbClr val="D6D6D6"/>
                </a:solidFill>
                <a:latin typeface="Helvetica Neue"/>
                <a:ea typeface="Helvetica Neue"/>
                <a:cs typeface="Helvetica Neue"/>
                <a:sym typeface="Helvetica Neue"/>
              </a:rPr>
              <a:t> 7&amp;8 : train and evaluate the predictive correction layer on top of the theoretical estimate — compared with DiffAdapt.</a:t>
            </a:r>
            <a:endParaRPr lang="en-US" sz="1000" kern="0" dirty="0">
              <a:solidFill>
                <a:srgbClr val="FFFFFF"/>
              </a:solidFill>
              <a:latin typeface="Helvetica Neue"/>
              <a:ea typeface="Helvetica Neue"/>
              <a:cs typeface="Helvetica Neue"/>
              <a:sym typeface="Helvetica Neue"/>
            </a:endParaRPr>
          </a:p>
          <a:p>
            <a:pPr marL="133350" lvl="1" defTabSz="685800">
              <a:spcBef>
                <a:spcPts val="375"/>
              </a:spcBef>
              <a:buClr>
                <a:srgbClr val="D6D6D6"/>
              </a:buClr>
              <a:buSzPts val="1050"/>
            </a:pPr>
            <a:r>
              <a:rPr lang="en-US" sz="1000" kern="0" dirty="0" err="1">
                <a:solidFill>
                  <a:srgbClr val="D6D6D6"/>
                </a:solidFill>
                <a:latin typeface="Helvetica Neue"/>
                <a:ea typeface="Helvetica Neue"/>
                <a:cs typeface="Helvetica Neue"/>
                <a:sym typeface="Helvetica Neue"/>
              </a:rPr>
              <a:t>Wk</a:t>
            </a:r>
            <a:r>
              <a:rPr lang="en-US" sz="1000" kern="0" dirty="0">
                <a:solidFill>
                  <a:srgbClr val="D6D6D6"/>
                </a:solidFill>
                <a:latin typeface="Helvetica Neue"/>
                <a:ea typeface="Helvetica Neue"/>
                <a:cs typeface="Helvetica Neue"/>
                <a:sym typeface="Helvetica Neue"/>
              </a:rPr>
              <a:t> 9&amp;10 : RL residual policy; assemble the full pipeline; write-up and defense prep.</a:t>
            </a:r>
            <a:endParaRPr lang="en-US" sz="1000" kern="0" dirty="0">
              <a:solidFill>
                <a:srgbClr val="FFFFFF"/>
              </a:solidFill>
              <a:latin typeface="Helvetica Neue"/>
              <a:ea typeface="Helvetica Neue"/>
              <a:cs typeface="Helvetica Neue"/>
              <a:sym typeface="Helvetica Neue"/>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338328" y="137160"/>
            <a:ext cx="0" cy="4828032"/>
          </a:xfrm>
          <a:prstGeom prst="line">
            <a:avLst/>
          </a:prstGeom>
          <a:noFill/>
          <a:ln w="53975">
            <a:solidFill>
              <a:srgbClr val="FF6600"/>
            </a:solidFill>
            <a:prstDash val="solid"/>
          </a:ln>
        </p:spPr>
      </p:sp>
      <p:sp>
        <p:nvSpPr>
          <p:cNvPr id="3" name="Text 1"/>
          <p:cNvSpPr txBox="1"/>
          <p:nvPr/>
        </p:nvSpPr>
        <p:spPr>
          <a:xfrm>
            <a:off x="530352" y="384048"/>
            <a:ext cx="2743200" cy="777240"/>
          </a:xfrm>
          <a:prstGeom prst="rect">
            <a:avLst/>
          </a:prstGeom>
          <a:noFill/>
          <a:ln/>
        </p:spPr>
        <p:txBody>
          <a:bodyPr wrap="square" lIns="0" tIns="0" rIns="0" bIns="0" rtlCol="0" anchor="t"/>
          <a:lstStyle/>
          <a:p>
            <a:pPr marL="0" indent="0">
              <a:lnSpc>
                <a:spcPts val="2400"/>
              </a:lnSpc>
              <a:buNone/>
            </a:pPr>
            <a:r>
              <a:rPr lang="en-US" sz="2000" dirty="0">
                <a:solidFill>
                  <a:srgbClr val="FF6600"/>
                </a:solidFill>
                <a:latin typeface="Arial" pitchFamily="34" charset="0"/>
                <a:ea typeface="Arial" pitchFamily="34" charset="-122"/>
                <a:cs typeface="Arial" pitchFamily="34" charset="-120"/>
              </a:rPr>
              <a:t>Orange
</a:t>
            </a:r>
            <a:endParaRPr lang="en-US" sz="2000" dirty="0"/>
          </a:p>
          <a:p>
            <a:pPr marL="0" indent="0">
              <a:lnSpc>
                <a:spcPts val="2400"/>
              </a:lnSpc>
              <a:buNone/>
            </a:pPr>
            <a:r>
              <a:rPr lang="en-US" sz="2000" dirty="0">
                <a:solidFill>
                  <a:srgbClr val="FFFFFF"/>
                </a:solidFill>
                <a:latin typeface="Arial" pitchFamily="34" charset="0"/>
                <a:ea typeface="Arial" pitchFamily="34" charset="-122"/>
                <a:cs typeface="Arial" pitchFamily="34" charset="-120"/>
              </a:rPr>
              <a:t>Innovation</a:t>
            </a:r>
            <a:endParaRPr lang="en-US" sz="2000" dirty="0"/>
          </a:p>
        </p:txBody>
      </p:sp>
      <p:sp>
        <p:nvSpPr>
          <p:cNvPr id="4" name="Text 2"/>
          <p:cNvSpPr txBox="1"/>
          <p:nvPr/>
        </p:nvSpPr>
        <p:spPr>
          <a:xfrm>
            <a:off x="868680" y="2011680"/>
            <a:ext cx="7315200" cy="1280160"/>
          </a:xfrm>
          <a:prstGeom prst="rect">
            <a:avLst/>
          </a:prstGeom>
          <a:noFill/>
          <a:ln/>
        </p:spPr>
        <p:txBody>
          <a:bodyPr wrap="square" lIns="0" tIns="0" rIns="0" bIns="0" rtlCol="0" anchor="t"/>
          <a:lstStyle/>
          <a:p>
            <a:pPr marL="0" indent="0" algn="l">
              <a:buNone/>
            </a:pPr>
            <a:r>
              <a:rPr lang="en-US" sz="4000">
                <a:solidFill>
                  <a:srgbClr val="FFFFFF"/>
                </a:solidFill>
                <a:latin typeface="Arial" pitchFamily="34" charset="0"/>
                <a:ea typeface="Arial" pitchFamily="34" charset="-122"/>
                <a:cs typeface="Arial" pitchFamily="34" charset="-120"/>
              </a:rPr>
              <a:t>Thanks</a:t>
            </a:r>
            <a:endParaRPr lang="en-US" sz="4000" dirty="0"/>
          </a:p>
        </p:txBody>
      </p:sp>
      <p:sp>
        <p:nvSpPr>
          <p:cNvPr id="5" name="Shape 3"/>
          <p:cNvSpPr/>
          <p:nvPr/>
        </p:nvSpPr>
        <p:spPr>
          <a:xfrm>
            <a:off x="8229600" y="4233672"/>
            <a:ext cx="612648" cy="612648"/>
          </a:xfrm>
          <a:prstGeom prst="rect">
            <a:avLst/>
          </a:prstGeom>
          <a:solidFill>
            <a:srgbClr val="FF6600"/>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Black Master 2021">
  <a:themeElements>
    <a:clrScheme name="Orange BLK Core">
      <a:dk1>
        <a:srgbClr val="FFFFFF"/>
      </a:dk1>
      <a:lt1>
        <a:srgbClr val="000000"/>
      </a:lt1>
      <a:dk2>
        <a:srgbClr val="8F8F8F"/>
      </a:dk2>
      <a:lt2>
        <a:srgbClr val="FF7900"/>
      </a:lt2>
      <a:accent1>
        <a:srgbClr val="FF7900"/>
      </a:accent1>
      <a:accent2>
        <a:srgbClr val="FFFFFF"/>
      </a:accent2>
      <a:accent3>
        <a:srgbClr val="595959"/>
      </a:accent3>
      <a:accent4>
        <a:srgbClr val="8F8F8F"/>
      </a:accent4>
      <a:accent5>
        <a:srgbClr val="D6D6D6"/>
      </a:accent5>
      <a:accent6>
        <a:srgbClr val="595959"/>
      </a:accent6>
      <a:hlink>
        <a:srgbClr val="FF7900"/>
      </a:hlink>
      <a:folHlink>
        <a:srgbClr val="FF790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353</TotalTime>
  <Words>3065</Words>
  <Application>Microsoft Office PowerPoint</Application>
  <PresentationFormat>On-screen Show (16:9)</PresentationFormat>
  <Paragraphs>287</Paragraphs>
  <Slides>18</Slides>
  <Notes>18</Notes>
  <HiddenSlides>1</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18</vt:i4>
      </vt:variant>
    </vt:vector>
  </HeadingPairs>
  <TitlesOfParts>
    <vt:vector size="26" baseType="lpstr">
      <vt:lpstr>Aptos</vt:lpstr>
      <vt:lpstr>Arial</vt:lpstr>
      <vt:lpstr>Calibri</vt:lpstr>
      <vt:lpstr>Consolas</vt:lpstr>
      <vt:lpstr>Helvetica Neue</vt:lpstr>
      <vt:lpstr>Noto Sans Symbols</vt:lpstr>
      <vt:lpstr>Office Theme</vt:lpstr>
      <vt:lpstr>Black Master 2021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Ahmed Fathy</cp:lastModifiedBy>
  <cp:revision>16</cp:revision>
  <dcterms:created xsi:type="dcterms:W3CDTF">2026-09-12T01:52:22Z</dcterms:created>
  <dcterms:modified xsi:type="dcterms:W3CDTF">2026-10-07T08:27:27Z</dcterms:modified>
</cp:coreProperties>
</file>