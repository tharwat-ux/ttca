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comments/comment1.xml" ContentType="application/vnd.openxmlformats-officedocument.presentationml.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28"/>
  </p:notesMasterIdLst>
  <p:sldIdLst>
    <p:sldId id="256" r:id="rId3"/>
    <p:sldId id="258" r:id="rId4"/>
    <p:sldId id="285" r:id="rId5"/>
    <p:sldId id="286" r:id="rId6"/>
    <p:sldId id="287" r:id="rId7"/>
    <p:sldId id="288" r:id="rId8"/>
    <p:sldId id="289" r:id="rId9"/>
    <p:sldId id="290" r:id="rId10"/>
    <p:sldId id="291" r:id="rId11"/>
    <p:sldId id="292" r:id="rId12"/>
    <p:sldId id="293" r:id="rId13"/>
    <p:sldId id="294" r:id="rId14"/>
    <p:sldId id="295" r:id="rId15"/>
    <p:sldId id="278" r:id="rId16"/>
    <p:sldId id="279" r:id="rId17"/>
    <p:sldId id="280" r:id="rId18"/>
    <p:sldId id="263" r:id="rId19"/>
    <p:sldId id="296" r:id="rId20"/>
    <p:sldId id="297" r:id="rId21"/>
    <p:sldId id="298" r:id="rId22"/>
    <p:sldId id="299" r:id="rId23"/>
    <p:sldId id="300" r:id="rId24"/>
    <p:sldId id="301" r:id="rId25"/>
    <p:sldId id="302" r:id="rId26"/>
    <p:sldId id="282"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bdelrahman Ramadan"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7" d="100"/>
          <a:sy n="127" d="100"/>
        </p:scale>
        <p:origin x="106" y="14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Start</c:v>
                </c:pt>
              </c:strCache>
            </c:strRef>
          </c:tx>
          <c:spPr>
            <a:solidFill>
              <a:srgbClr val="0000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Sheet1!$B$2:$B$6</c:f>
              <c:numCache>
                <c:formatCode>General</c:formatCode>
                <c:ptCount val="5"/>
                <c:pt idx="0">
                  <c:v>8</c:v>
                </c:pt>
                <c:pt idx="1">
                  <c:v>6</c:v>
                </c:pt>
                <c:pt idx="2">
                  <c:v>4</c:v>
                </c:pt>
                <c:pt idx="3">
                  <c:v>2</c:v>
                </c:pt>
              </c:numCache>
            </c:numRef>
          </c:val>
          <c:extLst>
            <c:ext xmlns:c16="http://schemas.microsoft.com/office/drawing/2014/chart" uri="{C3380CC4-5D6E-409C-BE32-E72D297353CC}">
              <c16:uniqueId val="{00000000-DB61-4C5A-B1AE-2ADE4B5E7B1E}"/>
            </c:ext>
          </c:extLst>
        </c:ser>
        <c:ser>
          <c:idx val="1"/>
          <c:order val="1"/>
          <c:tx>
            <c:strRef>
              <c:f>Sheet1!$C$1</c:f>
              <c:strCache>
                <c:ptCount val="1"/>
                <c:pt idx="0">
                  <c:v>Duration</c:v>
                </c:pt>
              </c:strCache>
            </c:strRef>
          </c:tx>
          <c:spPr>
            <a:solidFill>
              <a:srgbClr val="FF79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Sheet1!$C$2:$C$6</c:f>
              <c:numCache>
                <c:formatCode>General</c:formatCode>
                <c:ptCount val="5"/>
                <c:pt idx="0">
                  <c:v>2</c:v>
                </c:pt>
                <c:pt idx="1">
                  <c:v>2</c:v>
                </c:pt>
                <c:pt idx="2">
                  <c:v>2</c:v>
                </c:pt>
                <c:pt idx="3">
                  <c:v>2</c:v>
                </c:pt>
                <c:pt idx="4">
                  <c:v>2</c:v>
                </c:pt>
              </c:numCache>
            </c:numRef>
          </c:val>
          <c:extLst>
            <c:ext xmlns:c16="http://schemas.microsoft.com/office/drawing/2014/chart" uri="{C3380CC4-5D6E-409C-BE32-E72D297353CC}">
              <c16:uniqueId val="{00000001-DB61-4C5A-B1AE-2ADE4B5E7B1E}"/>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FFFFFF"/>
                </a:solidFill>
                <a:latin typeface="Arial"/>
              </a:defRPr>
            </a:pPr>
            <a:endParaRPr lang="en-US"/>
          </a:p>
        </c:txPr>
        <c:crossAx val="2094734552"/>
        <c:crosses val="autoZero"/>
        <c:auto val="1"/>
        <c:lblAlgn val="ctr"/>
        <c:lblOffset val="100"/>
        <c:noMultiLvlLbl val="1"/>
      </c:catAx>
      <c:valAx>
        <c:axId val="2094734552"/>
        <c:scaling>
          <c:orientation val="minMax"/>
          <c:max val="10"/>
          <c:min val="0"/>
        </c:scaling>
        <c:delete val="0"/>
        <c:axPos val="b"/>
        <c:majorGridlines>
          <c:spPr>
            <a:ln w="9525" cap="flat">
              <a:solidFill>
                <a:srgbClr val="333333"/>
              </a:solidFill>
              <a:prstDash val="solid"/>
              <a:round/>
            </a:ln>
          </c:spPr>
        </c:majorGridlines>
        <c:title>
          <c:tx>
            <c:rich>
              <a:bodyPr/>
              <a:lstStyle/>
              <a:p>
                <a:pPr>
                  <a:defRPr sz="1000" b="0" i="0" u="none" strike="noStrike">
                    <a:solidFill>
                      <a:srgbClr val="9A9A9A"/>
                    </a:solidFill>
                    <a:latin typeface="Arial"/>
                  </a:defRPr>
                </a:pPr>
                <a:r>
                  <a:rPr lang="en-US" sz="1000" b="0" i="0" u="none" strike="noStrike">
                    <a:solidFill>
                      <a:srgbClr val="9A9A9A"/>
                    </a:solidFill>
                    <a:latin typeface="Arial"/>
                  </a:rPr>
                  <a:t>Week</a:t>
                </a:r>
              </a:p>
            </c:rich>
          </c:tx>
          <c:overlay val="0"/>
        </c:title>
        <c:numFmt formatCode="General" sourceLinked="0"/>
        <c:majorTickMark val="out"/>
        <c:minorTickMark val="none"/>
        <c:tickLblPos val="low"/>
        <c:spPr>
          <a:ln w="12700" cap="flat">
            <a:solidFill>
              <a:srgbClr val="333333"/>
            </a:solidFill>
            <a:prstDash val="solid"/>
            <a:round/>
          </a:ln>
        </c:spPr>
        <c:txPr>
          <a:bodyPr/>
          <a:lstStyle/>
          <a:p>
            <a:pPr>
              <a:defRPr sz="1000" b="0" i="0" u="none" strike="noStrike">
                <a:solidFill>
                  <a:srgbClr val="9A9A9A"/>
                </a:solidFill>
                <a:latin typeface="Arial"/>
              </a:defRPr>
            </a:pPr>
            <a:endParaRPr lang="en-US"/>
          </a:p>
        </c:txPr>
        <c:crossAx val="2094734554"/>
        <c:crosses val="autoZero"/>
        <c:crossBetween val="between"/>
        <c:majorUnit val="2"/>
      </c:valAx>
      <c:spPr>
        <a:solidFill>
          <a:srgbClr val="000000"/>
        </a:solidFill>
        <a:ln>
          <a:noFill/>
        </a:ln>
        <a:effectLst/>
      </c:spPr>
    </c:plotArea>
    <c:plotVisOnly val="1"/>
    <c:dispBlanksAs val="span"/>
    <c:showDLblsOverMax val="1"/>
  </c:chart>
  <c:spPr>
    <a:solidFill>
      <a:srgbClr val="000000"/>
    </a:solidFill>
    <a:ln>
      <a:noFill/>
    </a:ln>
    <a:effectLst/>
  </c:spPr>
  <c:externalData r:id="rId1">
    <c:autoUpdate val="0"/>
  </c:externalData>
</c:chartSpace>
</file>

<file path=ppt/comments/comment1.xml><?xml version="1.0" encoding="utf-8"?>
<p:cmLst xmlns:a="http://schemas.openxmlformats.org/drawingml/2006/main" xmlns:r="http://schemas.openxmlformats.org/officeDocument/2006/relationships" xmlns:p="http://schemas.openxmlformats.org/presentationml/2006/main">
  <p:cm authorId="1" dt="2026-08-24T09:58:40.974" idx="2">
    <p:pos x="6000" y="0"/>
    <p:text>edit the theme of this table</p:text>
    <p:extLst>
      <p:ext uri="{C676402C-5697-4E1C-873F-D02D1690AC5C}">
        <p15:threadingInfo xmlns:p15="http://schemas.microsoft.com/office/powerpoint/2012/main" timeZoneBias="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72311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864775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1006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209096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02768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79218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37481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389635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68486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30677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55599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369717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89" name="Google Shape;289;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800" b="0" i="0" u="none" strike="noStrike" kern="0" cap="none" spc="0" normalizeH="0" baseline="0" noProof="0">
                <a:ln>
                  <a:noFill/>
                </a:ln>
                <a:solidFill>
                  <a:srgbClr val="000000"/>
                </a:solidFill>
                <a:effectLst/>
                <a:uLnTx/>
                <a:uFillTx/>
                <a:latin typeface="Arial"/>
                <a:ea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17</a:t>
            </a:fld>
            <a:endParaRPr kumimoji="0" sz="1800" b="0" i="0" u="none" strike="noStrike" kern="0" cap="none" spc="0" normalizeH="0" baseline="0" noProof="0">
              <a:ln>
                <a:noFill/>
              </a:ln>
              <a:solidFill>
                <a:srgbClr val="000000"/>
              </a:solidFill>
              <a:effectLst/>
              <a:uLnTx/>
              <a:uFillTx/>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538018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29154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426948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910259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185514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001510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371893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Diapositive de titre">
  <p:cSld name="Diapositive de titre">
    <p:spTree>
      <p:nvGrpSpPr>
        <p:cNvPr id="1" name="Shape 9"/>
        <p:cNvGrpSpPr/>
        <p:nvPr/>
      </p:nvGrpSpPr>
      <p:grpSpPr>
        <a:xfrm>
          <a:off x="0" y="0"/>
          <a:ext cx="0" cy="0"/>
          <a:chOff x="0" y="0"/>
          <a:chExt cx="0" cy="0"/>
        </a:xfrm>
      </p:grpSpPr>
      <p:sp>
        <p:nvSpPr>
          <p:cNvPr id="10" name="Google Shape;10;p11"/>
          <p:cNvSpPr txBox="1">
            <a:spLocks noGrp="1"/>
          </p:cNvSpPr>
          <p:nvPr>
            <p:ph type="ctrTitle"/>
          </p:nvPr>
        </p:nvSpPr>
        <p:spPr>
          <a:xfrm>
            <a:off x="968400" y="1692000"/>
            <a:ext cx="7261200" cy="2318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dk1"/>
              </a:buClr>
              <a:buSzPts val="5500"/>
              <a:buFont typeface="Helvetica Neue"/>
              <a:buNone/>
              <a:defRPr sz="55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 name="Google Shape;11;p11"/>
          <p:cNvSpPr txBox="1">
            <a:spLocks noGrp="1"/>
          </p:cNvSpPr>
          <p:nvPr>
            <p:ph type="subTitle" idx="1"/>
          </p:nvPr>
        </p:nvSpPr>
        <p:spPr>
          <a:xfrm>
            <a:off x="950596" y="4177344"/>
            <a:ext cx="4341485" cy="338622"/>
          </a:xfrm>
          <a:prstGeom prst="rect">
            <a:avLst/>
          </a:prstGeom>
          <a:noFill/>
          <a:ln>
            <a:noFill/>
          </a:ln>
        </p:spPr>
        <p:txBody>
          <a:bodyPr spcFirstLastPara="1" wrap="square" lIns="0" tIns="0" rIns="0" bIns="0" anchor="t" anchorCtr="0">
            <a:noAutofit/>
          </a:bodyPr>
          <a:lstStyle>
            <a:lvl1pPr lvl="0" algn="l">
              <a:lnSpc>
                <a:spcPct val="90000"/>
              </a:lnSpc>
              <a:spcBef>
                <a:spcPts val="600"/>
              </a:spcBef>
              <a:spcAft>
                <a:spcPts val="0"/>
              </a:spcAft>
              <a:buSzPts val="350"/>
              <a:buNone/>
              <a:defRPr>
                <a:solidFill>
                  <a:schemeClr val="dk1"/>
                </a:solidFill>
              </a:defRPr>
            </a:lvl1pPr>
            <a:lvl2pPr lvl="1" algn="l">
              <a:lnSpc>
                <a:spcPct val="90000"/>
              </a:lnSpc>
              <a:spcBef>
                <a:spcPts val="600"/>
              </a:spcBef>
              <a:spcAft>
                <a:spcPts val="0"/>
              </a:spcAft>
              <a:buClr>
                <a:schemeClr val="lt2"/>
              </a:buClr>
              <a:buSzPts val="1400"/>
              <a:buFont typeface="Noto Sans Symbols"/>
              <a:buChar char="▪"/>
              <a:defRPr>
                <a:solidFill>
                  <a:schemeClr val="dk1"/>
                </a:solidFill>
              </a:defRPr>
            </a:lvl2pPr>
            <a:lvl3pPr lvl="2" algn="l">
              <a:lnSpc>
                <a:spcPct val="90000"/>
              </a:lnSpc>
              <a:spcBef>
                <a:spcPts val="336"/>
              </a:spcBef>
              <a:spcAft>
                <a:spcPts val="0"/>
              </a:spcAft>
              <a:buClr>
                <a:schemeClr val="dk1"/>
              </a:buClr>
              <a:buSzPts val="1400"/>
              <a:buFont typeface="Helvetica Neue"/>
              <a:buChar char="–"/>
              <a:defRPr>
                <a:solidFill>
                  <a:schemeClr val="dk1"/>
                </a:solidFill>
                <a:latin typeface="Helvetica Neue"/>
                <a:ea typeface="Helvetica Neue"/>
                <a:cs typeface="Helvetica Neue"/>
                <a:sym typeface="Helvetica Neue"/>
              </a:defRPr>
            </a:lvl3pPr>
            <a:lvl4pPr lvl="3" algn="l">
              <a:lnSpc>
                <a:spcPct val="90000"/>
              </a:lnSpc>
              <a:spcBef>
                <a:spcPts val="24"/>
              </a:spcBef>
              <a:spcAft>
                <a:spcPts val="0"/>
              </a:spcAft>
              <a:buClr>
                <a:schemeClr val="dk1"/>
              </a:buClr>
              <a:buSzPts val="1400"/>
              <a:buFont typeface="Helvetica Neue"/>
              <a:buChar char="–"/>
              <a:defRPr>
                <a:solidFill>
                  <a:schemeClr val="dk1"/>
                </a:solidFill>
              </a:defRPr>
            </a:lvl4pPr>
            <a:lvl5pPr lvl="4" algn="l">
              <a:lnSpc>
                <a:spcPct val="90000"/>
              </a:lnSpc>
              <a:spcBef>
                <a:spcPts val="280"/>
              </a:spcBef>
              <a:spcAft>
                <a:spcPts val="0"/>
              </a:spcAft>
              <a:buSzPts val="1400"/>
              <a:buFont typeface="Helvetica Neue"/>
              <a:buChar char="–"/>
              <a:defRPr>
                <a:solidFill>
                  <a:schemeClr val="dk1"/>
                </a:solidFill>
              </a:defRPr>
            </a:lvl5pPr>
            <a:lvl6pPr lvl="5" algn="ctr">
              <a:lnSpc>
                <a:spcPct val="100000"/>
              </a:lnSpc>
              <a:spcBef>
                <a:spcPts val="280"/>
              </a:spcBef>
              <a:spcAft>
                <a:spcPts val="0"/>
              </a:spcAft>
              <a:buClr>
                <a:schemeClr val="dk1"/>
              </a:buClr>
              <a:buSzPts val="1400"/>
              <a:buNone/>
              <a:defRPr>
                <a:solidFill>
                  <a:schemeClr val="dk1"/>
                </a:solidFill>
              </a:defRPr>
            </a:lvl6pPr>
            <a:lvl7pPr lvl="6" algn="ctr">
              <a:lnSpc>
                <a:spcPct val="100000"/>
              </a:lnSpc>
              <a:spcBef>
                <a:spcPts val="400"/>
              </a:spcBef>
              <a:spcAft>
                <a:spcPts val="0"/>
              </a:spcAft>
              <a:buClr>
                <a:schemeClr val="dk1"/>
              </a:buClr>
              <a:buSzPts val="2000"/>
              <a:buNone/>
              <a:defRPr>
                <a:solidFill>
                  <a:schemeClr val="dk1"/>
                </a:solidFill>
              </a:defRPr>
            </a:lvl7pPr>
            <a:lvl8pPr lvl="7" algn="ctr">
              <a:lnSpc>
                <a:spcPct val="100000"/>
              </a:lnSpc>
              <a:spcBef>
                <a:spcPts val="400"/>
              </a:spcBef>
              <a:spcAft>
                <a:spcPts val="0"/>
              </a:spcAft>
              <a:buClr>
                <a:schemeClr val="dk1"/>
              </a:buClr>
              <a:buSzPts val="2000"/>
              <a:buNone/>
              <a:defRPr>
                <a:solidFill>
                  <a:schemeClr val="dk1"/>
                </a:solidFill>
              </a:defRPr>
            </a:lvl8pPr>
            <a:lvl9pPr lvl="8" algn="ctr">
              <a:lnSpc>
                <a:spcPct val="100000"/>
              </a:lnSpc>
              <a:spcBef>
                <a:spcPts val="400"/>
              </a:spcBef>
              <a:spcAft>
                <a:spcPts val="0"/>
              </a:spcAft>
              <a:buClr>
                <a:schemeClr val="dk1"/>
              </a:buClr>
              <a:buSzPts val="2000"/>
              <a:buNone/>
              <a:defRPr>
                <a:solidFill>
                  <a:schemeClr val="dk1"/>
                </a:solidFill>
              </a:defRPr>
            </a:lvl9pPr>
          </a:lstStyle>
          <a:p>
            <a:endParaRPr/>
          </a:p>
        </p:txBody>
      </p:sp>
      <p:grpSp>
        <p:nvGrpSpPr>
          <p:cNvPr id="12" name="Google Shape;12;p11"/>
          <p:cNvGrpSpPr/>
          <p:nvPr/>
        </p:nvGrpSpPr>
        <p:grpSpPr>
          <a:xfrm>
            <a:off x="8227153" y="4233864"/>
            <a:ext cx="612775" cy="612775"/>
            <a:chOff x="313535" y="4233863"/>
            <a:chExt cx="612775" cy="612775"/>
          </a:xfrm>
        </p:grpSpPr>
        <p:sp>
          <p:nvSpPr>
            <p:cNvPr id="13" name="Google Shape;13;p11"/>
            <p:cNvSpPr/>
            <p:nvPr/>
          </p:nvSpPr>
          <p:spPr>
            <a:xfrm>
              <a:off x="313535" y="4233863"/>
              <a:ext cx="612775" cy="612775"/>
            </a:xfrm>
            <a:prstGeom prst="rect">
              <a:avLst/>
            </a:prstGeom>
            <a:solidFill>
              <a:srgbClr val="FF7900"/>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4" name="Google Shape;14;p11"/>
            <p:cNvSpPr/>
            <p:nvPr/>
          </p:nvSpPr>
          <p:spPr>
            <a:xfrm>
              <a:off x="500860" y="4708526"/>
              <a:ext cx="74613" cy="87313"/>
            </a:xfrm>
            <a:custGeom>
              <a:avLst/>
              <a:gdLst/>
              <a:ahLst/>
              <a:cxnLst/>
              <a:rect l="l" t="t" r="r" b="b"/>
              <a:pathLst>
                <a:path w="93" h="109" extrusionOk="0">
                  <a:moveTo>
                    <a:pt x="66" y="99"/>
                  </a:moveTo>
                  <a:cubicBezTo>
                    <a:pt x="55" y="106"/>
                    <a:pt x="43" y="109"/>
                    <a:pt x="31" y="109"/>
                  </a:cubicBezTo>
                  <a:cubicBezTo>
                    <a:pt x="11" y="109"/>
                    <a:pt x="0" y="96"/>
                    <a:pt x="0" y="79"/>
                  </a:cubicBezTo>
                  <a:cubicBezTo>
                    <a:pt x="0" y="55"/>
                    <a:pt x="21" y="42"/>
                    <a:pt x="66" y="37"/>
                  </a:cubicBezTo>
                  <a:cubicBezTo>
                    <a:pt x="66" y="32"/>
                    <a:pt x="66" y="32"/>
                    <a:pt x="66" y="32"/>
                  </a:cubicBezTo>
                  <a:cubicBezTo>
                    <a:pt x="66" y="24"/>
                    <a:pt x="60" y="19"/>
                    <a:pt x="49" y="19"/>
                  </a:cubicBezTo>
                  <a:cubicBezTo>
                    <a:pt x="39" y="19"/>
                    <a:pt x="30" y="24"/>
                    <a:pt x="24" y="32"/>
                  </a:cubicBezTo>
                  <a:cubicBezTo>
                    <a:pt x="5" y="21"/>
                    <a:pt x="5" y="21"/>
                    <a:pt x="5" y="21"/>
                  </a:cubicBezTo>
                  <a:cubicBezTo>
                    <a:pt x="15" y="7"/>
                    <a:pt x="30" y="0"/>
                    <a:pt x="50" y="0"/>
                  </a:cubicBezTo>
                  <a:cubicBezTo>
                    <a:pt x="77" y="0"/>
                    <a:pt x="93" y="12"/>
                    <a:pt x="93" y="32"/>
                  </a:cubicBezTo>
                  <a:cubicBezTo>
                    <a:pt x="93" y="32"/>
                    <a:pt x="93" y="108"/>
                    <a:pt x="93" y="108"/>
                  </a:cubicBezTo>
                  <a:cubicBezTo>
                    <a:pt x="68" y="108"/>
                    <a:pt x="68" y="108"/>
                    <a:pt x="68" y="108"/>
                  </a:cubicBezTo>
                  <a:lnTo>
                    <a:pt x="66" y="99"/>
                  </a:lnTo>
                  <a:close/>
                  <a:moveTo>
                    <a:pt x="27" y="77"/>
                  </a:moveTo>
                  <a:cubicBezTo>
                    <a:pt x="27" y="84"/>
                    <a:pt x="31" y="90"/>
                    <a:pt x="39" y="90"/>
                  </a:cubicBezTo>
                  <a:cubicBezTo>
                    <a:pt x="48" y="90"/>
                    <a:pt x="57" y="87"/>
                    <a:pt x="65" y="79"/>
                  </a:cubicBezTo>
                  <a:cubicBezTo>
                    <a:pt x="65" y="54"/>
                    <a:pt x="65" y="54"/>
                    <a:pt x="65" y="54"/>
                  </a:cubicBezTo>
                  <a:cubicBezTo>
                    <a:pt x="39" y="57"/>
                    <a:pt x="27" y="64"/>
                    <a:pt x="27" y="77"/>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5" name="Google Shape;15;p11"/>
            <p:cNvSpPr/>
            <p:nvPr/>
          </p:nvSpPr>
          <p:spPr>
            <a:xfrm>
              <a:off x="592935" y="4708526"/>
              <a:ext cx="76200" cy="87313"/>
            </a:xfrm>
            <a:custGeom>
              <a:avLst/>
              <a:gdLst/>
              <a:ahLst/>
              <a:cxnLst/>
              <a:rect l="l" t="t" r="r" b="b"/>
              <a:pathLst>
                <a:path w="94" h="108" extrusionOk="0">
                  <a:moveTo>
                    <a:pt x="0" y="5"/>
                  </a:moveTo>
                  <a:cubicBezTo>
                    <a:pt x="23" y="2"/>
                    <a:pt x="23" y="2"/>
                    <a:pt x="23" y="2"/>
                  </a:cubicBezTo>
                  <a:cubicBezTo>
                    <a:pt x="25" y="15"/>
                    <a:pt x="25" y="15"/>
                    <a:pt x="25" y="15"/>
                  </a:cubicBezTo>
                  <a:cubicBezTo>
                    <a:pt x="38" y="5"/>
                    <a:pt x="48" y="0"/>
                    <a:pt x="61" y="0"/>
                  </a:cubicBezTo>
                  <a:cubicBezTo>
                    <a:pt x="83" y="0"/>
                    <a:pt x="94" y="12"/>
                    <a:pt x="94" y="34"/>
                  </a:cubicBezTo>
                  <a:cubicBezTo>
                    <a:pt x="94" y="108"/>
                    <a:pt x="94" y="108"/>
                    <a:pt x="94" y="108"/>
                  </a:cubicBezTo>
                  <a:cubicBezTo>
                    <a:pt x="66" y="108"/>
                    <a:pt x="66" y="108"/>
                    <a:pt x="66" y="108"/>
                  </a:cubicBezTo>
                  <a:cubicBezTo>
                    <a:pt x="66" y="39"/>
                    <a:pt x="66" y="39"/>
                    <a:pt x="66" y="39"/>
                  </a:cubicBezTo>
                  <a:cubicBezTo>
                    <a:pt x="66" y="26"/>
                    <a:pt x="63" y="21"/>
                    <a:pt x="53" y="21"/>
                  </a:cubicBezTo>
                  <a:cubicBezTo>
                    <a:pt x="45" y="21"/>
                    <a:pt x="36" y="24"/>
                    <a:pt x="27" y="32"/>
                  </a:cubicBezTo>
                  <a:cubicBezTo>
                    <a:pt x="27" y="108"/>
                    <a:pt x="27" y="108"/>
                    <a:pt x="27" y="108"/>
                  </a:cubicBezTo>
                  <a:cubicBezTo>
                    <a:pt x="0" y="108"/>
                    <a:pt x="0" y="108"/>
                    <a:pt x="0" y="108"/>
                  </a:cubicBezTo>
                  <a:lnTo>
                    <a:pt x="0" y="5"/>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6" name="Google Shape;16;p11"/>
            <p:cNvSpPr/>
            <p:nvPr/>
          </p:nvSpPr>
          <p:spPr>
            <a:xfrm>
              <a:off x="778673" y="4708526"/>
              <a:ext cx="79375" cy="88900"/>
            </a:xfrm>
            <a:custGeom>
              <a:avLst/>
              <a:gdLst/>
              <a:ahLst/>
              <a:cxnLst/>
              <a:rect l="l" t="t" r="r" b="b"/>
              <a:pathLst>
                <a:path w="98" h="110" extrusionOk="0">
                  <a:moveTo>
                    <a:pt x="50" y="110"/>
                  </a:moveTo>
                  <a:cubicBezTo>
                    <a:pt x="19" y="110"/>
                    <a:pt x="0" y="90"/>
                    <a:pt x="0" y="55"/>
                  </a:cubicBezTo>
                  <a:cubicBezTo>
                    <a:pt x="0" y="20"/>
                    <a:pt x="19" y="0"/>
                    <a:pt x="49" y="0"/>
                  </a:cubicBezTo>
                  <a:cubicBezTo>
                    <a:pt x="80" y="0"/>
                    <a:pt x="98" y="20"/>
                    <a:pt x="98" y="54"/>
                  </a:cubicBezTo>
                  <a:cubicBezTo>
                    <a:pt x="98" y="56"/>
                    <a:pt x="97" y="57"/>
                    <a:pt x="97" y="59"/>
                  </a:cubicBezTo>
                  <a:cubicBezTo>
                    <a:pt x="27" y="59"/>
                    <a:pt x="27" y="59"/>
                    <a:pt x="27" y="59"/>
                  </a:cubicBezTo>
                  <a:cubicBezTo>
                    <a:pt x="28" y="79"/>
                    <a:pt x="36" y="89"/>
                    <a:pt x="52" y="89"/>
                  </a:cubicBezTo>
                  <a:cubicBezTo>
                    <a:pt x="63" y="89"/>
                    <a:pt x="70" y="85"/>
                    <a:pt x="76" y="76"/>
                  </a:cubicBezTo>
                  <a:cubicBezTo>
                    <a:pt x="96" y="87"/>
                    <a:pt x="96" y="87"/>
                    <a:pt x="96" y="87"/>
                  </a:cubicBezTo>
                  <a:cubicBezTo>
                    <a:pt x="87" y="102"/>
                    <a:pt x="71" y="110"/>
                    <a:pt x="50" y="110"/>
                  </a:cubicBezTo>
                  <a:close/>
                  <a:moveTo>
                    <a:pt x="70" y="41"/>
                  </a:moveTo>
                  <a:cubicBezTo>
                    <a:pt x="70" y="27"/>
                    <a:pt x="62" y="19"/>
                    <a:pt x="49" y="19"/>
                  </a:cubicBezTo>
                  <a:cubicBezTo>
                    <a:pt x="37" y="19"/>
                    <a:pt x="29" y="27"/>
                    <a:pt x="28" y="41"/>
                  </a:cubicBezTo>
                  <a:lnTo>
                    <a:pt x="70" y="41"/>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7" name="Google Shape;17;p11"/>
            <p:cNvSpPr/>
            <p:nvPr/>
          </p:nvSpPr>
          <p:spPr>
            <a:xfrm>
              <a:off x="346873" y="4708526"/>
              <a:ext cx="84138" cy="88900"/>
            </a:xfrm>
            <a:custGeom>
              <a:avLst/>
              <a:gdLst/>
              <a:ahLst/>
              <a:cxnLst/>
              <a:rect l="l" t="t" r="r" b="b"/>
              <a:pathLst>
                <a:path w="104" h="111" extrusionOk="0">
                  <a:moveTo>
                    <a:pt x="52" y="111"/>
                  </a:moveTo>
                  <a:cubicBezTo>
                    <a:pt x="25" y="111"/>
                    <a:pt x="0" y="93"/>
                    <a:pt x="0" y="55"/>
                  </a:cubicBezTo>
                  <a:cubicBezTo>
                    <a:pt x="0" y="17"/>
                    <a:pt x="25" y="0"/>
                    <a:pt x="52" y="0"/>
                  </a:cubicBezTo>
                  <a:cubicBezTo>
                    <a:pt x="79" y="0"/>
                    <a:pt x="104" y="17"/>
                    <a:pt x="104" y="55"/>
                  </a:cubicBezTo>
                  <a:cubicBezTo>
                    <a:pt x="104" y="93"/>
                    <a:pt x="79" y="111"/>
                    <a:pt x="52" y="111"/>
                  </a:cubicBezTo>
                  <a:close/>
                  <a:moveTo>
                    <a:pt x="52" y="23"/>
                  </a:moveTo>
                  <a:cubicBezTo>
                    <a:pt x="31" y="23"/>
                    <a:pt x="28" y="42"/>
                    <a:pt x="28" y="55"/>
                  </a:cubicBezTo>
                  <a:cubicBezTo>
                    <a:pt x="28" y="69"/>
                    <a:pt x="31" y="87"/>
                    <a:pt x="52" y="87"/>
                  </a:cubicBezTo>
                  <a:cubicBezTo>
                    <a:pt x="73" y="87"/>
                    <a:pt x="77" y="69"/>
                    <a:pt x="77" y="55"/>
                  </a:cubicBezTo>
                  <a:cubicBezTo>
                    <a:pt x="77" y="42"/>
                    <a:pt x="73" y="23"/>
                    <a:pt x="52" y="23"/>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8" name="Google Shape;18;p11"/>
            <p:cNvSpPr/>
            <p:nvPr/>
          </p:nvSpPr>
          <p:spPr>
            <a:xfrm>
              <a:off x="446885" y="4708526"/>
              <a:ext cx="47625" cy="87313"/>
            </a:xfrm>
            <a:custGeom>
              <a:avLst/>
              <a:gdLst/>
              <a:ahLst/>
              <a:cxnLst/>
              <a:rect l="l" t="t" r="r" b="b"/>
              <a:pathLst>
                <a:path w="59" h="108" extrusionOk="0">
                  <a:moveTo>
                    <a:pt x="0" y="3"/>
                  </a:moveTo>
                  <a:cubicBezTo>
                    <a:pt x="26" y="3"/>
                    <a:pt x="26" y="3"/>
                    <a:pt x="26" y="3"/>
                  </a:cubicBezTo>
                  <a:cubicBezTo>
                    <a:pt x="26" y="15"/>
                    <a:pt x="26" y="15"/>
                    <a:pt x="26" y="15"/>
                  </a:cubicBezTo>
                  <a:cubicBezTo>
                    <a:pt x="31" y="8"/>
                    <a:pt x="44" y="0"/>
                    <a:pt x="55" y="0"/>
                  </a:cubicBezTo>
                  <a:cubicBezTo>
                    <a:pt x="57" y="0"/>
                    <a:pt x="58" y="0"/>
                    <a:pt x="59" y="1"/>
                  </a:cubicBezTo>
                  <a:cubicBezTo>
                    <a:pt x="59" y="27"/>
                    <a:pt x="59" y="27"/>
                    <a:pt x="59" y="27"/>
                  </a:cubicBezTo>
                  <a:cubicBezTo>
                    <a:pt x="59" y="27"/>
                    <a:pt x="58" y="27"/>
                    <a:pt x="58" y="27"/>
                  </a:cubicBezTo>
                  <a:cubicBezTo>
                    <a:pt x="46" y="27"/>
                    <a:pt x="32" y="28"/>
                    <a:pt x="28" y="38"/>
                  </a:cubicBezTo>
                  <a:cubicBezTo>
                    <a:pt x="28" y="108"/>
                    <a:pt x="28" y="108"/>
                    <a:pt x="28" y="108"/>
                  </a:cubicBezTo>
                  <a:cubicBezTo>
                    <a:pt x="0" y="108"/>
                    <a:pt x="0" y="108"/>
                    <a:pt x="0" y="108"/>
                  </a:cubicBezTo>
                  <a:lnTo>
                    <a:pt x="0" y="3"/>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9" name="Google Shape;19;p11"/>
            <p:cNvSpPr/>
            <p:nvPr/>
          </p:nvSpPr>
          <p:spPr>
            <a:xfrm>
              <a:off x="685010" y="4708526"/>
              <a:ext cx="79375" cy="120650"/>
            </a:xfrm>
            <a:custGeom>
              <a:avLst/>
              <a:gdLst/>
              <a:ahLst/>
              <a:cxnLst/>
              <a:rect l="l" t="t" r="r" b="b"/>
              <a:pathLst>
                <a:path w="98" h="149" extrusionOk="0">
                  <a:moveTo>
                    <a:pt x="49" y="85"/>
                  </a:moveTo>
                  <a:cubicBezTo>
                    <a:pt x="70" y="85"/>
                    <a:pt x="72" y="64"/>
                    <a:pt x="72" y="50"/>
                  </a:cubicBezTo>
                  <a:cubicBezTo>
                    <a:pt x="72" y="33"/>
                    <a:pt x="64" y="20"/>
                    <a:pt x="49" y="20"/>
                  </a:cubicBezTo>
                  <a:cubicBezTo>
                    <a:pt x="39" y="20"/>
                    <a:pt x="28" y="27"/>
                    <a:pt x="28" y="51"/>
                  </a:cubicBezTo>
                  <a:cubicBezTo>
                    <a:pt x="28" y="64"/>
                    <a:pt x="29" y="85"/>
                    <a:pt x="49" y="85"/>
                  </a:cubicBezTo>
                  <a:close/>
                  <a:moveTo>
                    <a:pt x="98" y="2"/>
                  </a:moveTo>
                  <a:cubicBezTo>
                    <a:pt x="98" y="102"/>
                    <a:pt x="98" y="102"/>
                    <a:pt x="98" y="102"/>
                  </a:cubicBezTo>
                  <a:cubicBezTo>
                    <a:pt x="98" y="119"/>
                    <a:pt x="97" y="148"/>
                    <a:pt x="47" y="149"/>
                  </a:cubicBezTo>
                  <a:cubicBezTo>
                    <a:pt x="26" y="149"/>
                    <a:pt x="7" y="141"/>
                    <a:pt x="3" y="123"/>
                  </a:cubicBezTo>
                  <a:cubicBezTo>
                    <a:pt x="30" y="118"/>
                    <a:pt x="30" y="118"/>
                    <a:pt x="30" y="118"/>
                  </a:cubicBezTo>
                  <a:cubicBezTo>
                    <a:pt x="32" y="123"/>
                    <a:pt x="35" y="128"/>
                    <a:pt x="50" y="128"/>
                  </a:cubicBezTo>
                  <a:cubicBezTo>
                    <a:pt x="65" y="128"/>
                    <a:pt x="72" y="122"/>
                    <a:pt x="72" y="105"/>
                  </a:cubicBezTo>
                  <a:cubicBezTo>
                    <a:pt x="72" y="93"/>
                    <a:pt x="72" y="93"/>
                    <a:pt x="72" y="93"/>
                  </a:cubicBezTo>
                  <a:cubicBezTo>
                    <a:pt x="71" y="92"/>
                    <a:pt x="71" y="92"/>
                    <a:pt x="71" y="92"/>
                  </a:cubicBezTo>
                  <a:cubicBezTo>
                    <a:pt x="67" y="100"/>
                    <a:pt x="60" y="108"/>
                    <a:pt x="44" y="108"/>
                  </a:cubicBezTo>
                  <a:cubicBezTo>
                    <a:pt x="19" y="108"/>
                    <a:pt x="0" y="91"/>
                    <a:pt x="0" y="55"/>
                  </a:cubicBezTo>
                  <a:cubicBezTo>
                    <a:pt x="0" y="20"/>
                    <a:pt x="20" y="0"/>
                    <a:pt x="42" y="0"/>
                  </a:cubicBezTo>
                  <a:cubicBezTo>
                    <a:pt x="63" y="0"/>
                    <a:pt x="71" y="10"/>
                    <a:pt x="73" y="15"/>
                  </a:cubicBezTo>
                  <a:cubicBezTo>
                    <a:pt x="73" y="15"/>
                    <a:pt x="73" y="15"/>
                    <a:pt x="73" y="15"/>
                  </a:cubicBezTo>
                  <a:cubicBezTo>
                    <a:pt x="75" y="2"/>
                    <a:pt x="75" y="2"/>
                    <a:pt x="75" y="2"/>
                  </a:cubicBezTo>
                  <a:lnTo>
                    <a:pt x="98" y="2"/>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20" name="Google Shape;20;p11"/>
            <p:cNvSpPr/>
            <p:nvPr/>
          </p:nvSpPr>
          <p:spPr>
            <a:xfrm>
              <a:off x="843760" y="4678363"/>
              <a:ext cx="58738" cy="26988"/>
            </a:xfrm>
            <a:custGeom>
              <a:avLst/>
              <a:gdLst/>
              <a:ahLst/>
              <a:cxnLst/>
              <a:rect l="l" t="t" r="r" b="b"/>
              <a:pathLst>
                <a:path w="37" h="17" extrusionOk="0">
                  <a:moveTo>
                    <a:pt x="14" y="2"/>
                  </a:moveTo>
                  <a:lnTo>
                    <a:pt x="9" y="2"/>
                  </a:lnTo>
                  <a:lnTo>
                    <a:pt x="9" y="17"/>
                  </a:lnTo>
                  <a:lnTo>
                    <a:pt x="6" y="17"/>
                  </a:lnTo>
                  <a:lnTo>
                    <a:pt x="6" y="2"/>
                  </a:lnTo>
                  <a:lnTo>
                    <a:pt x="0" y="2"/>
                  </a:lnTo>
                  <a:lnTo>
                    <a:pt x="0" y="0"/>
                  </a:lnTo>
                  <a:lnTo>
                    <a:pt x="14" y="0"/>
                  </a:lnTo>
                  <a:lnTo>
                    <a:pt x="14" y="2"/>
                  </a:lnTo>
                  <a:close/>
                  <a:moveTo>
                    <a:pt x="37" y="17"/>
                  </a:moveTo>
                  <a:lnTo>
                    <a:pt x="34" y="17"/>
                  </a:lnTo>
                  <a:lnTo>
                    <a:pt x="34" y="2"/>
                  </a:lnTo>
                  <a:lnTo>
                    <a:pt x="34" y="2"/>
                  </a:lnTo>
                  <a:lnTo>
                    <a:pt x="29" y="17"/>
                  </a:lnTo>
                  <a:lnTo>
                    <a:pt x="27" y="17"/>
                  </a:lnTo>
                  <a:lnTo>
                    <a:pt x="21" y="2"/>
                  </a:lnTo>
                  <a:lnTo>
                    <a:pt x="20" y="2"/>
                  </a:lnTo>
                  <a:lnTo>
                    <a:pt x="20" y="17"/>
                  </a:lnTo>
                  <a:lnTo>
                    <a:pt x="18" y="17"/>
                  </a:lnTo>
                  <a:lnTo>
                    <a:pt x="18" y="0"/>
                  </a:lnTo>
                  <a:lnTo>
                    <a:pt x="22" y="0"/>
                  </a:lnTo>
                  <a:lnTo>
                    <a:pt x="28" y="13"/>
                  </a:lnTo>
                  <a:lnTo>
                    <a:pt x="33" y="0"/>
                  </a:lnTo>
                  <a:lnTo>
                    <a:pt x="37" y="0"/>
                  </a:lnTo>
                  <a:lnTo>
                    <a:pt x="37" y="17"/>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grpSp>
      <p:sp>
        <p:nvSpPr>
          <p:cNvPr id="21" name="Google Shape;21;p11"/>
          <p:cNvSpPr txBox="1"/>
          <p:nvPr/>
        </p:nvSpPr>
        <p:spPr>
          <a:xfrm>
            <a:off x="288771" y="479081"/>
            <a:ext cx="1703993" cy="815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FF7900"/>
              </a:buClr>
              <a:buSzPts val="3533"/>
              <a:buFont typeface="Helvetica Neue"/>
              <a:buNone/>
            </a:pPr>
            <a:r>
              <a:rPr lang="en-US" sz="2650" b="1" i="0" u="none" strike="noStrike" cap="none">
                <a:solidFill>
                  <a:srgbClr val="FF7900"/>
                </a:solidFill>
                <a:latin typeface="Helvetica Neue"/>
                <a:ea typeface="Helvetica Neue"/>
                <a:cs typeface="Helvetica Neue"/>
                <a:sym typeface="Helvetica Neue"/>
              </a:rPr>
              <a:t>Orange</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3533"/>
              <a:buFont typeface="Helvetica Neue"/>
              <a:buNone/>
            </a:pPr>
            <a:r>
              <a:rPr lang="en-US" sz="2650" b="1" i="0" u="none" strike="noStrike" cap="none">
                <a:solidFill>
                  <a:schemeClr val="dk1"/>
                </a:solidFill>
                <a:latin typeface="Helvetica Neue"/>
                <a:ea typeface="Helvetica Neue"/>
                <a:cs typeface="Helvetica Neue"/>
                <a:sym typeface="Helvetica Neue"/>
              </a:rPr>
              <a:t>Innovation</a:t>
            </a:r>
            <a:endParaRPr sz="1800" b="0" i="0" u="none" strike="noStrike" cap="none">
              <a:solidFill>
                <a:schemeClr val="dk1"/>
              </a:solidFill>
              <a:latin typeface="Arial"/>
              <a:ea typeface="Arial"/>
              <a:cs typeface="Arial"/>
              <a:sym typeface="Arial"/>
            </a:endParaRPr>
          </a:p>
        </p:txBody>
      </p:sp>
      <p:cxnSp>
        <p:nvCxnSpPr>
          <p:cNvPr id="22" name="Google Shape;22;p11"/>
          <p:cNvCxnSpPr/>
          <p:nvPr/>
        </p:nvCxnSpPr>
        <p:spPr>
          <a:xfrm>
            <a:off x="332630" y="123479"/>
            <a:ext cx="0" cy="277345"/>
          </a:xfrm>
          <a:prstGeom prst="straightConnector1">
            <a:avLst/>
          </a:prstGeom>
          <a:noFill/>
          <a:ln w="53975" cap="flat" cmpd="sng">
            <a:solidFill>
              <a:srgbClr val="FF7900"/>
            </a:solidFill>
            <a:prstDash val="solid"/>
            <a:round/>
            <a:headEnd type="none" w="sm" len="sm"/>
            <a:tailEnd type="none" w="sm" len="sm"/>
          </a:ln>
        </p:spPr>
      </p:cxnSp>
      <p:cxnSp>
        <p:nvCxnSpPr>
          <p:cNvPr id="23" name="Google Shape;23;p11"/>
          <p:cNvCxnSpPr/>
          <p:nvPr/>
        </p:nvCxnSpPr>
        <p:spPr>
          <a:xfrm>
            <a:off x="331934" y="1203598"/>
            <a:ext cx="696" cy="3673202"/>
          </a:xfrm>
          <a:prstGeom prst="straightConnector1">
            <a:avLst/>
          </a:prstGeom>
          <a:noFill/>
          <a:ln w="53975" cap="flat" cmpd="sng">
            <a:solidFill>
              <a:srgbClr val="FF7900"/>
            </a:solidFill>
            <a:prstDash val="solid"/>
            <a:round/>
            <a:headEnd type="none" w="sm" len="sm"/>
            <a:tailEnd type="none" w="sm" len="sm"/>
          </a:ln>
        </p:spPr>
      </p:cxnSp>
    </p:spTree>
    <p:extLst>
      <p:ext uri="{BB962C8B-B14F-4D97-AF65-F5344CB8AC3E}">
        <p14:creationId xmlns:p14="http://schemas.microsoft.com/office/powerpoint/2010/main" val="3436312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s">
  <p:cSld name="Contents">
    <p:spTree>
      <p:nvGrpSpPr>
        <p:cNvPr id="1" name="Shape 24"/>
        <p:cNvGrpSpPr/>
        <p:nvPr/>
      </p:nvGrpSpPr>
      <p:grpSpPr>
        <a:xfrm>
          <a:off x="0" y="0"/>
          <a:ext cx="0" cy="0"/>
          <a:chOff x="0" y="0"/>
          <a:chExt cx="0" cy="0"/>
        </a:xfrm>
      </p:grpSpPr>
      <p:sp>
        <p:nvSpPr>
          <p:cNvPr id="25" name="Google Shape;25;p14"/>
          <p:cNvSpPr txBox="1">
            <a:spLocks noGrp="1"/>
          </p:cNvSpPr>
          <p:nvPr>
            <p:ph type="body" idx="1"/>
          </p:nvPr>
        </p:nvSpPr>
        <p:spPr>
          <a:xfrm>
            <a:off x="314326" y="267495"/>
            <a:ext cx="8515349" cy="4283869"/>
          </a:xfrm>
          <a:prstGeom prst="rect">
            <a:avLst/>
          </a:prstGeom>
          <a:noFill/>
          <a:ln>
            <a:noFill/>
          </a:ln>
        </p:spPr>
        <p:txBody>
          <a:bodyPr spcFirstLastPara="1" wrap="square" lIns="0" tIns="0" rIns="0" bIns="0" anchor="t" anchorCtr="0">
            <a:noAutofit/>
          </a:bodyPr>
          <a:lstStyle>
            <a:lvl1pPr marL="342900" lvl="0" indent="-171450" algn="l">
              <a:lnSpc>
                <a:spcPct val="90000"/>
              </a:lnSpc>
              <a:spcBef>
                <a:spcPts val="0"/>
              </a:spcBef>
              <a:spcAft>
                <a:spcPts val="0"/>
              </a:spcAft>
              <a:buSzPts val="750"/>
              <a:buNone/>
              <a:defRPr sz="3000"/>
            </a:lvl1pPr>
            <a:lvl2pPr marL="685800" lvl="1" indent="-314325" algn="l">
              <a:lnSpc>
                <a:spcPct val="90000"/>
              </a:lnSpc>
              <a:spcBef>
                <a:spcPts val="0"/>
              </a:spcBef>
              <a:spcAft>
                <a:spcPts val="0"/>
              </a:spcAft>
              <a:buClr>
                <a:schemeClr val="dk1"/>
              </a:buClr>
              <a:buSzPts val="3000"/>
              <a:buFont typeface="Helvetica Neue"/>
              <a:buAutoNum type="arabicPeriod"/>
              <a:defRPr sz="3000"/>
            </a:lvl2pPr>
            <a:lvl3pPr marL="1028700" lvl="2" indent="-257175" algn="l">
              <a:lnSpc>
                <a:spcPct val="90000"/>
              </a:lnSpc>
              <a:spcBef>
                <a:spcPts val="600"/>
              </a:spcBef>
              <a:spcAft>
                <a:spcPts val="0"/>
              </a:spcAft>
              <a:buSzPts val="1800"/>
              <a:buChar char="▪"/>
              <a:defRPr sz="1800"/>
            </a:lvl3pPr>
            <a:lvl4pPr marL="1371600" lvl="3" indent="-257175" algn="l">
              <a:lnSpc>
                <a:spcPct val="90000"/>
              </a:lnSpc>
              <a:spcBef>
                <a:spcPts val="360"/>
              </a:spcBef>
              <a:spcAft>
                <a:spcPts val="0"/>
              </a:spcAft>
              <a:buClr>
                <a:schemeClr val="dk1"/>
              </a:buClr>
              <a:buSzPts val="1800"/>
              <a:buChar char="–"/>
              <a:defRPr sz="1800"/>
            </a:lvl4pPr>
            <a:lvl5pPr marL="1714500" lvl="4" indent="-257175" algn="l">
              <a:lnSpc>
                <a:spcPct val="90000"/>
              </a:lnSpc>
              <a:spcBef>
                <a:spcPts val="360"/>
              </a:spcBef>
              <a:spcAft>
                <a:spcPts val="0"/>
              </a:spcAft>
              <a:buSzPts val="1800"/>
              <a:buChar char="–"/>
              <a:defRPr sz="18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6" name="Google Shape;26;p14"/>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2110726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re de section">
  <p:cSld name="Titre de section">
    <p:spTree>
      <p:nvGrpSpPr>
        <p:cNvPr id="1" name="Shape 27"/>
        <p:cNvGrpSpPr/>
        <p:nvPr/>
      </p:nvGrpSpPr>
      <p:grpSpPr>
        <a:xfrm>
          <a:off x="0" y="0"/>
          <a:ext cx="0" cy="0"/>
          <a:chOff x="0" y="0"/>
          <a:chExt cx="0" cy="0"/>
        </a:xfrm>
      </p:grpSpPr>
      <p:sp>
        <p:nvSpPr>
          <p:cNvPr id="28" name="Google Shape;28;p15"/>
          <p:cNvSpPr txBox="1">
            <a:spLocks noGrp="1"/>
          </p:cNvSpPr>
          <p:nvPr>
            <p:ph type="body" idx="1"/>
          </p:nvPr>
        </p:nvSpPr>
        <p:spPr>
          <a:xfrm>
            <a:off x="313770" y="268289"/>
            <a:ext cx="6096839" cy="4283075"/>
          </a:xfrm>
          <a:prstGeom prst="rect">
            <a:avLst/>
          </a:prstGeom>
          <a:noFill/>
          <a:ln>
            <a:noFill/>
          </a:ln>
        </p:spPr>
        <p:txBody>
          <a:bodyPr spcFirstLastPara="1" wrap="square" lIns="0" tIns="0" rIns="0" bIns="0" anchor="t" anchorCtr="0">
            <a:normAutofit/>
          </a:bodyPr>
          <a:lstStyle>
            <a:lvl1pPr marL="342900" lvl="0" indent="-171450" algn="l">
              <a:lnSpc>
                <a:spcPct val="85000"/>
              </a:lnSpc>
              <a:spcBef>
                <a:spcPts val="0"/>
              </a:spcBef>
              <a:spcAft>
                <a:spcPts val="0"/>
              </a:spcAft>
              <a:buSzPts val="1375"/>
              <a:buNone/>
              <a:defRPr sz="5500"/>
            </a:lvl1pPr>
            <a:lvl2pPr marL="685800" lvl="1" indent="-171450" algn="l">
              <a:lnSpc>
                <a:spcPct val="85000"/>
              </a:lnSpc>
              <a:spcBef>
                <a:spcPts val="0"/>
              </a:spcBef>
              <a:spcAft>
                <a:spcPts val="0"/>
              </a:spcAft>
              <a:buSzPts val="1375"/>
              <a:buNone/>
              <a:defRPr sz="5500"/>
            </a:lvl2pPr>
            <a:lvl3pPr marL="1028700" lvl="2" indent="-433388" algn="l">
              <a:lnSpc>
                <a:spcPct val="90000"/>
              </a:lnSpc>
              <a:spcBef>
                <a:spcPts val="600"/>
              </a:spcBef>
              <a:spcAft>
                <a:spcPts val="0"/>
              </a:spcAft>
              <a:buSzPts val="5500"/>
              <a:buChar char="▪"/>
              <a:defRPr sz="5500"/>
            </a:lvl3pPr>
            <a:lvl4pPr marL="1371600" lvl="3" indent="-433388" algn="l">
              <a:lnSpc>
                <a:spcPct val="90000"/>
              </a:lnSpc>
              <a:spcBef>
                <a:spcPts val="1100"/>
              </a:spcBef>
              <a:spcAft>
                <a:spcPts val="0"/>
              </a:spcAft>
              <a:buClr>
                <a:schemeClr val="dk1"/>
              </a:buClr>
              <a:buSzPts val="5500"/>
              <a:buChar char="–"/>
              <a:defRPr sz="5500"/>
            </a:lvl4pPr>
            <a:lvl5pPr marL="1714500" lvl="4" indent="-433388" algn="l">
              <a:lnSpc>
                <a:spcPct val="90000"/>
              </a:lnSpc>
              <a:spcBef>
                <a:spcPts val="1100"/>
              </a:spcBef>
              <a:spcAft>
                <a:spcPts val="0"/>
              </a:spcAft>
              <a:buSzPts val="5500"/>
              <a:buChar char="–"/>
              <a:defRPr sz="55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9" name="Google Shape;29;p15"/>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019823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ux contenus">
  <p:cSld name="Deux contenus">
    <p:spTree>
      <p:nvGrpSpPr>
        <p:cNvPr id="1" name="Shape 30"/>
        <p:cNvGrpSpPr/>
        <p:nvPr/>
      </p:nvGrpSpPr>
      <p:grpSpPr>
        <a:xfrm>
          <a:off x="0" y="0"/>
          <a:ext cx="0" cy="0"/>
          <a:chOff x="0" y="0"/>
          <a:chExt cx="0" cy="0"/>
        </a:xfrm>
      </p:grpSpPr>
      <p:sp>
        <p:nvSpPr>
          <p:cNvPr id="31" name="Google Shape;31;p16"/>
          <p:cNvSpPr txBox="1">
            <a:spLocks noGrp="1"/>
          </p:cNvSpPr>
          <p:nvPr>
            <p:ph type="body" idx="1"/>
          </p:nvPr>
        </p:nvSpPr>
        <p:spPr>
          <a:xfrm>
            <a:off x="313201" y="1181101"/>
            <a:ext cx="3968055"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2" name="Google Shape;32;p16"/>
          <p:cNvSpPr txBox="1">
            <a:spLocks noGrp="1"/>
          </p:cNvSpPr>
          <p:nvPr>
            <p:ph type="body" idx="2"/>
          </p:nvPr>
        </p:nvSpPr>
        <p:spPr>
          <a:xfrm>
            <a:off x="4864795" y="1181101"/>
            <a:ext cx="3964880"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3" name="Google Shape;33;p16"/>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16"/>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4020307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_contenus">
  <p:cSld name="4_contenus">
    <p:spTree>
      <p:nvGrpSpPr>
        <p:cNvPr id="1" name="Shape 35"/>
        <p:cNvGrpSpPr/>
        <p:nvPr/>
      </p:nvGrpSpPr>
      <p:grpSpPr>
        <a:xfrm>
          <a:off x="0" y="0"/>
          <a:ext cx="0" cy="0"/>
          <a:chOff x="0" y="0"/>
          <a:chExt cx="0" cy="0"/>
        </a:xfrm>
      </p:grpSpPr>
      <p:sp>
        <p:nvSpPr>
          <p:cNvPr id="36" name="Google Shape;36;p17"/>
          <p:cNvSpPr txBox="1">
            <a:spLocks noGrp="1"/>
          </p:cNvSpPr>
          <p:nvPr>
            <p:ph type="body" idx="1"/>
          </p:nvPr>
        </p:nvSpPr>
        <p:spPr>
          <a:xfrm>
            <a:off x="313201" y="11811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7" name="Google Shape;37;p17"/>
          <p:cNvSpPr txBox="1">
            <a:spLocks noGrp="1"/>
          </p:cNvSpPr>
          <p:nvPr>
            <p:ph type="body" idx="2"/>
          </p:nvPr>
        </p:nvSpPr>
        <p:spPr>
          <a:xfrm>
            <a:off x="4864795" y="11811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8" name="Google Shape;38;p17"/>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7"/>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
        <p:nvSpPr>
          <p:cNvPr id="40" name="Google Shape;40;p17"/>
          <p:cNvSpPr txBox="1">
            <a:spLocks noGrp="1"/>
          </p:cNvSpPr>
          <p:nvPr>
            <p:ph type="body" idx="3"/>
          </p:nvPr>
        </p:nvSpPr>
        <p:spPr>
          <a:xfrm>
            <a:off x="303998" y="29813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41" name="Google Shape;41;p17"/>
          <p:cNvSpPr txBox="1">
            <a:spLocks noGrp="1"/>
          </p:cNvSpPr>
          <p:nvPr>
            <p:ph type="body" idx="4"/>
          </p:nvPr>
        </p:nvSpPr>
        <p:spPr>
          <a:xfrm>
            <a:off x="4855593" y="29813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Tree>
    <p:extLst>
      <p:ext uri="{BB962C8B-B14F-4D97-AF65-F5344CB8AC3E}">
        <p14:creationId xmlns:p14="http://schemas.microsoft.com/office/powerpoint/2010/main" val="36164969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re seul">
  <p:cSld name="Titre seul">
    <p:spTree>
      <p:nvGrpSpPr>
        <p:cNvPr id="1" name="Shape 42"/>
        <p:cNvGrpSpPr/>
        <p:nvPr/>
      </p:nvGrpSpPr>
      <p:grpSpPr>
        <a:xfrm>
          <a:off x="0" y="0"/>
          <a:ext cx="0" cy="0"/>
          <a:chOff x="0" y="0"/>
          <a:chExt cx="0" cy="0"/>
        </a:xfrm>
      </p:grpSpPr>
      <p:sp>
        <p:nvSpPr>
          <p:cNvPr id="43" name="Google Shape;43;p18"/>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8"/>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72570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Full Bleed Media">
  <p:cSld name="Full Bleed Media">
    <p:bg>
      <p:bgPr>
        <a:solidFill>
          <a:schemeClr val="dk2"/>
        </a:solidFill>
        <a:effectLst/>
      </p:bgPr>
    </p:bg>
    <p:spTree>
      <p:nvGrpSpPr>
        <p:cNvPr id="1" name="Shape 45"/>
        <p:cNvGrpSpPr/>
        <p:nvPr/>
      </p:nvGrpSpPr>
      <p:grpSpPr>
        <a:xfrm>
          <a:off x="0" y="0"/>
          <a:ext cx="0" cy="0"/>
          <a:chOff x="0" y="0"/>
          <a:chExt cx="0" cy="0"/>
        </a:xfrm>
      </p:grpSpPr>
      <p:sp>
        <p:nvSpPr>
          <p:cNvPr id="46" name="Google Shape;46;p19"/>
          <p:cNvSpPr>
            <a:spLocks noGrp="1"/>
          </p:cNvSpPr>
          <p:nvPr>
            <p:ph type="pic" idx="2"/>
          </p:nvPr>
        </p:nvSpPr>
        <p:spPr>
          <a:xfrm>
            <a:off x="0" y="0"/>
            <a:ext cx="9144000" cy="5143500"/>
          </a:xfrm>
          <a:prstGeom prst="rect">
            <a:avLst/>
          </a:prstGeom>
          <a:noFill/>
          <a:ln>
            <a:noFill/>
          </a:ln>
        </p:spPr>
      </p:sp>
      <p:sp>
        <p:nvSpPr>
          <p:cNvPr id="47" name="Google Shape;47;p19"/>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rgbClr val="000000"/>
              </a:buClr>
              <a:buSzPts val="2000"/>
              <a:buFont typeface="Helvetica Neue"/>
              <a:buNone/>
              <a:defRPr>
                <a:solidFill>
                  <a:srgbClr val="00000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310682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ide">
  <p:cSld name="Vide">
    <p:spTree>
      <p:nvGrpSpPr>
        <p:cNvPr id="1" name="Shape 48"/>
        <p:cNvGrpSpPr/>
        <p:nvPr/>
      </p:nvGrpSpPr>
      <p:grpSpPr>
        <a:xfrm>
          <a:off x="0" y="0"/>
          <a:ext cx="0" cy="0"/>
          <a:chOff x="0" y="0"/>
          <a:chExt cx="0" cy="0"/>
        </a:xfrm>
      </p:grpSpPr>
      <p:sp>
        <p:nvSpPr>
          <p:cNvPr id="49" name="Google Shape;49;p20"/>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208945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ARK">
  <p:cSld name="DARK">
    <p:bg>
      <p:bgPr>
        <a:solidFill>
          <a:srgbClr val="000000"/>
        </a:solidFill>
        <a:effectLst/>
      </p:bgPr>
    </p:bg>
    <p:spTree>
      <p:nvGrpSpPr>
        <p:cNvPr id="1" name="Shape 50"/>
        <p:cNvGrpSpPr/>
        <p:nvPr/>
      </p:nvGrpSpPr>
      <p:grpSpPr>
        <a:xfrm>
          <a:off x="0" y="0"/>
          <a:ext cx="0" cy="0"/>
          <a:chOff x="0" y="0"/>
          <a:chExt cx="0" cy="0"/>
        </a:xfrm>
      </p:grpSpPr>
    </p:spTree>
    <p:extLst>
      <p:ext uri="{BB962C8B-B14F-4D97-AF65-F5344CB8AC3E}">
        <p14:creationId xmlns:p14="http://schemas.microsoft.com/office/powerpoint/2010/main" val="2309567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1"/>
        <p:cNvGrpSpPr/>
        <p:nvPr/>
      </p:nvGrpSpPr>
      <p:grpSpPr>
        <a:xfrm>
          <a:off x="0" y="0"/>
          <a:ext cx="0" cy="0"/>
          <a:chOff x="0" y="0"/>
          <a:chExt cx="0" cy="0"/>
        </a:xfrm>
      </p:grpSpPr>
    </p:spTree>
    <p:extLst>
      <p:ext uri="{BB962C8B-B14F-4D97-AF65-F5344CB8AC3E}">
        <p14:creationId xmlns:p14="http://schemas.microsoft.com/office/powerpoint/2010/main" val="220938566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theme" Target="../theme/theme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0"/>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2"/>
              </a:buClr>
              <a:buSzPts val="2000"/>
              <a:buFont typeface="Helvetica Neue"/>
              <a:buNone/>
              <a:defRPr sz="2000" b="1" i="0" u="none" strike="noStrike" cap="none">
                <a:solidFill>
                  <a:schemeClr val="lt2"/>
                </a:solidFill>
                <a:latin typeface="Helvetica Neue"/>
                <a:ea typeface="Helvetica Neue"/>
                <a:cs typeface="Helvetica Neue"/>
                <a:sym typeface="Helvetica Neu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0"/>
          <p:cNvSpPr txBox="1">
            <a:spLocks noGrp="1"/>
          </p:cNvSpPr>
          <p:nvPr>
            <p:ph type="body" idx="1"/>
          </p:nvPr>
        </p:nvSpPr>
        <p:spPr>
          <a:xfrm>
            <a:off x="313201" y="1181101"/>
            <a:ext cx="8516475" cy="3370263"/>
          </a:xfrm>
          <a:prstGeom prst="rect">
            <a:avLst/>
          </a:prstGeom>
          <a:noFill/>
          <a:ln>
            <a:noFill/>
          </a:ln>
        </p:spPr>
        <p:txBody>
          <a:bodyPr spcFirstLastPara="1" wrap="square" lIns="0" tIns="0" rIns="0" bIns="0" anchor="t" anchorCtr="0">
            <a:noAutofit/>
          </a:bodyPr>
          <a:lstStyle>
            <a:lvl1pPr marL="457200" marR="0" lvl="0" indent="-228600" algn="l" rtl="0">
              <a:lnSpc>
                <a:spcPct val="90000"/>
              </a:lnSpc>
              <a:spcBef>
                <a:spcPts val="600"/>
              </a:spcBef>
              <a:spcAft>
                <a:spcPts val="0"/>
              </a:spcAft>
              <a:buClr>
                <a:schemeClr val="lt1"/>
              </a:buClr>
              <a:buSzPts val="350"/>
              <a:buFont typeface="Calibri"/>
              <a:buNone/>
              <a:defRPr sz="1400" b="1" i="0" u="none" strike="noStrike" cap="none">
                <a:solidFill>
                  <a:schemeClr val="lt2"/>
                </a:solidFill>
                <a:latin typeface="Helvetica Neue"/>
                <a:ea typeface="Helvetica Neue"/>
                <a:cs typeface="Helvetica Neue"/>
                <a:sym typeface="Helvetica Neue"/>
              </a:defRPr>
            </a:lvl1pPr>
            <a:lvl2pPr marL="914400" marR="0" lvl="1" indent="-228600" algn="l" rtl="0">
              <a:lnSpc>
                <a:spcPct val="90000"/>
              </a:lnSpc>
              <a:spcBef>
                <a:spcPts val="600"/>
              </a:spcBef>
              <a:spcAft>
                <a:spcPts val="0"/>
              </a:spcAft>
              <a:buClr>
                <a:schemeClr val="lt1"/>
              </a:buClr>
              <a:buSzPts val="350"/>
              <a:buFont typeface="Calibri"/>
              <a:buNone/>
              <a:defRPr sz="1400" b="1" i="0" u="none" strike="noStrike" cap="none">
                <a:solidFill>
                  <a:schemeClr val="dk1"/>
                </a:solidFill>
                <a:latin typeface="Helvetica Neue"/>
                <a:ea typeface="Helvetica Neue"/>
                <a:cs typeface="Helvetica Neue"/>
                <a:sym typeface="Helvetica Neue"/>
              </a:defRPr>
            </a:lvl2pPr>
            <a:lvl3pPr marL="1371600" marR="0" lvl="2" indent="-317500" algn="l" rtl="0">
              <a:lnSpc>
                <a:spcPct val="90000"/>
              </a:lnSpc>
              <a:spcBef>
                <a:spcPts val="600"/>
              </a:spcBef>
              <a:spcAft>
                <a:spcPts val="0"/>
              </a:spcAft>
              <a:buClr>
                <a:schemeClr val="lt2"/>
              </a:buClr>
              <a:buSzPts val="1400"/>
              <a:buFont typeface="Noto Sans Symbols"/>
              <a:buChar char="▪"/>
              <a:defRPr sz="1400" b="1" i="0" u="none" strike="noStrike" cap="none">
                <a:solidFill>
                  <a:schemeClr val="dk1"/>
                </a:solidFill>
                <a:latin typeface="Helvetica Neue"/>
                <a:ea typeface="Helvetica Neue"/>
                <a:cs typeface="Helvetica Neue"/>
                <a:sym typeface="Helvetica Neue"/>
              </a:defRPr>
            </a:lvl3pPr>
            <a:lvl4pPr marL="1828800" marR="0" lvl="3"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4pPr>
            <a:lvl5pPr marL="2286000" marR="0" lvl="4"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5pPr>
            <a:lvl6pPr marL="2743200" marR="0" lvl="5" indent="-317500" algn="l" rtl="0">
              <a:lnSpc>
                <a:spcPct val="10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6pPr>
            <a:lvl7pPr marL="3200400" marR="0" lvl="6"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7pPr>
            <a:lvl8pPr marL="3657600" marR="0" lvl="7"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8pPr>
            <a:lvl9pPr marL="4114800" marR="0" lvl="8"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9pPr>
          </a:lstStyle>
          <a:p>
            <a:endParaRPr/>
          </a:p>
        </p:txBody>
      </p:sp>
      <p:sp>
        <p:nvSpPr>
          <p:cNvPr id="8" name="Google Shape;8;p10"/>
          <p:cNvSpPr txBox="1"/>
          <p:nvPr/>
        </p:nvSpPr>
        <p:spPr>
          <a:xfrm>
            <a:off x="314325" y="4535486"/>
            <a:ext cx="275010" cy="334961"/>
          </a:xfrm>
          <a:prstGeom prst="rect">
            <a:avLst/>
          </a:prstGeom>
          <a:noFill/>
          <a:ln>
            <a:noFill/>
          </a:ln>
        </p:spPr>
        <p:txBody>
          <a:bodyPr spcFirstLastPara="1" wrap="square" lIns="7200" tIns="0" rIns="0" bIns="0" anchor="b" anchorCtr="0">
            <a:normAutofit/>
          </a:bodyPr>
          <a:lstStyle/>
          <a:p>
            <a:pPr marL="0" marR="0" lvl="0" indent="0" algn="l" rtl="0">
              <a:lnSpc>
                <a:spcPct val="85000"/>
              </a:lnSpc>
              <a:spcBef>
                <a:spcPts val="0"/>
              </a:spcBef>
              <a:spcAft>
                <a:spcPts val="0"/>
              </a:spcAft>
              <a:buClr>
                <a:srgbClr val="FFFFFF"/>
              </a:buClr>
              <a:buSzPts val="800"/>
              <a:buFont typeface="Helvetica Neue"/>
              <a:buNone/>
            </a:pPr>
            <a:fld id="{00000000-1234-1234-1234-123412341234}" type="slidenum">
              <a:rPr lang="en-US" sz="800" b="1" i="0" u="none" strike="noStrike" cap="none">
                <a:solidFill>
                  <a:schemeClr val="dk1"/>
                </a:solidFill>
                <a:latin typeface="Helvetica Neue"/>
                <a:ea typeface="Helvetica Neue"/>
                <a:cs typeface="Helvetica Neue"/>
                <a:sym typeface="Helvetica Neue"/>
              </a:rPr>
              <a:pPr marL="0" marR="0" lvl="0" indent="0" algn="l" rtl="0">
                <a:lnSpc>
                  <a:spcPct val="85000"/>
                </a:lnSpc>
                <a:spcBef>
                  <a:spcPts val="0"/>
                </a:spcBef>
                <a:spcAft>
                  <a:spcPts val="0"/>
                </a:spcAft>
                <a:buClr>
                  <a:srgbClr val="FFFFFF"/>
                </a:buClr>
                <a:buSzPts val="800"/>
                <a:buFont typeface="Helvetica Neue"/>
                <a:buNone/>
              </a:pPr>
              <a:t>‹#›</a:t>
            </a:fld>
            <a:endParaRPr sz="800" b="1" i="0" u="none" strike="noStrike" cap="none">
              <a:solidFill>
                <a:schemeClr val="dk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3231971415"/>
      </p:ext>
    </p:extLst>
  </p:cSld>
  <p:clrMap bg1="lt1" tx1="dk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comments" Target="../comments/commen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
</a:t>
            </a:r>
            <a:endParaRPr lang="en-US" sz="2000" dirty="0"/>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1600200"/>
            <a:ext cx="7315200" cy="1920240"/>
          </a:xfrm>
          <a:prstGeom prst="rect">
            <a:avLst/>
          </a:prstGeom>
          <a:noFill/>
          <a:ln/>
        </p:spPr>
        <p:txBody>
          <a:bodyPr wrap="square" lIns="0" tIns="0" rIns="0" bIns="0" rtlCol="0" anchor="t"/>
          <a:lstStyle/>
          <a:p>
            <a:pPr marL="0" indent="0" algn="l">
              <a:lnSpc>
                <a:spcPct val="105000"/>
              </a:lnSpc>
              <a:buNone/>
            </a:pPr>
            <a:r>
              <a:rPr lang="en-US" sz="4000" dirty="0">
                <a:solidFill>
                  <a:srgbClr val="FFFFFF"/>
                </a:solidFill>
                <a:latin typeface="Arial" pitchFamily="34" charset="0"/>
                <a:ea typeface="Arial" pitchFamily="34" charset="-122"/>
                <a:cs typeface="Arial" pitchFamily="34" charset="-120"/>
              </a:rPr>
              <a:t>Dynamic Test-Time Compute Allocation for LLM Reasoning</a:t>
            </a:r>
            <a:endParaRPr lang="en-US" sz="4000" dirty="0"/>
          </a:p>
        </p:txBody>
      </p:sp>
      <p:sp>
        <p:nvSpPr>
          <p:cNvPr id="5" name="Text 3"/>
          <p:cNvSpPr txBox="1"/>
          <p:nvPr/>
        </p:nvSpPr>
        <p:spPr>
          <a:xfrm>
            <a:off x="868680" y="3794760"/>
            <a:ext cx="5943600" cy="365760"/>
          </a:xfrm>
          <a:prstGeom prst="rect">
            <a:avLst/>
          </a:prstGeom>
          <a:noFill/>
          <a:ln/>
        </p:spPr>
        <p:txBody>
          <a:bodyPr wrap="square" lIns="0" tIns="0" rIns="0" bIns="0" rtlCol="0" anchor="ctr"/>
          <a:lstStyle/>
          <a:p>
            <a:pPr marL="0" indent="0" algn="l">
              <a:buNone/>
            </a:pPr>
            <a:r>
              <a:rPr lang="en-US" sz="1400" dirty="0">
                <a:solidFill>
                  <a:srgbClr val="FF6600"/>
                </a:solidFill>
                <a:latin typeface="Arial" pitchFamily="34" charset="0"/>
                <a:ea typeface="Arial" pitchFamily="34" charset="-122"/>
                <a:cs typeface="Arial" pitchFamily="34" charset="-120"/>
              </a:rPr>
              <a:t>Research Proposal </a:t>
            </a:r>
            <a:endParaRPr lang="en-US" sz="1400" dirty="0"/>
          </a:p>
        </p:txBody>
      </p:sp>
      <p:sp>
        <p:nvSpPr>
          <p:cNvPr id="6" name="Shape 4"/>
          <p:cNvSpPr/>
          <p:nvPr/>
        </p:nvSpPr>
        <p:spPr>
          <a:xfrm>
            <a:off x="8229600" y="4233672"/>
            <a:ext cx="612648" cy="612648"/>
          </a:xfrm>
          <a:prstGeom prst="rect">
            <a:avLst/>
          </a:prstGeom>
          <a:solidFill>
            <a:srgbClr val="FF660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a:buClr>
                <a:srgbClr val="FF7900"/>
              </a:buClr>
              <a:buSzPts val="1500"/>
            </a:pPr>
            <a:r>
              <a:rPr lang="en-US" sz="2000" b="1" dirty="0">
                <a:solidFill>
                  <a:srgbClr val="FF7900"/>
                </a:solidFill>
                <a:latin typeface="Helvetica Neue"/>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indent="-177800">
              <a:spcBef>
                <a:spcPts val="800"/>
              </a:spcBef>
              <a:spcAft>
                <a:spcPts val="200"/>
              </a:spcAft>
              <a:buSzPct val="100000"/>
              <a:buChar char="●"/>
            </a:pPr>
            <a:r>
              <a:rPr lang="en-US" sz="1200" b="1" dirty="0">
                <a:solidFill>
                  <a:srgbClr val="FF7900"/>
                </a:solidFill>
                <a:latin typeface="Helvetica Neue"/>
              </a:rPr>
              <a:t>PROBLEM</a:t>
            </a:r>
            <a:r>
              <a:rPr lang="en-US" sz="1300" b="1" dirty="0">
                <a:solidFill>
                  <a:srgbClr val="FF6600"/>
                </a:solidFill>
                <a:latin typeface="Arial" pitchFamily="34" charset="0"/>
                <a:ea typeface="Arial" pitchFamily="34" charset="-122"/>
                <a:cs typeface="Arial" pitchFamily="34" charset="-120"/>
              </a:rPr>
              <a:t>. </a:t>
            </a:r>
            <a:r>
              <a:rPr lang="en-US" sz="1200" dirty="0">
                <a:solidFill>
                  <a:srgbClr val="FFFFFF"/>
                </a:solidFill>
                <a:latin typeface="Arial" pitchFamily="34" charset="0"/>
                <a:ea typeface="Arial" pitchFamily="34" charset="-122"/>
                <a:cs typeface="Arial" pitchFamily="34" charset="-120"/>
              </a:rPr>
              <a:t>Reasoning LLMs gain accuracy from more test-time compute, but most deployments apply a single fixed budget to every input.</a:t>
            </a:r>
            <a:endParaRPr lang="en-US" sz="1200" dirty="0"/>
          </a:p>
          <a:p>
            <a:pPr marL="457200" lvl="1" indent="-228600">
              <a:buSzPct val="100000"/>
              <a:buChar char="•"/>
            </a:pPr>
            <a:r>
              <a:rPr lang="en-US" sz="1050" dirty="0">
                <a:solidFill>
                  <a:srgbClr val="FFFFFF"/>
                </a:solidFill>
                <a:latin typeface="Arial" pitchFamily="34" charset="0"/>
                <a:ea typeface="Arial" pitchFamily="34" charset="-122"/>
                <a:cs typeface="Arial" pitchFamily="34" charset="-120"/>
              </a:rPr>
              <a:t>Underthinking hard problems and overthinking easy ones, sometimes with flat or negative returns</a:t>
            </a:r>
            <a:endParaRPr lang="en-US" sz="1050" dirty="0"/>
          </a:p>
          <a:p>
            <a:pPr lvl="1" indent="-228600">
              <a:spcAft>
                <a:spcPts val="800"/>
              </a:spcAft>
              <a:buSzPct val="100000"/>
              <a:buChar char="•"/>
            </a:pPr>
            <a:r>
              <a:rPr lang="en-US" sz="1050" dirty="0">
                <a:solidFill>
                  <a:srgbClr val="FFFFFF"/>
                </a:solidFill>
                <a:latin typeface="Arial" pitchFamily="34" charset="0"/>
                <a:cs typeface="Arial" pitchFamily="34" charset="-120"/>
              </a:rPr>
              <a:t>Includes correct-to-incorrect “flips” — cases where extra compute actively hurts accuracy</a:t>
            </a:r>
          </a:p>
          <a:p>
            <a:pPr marL="177800" indent="-177800">
              <a:spcAft>
                <a:spcPts val="400"/>
              </a:spcAft>
              <a:buSzPct val="100000"/>
              <a:buFontTx/>
              <a:buChar char="●"/>
            </a:pPr>
            <a:r>
              <a:rPr lang="en-US" sz="1200" b="1" dirty="0">
                <a:solidFill>
                  <a:srgbClr val="FF7900"/>
                </a:solidFill>
                <a:latin typeface="Helvetica Neue"/>
              </a:rPr>
              <a:t>CURRENT SOLUTIONS.</a:t>
            </a:r>
            <a:r>
              <a:rPr lang="en-US" sz="1300" dirty="0">
                <a:solidFill>
                  <a:srgbClr val="FFFFFF"/>
                </a:solidFill>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Two families of dynamic allocation methods exist:</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decide during generation, by monitoring a signal such as confidence or entropy and stopping once a threshold is crossed (e.g., entropy-triggered stopping, DEER).</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decide before generation, by reading a difficulty signal from the model or query and choosing a strategy up front (e.g., </a:t>
            </a:r>
            <a:r>
              <a:rPr lang="en-US" sz="1200" dirty="0" err="1">
                <a:solidFill>
                  <a:srgbClr val="FFFFFF"/>
                </a:solidFill>
                <a:latin typeface="Arial" pitchFamily="34" charset="0"/>
                <a:ea typeface="Arial" pitchFamily="34" charset="-122"/>
                <a:cs typeface="Arial" pitchFamily="34" charset="-120"/>
              </a:rPr>
              <a:t>DiffAdapt's</a:t>
            </a:r>
            <a:r>
              <a:rPr lang="en-US" sz="1200" dirty="0">
                <a:solidFill>
                  <a:srgbClr val="FFFFFF"/>
                </a:solidFill>
                <a:latin typeface="Arial" pitchFamily="34" charset="0"/>
                <a:ea typeface="Arial" pitchFamily="34" charset="-122"/>
                <a:cs typeface="Arial" pitchFamily="34" charset="-120"/>
              </a:rPr>
              <a:t> hidden-state probe, learned routers).</a:t>
            </a:r>
            <a:endParaRPr lang="en-US" sz="1200" dirty="0"/>
          </a:p>
          <a:p>
            <a:r>
              <a:rPr lang="en-US" sz="1200" b="1" dirty="0">
                <a:solidFill>
                  <a:srgbClr val="FF7900"/>
                </a:solidFill>
                <a:latin typeface="Helvetica Neue"/>
              </a:rPr>
              <a:t>Why it's suboptimal. </a:t>
            </a:r>
            <a:r>
              <a:rPr lang="en-US" sz="1200" dirty="0">
                <a:solidFill>
                  <a:srgbClr val="FFFFFF"/>
                </a:solidFill>
                <a:latin typeface="Arial" pitchFamily="34" charset="0"/>
                <a:cs typeface="Arial" pitchFamily="34" charset="-120"/>
              </a:rPr>
              <a:t>Each family has its own limitations:</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methods are trained or calibrated per model, several operate at coarse granularity, and cross-model generalization of the predictor itself is untested.</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methods rely on signals — confidence, entropy — that can be false positives (a model can be confidently wrong), and their thresholds are hand-tuned per model and temperature rather than transferring.</a:t>
            </a:r>
          </a:p>
          <a:p>
            <a:pPr lvl="1" indent="-228600">
              <a:spcAft>
                <a:spcPts val="800"/>
              </a:spcAft>
              <a:buSzPct val="100000"/>
              <a:buFontTx/>
              <a:buChar char="•"/>
            </a:pPr>
            <a:r>
              <a:rPr lang="en-US" sz="1200" dirty="0">
                <a:solidFill>
                  <a:srgbClr val="FFFFFF"/>
                </a:solidFill>
                <a:latin typeface="Arial" pitchFamily="34" charset="0"/>
                <a:cs typeface="Arial" pitchFamily="34" charset="-120"/>
              </a:rPr>
              <a:t>No study has compared a reactive and a predictive method head-to-head under one shared protocol that jointly reports accuracy, compute, and interpretability.</a:t>
            </a:r>
          </a:p>
          <a:p>
            <a:pPr lvl="1" indent="-228600">
              <a:spcAft>
                <a:spcPts val="800"/>
              </a:spcAft>
              <a:buSzPct val="100000"/>
              <a:buFontTx/>
              <a:buChar char="•"/>
            </a:pPr>
            <a:endParaRPr lang="en-US" sz="1200" dirty="0">
              <a:solidFill>
                <a:srgbClr val="FFFFFF"/>
              </a:solidFill>
              <a:latin typeface="Arial" pitchFamily="34" charset="0"/>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CORE HYPOTHESIS</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Improving Compute allocation can be improved through two complementary directions: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Reactive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 </a:t>
            </a:r>
            <a:r>
              <a:rPr lang="en-US" sz="1050" dirty="0">
                <a:solidFill>
                  <a:srgbClr val="FFFFFF"/>
                </a:solidFill>
                <a:latin typeface="Arial" pitchFamily="34" charset="0"/>
                <a:cs typeface="Arial" pitchFamily="34" charset="-120"/>
              </a:rPr>
              <a:t>Allocation can also be improved by refining the signal used to detect when reasoning has actually converged—moving beyond surface-level confidence or entropy toward an internal, model-derived indicator that more accurately determines when thinking should stop. </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Predictive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Required compute may be predictable from task difficulty beyond a difficulty-only baseline. The open question is whether this relationship holds generally or only in specific settings.</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lang="en-US" sz="1200" b="1" dirty="0">
                <a:solidFill>
                  <a:srgbClr val="FF7900"/>
                </a:solidFill>
                <a:latin typeface="Helvetica Neue"/>
              </a:rPr>
              <a:t>POSSIBLE CONTRIBUTION</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Hypothesis validation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Test our hypotheses empirically and determine whether the proposed assumptions hold.</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Direction selection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Based on the test results, determine which approach to pursue further; the final direction will be determined later according to the findings.</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Google Shape;72;p2">
            <a:extLst>
              <a:ext uri="{FF2B5EF4-FFF2-40B4-BE49-F238E27FC236}">
                <a16:creationId xmlns:a16="http://schemas.microsoft.com/office/drawing/2014/main" id="{A7947C86-202E-B7C0-6F37-E56773781535}"/>
              </a:ext>
            </a:extLst>
          </p:cNvPr>
          <p:cNvSpPr/>
          <p:nvPr/>
        </p:nvSpPr>
        <p:spPr>
          <a:xfrm>
            <a:off x="594360" y="2987040"/>
            <a:ext cx="5238413"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Arial"/>
              <a:buNone/>
            </a:pPr>
            <a:endParaRPr sz="1400" i="0" u="none" strike="noStrike" cap="none" dirty="0">
              <a:solidFill>
                <a:schemeClr val="dk1"/>
              </a:solidFill>
              <a:latin typeface="Helvetica Neue"/>
              <a:ea typeface="Helvetica Neue"/>
              <a:cs typeface="Helvetica Neue"/>
              <a:sym typeface="Helvetica Neue"/>
            </a:endParaRPr>
          </a:p>
        </p:txBody>
      </p:sp>
      <p:sp>
        <p:nvSpPr>
          <p:cNvPr id="8" name="Google Shape;73;p2">
            <a:extLst>
              <a:ext uri="{FF2B5EF4-FFF2-40B4-BE49-F238E27FC236}">
                <a16:creationId xmlns:a16="http://schemas.microsoft.com/office/drawing/2014/main" id="{C26939E5-B13C-9DD2-A219-C7B489815949}"/>
              </a:ext>
            </a:extLst>
          </p:cNvPr>
          <p:cNvSpPr/>
          <p:nvPr/>
        </p:nvSpPr>
        <p:spPr>
          <a:xfrm>
            <a:off x="594360" y="3288180"/>
            <a:ext cx="3915714" cy="1520040"/>
          </a:xfrm>
          <a:prstGeom prst="roundRect">
            <a:avLst>
              <a:gd name="adj" fmla="val 2830"/>
            </a:avLst>
          </a:prstGeom>
          <a:solidFill>
            <a:srgbClr val="141414"/>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9" name="Google Shape;74;p2">
            <a:extLst>
              <a:ext uri="{FF2B5EF4-FFF2-40B4-BE49-F238E27FC236}">
                <a16:creationId xmlns:a16="http://schemas.microsoft.com/office/drawing/2014/main" id="{AFE601CE-FA8A-D8B1-2F84-2FCD50E04A97}"/>
              </a:ext>
            </a:extLst>
          </p:cNvPr>
          <p:cNvSpPr/>
          <p:nvPr/>
        </p:nvSpPr>
        <p:spPr>
          <a:xfrm>
            <a:off x="738416"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1200"/>
              <a:buFont typeface="Arial"/>
              <a:buNone/>
            </a:pPr>
            <a:r>
              <a:rPr lang="en-US" sz="1200" b="1" i="0" u="none" strike="noStrike" cap="none" dirty="0">
                <a:solidFill>
                  <a:srgbClr val="9A9A9A"/>
                </a:solidFill>
                <a:latin typeface="Helvetica Neue"/>
                <a:ea typeface="Helvetica Neue"/>
                <a:cs typeface="Helvetica Neue"/>
                <a:sym typeface="Helvetica Neue"/>
              </a:rPr>
              <a:t>FIXED BUDGET — SAME REASONING BUDGET FOR EVERY INPUT</a:t>
            </a:r>
            <a:endParaRPr sz="1200" i="0" u="none" strike="noStrike" cap="none" dirty="0">
              <a:solidFill>
                <a:schemeClr val="dk1"/>
              </a:solidFill>
              <a:latin typeface="Helvetica Neue"/>
              <a:ea typeface="Helvetica Neue"/>
              <a:cs typeface="Helvetica Neue"/>
              <a:sym typeface="Helvetica Neue"/>
            </a:endParaRPr>
          </a:p>
        </p:txBody>
      </p:sp>
      <p:sp>
        <p:nvSpPr>
          <p:cNvPr id="10" name="Google Shape;75;p2">
            <a:extLst>
              <a:ext uri="{FF2B5EF4-FFF2-40B4-BE49-F238E27FC236}">
                <a16:creationId xmlns:a16="http://schemas.microsoft.com/office/drawing/2014/main" id="{E2291892-AEA5-41D9-4426-EFC15FCA0B60}"/>
              </a:ext>
            </a:extLst>
          </p:cNvPr>
          <p:cNvSpPr/>
          <p:nvPr/>
        </p:nvSpPr>
        <p:spPr>
          <a:xfrm>
            <a:off x="738416"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11" name="Google Shape;76;p2">
            <a:extLst>
              <a:ext uri="{FF2B5EF4-FFF2-40B4-BE49-F238E27FC236}">
                <a16:creationId xmlns:a16="http://schemas.microsoft.com/office/drawing/2014/main" id="{5FF6EAFE-3C5D-297D-474D-237131C43710}"/>
              </a:ext>
            </a:extLst>
          </p:cNvPr>
          <p:cNvSpPr/>
          <p:nvPr/>
        </p:nvSpPr>
        <p:spPr>
          <a:xfrm>
            <a:off x="2100404"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2" name="Google Shape;77;p2">
            <a:extLst>
              <a:ext uri="{FF2B5EF4-FFF2-40B4-BE49-F238E27FC236}">
                <a16:creationId xmlns:a16="http://schemas.microsoft.com/office/drawing/2014/main" id="{CAD7EF88-0DEE-F01D-DF59-F31CF1A27D88}"/>
              </a:ext>
            </a:extLst>
          </p:cNvPr>
          <p:cNvSpPr/>
          <p:nvPr/>
        </p:nvSpPr>
        <p:spPr>
          <a:xfrm>
            <a:off x="2100404" y="3724396"/>
            <a:ext cx="1231312" cy="15774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3" name="Google Shape;78;p2">
            <a:extLst>
              <a:ext uri="{FF2B5EF4-FFF2-40B4-BE49-F238E27FC236}">
                <a16:creationId xmlns:a16="http://schemas.microsoft.com/office/drawing/2014/main" id="{383DDF31-81AC-5371-270A-B56756CB3638}"/>
              </a:ext>
            </a:extLst>
          </p:cNvPr>
          <p:cNvSpPr/>
          <p:nvPr/>
        </p:nvSpPr>
        <p:spPr>
          <a:xfrm>
            <a:off x="738416"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overthinks — wasted tokens, flat/negative return</a:t>
            </a:r>
            <a:endParaRPr sz="950" b="1" i="0" u="none" strike="noStrike" cap="none">
              <a:solidFill>
                <a:schemeClr val="dk1"/>
              </a:solidFill>
              <a:latin typeface="Helvetica Neue"/>
              <a:ea typeface="Helvetica Neue"/>
              <a:cs typeface="Helvetica Neue"/>
              <a:sym typeface="Helvetica Neue"/>
            </a:endParaRPr>
          </a:p>
        </p:txBody>
      </p:sp>
      <p:sp>
        <p:nvSpPr>
          <p:cNvPr id="14" name="Google Shape;79;p2">
            <a:extLst>
              <a:ext uri="{FF2B5EF4-FFF2-40B4-BE49-F238E27FC236}">
                <a16:creationId xmlns:a16="http://schemas.microsoft.com/office/drawing/2014/main" id="{2DC4900E-67D7-89CD-AB8C-B1E5E9D7A394}"/>
              </a:ext>
            </a:extLst>
          </p:cNvPr>
          <p:cNvSpPr/>
          <p:nvPr/>
        </p:nvSpPr>
        <p:spPr>
          <a:xfrm>
            <a:off x="738416"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dirty="0">
                <a:solidFill>
                  <a:srgbClr val="FFFFFF"/>
                </a:solidFill>
                <a:latin typeface="Helvetica Neue"/>
                <a:ea typeface="Helvetica Neue"/>
                <a:cs typeface="Helvetica Neue"/>
                <a:sym typeface="Helvetica Neue"/>
              </a:rPr>
              <a:t>Hard problem</a:t>
            </a:r>
            <a:endParaRPr sz="1150" i="0" u="none" strike="noStrike" cap="none" dirty="0">
              <a:solidFill>
                <a:schemeClr val="dk1"/>
              </a:solidFill>
              <a:latin typeface="Helvetica Neue"/>
              <a:ea typeface="Helvetica Neue"/>
              <a:cs typeface="Helvetica Neue"/>
              <a:sym typeface="Helvetica Neue"/>
            </a:endParaRPr>
          </a:p>
        </p:txBody>
      </p:sp>
      <p:sp>
        <p:nvSpPr>
          <p:cNvPr id="15" name="Google Shape;80;p2">
            <a:extLst>
              <a:ext uri="{FF2B5EF4-FFF2-40B4-BE49-F238E27FC236}">
                <a16:creationId xmlns:a16="http://schemas.microsoft.com/office/drawing/2014/main" id="{A0690DA5-B25F-2A13-8054-7D533B81CB52}"/>
              </a:ext>
            </a:extLst>
          </p:cNvPr>
          <p:cNvSpPr/>
          <p:nvPr/>
        </p:nvSpPr>
        <p:spPr>
          <a:xfrm>
            <a:off x="2100404"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 name="Google Shape;81;p2">
            <a:extLst>
              <a:ext uri="{FF2B5EF4-FFF2-40B4-BE49-F238E27FC236}">
                <a16:creationId xmlns:a16="http://schemas.microsoft.com/office/drawing/2014/main" id="{FBC774A7-F0B6-BE93-2F66-E0779513F8C9}"/>
              </a:ext>
            </a:extLst>
          </p:cNvPr>
          <p:cNvSpPr/>
          <p:nvPr/>
        </p:nvSpPr>
        <p:spPr>
          <a:xfrm>
            <a:off x="2100404" y="4277640"/>
            <a:ext cx="1231313" cy="17208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 name="Google Shape;82;p2">
            <a:extLst>
              <a:ext uri="{FF2B5EF4-FFF2-40B4-BE49-F238E27FC236}">
                <a16:creationId xmlns:a16="http://schemas.microsoft.com/office/drawing/2014/main" id="{04D406BC-2782-1F9F-59BE-55E163E1BC48}"/>
              </a:ext>
            </a:extLst>
          </p:cNvPr>
          <p:cNvSpPr/>
          <p:nvPr/>
        </p:nvSpPr>
        <p:spPr>
          <a:xfrm>
            <a:off x="738416"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underthinks — abandons promising reasoning</a:t>
            </a:r>
            <a:endParaRPr sz="950" b="1" i="0" u="none" strike="noStrike" cap="none">
              <a:solidFill>
                <a:schemeClr val="dk1"/>
              </a:solidFill>
              <a:latin typeface="Helvetica Neue"/>
              <a:ea typeface="Helvetica Neue"/>
              <a:cs typeface="Helvetica Neue"/>
              <a:sym typeface="Helvetica Neue"/>
            </a:endParaRPr>
          </a:p>
        </p:txBody>
      </p:sp>
      <p:sp>
        <p:nvSpPr>
          <p:cNvPr id="18" name="Google Shape;83;p2">
            <a:extLst>
              <a:ext uri="{FF2B5EF4-FFF2-40B4-BE49-F238E27FC236}">
                <a16:creationId xmlns:a16="http://schemas.microsoft.com/office/drawing/2014/main" id="{19AC2F44-881C-E244-6468-BDB26874F136}"/>
              </a:ext>
            </a:extLst>
          </p:cNvPr>
          <p:cNvSpPr/>
          <p:nvPr/>
        </p:nvSpPr>
        <p:spPr>
          <a:xfrm>
            <a:off x="4699966" y="3288180"/>
            <a:ext cx="3915714" cy="1520040"/>
          </a:xfrm>
          <a:prstGeom prst="roundRect">
            <a:avLst>
              <a:gd name="adj" fmla="val 2830"/>
            </a:avLst>
          </a:prstGeom>
          <a:solidFill>
            <a:srgbClr val="141414"/>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 name="Google Shape;84;p2">
            <a:extLst>
              <a:ext uri="{FF2B5EF4-FFF2-40B4-BE49-F238E27FC236}">
                <a16:creationId xmlns:a16="http://schemas.microsoft.com/office/drawing/2014/main" id="{7CEF4C4A-C122-4B1B-42C0-83CE89FF9DF5}"/>
              </a:ext>
            </a:extLst>
          </p:cNvPr>
          <p:cNvSpPr/>
          <p:nvPr/>
        </p:nvSpPr>
        <p:spPr>
          <a:xfrm>
            <a:off x="4844023"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7900"/>
              </a:buClr>
              <a:buSzPts val="1200"/>
              <a:buFont typeface="Arial"/>
              <a:buNone/>
            </a:pPr>
            <a:r>
              <a:rPr lang="en-US" sz="1200" b="1" i="0" u="none" strike="noStrike" cap="none">
                <a:solidFill>
                  <a:srgbClr val="FF7900"/>
                </a:solidFill>
                <a:latin typeface="Helvetica Neue"/>
                <a:ea typeface="Helvetica Neue"/>
                <a:cs typeface="Helvetica Neue"/>
                <a:sym typeface="Helvetica Neue"/>
              </a:rPr>
              <a:t>PROPOSED — BUDGET MATCHED TO DIFFICULTY</a:t>
            </a:r>
            <a:endParaRPr sz="1200" i="0" u="none" strike="noStrike" cap="none">
              <a:solidFill>
                <a:schemeClr val="dk1"/>
              </a:solidFill>
              <a:latin typeface="Helvetica Neue"/>
              <a:ea typeface="Helvetica Neue"/>
              <a:cs typeface="Helvetica Neue"/>
              <a:sym typeface="Helvetica Neue"/>
            </a:endParaRPr>
          </a:p>
        </p:txBody>
      </p:sp>
      <p:sp>
        <p:nvSpPr>
          <p:cNvPr id="20" name="Google Shape;85;p2">
            <a:extLst>
              <a:ext uri="{FF2B5EF4-FFF2-40B4-BE49-F238E27FC236}">
                <a16:creationId xmlns:a16="http://schemas.microsoft.com/office/drawing/2014/main" id="{21BBF973-E6CE-59BF-1368-D93B3B80E52F}"/>
              </a:ext>
            </a:extLst>
          </p:cNvPr>
          <p:cNvSpPr/>
          <p:nvPr/>
        </p:nvSpPr>
        <p:spPr>
          <a:xfrm>
            <a:off x="4844023"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21" name="Google Shape;86;p2">
            <a:extLst>
              <a:ext uri="{FF2B5EF4-FFF2-40B4-BE49-F238E27FC236}">
                <a16:creationId xmlns:a16="http://schemas.microsoft.com/office/drawing/2014/main" id="{9F7D1DD8-8C59-833B-A8D5-8B8FF20B86DA}"/>
              </a:ext>
            </a:extLst>
          </p:cNvPr>
          <p:cNvSpPr/>
          <p:nvPr/>
        </p:nvSpPr>
        <p:spPr>
          <a:xfrm>
            <a:off x="6206010"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2" name="Google Shape;87;p2">
            <a:extLst>
              <a:ext uri="{FF2B5EF4-FFF2-40B4-BE49-F238E27FC236}">
                <a16:creationId xmlns:a16="http://schemas.microsoft.com/office/drawing/2014/main" id="{7100365B-1F11-9D81-1586-D429EF7AEE61}"/>
              </a:ext>
            </a:extLst>
          </p:cNvPr>
          <p:cNvSpPr/>
          <p:nvPr/>
        </p:nvSpPr>
        <p:spPr>
          <a:xfrm>
            <a:off x="6206010" y="3718380"/>
            <a:ext cx="462347"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3" name="Google Shape;88;p2">
            <a:extLst>
              <a:ext uri="{FF2B5EF4-FFF2-40B4-BE49-F238E27FC236}">
                <a16:creationId xmlns:a16="http://schemas.microsoft.com/office/drawing/2014/main" id="{09A0CE0C-990F-2056-BD2A-34D27BAC64E0}"/>
              </a:ext>
            </a:extLst>
          </p:cNvPr>
          <p:cNvSpPr/>
          <p:nvPr/>
        </p:nvSpPr>
        <p:spPr>
          <a:xfrm>
            <a:off x="4844023"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dirty="0">
                <a:solidFill>
                  <a:srgbClr val="9A9A9A"/>
                </a:solidFill>
                <a:latin typeface="Helvetica Neue"/>
                <a:ea typeface="Helvetica Neue"/>
                <a:cs typeface="Helvetica Neue"/>
                <a:sym typeface="Helvetica Neue"/>
              </a:rPr>
              <a:t>stops once accuracy saturates</a:t>
            </a:r>
            <a:endParaRPr sz="950" b="1" i="0" u="none" strike="noStrike" cap="none" dirty="0">
              <a:solidFill>
                <a:schemeClr val="dk1"/>
              </a:solidFill>
              <a:latin typeface="Helvetica Neue"/>
              <a:ea typeface="Helvetica Neue"/>
              <a:cs typeface="Helvetica Neue"/>
              <a:sym typeface="Helvetica Neue"/>
            </a:endParaRPr>
          </a:p>
        </p:txBody>
      </p:sp>
      <p:sp>
        <p:nvSpPr>
          <p:cNvPr id="24" name="Google Shape;89;p2">
            <a:extLst>
              <a:ext uri="{FF2B5EF4-FFF2-40B4-BE49-F238E27FC236}">
                <a16:creationId xmlns:a16="http://schemas.microsoft.com/office/drawing/2014/main" id="{3BD24743-2FC3-03BF-3D3D-F43FE880B396}"/>
              </a:ext>
            </a:extLst>
          </p:cNvPr>
          <p:cNvSpPr/>
          <p:nvPr/>
        </p:nvSpPr>
        <p:spPr>
          <a:xfrm>
            <a:off x="4844023"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Hard problem</a:t>
            </a:r>
            <a:endParaRPr sz="1150" i="0" u="none" strike="noStrike" cap="none">
              <a:solidFill>
                <a:schemeClr val="dk1"/>
              </a:solidFill>
              <a:latin typeface="Helvetica Neue"/>
              <a:ea typeface="Helvetica Neue"/>
              <a:cs typeface="Helvetica Neue"/>
              <a:sym typeface="Helvetica Neue"/>
            </a:endParaRPr>
          </a:p>
        </p:txBody>
      </p:sp>
      <p:sp>
        <p:nvSpPr>
          <p:cNvPr id="25" name="Google Shape;90;p2">
            <a:extLst>
              <a:ext uri="{FF2B5EF4-FFF2-40B4-BE49-F238E27FC236}">
                <a16:creationId xmlns:a16="http://schemas.microsoft.com/office/drawing/2014/main" id="{497E435C-821F-605C-5DAC-C0BE6638C423}"/>
              </a:ext>
            </a:extLst>
          </p:cNvPr>
          <p:cNvSpPr/>
          <p:nvPr/>
        </p:nvSpPr>
        <p:spPr>
          <a:xfrm>
            <a:off x="6206010"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6" name="Google Shape;91;p2">
            <a:extLst>
              <a:ext uri="{FF2B5EF4-FFF2-40B4-BE49-F238E27FC236}">
                <a16:creationId xmlns:a16="http://schemas.microsoft.com/office/drawing/2014/main" id="{F2EA0E54-41DA-F6C5-1FF7-7A9BA5A924D9}"/>
              </a:ext>
            </a:extLst>
          </p:cNvPr>
          <p:cNvSpPr/>
          <p:nvPr/>
        </p:nvSpPr>
        <p:spPr>
          <a:xfrm>
            <a:off x="6206010" y="4277640"/>
            <a:ext cx="1947642"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7" name="Google Shape;92;p2">
            <a:extLst>
              <a:ext uri="{FF2B5EF4-FFF2-40B4-BE49-F238E27FC236}">
                <a16:creationId xmlns:a16="http://schemas.microsoft.com/office/drawing/2014/main" id="{AE5AACE7-570B-A17E-915F-0DF793AD8D6C}"/>
              </a:ext>
            </a:extLst>
          </p:cNvPr>
          <p:cNvSpPr/>
          <p:nvPr/>
        </p:nvSpPr>
        <p:spPr>
          <a:xfrm>
            <a:off x="4844023"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spends compute where it pays off</a:t>
            </a:r>
            <a:endParaRPr sz="950" b="1" i="0" u="none" strike="noStrike" cap="none">
              <a:solidFill>
                <a:schemeClr val="dk1"/>
              </a:solidFill>
              <a:latin typeface="Helvetica Neue"/>
              <a:ea typeface="Helvetica Neue"/>
              <a:cs typeface="Helvetica Neue"/>
              <a:sym typeface="Helvetica Neue"/>
            </a:endParaRPr>
          </a:p>
        </p:txBody>
      </p:sp>
      <p:sp>
        <p:nvSpPr>
          <p:cNvPr id="28" name="Google Shape;93;p2">
            <a:extLst>
              <a:ext uri="{FF2B5EF4-FFF2-40B4-BE49-F238E27FC236}">
                <a16:creationId xmlns:a16="http://schemas.microsoft.com/office/drawing/2014/main" id="{60D707C1-A081-C2B6-D5EA-90BDEA9A5B18}"/>
              </a:ext>
            </a:extLst>
          </p:cNvPr>
          <p:cNvSpPr/>
          <p:nvPr/>
        </p:nvSpPr>
        <p:spPr>
          <a:xfrm flipH="1">
            <a:off x="2477626" y="3718380"/>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9" name="Google Shape;94;p2">
            <a:extLst>
              <a:ext uri="{FF2B5EF4-FFF2-40B4-BE49-F238E27FC236}">
                <a16:creationId xmlns:a16="http://schemas.microsoft.com/office/drawing/2014/main" id="{21F639C1-80C6-3833-4339-7355593AB99A}"/>
              </a:ext>
            </a:extLst>
          </p:cNvPr>
          <p:cNvSpPr/>
          <p:nvPr/>
        </p:nvSpPr>
        <p:spPr>
          <a:xfrm flipH="1">
            <a:off x="3902056" y="4276486"/>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30" name="Google Shape;95;p2">
            <a:extLst>
              <a:ext uri="{FF2B5EF4-FFF2-40B4-BE49-F238E27FC236}">
                <a16:creationId xmlns:a16="http://schemas.microsoft.com/office/drawing/2014/main" id="{76DC54D7-E056-2BCB-8004-96A4C26EB18C}"/>
              </a:ext>
            </a:extLst>
          </p:cNvPr>
          <p:cNvSpPr txBox="1"/>
          <p:nvPr/>
        </p:nvSpPr>
        <p:spPr>
          <a:xfrm>
            <a:off x="2324102" y="3806801"/>
            <a:ext cx="1192310"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
        <p:nvSpPr>
          <p:cNvPr id="31" name="Google Shape;96;p2">
            <a:extLst>
              <a:ext uri="{FF2B5EF4-FFF2-40B4-BE49-F238E27FC236}">
                <a16:creationId xmlns:a16="http://schemas.microsoft.com/office/drawing/2014/main" id="{244F9978-B230-58CC-FEBE-37FC8E142DF3}"/>
              </a:ext>
            </a:extLst>
          </p:cNvPr>
          <p:cNvSpPr txBox="1"/>
          <p:nvPr/>
        </p:nvSpPr>
        <p:spPr>
          <a:xfrm>
            <a:off x="3711081" y="4425717"/>
            <a:ext cx="746609"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1850896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1. BACKGROUND</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r>
              <a:rPr lang="en-US" sz="1300" b="1" dirty="0">
                <a:solidFill>
                  <a:srgbClr val="FF7900"/>
                </a:solidFill>
                <a:latin typeface="Helvetica Neue"/>
              </a:rPr>
              <a:t>The two failure modes. </a:t>
            </a:r>
            <a:r>
              <a:rPr lang="en-US" sz="1200" dirty="0">
                <a:solidFill>
                  <a:srgbClr val="FFFFFF"/>
                </a:solidFill>
                <a:latin typeface="Arial" pitchFamily="34" charset="0"/>
                <a:cs typeface="Arial" pitchFamily="34" charset="-120"/>
              </a:rPr>
              <a:t>Test-time scaling improves accuracy by allocating more inference compute through longer reasoning, sampling, or search. However, fixed budgets for all inputs can lead to two opposite failure modes.</a:t>
            </a:r>
          </a:p>
          <a:p>
            <a:endParaRPr lang="en-US" sz="1200" dirty="0">
              <a:solidFill>
                <a:srgbClr val="FFFFFF"/>
              </a:solidFill>
              <a:latin typeface="Arial" pitchFamily="34" charset="0"/>
              <a:cs typeface="Arial" pitchFamily="34" charset="-120"/>
            </a:endParaRPr>
          </a:p>
          <a:p>
            <a:pPr marL="171450" indent="-171450">
              <a:buFontTx/>
              <a:buChar char="-"/>
            </a:pPr>
            <a:r>
              <a:rPr lang="en-US" sz="1200" dirty="0">
                <a:solidFill>
                  <a:srgbClr val="FFFFFF"/>
                </a:solidFill>
                <a:latin typeface="Arial" pitchFamily="34" charset="0"/>
                <a:cs typeface="Arial" pitchFamily="34" charset="-120"/>
              </a:rPr>
              <a:t>Underthinking — Wang et al., “Thoughts Are All Over the Place” (</a:t>
            </a:r>
            <a:r>
              <a:rPr lang="en-US" sz="1200" dirty="0" err="1">
                <a:solidFill>
                  <a:srgbClr val="FFFFFF"/>
                </a:solidFill>
                <a:latin typeface="Arial" pitchFamily="34" charset="0"/>
                <a:cs typeface="Arial" pitchFamily="34" charset="-120"/>
              </a:rPr>
              <a:t>NeurIPS</a:t>
            </a:r>
            <a:r>
              <a:rPr lang="en-US" sz="1200" dirty="0">
                <a:solidFill>
                  <a:srgbClr val="FFFFFF"/>
                </a:solidFill>
                <a:latin typeface="Arial" pitchFamily="34" charset="0"/>
                <a:cs typeface="Arial" pitchFamily="34" charset="-120"/>
              </a:rPr>
              <a:t> 2025): can arise from two distinct compute-allocation failures: the model may either receive too little compute for the problem, or have sufficient compute but allocate it inefficiently.</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Insufficient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On hard problems, incorrect responses may stop before reaching a reliable solution because the allocated budget is insufficient.</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queries that require more reasoning and allocate additional compute rather than using a fixed budget.</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Inefficient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lang="en-US" sz="1050" dirty="0"/>
              <a:t> </a:t>
            </a:r>
            <a:r>
              <a:rPr lang="en-US" sz="1200" dirty="0">
                <a:solidFill>
                  <a:srgbClr val="FFFFFF"/>
                </a:solidFill>
                <a:latin typeface="Arial" pitchFamily="34" charset="0"/>
                <a:cs typeface="Arial" pitchFamily="34" charset="-120"/>
              </a:rPr>
              <a:t>Partially out of scope</a:t>
            </a: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Incorrect responses show far more thought switches despite often being longer: QwQ-32B-Preview: 26.4 vs. 7.0 and DeepSeek-R1-671B: 59.3 vs. 12.6 switches on AIME2024. This suggests compute is being spent restarting thoughts rather than reasoning deeper.</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refine the convergence signal to distinguish genuine reasoning progress from inefficient thought switching and decide when to continue or stop.</a:t>
            </a:r>
          </a:p>
          <a:p>
            <a:pPr marL="571500" lvl="1" indent="-171450">
              <a:spcAft>
                <a:spcPts val="500"/>
              </a:spcAft>
              <a:buSzPct val="100000"/>
              <a:buFontTx/>
              <a:buChar char="-"/>
              <a:defRPr/>
            </a:pP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55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8" name="Google Shape;128;p3"/>
          <p:cNvSpPr/>
          <p:nvPr/>
        </p:nvSpPr>
        <p:spPr>
          <a:xfrm>
            <a:off x="251460" y="4008120"/>
            <a:ext cx="8656320" cy="847344"/>
          </a:xfrm>
          <a:prstGeom prst="roundRect">
            <a:avLst>
              <a:gd name="adj" fmla="val 8333"/>
            </a:avLst>
          </a:prstGeom>
          <a:solidFill>
            <a:srgbClr val="1F1409"/>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1. BACKGROUND</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1450" marR="0" lvl="0" indent="-171450" fontAlgn="auto">
              <a:lnSpc>
                <a:spcPct val="100000"/>
              </a:lnSpc>
              <a:spcBef>
                <a:spcPts val="0"/>
              </a:spcBef>
              <a:spcAft>
                <a:spcPts val="0"/>
              </a:spcAft>
              <a:buClrTx/>
              <a:buSzTx/>
              <a:buFontTx/>
              <a:buChar char="-"/>
              <a:tabLst/>
              <a:defRPr/>
            </a:pPr>
            <a:r>
              <a:rPr lang="en-US" sz="1200" dirty="0">
                <a:solidFill>
                  <a:srgbClr val="FFFFFF"/>
                </a:solidFill>
                <a:latin typeface="Arial" pitchFamily="34" charset="0"/>
                <a:cs typeface="Arial" pitchFamily="34" charset="-120"/>
              </a:rPr>
              <a:t>Overthinking can also arise from two distinct compute-allocation failures: the model may either spend unnecessary compute on easy problems, or allocate compute inefficiently across different domains.</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Unnecessary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Evidence: </a:t>
            </a:r>
            <a:r>
              <a:rPr lang="en-US" sz="1050" dirty="0" err="1">
                <a:solidFill>
                  <a:srgbClr val="FFFFFF"/>
                </a:solidFill>
                <a:latin typeface="Arial" pitchFamily="34" charset="0"/>
                <a:cs typeface="Arial" pitchFamily="34" charset="-120"/>
              </a:rPr>
              <a:t>DiffAdapt</a:t>
            </a:r>
            <a:r>
              <a:rPr lang="en-US" sz="1050" dirty="0">
                <a:solidFill>
                  <a:srgbClr val="FFFFFF"/>
                </a:solidFill>
                <a:latin typeface="Arial" pitchFamily="34" charset="0"/>
                <a:cs typeface="Arial" pitchFamily="34" charset="-120"/>
              </a:rPr>
              <a:t> finds a U-shaped entropy–difficulty relationship: entropy is high on easy problems despite high accuracy, drops by 22–25% at medium difficulty, then rises again on hard problems. This suggests that easy-problem entropy reflects wasted exploration rather than genuine uncertainty.</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easy queries and allocate less compute instead of applying a fixed budget.</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Domain-Mismatched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Yang et al. show that increasing </a:t>
            </a:r>
            <a:r>
              <a:rPr lang="en-US" sz="1050" dirty="0" err="1">
                <a:solidFill>
                  <a:srgbClr val="FFFFFF"/>
                </a:solidFill>
                <a:latin typeface="Arial" pitchFamily="34" charset="0"/>
                <a:cs typeface="Arial" pitchFamily="34" charset="-120"/>
              </a:rPr>
              <a:t>CoT</a:t>
            </a:r>
            <a:r>
              <a:rPr lang="en-US" sz="1050" dirty="0">
                <a:solidFill>
                  <a:srgbClr val="FFFFFF"/>
                </a:solidFill>
                <a:latin typeface="Arial" pitchFamily="34" charset="0"/>
                <a:cs typeface="Arial" pitchFamily="34" charset="-120"/>
              </a:rPr>
              <a:t> length has domain-dependent returns: it helps some problem sets but can harm others, and the optimal length distribution differs by domain rather than depending only on difficulty.</a:t>
            </a: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Research direction: Refine the allocation signal to account for domain-specific reasoning behavior rather than relying solely on a difficulty-based estimate.</a:t>
            </a: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r>
              <a:rPr lang="en-US" sz="1200" b="1" dirty="0">
                <a:solidFill>
                  <a:prstClr val="white"/>
                </a:solidFill>
                <a:latin typeface="Consolas" panose="020B0609020204030204" pitchFamily="49" charset="0"/>
              </a:rPr>
              <a:t>Open question</a:t>
            </a:r>
            <a:r>
              <a:rPr lang="en-US" sz="1050" b="1" dirty="0">
                <a:solidFill>
                  <a:srgbClr val="C9D1D9"/>
                </a:solidFill>
                <a:effectLst/>
                <a:latin typeface="Consolas" panose="020B0609020204030204" pitchFamily="49" charset="0"/>
              </a:rPr>
              <a:t>:</a:t>
            </a:r>
            <a:r>
              <a:rPr lang="en-US" sz="1050" b="0" dirty="0">
                <a:solidFill>
                  <a:srgbClr val="BBBEBF"/>
                </a:solidFill>
                <a:effectLst/>
                <a:latin typeface="Consolas" panose="020B0609020204030204" pitchFamily="49" charset="0"/>
              </a:rPr>
              <a:t> </a:t>
            </a:r>
            <a:r>
              <a:rPr lang="en-US" sz="1200" dirty="0">
                <a:solidFill>
                  <a:srgbClr val="FFFFFF"/>
                </a:solidFill>
                <a:latin typeface="Arial" pitchFamily="34" charset="0"/>
                <a:cs typeface="Arial" pitchFamily="34" charset="-120"/>
              </a:rPr>
              <a:t>the literature does not disagree on whether overthinking exists — </a:t>
            </a:r>
            <a:r>
              <a:rPr lang="en-US" sz="1200" dirty="0" err="1">
                <a:solidFill>
                  <a:srgbClr val="FFFFFF"/>
                </a:solidFill>
                <a:latin typeface="Arial" pitchFamily="34" charset="0"/>
                <a:cs typeface="Arial" pitchFamily="34" charset="-120"/>
              </a:rPr>
              <a:t>DiffAdapt</a:t>
            </a:r>
            <a:r>
              <a:rPr lang="en-US" sz="1200" dirty="0">
                <a:solidFill>
                  <a:srgbClr val="FFFFFF"/>
                </a:solidFill>
                <a:latin typeface="Arial" pitchFamily="34" charset="0"/>
                <a:cs typeface="Arial" pitchFamily="34" charset="-120"/>
              </a:rPr>
              <a:t>, TOPS, and Sui et al. all document it. What is unresolved is whether it is a true inverted-U (net accuracy loss) or pure saturation (flat accuracy, wasted compute only), and whether this differs by task type. This proposal treats net accuracy loss from overthinking as an open empirical question, verified per model/benchmark rather than assumed.</a:t>
            </a:r>
          </a:p>
          <a:p>
            <a:br>
              <a:rPr lang="en-US" sz="1050" b="0" dirty="0">
                <a:solidFill>
                  <a:srgbClr val="BBBEBF"/>
                </a:solidFill>
                <a:effectLst/>
                <a:latin typeface="Consolas" panose="020B0609020204030204" pitchFamily="49" charset="0"/>
              </a:rPr>
            </a:br>
            <a:endParaRPr lang="en-US" sz="1050" b="0" dirty="0">
              <a:solidFill>
                <a:srgbClr val="BBBEBF"/>
              </a:solidFill>
              <a:effectLst/>
              <a:latin typeface="Consolas" panose="020B0609020204030204" pitchFamily="49" charset="0"/>
            </a:endParaRP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220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2.1 REACTIVE METHODS (decide during generation)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Confidence / Entropy-Based Early Exit</a:t>
            </a:r>
            <a:r>
              <a:rPr kumimoji="0" lang="en-US" sz="1200" b="1" i="0" u="none" strike="noStrike" kern="1200" cap="none" spc="0" normalizeH="0" baseline="0" noProof="0" dirty="0">
                <a:ln>
                  <a:noFill/>
                </a:ln>
                <a:solidFill>
                  <a:srgbClr val="FF7900"/>
                </a:solidFill>
                <a:effectLst/>
                <a:uLnTx/>
                <a:uFillTx/>
                <a:latin typeface="Helvetica Neue"/>
                <a:ea typeface="+mn-ea"/>
                <a:cs typeface="+mn-cs"/>
              </a:rPr>
              <a:t>. </a:t>
            </a:r>
            <a:r>
              <a:rPr lang="en-US" sz="1000" b="0" i="1" dirty="0">
                <a:solidFill>
                  <a:schemeClr val="bg1"/>
                </a:solidFill>
                <a:effectLst/>
                <a:latin typeface="Consolas" panose="020B0609020204030204" pitchFamily="49" charset="0"/>
              </a:rPr>
              <a:t>(Yang et al., "Dynamic Early Exit in Reasoning Models," 2025 — DEER; general confidence/entropy early-exit class)</a:t>
            </a:r>
            <a:endParaRPr lang="en-US" sz="1000" dirty="0">
              <a:solidFill>
                <a:schemeClr val="bg1"/>
              </a:solidFill>
              <a:latin typeface="Arial" pitchFamily="34" charset="0"/>
              <a:cs typeface="Arial" pitchFamily="34" charset="-120"/>
            </a:endParaRP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M</a:t>
            </a:r>
            <a:r>
              <a:rPr lang="en-US" sz="1200" dirty="0">
                <a:solidFill>
                  <a:srgbClr val="FFFFFF"/>
                </a:solidFill>
                <a:latin typeface="Arial" pitchFamily="34" charset="0"/>
                <a:cs typeface="Arial" pitchFamily="34" charset="-120"/>
              </a:rPr>
              <a:t>onitor a per-step scalar token entropy as a signal, self-consistency across sampled continuations, or logit-derived confidence — and stop once it crosses a threshold. DEER specifically detects "reasoning transition points" (e.g., the token "Wait"), injects a forced trial-answer prompt at that point, and reads the model's confidence in that trial answer; if confidence is high, it stops, otherwise it discards the trial and continues.</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DEER achieves 19–80%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reduction with +0.3–5.0% accuracy across 11 models and 10 benchmarks.</a:t>
            </a:r>
          </a:p>
          <a:p>
            <a:pPr lvl="1" indent="-228600">
              <a:spcAft>
                <a:spcPts val="300"/>
              </a:spcAft>
              <a:buSzPct val="100000"/>
              <a:buFontTx/>
              <a:buChar char="•"/>
              <a:defRPr/>
            </a:pPr>
            <a:r>
              <a:rPr lang="en-US" sz="1200" b="1" dirty="0">
                <a:solidFill>
                  <a:prstClr val="white"/>
                </a:solidFill>
                <a:latin typeface="Consolas" panose="020B0609020204030204" pitchFamily="49" charset="0"/>
              </a:rPr>
              <a:t>Limitations: </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False</a:t>
            </a:r>
            <a:r>
              <a:rPr lang="en-US" sz="1100" dirty="0">
                <a:solidFill>
                  <a:srgbClr val="FFFFFF"/>
                </a:solidFill>
                <a:latin typeface="Arial" pitchFamily="34" charset="0"/>
                <a:cs typeface="Arial" pitchFamily="34" charset="-120"/>
              </a:rPr>
              <a:t> </a:t>
            </a:r>
            <a:r>
              <a:rPr lang="en-US" sz="1100" b="1" dirty="0">
                <a:solidFill>
                  <a:prstClr val="white"/>
                </a:solidFill>
                <a:latin typeface="Consolas" panose="020B0609020204030204" pitchFamily="49" charset="0"/>
                <a:cs typeface="Arial" pitchFamily="34" charset="-120"/>
              </a:rPr>
              <a:t>positives</a:t>
            </a:r>
            <a:r>
              <a:rPr lang="en-US" sz="1100" dirty="0">
                <a:solidFill>
                  <a:srgbClr val="FFFFFF"/>
                </a:solidFill>
                <a:latin typeface="Arial" pitchFamily="34" charset="0"/>
                <a:cs typeface="Arial" pitchFamily="34" charset="-120"/>
              </a:rPr>
              <a:t>: The signal can be misleading—a model may be highly confident while still being wrong, especially after                 RLHF/RLVR where confidence and correctness can become decoupled.</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Poor transferability: </a:t>
            </a:r>
            <a:r>
              <a:rPr lang="en-US" sz="1100" dirty="0">
                <a:solidFill>
                  <a:srgbClr val="FFFFFF"/>
                </a:solidFill>
                <a:latin typeface="Arial" pitchFamily="34" charset="0"/>
                <a:cs typeface="Arial" pitchFamily="34" charset="-120"/>
              </a:rPr>
              <a:t>Thresholds are typically hand-tuned for each model and temperature, limiting their ability to generalize across settings.</a:t>
            </a:r>
          </a:p>
          <a:p>
            <a:pPr marL="517525" lvl="1">
              <a:spcAft>
                <a:spcPts val="800"/>
              </a:spcAft>
              <a:buSzPct val="100000"/>
              <a:defRPr/>
            </a:pPr>
            <a:r>
              <a:rPr lang="en-US" sz="1100" b="1" dirty="0">
                <a:solidFill>
                  <a:prstClr val="white"/>
                </a:solidFill>
                <a:latin typeface="Consolas" panose="020B0609020204030204" pitchFamily="49" charset="0"/>
                <a:cs typeface="Arial" pitchFamily="34" charset="-120"/>
              </a:rPr>
              <a:t>- Blind spot: </a:t>
            </a:r>
            <a:r>
              <a:rPr lang="en-US" sz="1100" dirty="0">
                <a:solidFill>
                  <a:srgbClr val="FFFFFF"/>
                </a:solidFill>
                <a:latin typeface="Arial" pitchFamily="34" charset="0"/>
                <a:cs typeface="Arial" pitchFamily="34" charset="-120"/>
              </a:rPr>
              <a:t>DEER only stops when confidence is high; it cannot identify queries that remain uncertain and are likely to be wrong. </a:t>
            </a:r>
          </a:p>
          <a:p>
            <a:br>
              <a:rPr lang="en-US" sz="1200" b="0" dirty="0">
                <a:solidFill>
                  <a:srgbClr val="BBBEBF"/>
                </a:solidFill>
                <a:effectLst/>
                <a:latin typeface="Consolas" panose="020B0609020204030204" pitchFamily="49" charset="0"/>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7586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2.1 REACTIVE METHODS (decide during generation)</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lang="en-US" sz="1300" b="1" dirty="0">
              <a:solidFill>
                <a:srgbClr val="FF7900"/>
              </a:solidFill>
              <a:latin typeface="Helvetica Neue"/>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kumimoji="0" lang="en-US" sz="1200" b="1" i="0" u="none" strike="noStrike" kern="1200" cap="none" spc="0" normalizeH="0" baseline="0" noProof="0" dirty="0">
              <a:ln>
                <a:noFill/>
              </a:ln>
              <a:solidFill>
                <a:srgbClr val="FF7900"/>
              </a:solidFill>
              <a:effectLst/>
              <a:uLnTx/>
              <a:uFillTx/>
              <a:latin typeface="Helvetica Neue"/>
              <a:ea typeface="+mn-ea"/>
              <a:cs typeface="+mn-cs"/>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Conformal / Risk-Controlled Stopping. </a:t>
            </a:r>
            <a:r>
              <a:rPr kumimoji="0" lang="en-US" sz="1000" b="0" i="1"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(Conformal Thinking, Apple, 2026; Thought Calibration, 2025)</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Mechanism: M</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onitor reframe budget-setting as distribution-free risk control (Learn-Then-Test): given a target error rate α and a calibration set, derive a stopping threshold with a finite-sample statistical guarantee that stopping error stays below α. Conformal Thinking adds a second, lower threshold that pre-emptively halts instances flagged as likely-unsolvable, directly addressing the blind spot in confidence-only early exit.</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Limitations: </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a:t>
            </a:r>
            <a:r>
              <a:rPr lang="en-US" sz="1100" b="1" dirty="0">
                <a:solidFill>
                  <a:prstClr val="white"/>
                </a:solidFill>
                <a:latin typeface="Consolas" panose="020B0609020204030204" pitchFamily="49" charset="0"/>
                <a:cs typeface="Arial" pitchFamily="34" charset="-120"/>
              </a:rPr>
              <a:t>Calibration</a:t>
            </a:r>
            <a:r>
              <a:rPr lang="en-US" sz="1100" dirty="0"/>
              <a:t> </a:t>
            </a:r>
            <a:r>
              <a:rPr lang="en-US" sz="1100" b="1" dirty="0">
                <a:solidFill>
                  <a:prstClr val="white"/>
                </a:solidFill>
                <a:latin typeface="Consolas" panose="020B0609020204030204" pitchFamily="49" charset="0"/>
                <a:cs typeface="Arial" pitchFamily="34" charset="-120"/>
              </a:rPr>
              <a:t>required</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Requires a held-out calibration set for each model/task pair.</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Marginal guarantee: </a:t>
            </a:r>
            <a:r>
              <a:rPr lang="en-US" sz="1100" dirty="0">
                <a:solidFill>
                  <a:srgbClr val="FFFFFF"/>
                </a:solidFill>
                <a:latin typeface="Arial" pitchFamily="34" charset="0"/>
                <a:cs typeface="Arial" pitchFamily="34" charset="-120"/>
              </a:rPr>
              <a:t>The guarantee holds on average over the calibration distribution, not for each individual instance.</a:t>
            </a:r>
          </a:p>
          <a:p>
            <a:pPr marL="688975" lvl="1" indent="-171450">
              <a:spcAft>
                <a:spcPts val="800"/>
              </a:spcAft>
              <a:buSzPct val="100000"/>
              <a:buFontTx/>
              <a:buChar char="-"/>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Monotonicity assumption</a:t>
            </a:r>
            <a:r>
              <a:rPr lang="en-US" sz="1100" dirty="0">
                <a:solidFill>
                  <a:srgbClr val="FFFFFF"/>
                </a:solidFill>
                <a:latin typeface="Arial" pitchFamily="34" charset="0"/>
                <a:cs typeface="Arial" pitchFamily="34" charset="-120"/>
              </a:rPr>
              <a:t>: Assumes the risk function is monotonic with respect to the threshold, which is only reliably verifiable in the large-sample regime. </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can serve directly as the statistical-validation layer for any adaptive method this proposal produces.</a:t>
            </a:r>
          </a:p>
          <a:p>
            <a:pPr marL="517525" lvl="1">
              <a:spcAft>
                <a:spcPts val="800"/>
              </a:spcAft>
              <a:buSzPct val="100000"/>
              <a:defRPr/>
            </a:pPr>
            <a:endParaRPr lang="en-US" sz="1100" dirty="0">
              <a:solidFill>
                <a:srgbClr val="FFFFFF"/>
              </a:solidFill>
              <a:latin typeface="Arial" pitchFamily="34" charset="0"/>
              <a:cs typeface="Arial"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0265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Budget Forcing. </a:t>
            </a:r>
            <a:r>
              <a:rPr lang="en-US" sz="1000" i="1" dirty="0">
                <a:solidFill>
                  <a:prstClr val="white"/>
                </a:solidFill>
                <a:latin typeface="Consolas" panose="020B0609020204030204" pitchFamily="49" charset="0"/>
              </a:rPr>
              <a:t>(</a:t>
            </a:r>
            <a:r>
              <a:rPr lang="en-US" sz="1000" i="1" dirty="0" err="1">
                <a:solidFill>
                  <a:prstClr val="white"/>
                </a:solidFill>
                <a:latin typeface="Consolas" panose="020B0609020204030204" pitchFamily="49" charset="0"/>
              </a:rPr>
              <a:t>Muennighoff</a:t>
            </a:r>
            <a:r>
              <a:rPr lang="en-US" sz="1000" i="1" dirty="0">
                <a:solidFill>
                  <a:prstClr val="white"/>
                </a:solidFill>
                <a:latin typeface="Consolas" panose="020B0609020204030204" pitchFamily="49" charset="0"/>
              </a:rPr>
              <a:t> et al., "s1: Simple Test-Time Scaling," EMNLP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fixed, global token cap; if the model tries to stop early, suppress the end-of-thinking token and append "Wait" to force continuation; if it exceeds the cap, force termination.</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cap is a single hand-set number for all inputs — it is control, not adaptation; later work (L1) shows this crude intervention degrades performance relative to a length-conditioned policy.</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serves as the right lower-bound ablation baseline — any adaptive method here must beat naive budget forcing at matched average token count.</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4951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during generation)</a:t>
            </a:r>
          </a:p>
        </p:txBody>
      </p:sp>
      <p:sp>
        <p:nvSpPr>
          <p:cNvPr id="3" name="Text 1"/>
          <p:cNvSpPr txBox="1"/>
          <p:nvPr/>
        </p:nvSpPr>
        <p:spPr>
          <a:xfrm>
            <a:off x="320040" y="99003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err="1">
                <a:solidFill>
                  <a:srgbClr val="FF7900"/>
                </a:solidFill>
                <a:latin typeface="Helvetica Neue"/>
              </a:rPr>
              <a:t>DiffAdapt</a:t>
            </a:r>
            <a:r>
              <a:rPr lang="en-US" sz="1200" b="1" dirty="0">
                <a:solidFill>
                  <a:srgbClr val="FF7900"/>
                </a:solidFill>
                <a:latin typeface="Helvetica Neue"/>
              </a:rPr>
              <a:t>. </a:t>
            </a:r>
            <a:r>
              <a:rPr lang="en-US" sz="1000" i="1" dirty="0">
                <a:solidFill>
                  <a:prstClr val="white"/>
                </a:solidFill>
                <a:latin typeface="Consolas" panose="020B0609020204030204" pitchFamily="49" charset="0"/>
              </a:rPr>
              <a:t>(Liu, Hu, Chu &amp; Choi, "</a:t>
            </a:r>
            <a:r>
              <a:rPr lang="en-US" sz="1000" i="1" dirty="0" err="1">
                <a:solidFill>
                  <a:prstClr val="white"/>
                </a:solidFill>
                <a:latin typeface="Consolas" panose="020B0609020204030204" pitchFamily="49" charset="0"/>
              </a:rPr>
              <a:t>DiffAdapt</a:t>
            </a:r>
            <a:r>
              <a:rPr lang="en-US" sz="1000" i="1" dirty="0">
                <a:solidFill>
                  <a:prstClr val="white"/>
                </a:solidFill>
                <a:latin typeface="Consolas" panose="020B0609020204030204" pitchFamily="49" charset="0"/>
              </a:rPr>
              <a:t>: Difficulty-Adaptive Reasoning for Token-Efficient LLM Inference,"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three-stage framework </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sample a proxy model's responses to heuristically label each training query Easy/Normal/Hard from observed entropy and  correctness. </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train a lightweight probe on the base model's final hidden state to predict that label. </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at inference, the probe selects one of three fixed (prompt, temperature, max-length) configurations. No base-model fine-tuning.</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up to 22.4% token reduction with comparable or improved accuracy, across 5 models and 8 benchmarks.</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p>
          <a:p>
            <a:pPr marL="228600" lvl="1" indent="228600">
              <a:spcAft>
                <a:spcPts val="800"/>
              </a:spcAft>
              <a:buSzPct val="100000"/>
              <a:defRPr/>
            </a:pPr>
            <a:r>
              <a:rPr lang="en-US" sz="1100" dirty="0">
                <a:solidFill>
                  <a:srgbClr val="FFFFFF"/>
                </a:solidFill>
                <a:latin typeface="Arial" pitchFamily="34" charset="0"/>
                <a:cs typeface="Arial" pitchFamily="34" charset="-120"/>
              </a:rPr>
              <a:t>- only three discrete strategies (coarse granularity, not a continuous budget), </a:t>
            </a:r>
          </a:p>
          <a:p>
            <a:pPr marL="228600" lvl="1" indent="228600">
              <a:spcAft>
                <a:spcPts val="800"/>
              </a:spcAft>
              <a:buSzPct val="100000"/>
              <a:defRPr/>
            </a:pPr>
            <a:r>
              <a:rPr lang="en-US" sz="1100" dirty="0">
                <a:solidFill>
                  <a:srgbClr val="FFFFFF"/>
                </a:solidFill>
                <a:latin typeface="Arial" pitchFamily="34" charset="0"/>
                <a:cs typeface="Arial" pitchFamily="34" charset="-120"/>
              </a:rPr>
              <a:t>- the probe is trained per base model, since hidden-state geometry is model-specific.</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1103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during generation)</a:t>
            </a:r>
          </a:p>
        </p:txBody>
      </p:sp>
      <p:sp>
        <p:nvSpPr>
          <p:cNvPr id="3" name="Text 1"/>
          <p:cNvSpPr txBox="1"/>
          <p:nvPr/>
        </p:nvSpPr>
        <p:spPr>
          <a:xfrm>
            <a:off x="320040" y="997659"/>
            <a:ext cx="8503920" cy="2248461"/>
          </a:xfrm>
          <a:prstGeom prst="rect">
            <a:avLst/>
          </a:prstGeom>
          <a:noFill/>
          <a:ln/>
        </p:spPr>
        <p:txBody>
          <a:bodyPr wrap="square" lIns="0" tIns="0" rIns="0" bIns="0" rtlCol="0" anchor="t"/>
          <a:lstStyle/>
          <a:p>
            <a:endParaRPr lang="en-US" sz="1200" b="1" dirty="0">
              <a:solidFill>
                <a:srgbClr val="FF7900"/>
              </a:solidFill>
              <a:latin typeface="Helvetica Neue"/>
            </a:endParaRPr>
          </a:p>
          <a:p>
            <a:r>
              <a:rPr lang="en-US" sz="1200" b="1" dirty="0">
                <a:solidFill>
                  <a:srgbClr val="FF7900"/>
                </a:solidFill>
                <a:latin typeface="Helvetica Neue"/>
              </a:rPr>
              <a:t>Learned Routers. </a:t>
            </a:r>
            <a:r>
              <a:rPr lang="en-US" sz="1000" i="1" dirty="0">
                <a:solidFill>
                  <a:prstClr val="white"/>
                </a:solidFill>
                <a:latin typeface="Consolas" panose="020B0609020204030204" pitchFamily="49" charset="0"/>
              </a:rPr>
              <a:t>(Damani, </a:t>
            </a:r>
            <a:r>
              <a:rPr lang="en-US" sz="1000" i="1" dirty="0" err="1">
                <a:solidFill>
                  <a:prstClr val="white"/>
                </a:solidFill>
                <a:latin typeface="Consolas" panose="020B0609020204030204" pitchFamily="49" charset="0"/>
              </a:rPr>
              <a:t>Shenfeld</a:t>
            </a:r>
            <a:r>
              <a:rPr lang="en-US" sz="1000" i="1" dirty="0">
                <a:solidFill>
                  <a:prstClr val="white"/>
                </a:solidFill>
                <a:latin typeface="Consolas" panose="020B0609020204030204" pitchFamily="49" charset="0"/>
              </a:rPr>
              <a:t>, Peng, </a:t>
            </a:r>
            <a:r>
              <a:rPr lang="en-US" sz="1000" i="1" dirty="0" err="1">
                <a:solidFill>
                  <a:prstClr val="white"/>
                </a:solidFill>
                <a:latin typeface="Consolas" panose="020B0609020204030204" pitchFamily="49" charset="0"/>
              </a:rPr>
              <a:t>Bobu</a:t>
            </a:r>
            <a:r>
              <a:rPr lang="en-US" sz="1000" i="1" dirty="0">
                <a:solidFill>
                  <a:prstClr val="white"/>
                </a:solidFill>
                <a:latin typeface="Consolas" panose="020B0609020204030204" pitchFamily="49" charset="0"/>
              </a:rPr>
              <a:t>, and Andreas, "Learning How Hard to Think: Input-Adaptive Allocation of LM Computation," ICLR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trains a marginal reward predictor — the expected accuracy gain from allocating one more unit of compute (e.g., one more best-of-N sample) to a given query — and allocates compute where the predicted marginal value is highest.</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predictor is trained per model/task, cross-model transfer is not reported, and the best-of-N framing does not directly cover single-chain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control.</a:t>
            </a:r>
          </a:p>
          <a:p>
            <a:pPr lvl="1" indent="-228600">
              <a:spcAft>
                <a:spcPts val="800"/>
              </a:spcAft>
              <a:buSzPct val="100000"/>
              <a:buFontTx/>
              <a:buChar char="•"/>
              <a:defRPr/>
            </a:pPr>
            <a:r>
              <a:rPr lang="en-US" sz="1200" b="1" dirty="0">
                <a:solidFill>
                  <a:prstClr val="white"/>
                </a:solidFill>
                <a:latin typeface="Consolas" panose="020B0609020204030204" pitchFamily="49" charset="0"/>
              </a:rPr>
              <a:t>Our Use of This Method: </a:t>
            </a:r>
            <a:r>
              <a:rPr lang="en-US" sz="1200" dirty="0">
                <a:solidFill>
                  <a:srgbClr val="FFFFFF"/>
                </a:solidFill>
                <a:latin typeface="Arial" pitchFamily="34" charset="0"/>
                <a:cs typeface="Arial" pitchFamily="34" charset="-120"/>
              </a:rPr>
              <a:t>reuse the marginal-value framing — "allocate compute where its predicted value is highest" — as the guiding principle for a compute-allocation equation grounded in prior work rather than assumed from scratch.</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59730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during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Thinking-Optimal Scaling (TOPS). </a:t>
            </a:r>
            <a:r>
              <a:rPr lang="en-US" sz="1000" i="1" dirty="0">
                <a:solidFill>
                  <a:prstClr val="white"/>
                </a:solidFill>
                <a:latin typeface="Consolas" panose="020B0609020204030204" pitchFamily="49" charset="0"/>
              </a:rPr>
              <a:t>(Yang et al., "Towards Thinking-Optimal Scaling of Test-Time Compute for LLM Reasoning," </a:t>
            </a:r>
            <a:r>
              <a:rPr lang="en-US" sz="1000" i="1" dirty="0" err="1">
                <a:solidFill>
                  <a:prstClr val="white"/>
                </a:solidFill>
                <a:latin typeface="Consolas" panose="020B0609020204030204" pitchFamily="49" charset="0"/>
              </a:rPr>
              <a:t>NeurIPS</a:t>
            </a:r>
            <a:r>
              <a:rPr lang="en-US" sz="1000" i="1" dirty="0">
                <a:solidFill>
                  <a:prstClr val="white"/>
                </a:solidFill>
                <a:latin typeface="Consolas" panose="020B0609020204030204" pitchFamily="49" charset="0"/>
              </a:rPr>
              <a:t>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supervised fine-tuning on a small seed set spanning several reasoning-effort levels ("format imitation"), then self-improvement by sampling multiple efforts per training query and keeping the shortest correct response as the preferred target — baking a domain-conditioned length policy into the weights.</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granularity is domain-level, not instance-level — a domain gets one length distribution, not each query its own budget — and building the training set requires generating multiple full responses per example.</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TOPS's finding that the optimal length distribution differs by domain is direct prior evidence for a task-type hypothesis, and an instance-level predictor can be tested against TOPS's domain-level one at matched compute.</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30037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SUMMARY</a:t>
            </a:r>
          </a:p>
        </p:txBody>
      </p:sp>
      <p:sp>
        <p:nvSpPr>
          <p:cNvPr id="3" name="Text 1"/>
          <p:cNvSpPr txBox="1"/>
          <p:nvPr/>
        </p:nvSpPr>
        <p:spPr>
          <a:xfrm>
            <a:off x="190158" y="840005"/>
            <a:ext cx="8503920" cy="36652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lang="en-US" sz="1200" dirty="0">
              <a:solidFill>
                <a:schemeClr val="tx1">
                  <a:lumMod val="95000"/>
                  <a:lumOff val="5000"/>
                </a:schemeClr>
              </a:solidFill>
              <a:latin typeface="Arial" pitchFamily="34" charset="0"/>
              <a:cs typeface="Arial" pitchFamily="34" charset="-12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r>
              <a:rPr lang="en-US" sz="1200" b="1" dirty="0">
                <a:solidFill>
                  <a:schemeClr val="bg1"/>
                </a:solidFill>
                <a:latin typeface="Consolas" panose="020B0609020204030204" pitchFamily="49" charset="0"/>
              </a:rPr>
              <a:t>Conclusion: </a:t>
            </a:r>
            <a:r>
              <a:rPr lang="en-US" sz="1200" dirty="0">
                <a:solidFill>
                  <a:schemeClr val="bg1"/>
                </a:solidFill>
                <a:latin typeface="Arial" pitchFamily="34" charset="0"/>
                <a:cs typeface="Arial" pitchFamily="34" charset="-120"/>
              </a:rPr>
              <a:t>Existing methods address different aspects of adaptive compute allocation, but none simultaneously provides instance-level allocation, cross-model generalization, and statistical calibration. This work targets their intersection and evaluates it under a unified experimental protocol.</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endParaRPr kumimoji="0" lang="en-US" sz="1200" b="0" i="0" u="none" strike="noStrike" kern="1200" cap="none" spc="0" normalizeH="0" baseline="0" noProof="0" dirty="0">
              <a:ln>
                <a:noFill/>
              </a:ln>
              <a:solidFill>
                <a:schemeClr val="tx1">
                  <a:lumMod val="95000"/>
                  <a:lumOff val="5000"/>
                </a:schemeClr>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4" name="Google Shape;144;p4"/>
          <p:cNvSpPr/>
          <p:nvPr/>
        </p:nvSpPr>
        <p:spPr>
          <a:xfrm>
            <a:off x="381000" y="1074419"/>
            <a:ext cx="2067664"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5" name="Google Shape;145;p4"/>
          <p:cNvSpPr/>
          <p:nvPr/>
        </p:nvSpPr>
        <p:spPr>
          <a:xfrm>
            <a:off x="449922" y="1074419"/>
            <a:ext cx="192981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Method</a:t>
            </a:r>
            <a:endParaRPr sz="1050" b="1" dirty="0">
              <a:latin typeface="Helvetica Neue"/>
              <a:sym typeface="Helvetica Neue"/>
            </a:endParaRPr>
          </a:p>
        </p:txBody>
      </p:sp>
      <p:sp>
        <p:nvSpPr>
          <p:cNvPr id="146" name="Google Shape;146;p4"/>
          <p:cNvSpPr/>
          <p:nvPr/>
        </p:nvSpPr>
        <p:spPr>
          <a:xfrm>
            <a:off x="2448664" y="1074419"/>
            <a:ext cx="1964280"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7" name="Google Shape;147;p4"/>
          <p:cNvSpPr/>
          <p:nvPr/>
        </p:nvSpPr>
        <p:spPr>
          <a:xfrm>
            <a:off x="2517586" y="1074419"/>
            <a:ext cx="1826436" cy="3243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050"/>
              <a:buFont typeface="Arial"/>
              <a:buNone/>
            </a:pPr>
            <a:r>
              <a:rPr lang="en-US" sz="1050" b="1" dirty="0">
                <a:latin typeface="Helvetica Neue"/>
                <a:ea typeface="Helvetica Neue"/>
                <a:cs typeface="Helvetica Neue"/>
                <a:sym typeface="Helvetica Neue"/>
              </a:rPr>
              <a:t>Compute control</a:t>
            </a:r>
            <a:endParaRPr sz="1050" dirty="0">
              <a:latin typeface="Helvetica Neue"/>
              <a:ea typeface="Helvetica Neue"/>
              <a:cs typeface="Helvetica Neue"/>
              <a:sym typeface="Helvetica Neue"/>
            </a:endParaRPr>
          </a:p>
        </p:txBody>
      </p:sp>
      <p:sp>
        <p:nvSpPr>
          <p:cNvPr id="148" name="Google Shape;148;p4"/>
          <p:cNvSpPr/>
          <p:nvPr/>
        </p:nvSpPr>
        <p:spPr>
          <a:xfrm>
            <a:off x="4412944" y="1074419"/>
            <a:ext cx="1378442"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9" name="Google Shape;149;p4"/>
          <p:cNvSpPr/>
          <p:nvPr/>
        </p:nvSpPr>
        <p:spPr>
          <a:xfrm>
            <a:off x="4412943" y="1074419"/>
            <a:ext cx="1378442" cy="324312"/>
          </a:xfrm>
          <a:prstGeom prst="rect">
            <a:avLst/>
          </a:prstGeom>
          <a:noFill/>
          <a:ln>
            <a:noFill/>
          </a:ln>
        </p:spPr>
        <p:txBody>
          <a:bodyPr spcFirstLastPara="1" wrap="square" lIns="0" tIns="0" rIns="0" bIns="0" anchor="ctr" anchorCtr="0">
            <a:noAutofit/>
          </a:bodyPr>
          <a:lstStyle/>
          <a:p>
            <a:pPr algn="ctr">
              <a:buClr>
                <a:srgbClr val="000000"/>
              </a:buClr>
              <a:buSzPts val="1050"/>
            </a:pPr>
            <a:r>
              <a:rPr lang="en-US" sz="1050" b="1" dirty="0">
                <a:latin typeface="Helvetica Neue"/>
              </a:rPr>
              <a:t>Per-model</a:t>
            </a:r>
          </a:p>
          <a:p>
            <a:pPr algn="ctr">
              <a:buClr>
                <a:srgbClr val="000000"/>
              </a:buClr>
              <a:buSzPts val="1050"/>
            </a:pPr>
            <a:r>
              <a:rPr lang="en-US" sz="1050" b="1" dirty="0">
                <a:latin typeface="Helvetica Neue"/>
              </a:rPr>
              <a:t>training?</a:t>
            </a:r>
          </a:p>
        </p:txBody>
      </p:sp>
      <p:sp>
        <p:nvSpPr>
          <p:cNvPr id="150" name="Google Shape;150;p4"/>
          <p:cNvSpPr/>
          <p:nvPr/>
        </p:nvSpPr>
        <p:spPr>
          <a:xfrm>
            <a:off x="5791387" y="1074419"/>
            <a:ext cx="3032573"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1" name="Google Shape;151;p4"/>
          <p:cNvSpPr/>
          <p:nvPr/>
        </p:nvSpPr>
        <p:spPr>
          <a:xfrm>
            <a:off x="5860309" y="1074419"/>
            <a:ext cx="289472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Key limitation</a:t>
            </a:r>
            <a:endParaRPr sz="1050" b="1" dirty="0">
              <a:latin typeface="Helvetica Neue"/>
              <a:sym typeface="Helvetica Neue"/>
            </a:endParaRPr>
          </a:p>
        </p:txBody>
      </p:sp>
      <p:sp>
        <p:nvSpPr>
          <p:cNvPr id="152" name="Google Shape;152;p4"/>
          <p:cNvSpPr/>
          <p:nvPr/>
        </p:nvSpPr>
        <p:spPr>
          <a:xfrm>
            <a:off x="381000" y="1398731"/>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3" name="Google Shape;153;p4"/>
          <p:cNvSpPr/>
          <p:nvPr/>
        </p:nvSpPr>
        <p:spPr>
          <a:xfrm>
            <a:off x="449922" y="1398731"/>
            <a:ext cx="1929729" cy="343301"/>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DEER</a:t>
            </a:r>
            <a:endParaRPr sz="1050" dirty="0">
              <a:latin typeface="Helvetica Neue"/>
              <a:ea typeface="Helvetica Neue"/>
              <a:cs typeface="Helvetica Neue"/>
              <a:sym typeface="Helvetica Neue"/>
            </a:endParaRPr>
          </a:p>
        </p:txBody>
      </p:sp>
      <p:sp>
        <p:nvSpPr>
          <p:cNvPr id="154" name="Google Shape;154;p4"/>
          <p:cNvSpPr/>
          <p:nvPr/>
        </p:nvSpPr>
        <p:spPr>
          <a:xfrm>
            <a:off x="2448664" y="1398731"/>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5" name="Google Shape;155;p4"/>
          <p:cNvSpPr/>
          <p:nvPr/>
        </p:nvSpPr>
        <p:spPr>
          <a:xfrm>
            <a:off x="2517586" y="1398731"/>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Confidence-threshold triggered</a:t>
            </a:r>
          </a:p>
        </p:txBody>
      </p:sp>
      <p:sp>
        <p:nvSpPr>
          <p:cNvPr id="156" name="Google Shape;156;p4"/>
          <p:cNvSpPr/>
          <p:nvPr/>
        </p:nvSpPr>
        <p:spPr>
          <a:xfrm>
            <a:off x="4412944" y="1398731"/>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7" name="Google Shape;157;p4"/>
          <p:cNvSpPr/>
          <p:nvPr/>
        </p:nvSpPr>
        <p:spPr>
          <a:xfrm>
            <a:off x="4481866" y="1398731"/>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Threshold tuned</a:t>
            </a:r>
            <a:endParaRPr lang="en-US" sz="1000" dirty="0">
              <a:latin typeface="Arial" charset="0"/>
              <a:ea typeface="Arial" charset="0"/>
              <a:cs typeface="Arial" charset="0"/>
            </a:endParaRPr>
          </a:p>
        </p:txBody>
      </p:sp>
      <p:sp>
        <p:nvSpPr>
          <p:cNvPr id="158" name="Google Shape;158;p4"/>
          <p:cNvSpPr/>
          <p:nvPr/>
        </p:nvSpPr>
        <p:spPr>
          <a:xfrm>
            <a:off x="5791387" y="1398731"/>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9" name="Google Shape;159;p4"/>
          <p:cNvSpPr/>
          <p:nvPr/>
        </p:nvSpPr>
        <p:spPr>
          <a:xfrm>
            <a:off x="5860309" y="1398731"/>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Threshold tuning; calibration-sensitive</a:t>
            </a:r>
          </a:p>
        </p:txBody>
      </p:sp>
      <p:sp>
        <p:nvSpPr>
          <p:cNvPr id="160" name="Google Shape;160;p4"/>
          <p:cNvSpPr/>
          <p:nvPr/>
        </p:nvSpPr>
        <p:spPr>
          <a:xfrm>
            <a:off x="381000" y="1742119"/>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1" name="Google Shape;161;p4"/>
          <p:cNvSpPr/>
          <p:nvPr/>
        </p:nvSpPr>
        <p:spPr>
          <a:xfrm>
            <a:off x="449922" y="174211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Conformal Thinking</a:t>
            </a:r>
            <a:endParaRPr sz="1050" b="1" dirty="0">
              <a:latin typeface="Helvetica Neue"/>
              <a:sym typeface="Helvetica Neue"/>
            </a:endParaRPr>
          </a:p>
        </p:txBody>
      </p:sp>
      <p:sp>
        <p:nvSpPr>
          <p:cNvPr id="162" name="Google Shape;162;p4"/>
          <p:cNvSpPr/>
          <p:nvPr/>
        </p:nvSpPr>
        <p:spPr>
          <a:xfrm>
            <a:off x="2448664" y="1742119"/>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3" name="Google Shape;163;p4"/>
          <p:cNvSpPr/>
          <p:nvPr/>
        </p:nvSpPr>
        <p:spPr>
          <a:xfrm>
            <a:off x="2517586" y="1742119"/>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Trained length-conditioning</a:t>
            </a:r>
            <a:endParaRPr sz="950">
              <a:latin typeface="Helvetica Neue"/>
              <a:ea typeface="Helvetica Neue"/>
              <a:cs typeface="Helvetica Neue"/>
              <a:sym typeface="Helvetica Neue"/>
            </a:endParaRPr>
          </a:p>
        </p:txBody>
      </p:sp>
      <p:sp>
        <p:nvSpPr>
          <p:cNvPr id="164" name="Google Shape;164;p4"/>
          <p:cNvSpPr/>
          <p:nvPr/>
        </p:nvSpPr>
        <p:spPr>
          <a:xfrm>
            <a:off x="4412944" y="1742119"/>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5" name="Google Shape;165;p4"/>
          <p:cNvSpPr/>
          <p:nvPr/>
        </p:nvSpPr>
        <p:spPr>
          <a:xfrm>
            <a:off x="4481866" y="1764979"/>
            <a:ext cx="1240598" cy="343389"/>
          </a:xfrm>
          <a:prstGeom prst="rect">
            <a:avLst/>
          </a:prstGeom>
          <a:solidFill>
            <a:srgbClr val="FFD6CA"/>
          </a:solidFill>
          <a:ln>
            <a:noFill/>
          </a:ln>
        </p:spPr>
        <p:txBody>
          <a:bodyPr spcFirstLastPara="1" wrap="square" lIns="0" tIns="0" rIns="0" bIns="0" anchor="ctr" anchorCtr="0">
            <a:noAutofit/>
          </a:bodyPr>
          <a:lstStyle/>
          <a:p>
            <a:pPr>
              <a:buClr>
                <a:srgbClr val="D6D6D6"/>
              </a:buClr>
              <a:buSzPts val="950"/>
            </a:pPr>
            <a:r>
              <a:rPr lang="en-US" sz="1000" dirty="0">
                <a:latin typeface="Arial" pitchFamily="34" charset="0"/>
                <a:ea typeface="Arial" pitchFamily="34" charset="-122"/>
                <a:cs typeface="Arial" pitchFamily="34" charset="-120"/>
              </a:rPr>
              <a:t>Calibration set</a:t>
            </a:r>
            <a:endParaRPr lang="en-US" sz="1000" dirty="0">
              <a:latin typeface="Arial" charset="0"/>
              <a:ea typeface="Arial" charset="0"/>
              <a:cs typeface="Arial" charset="0"/>
            </a:endParaRPr>
          </a:p>
          <a:p>
            <a:pPr marL="0" marR="0" lvl="0" indent="0" algn="l" rtl="0">
              <a:spcBef>
                <a:spcPts val="0"/>
              </a:spcBef>
              <a:spcAft>
                <a:spcPts val="0"/>
              </a:spcAft>
              <a:buClr>
                <a:srgbClr val="D6D6D6"/>
              </a:buClr>
              <a:buSzPts val="950"/>
              <a:buFont typeface="Arial"/>
              <a:buNone/>
            </a:pPr>
            <a:endParaRPr sz="950" dirty="0">
              <a:latin typeface="Helvetica Neue"/>
              <a:ea typeface="Helvetica Neue"/>
              <a:cs typeface="Helvetica Neue"/>
              <a:sym typeface="Helvetica Neue"/>
            </a:endParaRPr>
          </a:p>
        </p:txBody>
      </p:sp>
      <p:sp>
        <p:nvSpPr>
          <p:cNvPr id="166" name="Google Shape;166;p4"/>
          <p:cNvSpPr/>
          <p:nvPr/>
        </p:nvSpPr>
        <p:spPr>
          <a:xfrm>
            <a:off x="5791387" y="1742119"/>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7" name="Google Shape;167;p4"/>
          <p:cNvSpPr/>
          <p:nvPr/>
        </p:nvSpPr>
        <p:spPr>
          <a:xfrm>
            <a:off x="5860309" y="1742119"/>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Needs calibration data; marginal guarantee</a:t>
            </a:r>
          </a:p>
        </p:txBody>
      </p:sp>
      <p:sp>
        <p:nvSpPr>
          <p:cNvPr id="168" name="Google Shape;168;p4"/>
          <p:cNvSpPr/>
          <p:nvPr/>
        </p:nvSpPr>
        <p:spPr>
          <a:xfrm>
            <a:off x="381000" y="2085508"/>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9" name="Google Shape;169;p4"/>
          <p:cNvSpPr/>
          <p:nvPr/>
        </p:nvSpPr>
        <p:spPr>
          <a:xfrm>
            <a:off x="449922" y="214646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Budget Forcing (s1)</a:t>
            </a:r>
          </a:p>
          <a:p>
            <a:pPr marL="0" indent="0">
              <a:buNone/>
            </a:pPr>
            <a:endParaRPr lang="en-US" sz="1050" dirty="0">
              <a:latin typeface="Arial" charset="0"/>
              <a:ea typeface="Arial" charset="0"/>
              <a:cs typeface="Arial" charset="0"/>
            </a:endParaRPr>
          </a:p>
        </p:txBody>
      </p:sp>
      <p:sp>
        <p:nvSpPr>
          <p:cNvPr id="170" name="Google Shape;170;p4"/>
          <p:cNvSpPr/>
          <p:nvPr/>
        </p:nvSpPr>
        <p:spPr>
          <a:xfrm>
            <a:off x="2448664" y="2085508"/>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1" name="Google Shape;171;p4"/>
          <p:cNvSpPr/>
          <p:nvPr/>
        </p:nvSpPr>
        <p:spPr>
          <a:xfrm>
            <a:off x="2517586" y="2085508"/>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Confidence-threshold triggered</a:t>
            </a:r>
            <a:endParaRPr sz="950">
              <a:latin typeface="Helvetica Neue"/>
              <a:ea typeface="Helvetica Neue"/>
              <a:cs typeface="Helvetica Neue"/>
              <a:sym typeface="Helvetica Neue"/>
            </a:endParaRPr>
          </a:p>
        </p:txBody>
      </p:sp>
      <p:sp>
        <p:nvSpPr>
          <p:cNvPr id="172" name="Google Shape;172;p4"/>
          <p:cNvSpPr/>
          <p:nvPr/>
        </p:nvSpPr>
        <p:spPr>
          <a:xfrm>
            <a:off x="4412944" y="2085508"/>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3" name="Google Shape;173;p4"/>
          <p:cNvSpPr/>
          <p:nvPr/>
        </p:nvSpPr>
        <p:spPr>
          <a:xfrm>
            <a:off x="4481866" y="2085508"/>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NO (fixed cap)</a:t>
            </a:r>
            <a:endParaRPr lang="en-US" sz="1000" dirty="0">
              <a:latin typeface="Arial" charset="0"/>
              <a:ea typeface="Arial" charset="0"/>
              <a:cs typeface="Arial" charset="0"/>
            </a:endParaRPr>
          </a:p>
        </p:txBody>
      </p:sp>
      <p:sp>
        <p:nvSpPr>
          <p:cNvPr id="174" name="Google Shape;174;p4"/>
          <p:cNvSpPr/>
          <p:nvPr/>
        </p:nvSpPr>
        <p:spPr>
          <a:xfrm>
            <a:off x="5791387" y="2085508"/>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5" name="Google Shape;175;p4"/>
          <p:cNvSpPr/>
          <p:nvPr/>
        </p:nvSpPr>
        <p:spPr>
          <a:xfrm>
            <a:off x="5860309" y="2085508"/>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Fixed</a:t>
            </a:r>
            <a:endParaRPr sz="950" dirty="0">
              <a:latin typeface="Helvetica Neue"/>
              <a:ea typeface="Helvetica Neue"/>
              <a:cs typeface="Helvetica Neue"/>
              <a:sym typeface="Helvetica Neue"/>
            </a:endParaRPr>
          </a:p>
        </p:txBody>
      </p:sp>
      <p:sp>
        <p:nvSpPr>
          <p:cNvPr id="176" name="Google Shape;176;p4"/>
          <p:cNvSpPr/>
          <p:nvPr/>
        </p:nvSpPr>
        <p:spPr>
          <a:xfrm>
            <a:off x="381000" y="2428897"/>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7" name="Google Shape;177;p4"/>
          <p:cNvSpPr/>
          <p:nvPr/>
        </p:nvSpPr>
        <p:spPr>
          <a:xfrm>
            <a:off x="449922" y="2428897"/>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err="1">
                <a:latin typeface="Helvetica Neue"/>
                <a:sym typeface="Helvetica Neue"/>
              </a:rPr>
              <a:t>DiffAdapt</a:t>
            </a:r>
            <a:r>
              <a:rPr lang="en-US" sz="1050" b="1" dirty="0">
                <a:latin typeface="Helvetica Neue"/>
                <a:sym typeface="Helvetica Neue"/>
              </a:rPr>
              <a:t> (difficulty classifier)</a:t>
            </a:r>
          </a:p>
        </p:txBody>
      </p:sp>
      <p:sp>
        <p:nvSpPr>
          <p:cNvPr id="178" name="Google Shape;178;p4"/>
          <p:cNvSpPr/>
          <p:nvPr/>
        </p:nvSpPr>
        <p:spPr>
          <a:xfrm>
            <a:off x="2448664" y="2428897"/>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9" name="Google Shape;179;p4"/>
          <p:cNvSpPr/>
          <p:nvPr/>
        </p:nvSpPr>
        <p:spPr>
          <a:xfrm>
            <a:off x="2517586" y="2428897"/>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Reactive, per-step</a:t>
            </a:r>
            <a:endParaRPr sz="950">
              <a:latin typeface="Helvetica Neue"/>
              <a:ea typeface="Helvetica Neue"/>
              <a:cs typeface="Helvetica Neue"/>
              <a:sym typeface="Helvetica Neue"/>
            </a:endParaRPr>
          </a:p>
        </p:txBody>
      </p:sp>
      <p:sp>
        <p:nvSpPr>
          <p:cNvPr id="180" name="Google Shape;180;p4"/>
          <p:cNvSpPr/>
          <p:nvPr/>
        </p:nvSpPr>
        <p:spPr>
          <a:xfrm>
            <a:off x="4412944" y="2428897"/>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1" name="Google Shape;181;p4"/>
          <p:cNvSpPr/>
          <p:nvPr/>
        </p:nvSpPr>
        <p:spPr>
          <a:xfrm>
            <a:off x="4481866" y="2428897"/>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probe per model</a:t>
            </a:r>
            <a:endParaRPr lang="en-US" sz="1000" dirty="0">
              <a:latin typeface="Arial" charset="0"/>
              <a:ea typeface="Arial" charset="0"/>
              <a:cs typeface="Arial" charset="0"/>
            </a:endParaRPr>
          </a:p>
        </p:txBody>
      </p:sp>
      <p:sp>
        <p:nvSpPr>
          <p:cNvPr id="182" name="Google Shape;182;p4"/>
          <p:cNvSpPr/>
          <p:nvPr/>
        </p:nvSpPr>
        <p:spPr>
          <a:xfrm>
            <a:off x="5791387" y="2428897"/>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3" name="Google Shape;183;p4"/>
          <p:cNvSpPr/>
          <p:nvPr/>
        </p:nvSpPr>
        <p:spPr>
          <a:xfrm>
            <a:off x="5860309" y="2428897"/>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Per-model classifier training required, discrete</a:t>
            </a:r>
          </a:p>
        </p:txBody>
      </p:sp>
      <p:sp>
        <p:nvSpPr>
          <p:cNvPr id="184" name="Google Shape;184;p4"/>
          <p:cNvSpPr/>
          <p:nvPr/>
        </p:nvSpPr>
        <p:spPr>
          <a:xfrm>
            <a:off x="381000" y="2772286"/>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5" name="Google Shape;185;p4"/>
          <p:cNvSpPr/>
          <p:nvPr/>
        </p:nvSpPr>
        <p:spPr>
          <a:xfrm>
            <a:off x="449922" y="2772286"/>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Learned Routers</a:t>
            </a:r>
            <a:endParaRPr sz="1050" b="1" dirty="0">
              <a:latin typeface="Helvetica Neue"/>
              <a:sym typeface="Helvetica Neue"/>
            </a:endParaRPr>
          </a:p>
        </p:txBody>
      </p:sp>
      <p:sp>
        <p:nvSpPr>
          <p:cNvPr id="186" name="Google Shape;186;p4"/>
          <p:cNvSpPr/>
          <p:nvPr/>
        </p:nvSpPr>
        <p:spPr>
          <a:xfrm>
            <a:off x="2448664" y="2772286"/>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7" name="Google Shape;187;p4"/>
          <p:cNvSpPr/>
          <p:nvPr/>
        </p:nvSpPr>
        <p:spPr>
          <a:xfrm>
            <a:off x="2517586" y="2772286"/>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trained</a:t>
            </a:r>
            <a:endParaRPr sz="950">
              <a:latin typeface="Helvetica Neue"/>
              <a:ea typeface="Helvetica Neue"/>
              <a:cs typeface="Helvetica Neue"/>
              <a:sym typeface="Helvetica Neue"/>
            </a:endParaRPr>
          </a:p>
        </p:txBody>
      </p:sp>
      <p:sp>
        <p:nvSpPr>
          <p:cNvPr id="188" name="Google Shape;188;p4"/>
          <p:cNvSpPr/>
          <p:nvPr/>
        </p:nvSpPr>
        <p:spPr>
          <a:xfrm>
            <a:off x="4412944" y="2772286"/>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9" name="Google Shape;189;p4"/>
          <p:cNvSpPr/>
          <p:nvPr/>
        </p:nvSpPr>
        <p:spPr>
          <a:xfrm>
            <a:off x="4481866" y="2772286"/>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Per model/task</a:t>
            </a:r>
            <a:endParaRPr lang="en-US" sz="1000" dirty="0">
              <a:latin typeface="Arial" charset="0"/>
              <a:ea typeface="Arial" charset="0"/>
              <a:cs typeface="Arial" charset="0"/>
            </a:endParaRPr>
          </a:p>
        </p:txBody>
      </p:sp>
      <p:sp>
        <p:nvSpPr>
          <p:cNvPr id="190" name="Google Shape;190;p4"/>
          <p:cNvSpPr/>
          <p:nvPr/>
        </p:nvSpPr>
        <p:spPr>
          <a:xfrm>
            <a:off x="5791387" y="2772286"/>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1" name="Google Shape;191;p4"/>
          <p:cNvSpPr/>
          <p:nvPr/>
        </p:nvSpPr>
        <p:spPr>
          <a:xfrm>
            <a:off x="5860309" y="2772286"/>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Untested generalization</a:t>
            </a:r>
          </a:p>
        </p:txBody>
      </p:sp>
      <p:sp>
        <p:nvSpPr>
          <p:cNvPr id="192" name="Google Shape;192;p4"/>
          <p:cNvSpPr/>
          <p:nvPr/>
        </p:nvSpPr>
        <p:spPr>
          <a:xfrm>
            <a:off x="381000" y="3108055"/>
            <a:ext cx="2075626" cy="351763"/>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3" name="Google Shape;193;p4"/>
          <p:cNvSpPr/>
          <p:nvPr/>
        </p:nvSpPr>
        <p:spPr>
          <a:xfrm>
            <a:off x="449922" y="3207116"/>
            <a:ext cx="1929819" cy="183367"/>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TOPS </a:t>
            </a:r>
          </a:p>
          <a:p>
            <a:pPr marL="0" marR="0" lvl="0" indent="0" algn="l" rtl="0">
              <a:spcBef>
                <a:spcPts val="0"/>
              </a:spcBef>
              <a:spcAft>
                <a:spcPts val="0"/>
              </a:spcAft>
              <a:buClr>
                <a:srgbClr val="FFFFFF"/>
              </a:buClr>
              <a:buSzPts val="1050"/>
              <a:buFont typeface="Arial"/>
              <a:buNone/>
            </a:pPr>
            <a:endParaRPr sz="1050" dirty="0">
              <a:latin typeface="Helvetica Neue"/>
              <a:ea typeface="Helvetica Neue"/>
              <a:cs typeface="Helvetica Neue"/>
              <a:sym typeface="Helvetica Neue"/>
            </a:endParaRPr>
          </a:p>
        </p:txBody>
      </p:sp>
      <p:sp>
        <p:nvSpPr>
          <p:cNvPr id="194" name="Google Shape;194;p4"/>
          <p:cNvSpPr/>
          <p:nvPr/>
        </p:nvSpPr>
        <p:spPr>
          <a:xfrm>
            <a:off x="2448664" y="3115675"/>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5" name="Google Shape;195;p4"/>
          <p:cNvSpPr/>
          <p:nvPr/>
        </p:nvSpPr>
        <p:spPr>
          <a:xfrm>
            <a:off x="2517586" y="3115675"/>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difficulty-driven</a:t>
            </a:r>
            <a:endParaRPr sz="950">
              <a:latin typeface="Helvetica Neue"/>
              <a:ea typeface="Helvetica Neue"/>
              <a:cs typeface="Helvetica Neue"/>
              <a:sym typeface="Helvetica Neue"/>
            </a:endParaRPr>
          </a:p>
        </p:txBody>
      </p:sp>
      <p:sp>
        <p:nvSpPr>
          <p:cNvPr id="196" name="Google Shape;196;p4"/>
          <p:cNvSpPr/>
          <p:nvPr/>
        </p:nvSpPr>
        <p:spPr>
          <a:xfrm>
            <a:off x="4412944" y="3115675"/>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7" name="Google Shape;197;p4"/>
          <p:cNvSpPr/>
          <p:nvPr/>
        </p:nvSpPr>
        <p:spPr>
          <a:xfrm>
            <a:off x="4481866" y="3115675"/>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SFT per model</a:t>
            </a:r>
            <a:endParaRPr lang="en-US" sz="1000" dirty="0">
              <a:latin typeface="Arial" charset="0"/>
              <a:ea typeface="Arial" charset="0"/>
              <a:cs typeface="Arial" charset="0"/>
            </a:endParaRPr>
          </a:p>
        </p:txBody>
      </p:sp>
      <p:sp>
        <p:nvSpPr>
          <p:cNvPr id="198" name="Google Shape;198;p4"/>
          <p:cNvSpPr/>
          <p:nvPr/>
        </p:nvSpPr>
        <p:spPr>
          <a:xfrm>
            <a:off x="5791387" y="3115675"/>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9" name="Google Shape;199;p4"/>
          <p:cNvSpPr/>
          <p:nvPr/>
        </p:nvSpPr>
        <p:spPr>
          <a:xfrm>
            <a:off x="5860309" y="3115675"/>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Coarse granularity (domain, not instance)</a:t>
            </a:r>
          </a:p>
        </p:txBody>
      </p:sp>
    </p:spTree>
    <p:extLst>
      <p:ext uri="{BB962C8B-B14F-4D97-AF65-F5344CB8AC3E}">
        <p14:creationId xmlns:p14="http://schemas.microsoft.com/office/powerpoint/2010/main" val="918315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947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.1 </a:t>
            </a:r>
            <a:r>
              <a:rPr lang="en-US" sz="1400" b="1" dirty="0">
                <a:solidFill>
                  <a:srgbClr val="FF6600"/>
                </a:solidFill>
                <a:latin typeface="Arial" pitchFamily="34" charset="0"/>
                <a:ea typeface="Arial" pitchFamily="34" charset="-122"/>
                <a:cs typeface="Arial" pitchFamily="34" charset="-120"/>
              </a:rPr>
              <a:t>INVESTIGATION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60"/>
            <a:ext cx="8503920" cy="427280"/>
          </a:xfrm>
          <a:prstGeom prst="rect">
            <a:avLst/>
          </a:prstGeom>
          <a:noFill/>
          <a:ln/>
        </p:spPr>
        <p:txBody>
          <a:bodyPr wrap="square" lIns="0" tIns="0" rIns="0" bIns="0" rtlCol="0" anchor="t"/>
          <a:lstStyle/>
          <a:p>
            <a:pPr>
              <a:spcAft>
                <a:spcPts val="800"/>
              </a:spcAft>
              <a:buSzPct val="100000"/>
            </a:pPr>
            <a:r>
              <a:rPr lang="en-US" sz="1200" dirty="0">
                <a:solidFill>
                  <a:srgbClr val="FFFFFF"/>
                </a:solidFill>
                <a:latin typeface="Arial" pitchFamily="34" charset="0"/>
                <a:ea typeface="Arial" pitchFamily="34" charset="-122"/>
                <a:cs typeface="Arial" pitchFamily="34" charset="-120"/>
              </a:rPr>
              <a:t>Building in stages — each hypothesis widens the scope of the previous, from confirming the phenomenon exists, to testing how far it generalizes, to isolating what predicts it within each family.</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H1. </a:t>
            </a:r>
            <a:r>
              <a:rPr lang="en-US" sz="1200" dirty="0">
                <a:solidFill>
                  <a:srgbClr val="FFFFFF"/>
                </a:solidFill>
                <a:latin typeface="Arial" pitchFamily="34" charset="0"/>
                <a:ea typeface="Arial" pitchFamily="34" charset="-122"/>
                <a:cs typeface="Arial" pitchFamily="34" charset="-120"/>
              </a:rPr>
              <a:t>Poor test-time compute allocation harms performance — underthinking on hard problems, overthinking on easy ones. Tested via statistically controlled compute–accuracy curves (≥ 5 samples per compute level), checking for saturation or an inverted-U pattern.</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H2. </a:t>
            </a:r>
            <a:r>
              <a:rPr lang="en-US" sz="1200" dirty="0">
                <a:solidFill>
                  <a:srgbClr val="FFFFFF"/>
                </a:solidFill>
                <a:latin typeface="Arial" pitchFamily="34" charset="0"/>
                <a:ea typeface="Arial" pitchFamily="34" charset="-122"/>
                <a:cs typeface="Arial" pitchFamily="34" charset="-120"/>
              </a:rPr>
              <a:t>This holds across model families rather than being model-specific. Tested for whether curve shape — saturating, inverted-U, or monotonic — is consistent across at least three model families.</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H3. </a:t>
            </a:r>
            <a:r>
              <a:rPr lang="en-US" sz="1200" dirty="0">
                <a:solidFill>
                  <a:srgbClr val="FFFFFF"/>
                </a:solidFill>
                <a:latin typeface="Arial" pitchFamily="34" charset="0"/>
                <a:ea typeface="Arial" pitchFamily="34" charset="-122"/>
                <a:cs typeface="Arial" pitchFamily="34" charset="-120"/>
              </a:rPr>
              <a:t>This varies by task type — open-ended generation (proof writing, code synthesis) vs. selection among a fixed set of options (multiple-choice, verification): does the generation-vs-selection distinction, not just difficulty, shape the optimal budget curve?</a:t>
            </a:r>
            <a:endParaRPr lang="en-US" sz="1200" dirty="0"/>
          </a:p>
          <a:p>
            <a:pPr marL="177800" indent="-177800">
              <a:spcAft>
                <a:spcPts val="500"/>
              </a:spcAft>
              <a:buSzPct val="100000"/>
              <a:buChar char="●"/>
            </a:pPr>
            <a:r>
              <a:rPr lang="en-US" sz="1200" b="1" dirty="0">
                <a:solidFill>
                  <a:srgbClr val="FF6600"/>
                </a:solidFill>
                <a:latin typeface="Arial" pitchFamily="34" charset="0"/>
                <a:ea typeface="Arial" pitchFamily="34" charset="-122"/>
                <a:cs typeface="Arial" pitchFamily="34" charset="-120"/>
              </a:rPr>
              <a:t>H4. </a:t>
            </a:r>
            <a:r>
              <a:rPr lang="en-US" sz="1200" dirty="0">
                <a:solidFill>
                  <a:srgbClr val="FFFFFF"/>
                </a:solidFill>
                <a:latin typeface="Arial" pitchFamily="34" charset="0"/>
                <a:ea typeface="Arial" pitchFamily="34" charset="-122"/>
                <a:cs typeface="Arial" pitchFamily="34" charset="-120"/>
              </a:rPr>
              <a:t>A difficulty-only baseline explains only part of the variance in the compute a query actually needs — measuring the residual variance that remains sets the bar the next hypothesis must clear.</a:t>
            </a:r>
          </a:p>
          <a:p>
            <a:pPr marL="177800" indent="-177800">
              <a:spcAft>
                <a:spcPts val="500"/>
              </a:spcAft>
              <a:buSzPct val="100000"/>
              <a:buChar char="●"/>
            </a:pPr>
            <a:endParaRPr lang="en-US" sz="1200" dirty="0"/>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716609" y="3718560"/>
            <a:ext cx="1252305" cy="382016"/>
          </a:xfrm>
          <a:prstGeom prst="roundRect">
            <a:avLst>
              <a:gd name="adj" fmla="val 10909"/>
            </a:avLst>
          </a:prstGeom>
          <a:solidFill>
            <a:srgbClr val="000000"/>
          </a:solidFill>
          <a:ln w="15875">
            <a:solidFill>
              <a:srgbClr val="FF6600"/>
            </a:solidFill>
            <a:prstDash val="solid"/>
          </a:ln>
        </p:spPr>
      </p:sp>
      <p:sp>
        <p:nvSpPr>
          <p:cNvPr id="33" name="Shape 1"/>
          <p:cNvSpPr/>
          <p:nvPr/>
        </p:nvSpPr>
        <p:spPr>
          <a:xfrm>
            <a:off x="556260" y="4100576"/>
            <a:ext cx="680806" cy="382016"/>
          </a:xfrm>
          <a:prstGeom prst="roundRect">
            <a:avLst>
              <a:gd name="adj" fmla="val 10909"/>
            </a:avLst>
          </a:prstGeom>
          <a:solidFill>
            <a:srgbClr val="000000"/>
          </a:solidFill>
          <a:ln w="15875">
            <a:solidFill>
              <a:srgbClr val="FF6600"/>
            </a:solidFill>
            <a:prstDash val="solid"/>
          </a:ln>
        </p:spPr>
      </p:sp>
      <p:sp>
        <p:nvSpPr>
          <p:cNvPr id="34" name="Text 2"/>
          <p:cNvSpPr txBox="1"/>
          <p:nvPr/>
        </p:nvSpPr>
        <p:spPr>
          <a:xfrm>
            <a:off x="599259" y="4189984"/>
            <a:ext cx="590594" cy="292608"/>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H1</a:t>
            </a:r>
            <a:endParaRPr lang="en-US" sz="1300" dirty="0"/>
          </a:p>
        </p:txBody>
      </p:sp>
      <p:sp>
        <p:nvSpPr>
          <p:cNvPr id="35" name="Shape 3"/>
          <p:cNvSpPr/>
          <p:nvPr/>
        </p:nvSpPr>
        <p:spPr>
          <a:xfrm>
            <a:off x="1237066" y="4291584"/>
            <a:ext cx="200659" cy="0"/>
          </a:xfrm>
          <a:prstGeom prst="line">
            <a:avLst/>
          </a:prstGeom>
          <a:noFill/>
          <a:ln w="19050">
            <a:solidFill>
              <a:srgbClr val="FF6600"/>
            </a:solidFill>
            <a:prstDash val="solid"/>
            <a:tailEnd type="triangle"/>
          </a:ln>
        </p:spPr>
      </p:sp>
      <p:sp>
        <p:nvSpPr>
          <p:cNvPr id="36" name="Shape 4"/>
          <p:cNvSpPr/>
          <p:nvPr/>
        </p:nvSpPr>
        <p:spPr>
          <a:xfrm>
            <a:off x="1437725" y="4100576"/>
            <a:ext cx="680806" cy="382016"/>
          </a:xfrm>
          <a:prstGeom prst="roundRect">
            <a:avLst>
              <a:gd name="adj" fmla="val 10909"/>
            </a:avLst>
          </a:prstGeom>
          <a:solidFill>
            <a:srgbClr val="000000"/>
          </a:solidFill>
          <a:ln w="15875">
            <a:solidFill>
              <a:srgbClr val="FF6600"/>
            </a:solidFill>
            <a:prstDash val="solid"/>
          </a:ln>
        </p:spPr>
      </p:sp>
      <p:sp>
        <p:nvSpPr>
          <p:cNvPr id="37" name="Text 5"/>
          <p:cNvSpPr txBox="1"/>
          <p:nvPr/>
        </p:nvSpPr>
        <p:spPr>
          <a:xfrm>
            <a:off x="1480724" y="4189983"/>
            <a:ext cx="594804" cy="292607"/>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H2</a:t>
            </a:r>
            <a:endParaRPr lang="en-US" sz="1300" dirty="0"/>
          </a:p>
        </p:txBody>
      </p:sp>
      <p:sp>
        <p:nvSpPr>
          <p:cNvPr id="38" name="Shape 6"/>
          <p:cNvSpPr/>
          <p:nvPr/>
        </p:nvSpPr>
        <p:spPr>
          <a:xfrm>
            <a:off x="2118530" y="4291584"/>
            <a:ext cx="200659" cy="0"/>
          </a:xfrm>
          <a:prstGeom prst="line">
            <a:avLst/>
          </a:prstGeom>
          <a:noFill/>
          <a:ln w="19050">
            <a:solidFill>
              <a:srgbClr val="FF6600"/>
            </a:solidFill>
            <a:prstDash val="solid"/>
            <a:tailEnd type="triangle"/>
          </a:ln>
        </p:spPr>
      </p:sp>
      <p:sp>
        <p:nvSpPr>
          <p:cNvPr id="39" name="Shape 7"/>
          <p:cNvSpPr/>
          <p:nvPr/>
        </p:nvSpPr>
        <p:spPr>
          <a:xfrm>
            <a:off x="2319189" y="4100576"/>
            <a:ext cx="680806" cy="382016"/>
          </a:xfrm>
          <a:prstGeom prst="roundRect">
            <a:avLst>
              <a:gd name="adj" fmla="val 10909"/>
            </a:avLst>
          </a:prstGeom>
          <a:solidFill>
            <a:srgbClr val="000000"/>
          </a:solidFill>
          <a:ln w="15875">
            <a:solidFill>
              <a:srgbClr val="FF6600"/>
            </a:solidFill>
            <a:prstDash val="solid"/>
          </a:ln>
        </p:spPr>
      </p:sp>
      <p:sp>
        <p:nvSpPr>
          <p:cNvPr id="40" name="Text 8"/>
          <p:cNvSpPr txBox="1"/>
          <p:nvPr/>
        </p:nvSpPr>
        <p:spPr>
          <a:xfrm>
            <a:off x="2362187" y="4189984"/>
            <a:ext cx="594809" cy="29260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H3</a:t>
            </a:r>
            <a:endParaRPr lang="en-US" sz="1300" dirty="0"/>
          </a:p>
        </p:txBody>
      </p:sp>
      <p:sp>
        <p:nvSpPr>
          <p:cNvPr id="41" name="Shape 9"/>
          <p:cNvSpPr/>
          <p:nvPr/>
        </p:nvSpPr>
        <p:spPr>
          <a:xfrm>
            <a:off x="2999995" y="4291584"/>
            <a:ext cx="200659" cy="0"/>
          </a:xfrm>
          <a:prstGeom prst="line">
            <a:avLst/>
          </a:prstGeom>
          <a:noFill/>
          <a:ln w="19050">
            <a:solidFill>
              <a:srgbClr val="FF6600"/>
            </a:solidFill>
            <a:prstDash val="solid"/>
            <a:tailEnd type="triangle"/>
          </a:ln>
        </p:spPr>
      </p:sp>
      <p:sp>
        <p:nvSpPr>
          <p:cNvPr id="42" name="Shape 10"/>
          <p:cNvSpPr/>
          <p:nvPr/>
        </p:nvSpPr>
        <p:spPr>
          <a:xfrm>
            <a:off x="3200654" y="4100576"/>
            <a:ext cx="680806" cy="382016"/>
          </a:xfrm>
          <a:prstGeom prst="roundRect">
            <a:avLst>
              <a:gd name="adj" fmla="val 10909"/>
            </a:avLst>
          </a:prstGeom>
          <a:solidFill>
            <a:srgbClr val="000000"/>
          </a:solidFill>
          <a:ln w="15875">
            <a:solidFill>
              <a:srgbClr val="FF6600"/>
            </a:solidFill>
            <a:prstDash val="solid"/>
          </a:ln>
        </p:spPr>
      </p:sp>
      <p:sp>
        <p:nvSpPr>
          <p:cNvPr id="43" name="Text 11"/>
          <p:cNvSpPr txBox="1"/>
          <p:nvPr/>
        </p:nvSpPr>
        <p:spPr>
          <a:xfrm>
            <a:off x="3243653" y="4189984"/>
            <a:ext cx="594804" cy="38201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H4</a:t>
            </a:r>
            <a:endParaRPr lang="en-US" sz="1300" dirty="0"/>
          </a:p>
        </p:txBody>
      </p:sp>
      <p:sp>
        <p:nvSpPr>
          <p:cNvPr id="47" name="Text 16"/>
          <p:cNvSpPr txBox="1"/>
          <p:nvPr/>
        </p:nvSpPr>
        <p:spPr>
          <a:xfrm>
            <a:off x="4759609" y="3673297"/>
            <a:ext cx="1209302" cy="427279"/>
          </a:xfrm>
          <a:prstGeom prst="rect">
            <a:avLst/>
          </a:prstGeom>
          <a:noFill/>
          <a:ln/>
        </p:spPr>
        <p:txBody>
          <a:bodyPr wrap="square" lIns="0" tIns="0" rIns="0" bIns="0" rtlCol="0" anchor="t"/>
          <a:lstStyle/>
          <a:p>
            <a:pPr marL="0" indent="0" algn="ctr">
              <a:buNone/>
            </a:pPr>
            <a:endParaRPr lang="en-US" sz="1050" b="1" dirty="0">
              <a:solidFill>
                <a:srgbClr val="FFFFFF"/>
              </a:solidFill>
              <a:latin typeface="Arial" pitchFamily="34" charset="0"/>
              <a:ea typeface="Arial" pitchFamily="34" charset="-122"/>
              <a:cs typeface="Arial" pitchFamily="34" charset="-120"/>
            </a:endParaRPr>
          </a:p>
          <a:p>
            <a:pPr marL="0" indent="0" algn="ctr">
              <a:buNone/>
            </a:pPr>
            <a:r>
              <a:rPr lang="en-US" sz="1300" b="1" dirty="0">
                <a:solidFill>
                  <a:srgbClr val="FFFFFF"/>
                </a:solidFill>
                <a:latin typeface="Arial" pitchFamily="34" charset="0"/>
                <a:ea typeface="Arial" pitchFamily="34" charset="-122"/>
                <a:cs typeface="Arial" pitchFamily="34" charset="-120"/>
              </a:rPr>
              <a:t>(reactive)</a:t>
            </a:r>
            <a:endParaRPr lang="en-US" sz="1300" dirty="0"/>
          </a:p>
        </p:txBody>
      </p:sp>
      <p:sp>
        <p:nvSpPr>
          <p:cNvPr id="48" name="Shape 17"/>
          <p:cNvSpPr/>
          <p:nvPr/>
        </p:nvSpPr>
        <p:spPr>
          <a:xfrm>
            <a:off x="4716610" y="4482592"/>
            <a:ext cx="1252304" cy="382016"/>
          </a:xfrm>
          <a:prstGeom prst="roundRect">
            <a:avLst>
              <a:gd name="adj" fmla="val 10909"/>
            </a:avLst>
          </a:prstGeom>
          <a:solidFill>
            <a:srgbClr val="000000"/>
          </a:solidFill>
          <a:ln w="15875">
            <a:solidFill>
              <a:srgbClr val="FF6600"/>
            </a:solidFill>
            <a:prstDash val="solid"/>
          </a:ln>
        </p:spPr>
      </p:sp>
      <p:sp>
        <p:nvSpPr>
          <p:cNvPr id="49" name="Text 18"/>
          <p:cNvSpPr txBox="1"/>
          <p:nvPr/>
        </p:nvSpPr>
        <p:spPr>
          <a:xfrm>
            <a:off x="4759608" y="4431791"/>
            <a:ext cx="1209306" cy="432818"/>
          </a:xfrm>
          <a:prstGeom prst="rect">
            <a:avLst/>
          </a:prstGeom>
          <a:noFill/>
          <a:ln/>
        </p:spPr>
        <p:txBody>
          <a:bodyPr wrap="square" lIns="0" tIns="0" rIns="0" bIns="0" rtlCol="0" anchor="t"/>
          <a:lstStyle/>
          <a:p>
            <a:pPr marL="0" indent="0" algn="ctr">
              <a:buNone/>
            </a:pPr>
            <a:endParaRPr lang="en-US" sz="1050" dirty="0"/>
          </a:p>
          <a:p>
            <a:pPr algn="ctr"/>
            <a:r>
              <a:rPr lang="en-US" sz="1300" b="1" dirty="0">
                <a:solidFill>
                  <a:srgbClr val="FFFFFF"/>
                </a:solidFill>
                <a:latin typeface="Arial" pitchFamily="34" charset="0"/>
                <a:cs typeface="Arial" pitchFamily="34" charset="-120"/>
              </a:rPr>
              <a:t>(predictive)</a:t>
            </a:r>
          </a:p>
        </p:txBody>
      </p:sp>
      <p:sp>
        <p:nvSpPr>
          <p:cNvPr id="52" name="Shape 21"/>
          <p:cNvSpPr/>
          <p:nvPr/>
        </p:nvSpPr>
        <p:spPr>
          <a:xfrm>
            <a:off x="7014517" y="4049776"/>
            <a:ext cx="1252306" cy="382016"/>
          </a:xfrm>
          <a:prstGeom prst="roundRect">
            <a:avLst>
              <a:gd name="adj" fmla="val 10909"/>
            </a:avLst>
          </a:prstGeom>
          <a:solidFill>
            <a:srgbClr val="000000"/>
          </a:solidFill>
          <a:ln w="19050">
            <a:solidFill>
              <a:srgbClr val="FF6600"/>
            </a:solidFill>
            <a:prstDash val="solid"/>
          </a:ln>
        </p:spPr>
      </p:sp>
      <p:sp>
        <p:nvSpPr>
          <p:cNvPr id="53" name="Text 22"/>
          <p:cNvSpPr txBox="1"/>
          <p:nvPr/>
        </p:nvSpPr>
        <p:spPr>
          <a:xfrm>
            <a:off x="7057515" y="4077559"/>
            <a:ext cx="1209308" cy="354231"/>
          </a:xfrm>
          <a:prstGeom prst="rect">
            <a:avLst/>
          </a:prstGeom>
          <a:noFill/>
          <a:ln/>
        </p:spPr>
        <p:txBody>
          <a:bodyPr wrap="square" lIns="0" tIns="0" rIns="0" bIns="0" rtlCol="0" anchor="t"/>
          <a:lstStyle/>
          <a:p>
            <a:pPr algn="ctr"/>
            <a:r>
              <a:rPr lang="en-US" sz="1050" b="1" dirty="0">
                <a:solidFill>
                  <a:srgbClr val="FFFFFF"/>
                </a:solidFill>
                <a:latin typeface="Arial" pitchFamily="34" charset="0"/>
                <a:cs typeface="Arial" pitchFamily="34" charset="-120"/>
              </a:rPr>
              <a:t>Development</a:t>
            </a:r>
          </a:p>
        </p:txBody>
      </p:sp>
      <p:sp>
        <p:nvSpPr>
          <p:cNvPr id="6" name="Shape 9">
            <a:extLst>
              <a:ext uri="{FF2B5EF4-FFF2-40B4-BE49-F238E27FC236}">
                <a16:creationId xmlns:a16="http://schemas.microsoft.com/office/drawing/2014/main" id="{00356466-D125-8E6E-1106-91697E7CA77E}"/>
              </a:ext>
            </a:extLst>
          </p:cNvPr>
          <p:cNvSpPr/>
          <p:nvPr/>
        </p:nvSpPr>
        <p:spPr>
          <a:xfrm>
            <a:off x="4008120" y="3887724"/>
            <a:ext cx="708489" cy="0"/>
          </a:xfrm>
          <a:prstGeom prst="line">
            <a:avLst/>
          </a:prstGeom>
          <a:noFill/>
          <a:ln w="19050">
            <a:solidFill>
              <a:srgbClr val="FF6600"/>
            </a:solidFill>
            <a:prstDash val="solid"/>
            <a:tailEnd type="triangle"/>
          </a:ln>
        </p:spPr>
        <p:txBody>
          <a:bodyPr/>
          <a:lstStyle/>
          <a:p>
            <a:endParaRPr lang="en-US" dirty="0"/>
          </a:p>
        </p:txBody>
      </p:sp>
      <p:sp>
        <p:nvSpPr>
          <p:cNvPr id="7" name="Shape 9">
            <a:extLst>
              <a:ext uri="{FF2B5EF4-FFF2-40B4-BE49-F238E27FC236}">
                <a16:creationId xmlns:a16="http://schemas.microsoft.com/office/drawing/2014/main" id="{7892B8F5-F2D7-F5D4-D4DF-4C76E1D96701}"/>
              </a:ext>
            </a:extLst>
          </p:cNvPr>
          <p:cNvSpPr/>
          <p:nvPr/>
        </p:nvSpPr>
        <p:spPr>
          <a:xfrm>
            <a:off x="4008120" y="4636008"/>
            <a:ext cx="708489" cy="0"/>
          </a:xfrm>
          <a:prstGeom prst="line">
            <a:avLst/>
          </a:prstGeom>
          <a:noFill/>
          <a:ln w="19050">
            <a:solidFill>
              <a:srgbClr val="FF6600"/>
            </a:solidFill>
            <a:prstDash val="solid"/>
            <a:tailEnd type="triangle"/>
          </a:ln>
        </p:spPr>
      </p:sp>
      <p:sp>
        <p:nvSpPr>
          <p:cNvPr id="9" name="Shape 9">
            <a:extLst>
              <a:ext uri="{FF2B5EF4-FFF2-40B4-BE49-F238E27FC236}">
                <a16:creationId xmlns:a16="http://schemas.microsoft.com/office/drawing/2014/main" id="{41CB776C-7CB0-1B09-69BB-CC99601FC858}"/>
              </a:ext>
            </a:extLst>
          </p:cNvPr>
          <p:cNvSpPr/>
          <p:nvPr/>
        </p:nvSpPr>
        <p:spPr>
          <a:xfrm>
            <a:off x="5968914" y="3896868"/>
            <a:ext cx="1023512" cy="382016"/>
          </a:xfrm>
          <a:prstGeom prst="line">
            <a:avLst/>
          </a:prstGeom>
          <a:noFill/>
          <a:ln w="19050">
            <a:solidFill>
              <a:srgbClr val="FF6600"/>
            </a:solidFill>
            <a:prstDash val="solid"/>
            <a:tailEnd type="triangle"/>
          </a:ln>
        </p:spPr>
      </p:sp>
      <p:sp>
        <p:nvSpPr>
          <p:cNvPr id="10" name="Shape 9">
            <a:extLst>
              <a:ext uri="{FF2B5EF4-FFF2-40B4-BE49-F238E27FC236}">
                <a16:creationId xmlns:a16="http://schemas.microsoft.com/office/drawing/2014/main" id="{C4FDE003-0C00-CCCD-0AE9-0DF782EA3914}"/>
              </a:ext>
            </a:extLst>
          </p:cNvPr>
          <p:cNvSpPr/>
          <p:nvPr/>
        </p:nvSpPr>
        <p:spPr>
          <a:xfrm flipV="1">
            <a:off x="5968912" y="4300726"/>
            <a:ext cx="1040083" cy="382015"/>
          </a:xfrm>
          <a:prstGeom prst="line">
            <a:avLst/>
          </a:prstGeom>
          <a:noFill/>
          <a:ln w="19050">
            <a:solidFill>
              <a:srgbClr val="FF6600"/>
            </a:solidFill>
            <a:prstDash val="solid"/>
            <a:tailEnd type="triangle"/>
          </a:ln>
        </p:spPr>
      </p:sp>
      <p:cxnSp>
        <p:nvCxnSpPr>
          <p:cNvPr id="12" name="Straight Connector 11">
            <a:extLst>
              <a:ext uri="{FF2B5EF4-FFF2-40B4-BE49-F238E27FC236}">
                <a16:creationId xmlns:a16="http://schemas.microsoft.com/office/drawing/2014/main" id="{293162A4-5701-B2D7-D57F-78DD577382F7}"/>
              </a:ext>
            </a:extLst>
          </p:cNvPr>
          <p:cNvCxnSpPr>
            <a:cxnSpLocks/>
            <a:stCxn id="6" idx="0"/>
            <a:endCxn id="7" idx="0"/>
          </p:cNvCxnSpPr>
          <p:nvPr/>
        </p:nvCxnSpPr>
        <p:spPr>
          <a:xfrm>
            <a:off x="4008120" y="3887724"/>
            <a:ext cx="0" cy="748284"/>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55AA8E3-D620-942B-912B-909B4419494A}"/>
              </a:ext>
            </a:extLst>
          </p:cNvPr>
          <p:cNvCxnSpPr>
            <a:cxnSpLocks/>
          </p:cNvCxnSpPr>
          <p:nvPr/>
        </p:nvCxnSpPr>
        <p:spPr>
          <a:xfrm flipH="1" flipV="1">
            <a:off x="3881460" y="4276344"/>
            <a:ext cx="126660" cy="9141"/>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sp>
        <p:nvSpPr>
          <p:cNvPr id="26" name="Shape 24"/>
          <p:cNvSpPr/>
          <p:nvPr/>
        </p:nvSpPr>
        <p:spPr>
          <a:xfrm>
            <a:off x="3933444" y="4968240"/>
            <a:ext cx="5035296" cy="0"/>
          </a:xfrm>
          <a:prstGeom prst="line">
            <a:avLst/>
          </a:prstGeom>
          <a:noFill/>
          <a:ln w="25400">
            <a:solidFill>
              <a:srgbClr val="FFFFFF"/>
            </a:solidFill>
            <a:prstDash val="solid"/>
          </a:ln>
        </p:spPr>
        <p:txBody>
          <a:bodyPr/>
          <a:lstStyle/>
          <a:p>
            <a:endParaRPr lang="en-US" dirty="0"/>
          </a:p>
        </p:txBody>
      </p:sp>
      <p:sp>
        <p:nvSpPr>
          <p:cNvPr id="23" name="TextBox 22">
            <a:extLst>
              <a:ext uri="{FF2B5EF4-FFF2-40B4-BE49-F238E27FC236}">
                <a16:creationId xmlns:a16="http://schemas.microsoft.com/office/drawing/2014/main" id="{0B1375A4-B4AC-6E49-C890-02BCCA86A3F9}"/>
              </a:ext>
            </a:extLst>
          </p:cNvPr>
          <p:cNvSpPr txBox="1"/>
          <p:nvPr/>
        </p:nvSpPr>
        <p:spPr>
          <a:xfrm flipH="1">
            <a:off x="6225192" y="4718327"/>
            <a:ext cx="2873197" cy="246221"/>
          </a:xfrm>
          <a:prstGeom prst="rect">
            <a:avLst/>
          </a:prstGeom>
          <a:noFill/>
        </p:spPr>
        <p:txBody>
          <a:bodyPr wrap="square">
            <a:spAutoFit/>
          </a:bodyPr>
          <a:lstStyle/>
          <a:p>
            <a:r>
              <a:rPr lang="en-US" sz="1000" i="1" dirty="0">
                <a:solidFill>
                  <a:prstClr val="white"/>
                </a:solidFill>
                <a:latin typeface="Consolas" panose="020B0609020204030204" pitchFamily="49" charset="0"/>
              </a:rPr>
              <a:t>To be determined based on the findings</a:t>
            </a:r>
          </a:p>
        </p:txBody>
      </p:sp>
    </p:spTree>
    <p:extLst>
      <p:ext uri="{BB962C8B-B14F-4D97-AF65-F5344CB8AC3E}">
        <p14:creationId xmlns:p14="http://schemas.microsoft.com/office/powerpoint/2010/main" val="36372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960120"/>
            <a:ext cx="8503920" cy="502920"/>
          </a:xfrm>
          <a:prstGeom prst="rect">
            <a:avLst/>
          </a:prstGeom>
          <a:noFill/>
          <a:ln/>
        </p:spPr>
        <p:txBody>
          <a:bodyPr wrap="square" lIns="0" tIns="0" rIns="0" bIns="0" rtlCol="0" anchor="t"/>
          <a:lstStyle/>
          <a:p>
            <a:pPr marL="0" indent="0">
              <a:buNone/>
            </a:pPr>
            <a:r>
              <a:rPr lang="en-US" sz="1200" dirty="0">
                <a:solidFill>
                  <a:srgbClr val="FFFFFF"/>
                </a:solidFill>
                <a:latin typeface="Arial" pitchFamily="34" charset="0"/>
                <a:ea typeface="Arial" pitchFamily="34" charset="-122"/>
                <a:cs typeface="Arial" pitchFamily="34" charset="-120"/>
              </a:rPr>
              <a:t>Four components combine into a single pipeline — each stage covers the previous stage's blind spot. Stages 0–2 target the predictive side (deciding a budget before generation); Stage 3 targets the reactive side (deciding, during generation, whether to stop).</a:t>
            </a:r>
            <a:endParaRPr lang="en-US" sz="1200" dirty="0"/>
          </a:p>
        </p:txBody>
      </p:sp>
      <p:sp>
        <p:nvSpPr>
          <p:cNvPr id="29" name="Text 27"/>
          <p:cNvSpPr txBox="1"/>
          <p:nvPr/>
        </p:nvSpPr>
        <p:spPr>
          <a:xfrm>
            <a:off x="320040" y="1752600"/>
            <a:ext cx="8503920" cy="502920"/>
          </a:xfrm>
          <a:prstGeom prst="rect">
            <a:avLst/>
          </a:prstGeom>
          <a:noFill/>
          <a:ln/>
        </p:spPr>
        <p:txBody>
          <a:bodyPr wrap="square" lIns="0" tIns="0" rIns="0" bIns="0" rtlCol="0" anchor="t"/>
          <a:lstStyle/>
          <a:p>
            <a:pPr marL="0" indent="0" algn="ctr">
              <a:buNone/>
            </a:pPr>
            <a:endParaRPr lang="en-US" sz="1100" dirty="0"/>
          </a:p>
        </p:txBody>
      </p:sp>
      <p:sp>
        <p:nvSpPr>
          <p:cNvPr id="30" name="Text 28"/>
          <p:cNvSpPr txBox="1"/>
          <p:nvPr/>
        </p:nvSpPr>
        <p:spPr>
          <a:xfrm>
            <a:off x="320040" y="3728720"/>
            <a:ext cx="8503920" cy="1005840"/>
          </a:xfrm>
          <a:prstGeom prst="rect">
            <a:avLst/>
          </a:prstGeom>
          <a:noFill/>
          <a:ln/>
        </p:spPr>
        <p:txBody>
          <a:bodyPr wrap="square" lIns="0" tIns="0" rIns="0" bIns="0" rtlCol="0" anchor="t"/>
          <a:lstStyle/>
          <a:p>
            <a:pPr algn="ctr">
              <a:spcBef>
                <a:spcPts val="0"/>
              </a:spcBef>
              <a:spcAft>
                <a:spcPts val="0"/>
              </a:spcAft>
            </a:pPr>
            <a:r>
              <a:rPr lang="en-US" sz="1200" b="1" dirty="0">
                <a:solidFill>
                  <a:schemeClr val="bg1"/>
                </a:solidFill>
                <a:latin typeface="Consolas" panose="020B0609020204030204" pitchFamily="49" charset="0"/>
              </a:rPr>
              <a:t>Worked example.</a:t>
            </a:r>
          </a:p>
          <a:p>
            <a:pPr algn="ctr">
              <a:spcBef>
                <a:spcPts val="0"/>
              </a:spcBef>
              <a:spcAft>
                <a:spcPts val="0"/>
              </a:spcAft>
            </a:pPr>
            <a:r>
              <a:rPr lang="en-US" sz="1200" dirty="0">
                <a:solidFill>
                  <a:srgbClr val="FFFFFF"/>
                </a:solidFill>
                <a:latin typeface="Arial" pitchFamily="34" charset="0"/>
                <a:cs typeface="Arial" pitchFamily="34" charset="-120"/>
              </a:rPr>
              <a:t> difficulty 0.72, 70B model → theoretical estimate C₀ = 1,200 tokens → predictive correction ΔC = +150 → flagged long-tail → reactive gate confirms → final budget = 1,800 tokens, traceable at every step.</a:t>
            </a:r>
          </a:p>
          <a:p>
            <a:pPr marL="177800" indent="-177800" algn="ctr">
              <a:spcAft>
                <a:spcPts val="300"/>
              </a:spcAft>
              <a:buSzPct val="100000"/>
              <a:buChar char="●"/>
            </a:pPr>
            <a:endParaRPr lang="en-US" sz="1100" dirty="0">
              <a:solidFill>
                <a:srgbClr val="FFFFFF"/>
              </a:solidFill>
              <a:latin typeface="Arial" pitchFamily="34" charset="0"/>
              <a:cs typeface="Arial" pitchFamily="34" charset="-120"/>
            </a:endParaRPr>
          </a:p>
        </p:txBody>
      </p:sp>
      <p:sp>
        <p:nvSpPr>
          <p:cNvPr id="31" name="Text 2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34" name="Text 0">
            <a:extLst>
              <a:ext uri="{FF2B5EF4-FFF2-40B4-BE49-F238E27FC236}">
                <a16:creationId xmlns:a16="http://schemas.microsoft.com/office/drawing/2014/main" id="{9F8E4AFC-BAB9-09E6-A8AF-EB937DE9DD0C}"/>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grpSp>
        <p:nvGrpSpPr>
          <p:cNvPr id="39" name="Group 38">
            <a:extLst>
              <a:ext uri="{FF2B5EF4-FFF2-40B4-BE49-F238E27FC236}">
                <a16:creationId xmlns:a16="http://schemas.microsoft.com/office/drawing/2014/main" id="{E9F74B8E-83FF-5557-84DE-E8D4B8864BCD}"/>
              </a:ext>
            </a:extLst>
          </p:cNvPr>
          <p:cNvGrpSpPr/>
          <p:nvPr/>
        </p:nvGrpSpPr>
        <p:grpSpPr>
          <a:xfrm>
            <a:off x="320041" y="1493004"/>
            <a:ext cx="8610600" cy="2123956"/>
            <a:chOff x="111189" y="2376924"/>
            <a:chExt cx="11392850" cy="2396304"/>
          </a:xfrm>
        </p:grpSpPr>
        <p:grpSp>
          <p:nvGrpSpPr>
            <p:cNvPr id="40" name="Group 39">
              <a:extLst>
                <a:ext uri="{FF2B5EF4-FFF2-40B4-BE49-F238E27FC236}">
                  <a16:creationId xmlns:a16="http://schemas.microsoft.com/office/drawing/2014/main" id="{56462C75-D66B-B6F7-5111-AD09222D5C49}"/>
                </a:ext>
              </a:extLst>
            </p:cNvPr>
            <p:cNvGrpSpPr/>
            <p:nvPr/>
          </p:nvGrpSpPr>
          <p:grpSpPr>
            <a:xfrm>
              <a:off x="111189" y="2606050"/>
              <a:ext cx="1602000" cy="960000"/>
              <a:chOff x="1182111" y="2606050"/>
              <a:chExt cx="1602000" cy="960000"/>
            </a:xfrm>
          </p:grpSpPr>
          <p:sp>
            <p:nvSpPr>
              <p:cNvPr id="261" name="Google Shape;261;p7"/>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7"/>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Input</a:t>
                </a:r>
                <a:endParaRPr sz="1150" dirty="0">
                  <a:latin typeface="Helvetica Neue"/>
                  <a:ea typeface="Helvetica Neue"/>
                  <a:cs typeface="Helvetica Neue"/>
                  <a:sym typeface="Helvetica Neue"/>
                </a:endParaRPr>
              </a:p>
            </p:txBody>
          </p:sp>
          <p:sp>
            <p:nvSpPr>
              <p:cNvPr id="263" name="Google Shape;263;p7"/>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Question + model params</a:t>
                </a:r>
                <a:endParaRPr sz="950" dirty="0">
                  <a:latin typeface="Helvetica Neue"/>
                  <a:ea typeface="Helvetica Neue"/>
                  <a:cs typeface="Helvetica Neue"/>
                  <a:sym typeface="Helvetica Neue"/>
                </a:endParaRPr>
              </a:p>
            </p:txBody>
          </p:sp>
        </p:grpSp>
        <p:sp>
          <p:nvSpPr>
            <p:cNvPr id="264" name="Google Shape;264;p7"/>
            <p:cNvSpPr/>
            <p:nvPr/>
          </p:nvSpPr>
          <p:spPr>
            <a:xfrm>
              <a:off x="3870369"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7"/>
            <p:cNvSpPr/>
            <p:nvPr/>
          </p:nvSpPr>
          <p:spPr>
            <a:xfrm>
              <a:off x="4007522" y="2697475"/>
              <a:ext cx="10905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Theoretical</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Estimate</a:t>
              </a:r>
              <a:endParaRPr sz="1150" dirty="0">
                <a:latin typeface="Helvetica Neue"/>
                <a:ea typeface="Helvetica Neue"/>
                <a:cs typeface="Helvetica Neue"/>
                <a:sym typeface="Helvetica Neue"/>
              </a:endParaRPr>
            </a:p>
          </p:txBody>
        </p:sp>
        <p:sp>
          <p:nvSpPr>
            <p:cNvPr id="266" name="Google Shape;266;p7"/>
            <p:cNvSpPr/>
            <p:nvPr/>
          </p:nvSpPr>
          <p:spPr>
            <a:xfrm>
              <a:off x="3994079" y="3154675"/>
              <a:ext cx="1419249"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C₀ = f(difficulty, params) </a:t>
              </a:r>
              <a:endParaRPr sz="950" dirty="0">
                <a:latin typeface="Helvetica Neue"/>
                <a:ea typeface="Helvetica Neue"/>
                <a:cs typeface="Helvetica Neue"/>
                <a:sym typeface="Helvetica Neue"/>
              </a:endParaRPr>
            </a:p>
          </p:txBody>
        </p:sp>
        <p:sp>
          <p:nvSpPr>
            <p:cNvPr id="270" name="Google Shape;270;p7"/>
            <p:cNvSpPr/>
            <p:nvPr/>
          </p:nvSpPr>
          <p:spPr>
            <a:xfrm>
              <a:off x="3550324"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nvGrpSpPr>
            <p:cNvPr id="41" name="Group 40">
              <a:extLst>
                <a:ext uri="{FF2B5EF4-FFF2-40B4-BE49-F238E27FC236}">
                  <a16:creationId xmlns:a16="http://schemas.microsoft.com/office/drawing/2014/main" id="{BB46C2AB-D552-EBEA-7B21-C345E9768298}"/>
                </a:ext>
              </a:extLst>
            </p:cNvPr>
            <p:cNvGrpSpPr/>
            <p:nvPr/>
          </p:nvGrpSpPr>
          <p:grpSpPr>
            <a:xfrm>
              <a:off x="5432614" y="2613346"/>
              <a:ext cx="2115563" cy="960000"/>
              <a:chOff x="6061789" y="2613346"/>
              <a:chExt cx="2115563" cy="960000"/>
            </a:xfrm>
          </p:grpSpPr>
          <p:sp>
            <p:nvSpPr>
              <p:cNvPr id="267" name="Google Shape;267;p7"/>
              <p:cNvSpPr/>
              <p:nvPr/>
            </p:nvSpPr>
            <p:spPr>
              <a:xfrm>
                <a:off x="6374077" y="2613346"/>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7"/>
              <p:cNvSpPr/>
              <p:nvPr/>
            </p:nvSpPr>
            <p:spPr>
              <a:xfrm>
                <a:off x="6486730" y="2697474"/>
                <a:ext cx="1446929"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Predictive</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Correction</a:t>
                </a:r>
                <a:endParaRPr sz="1150" dirty="0">
                  <a:latin typeface="Helvetica Neue"/>
                  <a:ea typeface="Helvetica Neue"/>
                  <a:cs typeface="Helvetica Neue"/>
                  <a:sym typeface="Helvetica Neue"/>
                </a:endParaRPr>
              </a:p>
            </p:txBody>
          </p:sp>
          <p:sp>
            <p:nvSpPr>
              <p:cNvPr id="269" name="Google Shape;269;p7"/>
              <p:cNvSpPr/>
              <p:nvPr/>
            </p:nvSpPr>
            <p:spPr>
              <a:xfrm>
                <a:off x="6486729" y="3154675"/>
                <a:ext cx="1690623"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ΔC = g(C₀, features)</a:t>
                </a:r>
                <a:endParaRPr sz="950" dirty="0">
                  <a:latin typeface="Helvetica Neue"/>
                  <a:ea typeface="Helvetica Neue"/>
                  <a:cs typeface="Helvetica Neue"/>
                  <a:sym typeface="Helvetica Neue"/>
                </a:endParaRPr>
              </a:p>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learned residual</a:t>
                </a:r>
                <a:endParaRPr sz="950" dirty="0">
                  <a:latin typeface="Helvetica Neue"/>
                  <a:ea typeface="Helvetica Neue"/>
                  <a:cs typeface="Helvetica Neue"/>
                  <a:sym typeface="Helvetica Neue"/>
                </a:endParaRPr>
              </a:p>
            </p:txBody>
          </p:sp>
          <p:sp>
            <p:nvSpPr>
              <p:cNvPr id="271" name="Google Shape;271;p7"/>
              <p:cNvSpPr/>
              <p:nvPr/>
            </p:nvSpPr>
            <p:spPr>
              <a:xfrm>
                <a:off x="6061789"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grpSp>
        <p:sp>
          <p:nvSpPr>
            <p:cNvPr id="272" name="Google Shape;272;p7"/>
            <p:cNvSpPr/>
            <p:nvPr/>
          </p:nvSpPr>
          <p:spPr>
            <a:xfrm>
              <a:off x="7643811" y="2468880"/>
              <a:ext cx="1691700" cy="1234500"/>
            </a:xfrm>
            <a:prstGeom prst="diamond">
              <a:avLst/>
            </a:prstGeom>
            <a:solidFill>
              <a:srgbClr val="1F1409"/>
            </a:solidFill>
            <a:ln w="15875"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7"/>
            <p:cNvSpPr/>
            <p:nvPr/>
          </p:nvSpPr>
          <p:spPr>
            <a:xfrm>
              <a:off x="7643811" y="2507907"/>
              <a:ext cx="1691700" cy="1234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Long-tail /</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misjudged</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case?</a:t>
              </a:r>
              <a:endParaRPr sz="1050" dirty="0">
                <a:solidFill>
                  <a:schemeClr val="bg1"/>
                </a:solidFill>
                <a:latin typeface="Helvetica Neue"/>
                <a:ea typeface="Helvetica Neue"/>
                <a:cs typeface="Helvetica Neue"/>
                <a:sym typeface="Helvetica Neue"/>
              </a:endParaRPr>
            </a:p>
          </p:txBody>
        </p:sp>
        <p:sp>
          <p:nvSpPr>
            <p:cNvPr id="274" name="Google Shape;274;p7"/>
            <p:cNvSpPr/>
            <p:nvPr/>
          </p:nvSpPr>
          <p:spPr>
            <a:xfrm>
              <a:off x="7323771"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sp>
          <p:nvSpPr>
            <p:cNvPr id="275" name="Google Shape;275;p7"/>
            <p:cNvSpPr/>
            <p:nvPr/>
          </p:nvSpPr>
          <p:spPr>
            <a:xfrm>
              <a:off x="9987534" y="2377440"/>
              <a:ext cx="1508700" cy="1417200"/>
            </a:xfrm>
            <a:prstGeom prst="roundRect">
              <a:avLst>
                <a:gd name="adj" fmla="val 3871"/>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7"/>
            <p:cNvSpPr/>
            <p:nvPr/>
          </p:nvSpPr>
          <p:spPr>
            <a:xfrm>
              <a:off x="9995339" y="2376924"/>
              <a:ext cx="1508700" cy="141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Final</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Compute</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Budget</a:t>
              </a:r>
              <a:endParaRPr sz="1200">
                <a:solidFill>
                  <a:schemeClr val="dk1"/>
                </a:solidFill>
                <a:latin typeface="Helvetica Neue"/>
                <a:ea typeface="Helvetica Neue"/>
                <a:cs typeface="Helvetica Neue"/>
                <a:sym typeface="Helvetica Neue"/>
              </a:endParaRPr>
            </a:p>
          </p:txBody>
        </p:sp>
        <p:sp>
          <p:nvSpPr>
            <p:cNvPr id="277" name="Google Shape;277;p7"/>
            <p:cNvSpPr/>
            <p:nvPr/>
          </p:nvSpPr>
          <p:spPr>
            <a:xfrm>
              <a:off x="9457637" y="2843046"/>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no</a:t>
              </a:r>
              <a:endParaRPr sz="900">
                <a:solidFill>
                  <a:schemeClr val="dk1"/>
                </a:solidFill>
                <a:latin typeface="Calibri"/>
                <a:ea typeface="Calibri"/>
                <a:cs typeface="Calibri"/>
                <a:sym typeface="Calibri"/>
              </a:endParaRPr>
            </a:p>
          </p:txBody>
        </p:sp>
        <p:cxnSp>
          <p:nvCxnSpPr>
            <p:cNvPr id="278" name="Google Shape;278;p7"/>
            <p:cNvCxnSpPr/>
            <p:nvPr/>
          </p:nvCxnSpPr>
          <p:spPr>
            <a:xfrm>
              <a:off x="8489631" y="3703320"/>
              <a:ext cx="0" cy="292500"/>
            </a:xfrm>
            <a:prstGeom prst="straightConnector1">
              <a:avLst/>
            </a:prstGeom>
            <a:noFill/>
            <a:ln w="12700" cap="flat" cmpd="sng">
              <a:solidFill>
                <a:srgbClr val="9A9A9A"/>
              </a:solidFill>
              <a:prstDash val="solid"/>
              <a:round/>
              <a:headEnd type="none" w="sm" len="sm"/>
              <a:tailEnd type="triangle" w="med" len="med"/>
            </a:ln>
          </p:spPr>
        </p:cxnSp>
        <p:sp>
          <p:nvSpPr>
            <p:cNvPr id="279" name="Google Shape;279;p7"/>
            <p:cNvSpPr/>
            <p:nvPr/>
          </p:nvSpPr>
          <p:spPr>
            <a:xfrm>
              <a:off x="8544495" y="3696320"/>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yes</a:t>
              </a:r>
              <a:endParaRPr sz="900">
                <a:solidFill>
                  <a:schemeClr val="dk1"/>
                </a:solidFill>
                <a:latin typeface="Calibri"/>
                <a:ea typeface="Calibri"/>
                <a:cs typeface="Calibri"/>
                <a:sym typeface="Calibri"/>
              </a:endParaRPr>
            </a:p>
          </p:txBody>
        </p:sp>
        <p:sp>
          <p:nvSpPr>
            <p:cNvPr id="280" name="Google Shape;280;p7"/>
            <p:cNvSpPr/>
            <p:nvPr/>
          </p:nvSpPr>
          <p:spPr>
            <a:xfrm>
              <a:off x="7438071" y="3995928"/>
              <a:ext cx="2103000" cy="777300"/>
            </a:xfrm>
            <a:prstGeom prst="roundRect">
              <a:avLst>
                <a:gd name="adj" fmla="val 7059"/>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7"/>
            <p:cNvSpPr/>
            <p:nvPr/>
          </p:nvSpPr>
          <p:spPr>
            <a:xfrm>
              <a:off x="7575231" y="4087368"/>
              <a:ext cx="18288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RL Residual Correction</a:t>
              </a:r>
              <a:endParaRPr sz="1050" dirty="0">
                <a:latin typeface="Helvetica Neue"/>
                <a:ea typeface="Helvetica Neue"/>
                <a:cs typeface="Helvetica Neue"/>
                <a:sym typeface="Helvetica Neue"/>
              </a:endParaRPr>
            </a:p>
          </p:txBody>
        </p:sp>
        <p:sp>
          <p:nvSpPr>
            <p:cNvPr id="282" name="Google Shape;282;p7"/>
            <p:cNvSpPr/>
            <p:nvPr/>
          </p:nvSpPr>
          <p:spPr>
            <a:xfrm>
              <a:off x="7575231" y="4379976"/>
              <a:ext cx="18288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Overrides C₀ + ΔC for this case only</a:t>
              </a:r>
              <a:endParaRPr sz="950">
                <a:latin typeface="Helvetica Neue"/>
                <a:ea typeface="Helvetica Neue"/>
                <a:cs typeface="Helvetica Neue"/>
                <a:sym typeface="Helvetica Neue"/>
              </a:endParaRPr>
            </a:p>
          </p:txBody>
        </p:sp>
        <p:cxnSp>
          <p:nvCxnSpPr>
            <p:cNvPr id="285" name="Google Shape;285;p7"/>
            <p:cNvCxnSpPr/>
            <p:nvPr/>
          </p:nvCxnSpPr>
          <p:spPr>
            <a:xfrm rot="10800000" flipH="1">
              <a:off x="9354798" y="3083118"/>
              <a:ext cx="569700" cy="7800"/>
            </a:xfrm>
            <a:prstGeom prst="straightConnector1">
              <a:avLst/>
            </a:prstGeom>
            <a:noFill/>
            <a:ln w="9525" cap="flat" cmpd="sng">
              <a:solidFill>
                <a:srgbClr val="9A9A9A"/>
              </a:solidFill>
              <a:prstDash val="solid"/>
              <a:round/>
              <a:headEnd type="none" w="med" len="med"/>
              <a:tailEnd type="triangle" w="med" len="med"/>
            </a:ln>
          </p:spPr>
        </p:cxnSp>
        <p:grpSp>
          <p:nvGrpSpPr>
            <p:cNvPr id="42" name="Group 41">
              <a:extLst>
                <a:ext uri="{FF2B5EF4-FFF2-40B4-BE49-F238E27FC236}">
                  <a16:creationId xmlns:a16="http://schemas.microsoft.com/office/drawing/2014/main" id="{50951743-CE69-E147-E5D3-20F236A2AF78}"/>
                </a:ext>
              </a:extLst>
            </p:cNvPr>
            <p:cNvGrpSpPr/>
            <p:nvPr/>
          </p:nvGrpSpPr>
          <p:grpSpPr>
            <a:xfrm>
              <a:off x="1973547" y="2623271"/>
              <a:ext cx="1602000" cy="960000"/>
              <a:chOff x="1182111" y="2606050"/>
              <a:chExt cx="1602000" cy="960000"/>
            </a:xfrm>
          </p:grpSpPr>
          <p:sp>
            <p:nvSpPr>
              <p:cNvPr id="44" name="Google Shape;261;p7">
                <a:extLst>
                  <a:ext uri="{FF2B5EF4-FFF2-40B4-BE49-F238E27FC236}">
                    <a16:creationId xmlns:a16="http://schemas.microsoft.com/office/drawing/2014/main" id="{7E8CE55F-B731-AAEE-C51B-02F5F9120D12}"/>
                  </a:ext>
                </a:extLst>
              </p:cNvPr>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62;p7">
                <a:extLst>
                  <a:ext uri="{FF2B5EF4-FFF2-40B4-BE49-F238E27FC236}">
                    <a16:creationId xmlns:a16="http://schemas.microsoft.com/office/drawing/2014/main" id="{6E81AA32-E99C-E00B-A53E-A15642F90264}"/>
                  </a:ext>
                </a:extLst>
              </p:cNvPr>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Difficulty probe</a:t>
                </a:r>
                <a:endParaRPr sz="1150" dirty="0">
                  <a:latin typeface="Helvetica Neue"/>
                  <a:ea typeface="Helvetica Neue"/>
                  <a:cs typeface="Helvetica Neue"/>
                  <a:sym typeface="Helvetica Neue"/>
                </a:endParaRPr>
              </a:p>
            </p:txBody>
          </p:sp>
          <p:sp>
            <p:nvSpPr>
              <p:cNvPr id="46" name="Google Shape;263;p7">
                <a:extLst>
                  <a:ext uri="{FF2B5EF4-FFF2-40B4-BE49-F238E27FC236}">
                    <a16:creationId xmlns:a16="http://schemas.microsoft.com/office/drawing/2014/main" id="{D78881B8-DB63-15C6-8663-B880EA33E8C9}"/>
                  </a:ext>
                </a:extLst>
              </p:cNvPr>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endParaRPr sz="950" dirty="0">
                  <a:solidFill>
                    <a:schemeClr val="lt1"/>
                  </a:solidFill>
                  <a:latin typeface="Helvetica Neue"/>
                  <a:ea typeface="Helvetica Neue"/>
                  <a:cs typeface="Helvetica Neue"/>
                  <a:sym typeface="Helvetica Neue"/>
                </a:endParaRPr>
              </a:p>
            </p:txBody>
          </p:sp>
        </p:grpSp>
        <p:sp>
          <p:nvSpPr>
            <p:cNvPr id="43" name="Google Shape;270;p7">
              <a:extLst>
                <a:ext uri="{FF2B5EF4-FFF2-40B4-BE49-F238E27FC236}">
                  <a16:creationId xmlns:a16="http://schemas.microsoft.com/office/drawing/2014/main" id="{47581CC3-8317-3EF6-6AD1-50E96874A801}"/>
                </a:ext>
              </a:extLst>
            </p:cNvPr>
            <p:cNvSpPr/>
            <p:nvPr/>
          </p:nvSpPr>
          <p:spPr>
            <a:xfrm>
              <a:off x="1664197" y="2873369"/>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231392"/>
            <a:ext cx="4160520" cy="288036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1. Cheap Difficulty Signal Extraction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Before any budget estimate, run a short, fixed-cost probe on the query</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(a) A short forced-CoT prefix (64–128 tokens) whose token-probability entropy trajectory is read out, in the style of DiffAdapt's U-shaped signal</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 The base model's final hidden state after reading the question only — no generation yet — fed to a small trained classifier</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Both cost a small, fixed number of extra tokens or a single forward pass, avoiding the chicken-and-egg problem of needing difficulty before any computation has happened</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Produces a cheap difficulty proxy d̂, reused to seed the predictive baseline (Stage 1) and as a candidate feature for the reactive signal (Stage 3)</a:t>
            </a:r>
            <a:endParaRPr lang="en-US" sz="1150" dirty="0"/>
          </a:p>
        </p:txBody>
      </p:sp>
      <p:sp>
        <p:nvSpPr>
          <p:cNvPr id="4" name="Shape 2"/>
          <p:cNvSpPr/>
          <p:nvPr/>
        </p:nvSpPr>
        <p:spPr>
          <a:xfrm>
            <a:off x="320040" y="3794760"/>
            <a:ext cx="19888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374904" y="3831336"/>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A</a:t>
            </a:r>
            <a:endParaRPr lang="en-US" sz="900" dirty="0"/>
          </a:p>
        </p:txBody>
      </p:sp>
      <p:sp>
        <p:nvSpPr>
          <p:cNvPr id="6" name="Text 4"/>
          <p:cNvSpPr txBox="1"/>
          <p:nvPr/>
        </p:nvSpPr>
        <p:spPr>
          <a:xfrm>
            <a:off x="374904" y="4069080"/>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Forced-CoT prefix</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entropy trajectory</a:t>
            </a:r>
            <a:endParaRPr lang="en-US" sz="800" dirty="0"/>
          </a:p>
        </p:txBody>
      </p:sp>
      <p:sp>
        <p:nvSpPr>
          <p:cNvPr id="7" name="Shape 5"/>
          <p:cNvSpPr/>
          <p:nvPr/>
        </p:nvSpPr>
        <p:spPr>
          <a:xfrm>
            <a:off x="2491740" y="3794760"/>
            <a:ext cx="1988820" cy="868680"/>
          </a:xfrm>
          <a:prstGeom prst="roundRect">
            <a:avLst>
              <a:gd name="adj" fmla="val 6316"/>
            </a:avLst>
          </a:prstGeom>
          <a:solidFill>
            <a:srgbClr val="000000"/>
          </a:solidFill>
          <a:ln w="12700">
            <a:solidFill>
              <a:srgbClr val="FF6600"/>
            </a:solidFill>
            <a:prstDash val="solid"/>
          </a:ln>
        </p:spPr>
      </p:sp>
      <p:sp>
        <p:nvSpPr>
          <p:cNvPr id="8" name="Text 6"/>
          <p:cNvSpPr txBox="1"/>
          <p:nvPr/>
        </p:nvSpPr>
        <p:spPr>
          <a:xfrm>
            <a:off x="2546604" y="3831336"/>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B</a:t>
            </a:r>
            <a:endParaRPr lang="en-US" sz="900" dirty="0"/>
          </a:p>
        </p:txBody>
      </p:sp>
      <p:sp>
        <p:nvSpPr>
          <p:cNvPr id="9" name="Text 7"/>
          <p:cNvSpPr txBox="1"/>
          <p:nvPr/>
        </p:nvSpPr>
        <p:spPr>
          <a:xfrm>
            <a:off x="2546604" y="4069080"/>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Hidden state</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trained classifier</a:t>
            </a:r>
            <a:endParaRPr lang="en-US" sz="800" dirty="0"/>
          </a:p>
        </p:txBody>
      </p:sp>
      <p:sp>
        <p:nvSpPr>
          <p:cNvPr id="10" name="Text 8"/>
          <p:cNvSpPr txBox="1"/>
          <p:nvPr/>
        </p:nvSpPr>
        <p:spPr>
          <a:xfrm>
            <a:off x="4754880" y="1274064"/>
            <a:ext cx="4069080" cy="3389376"/>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2. Calibrated Theoretical Baseline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A scaling-law fit, C₀ = A · d̂^β + C_min, where A, β, and C_min are fit per model family from a modest calibration set</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Grounded in compute-optimal scaling curves (accuracy rising, then saturating, with compute) and the marginal-value principle from learned-router work</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Only three free parameters per model family → needs little calibration data, stays interpretable, and gives every downstream stage a sane starting point instead of starting from zero</a:t>
            </a:r>
            <a:endParaRPr lang="en-US" sz="1150" dirty="0"/>
          </a:p>
        </p:txBody>
      </p:sp>
      <p:sp>
        <p:nvSpPr>
          <p:cNvPr id="11" name="Shape 9"/>
          <p:cNvSpPr/>
          <p:nvPr/>
        </p:nvSpPr>
        <p:spPr>
          <a:xfrm>
            <a:off x="4754880" y="3246120"/>
            <a:ext cx="4069080" cy="1417320"/>
          </a:xfrm>
          <a:prstGeom prst="roundRect">
            <a:avLst>
              <a:gd name="adj" fmla="val 3871"/>
            </a:avLst>
          </a:prstGeom>
          <a:solidFill>
            <a:srgbClr val="000000"/>
          </a:solidFill>
          <a:ln w="12700">
            <a:solidFill>
              <a:srgbClr val="FF6600"/>
            </a:solidFill>
            <a:prstDash val="solid"/>
          </a:ln>
        </p:spPr>
      </p:sp>
      <p:sp>
        <p:nvSpPr>
          <p:cNvPr id="12" name="Text 10"/>
          <p:cNvSpPr txBox="1"/>
          <p:nvPr/>
        </p:nvSpPr>
        <p:spPr>
          <a:xfrm>
            <a:off x="4864608" y="3300984"/>
            <a:ext cx="3849624" cy="219456"/>
          </a:xfrm>
          <a:prstGeom prst="rect">
            <a:avLst/>
          </a:prstGeom>
          <a:noFill/>
          <a:ln/>
        </p:spPr>
        <p:txBody>
          <a:bodyPr wrap="square" lIns="0" tIns="0" rIns="0" bIns="0" rtlCol="0" anchor="ctr"/>
          <a:lstStyle/>
          <a:p>
            <a:pPr marL="0" indent="0">
              <a:buNone/>
            </a:pPr>
            <a:r>
              <a:rPr lang="en-US" sz="900" b="1" dirty="0">
                <a:solidFill>
                  <a:srgbClr val="FF6600"/>
                </a:solidFill>
                <a:latin typeface="Arial" pitchFamily="34" charset="0"/>
                <a:ea typeface="Arial" pitchFamily="34" charset="-122"/>
                <a:cs typeface="Arial" pitchFamily="34" charset="-120"/>
              </a:rPr>
              <a:t>C₀ = A·d̂^β + C_min</a:t>
            </a:r>
            <a:endParaRPr lang="en-US" sz="900" dirty="0"/>
          </a:p>
        </p:txBody>
      </p:sp>
      <p:sp>
        <p:nvSpPr>
          <p:cNvPr id="13" name="Shape 11"/>
          <p:cNvSpPr/>
          <p:nvPr/>
        </p:nvSpPr>
        <p:spPr>
          <a:xfrm>
            <a:off x="5120640" y="3584448"/>
            <a:ext cx="0" cy="822960"/>
          </a:xfrm>
          <a:prstGeom prst="line">
            <a:avLst/>
          </a:prstGeom>
          <a:noFill/>
          <a:ln w="12700">
            <a:solidFill>
              <a:srgbClr val="FFFFFF"/>
            </a:solidFill>
            <a:prstDash val="solid"/>
          </a:ln>
        </p:spPr>
      </p:sp>
      <p:sp>
        <p:nvSpPr>
          <p:cNvPr id="14" name="Shape 12"/>
          <p:cNvSpPr/>
          <p:nvPr/>
        </p:nvSpPr>
        <p:spPr>
          <a:xfrm>
            <a:off x="5120640" y="4407408"/>
            <a:ext cx="3474720" cy="0"/>
          </a:xfrm>
          <a:prstGeom prst="line">
            <a:avLst/>
          </a:prstGeom>
          <a:noFill/>
          <a:ln w="12700">
            <a:solidFill>
              <a:srgbClr val="FFFFFF"/>
            </a:solidFill>
            <a:prstDash val="solid"/>
          </a:ln>
        </p:spPr>
      </p:sp>
      <p:sp>
        <p:nvSpPr>
          <p:cNvPr id="15" name="Shape 13"/>
          <p:cNvSpPr/>
          <p:nvPr/>
        </p:nvSpPr>
        <p:spPr>
          <a:xfrm flipV="1">
            <a:off x="5120640" y="4226357"/>
            <a:ext cx="1042416" cy="139903"/>
          </a:xfrm>
          <a:prstGeom prst="line">
            <a:avLst/>
          </a:prstGeom>
          <a:noFill/>
          <a:ln w="25400">
            <a:solidFill>
              <a:srgbClr val="FF6600"/>
            </a:solidFill>
            <a:prstDash val="solid"/>
          </a:ln>
        </p:spPr>
      </p:sp>
      <p:sp>
        <p:nvSpPr>
          <p:cNvPr id="16" name="Shape 14"/>
          <p:cNvSpPr/>
          <p:nvPr/>
        </p:nvSpPr>
        <p:spPr>
          <a:xfrm flipV="1">
            <a:off x="6163056" y="3995928"/>
            <a:ext cx="1042416" cy="230429"/>
          </a:xfrm>
          <a:prstGeom prst="line">
            <a:avLst/>
          </a:prstGeom>
          <a:noFill/>
          <a:ln w="25400">
            <a:solidFill>
              <a:srgbClr val="FF6600"/>
            </a:solidFill>
            <a:prstDash val="solid"/>
          </a:ln>
        </p:spPr>
      </p:sp>
      <p:sp>
        <p:nvSpPr>
          <p:cNvPr id="17" name="Shape 15"/>
          <p:cNvSpPr/>
          <p:nvPr/>
        </p:nvSpPr>
        <p:spPr>
          <a:xfrm flipV="1">
            <a:off x="7205472" y="3790188"/>
            <a:ext cx="694944" cy="205740"/>
          </a:xfrm>
          <a:prstGeom prst="line">
            <a:avLst/>
          </a:prstGeom>
          <a:noFill/>
          <a:ln w="25400">
            <a:solidFill>
              <a:srgbClr val="FF6600"/>
            </a:solidFill>
            <a:prstDash val="solid"/>
          </a:ln>
        </p:spPr>
      </p:sp>
      <p:sp>
        <p:nvSpPr>
          <p:cNvPr id="18" name="Shape 16"/>
          <p:cNvSpPr/>
          <p:nvPr/>
        </p:nvSpPr>
        <p:spPr>
          <a:xfrm flipV="1">
            <a:off x="7900416" y="3625596"/>
            <a:ext cx="694944" cy="164592"/>
          </a:xfrm>
          <a:prstGeom prst="line">
            <a:avLst/>
          </a:prstGeom>
          <a:noFill/>
          <a:ln w="25400">
            <a:solidFill>
              <a:srgbClr val="FF6600"/>
            </a:solidFill>
            <a:prstDash val="solid"/>
          </a:ln>
        </p:spPr>
      </p:sp>
      <p:sp>
        <p:nvSpPr>
          <p:cNvPr id="19" name="Text 17"/>
          <p:cNvSpPr txBox="1"/>
          <p:nvPr/>
        </p:nvSpPr>
        <p:spPr>
          <a:xfrm>
            <a:off x="6400800" y="4434840"/>
            <a:ext cx="914400" cy="164592"/>
          </a:xfrm>
          <a:prstGeom prst="rect">
            <a:avLst/>
          </a:prstGeom>
          <a:noFill/>
          <a:ln/>
        </p:spPr>
        <p:txBody>
          <a:bodyPr wrap="square" lIns="0" tIns="0" rIns="0" bIns="0" rtlCol="0" anchor="ctr"/>
          <a:lstStyle/>
          <a:p>
            <a:pPr marL="0" indent="0" algn="ctr">
              <a:buNone/>
            </a:pPr>
            <a:r>
              <a:rPr lang="en-US" sz="750" dirty="0">
                <a:solidFill>
                  <a:srgbClr val="FFFFFF"/>
                </a:solidFill>
                <a:latin typeface="Arial" pitchFamily="34" charset="0"/>
                <a:ea typeface="Arial" pitchFamily="34" charset="-122"/>
                <a:cs typeface="Arial" pitchFamily="34" charset="-120"/>
              </a:rPr>
              <a:t>difficulty (d̂)</a:t>
            </a:r>
            <a:endParaRPr lang="en-US" sz="750" dirty="0"/>
          </a:p>
        </p:txBody>
      </p:sp>
      <p:sp>
        <p:nvSpPr>
          <p:cNvPr id="20" name="Text 18"/>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23" name="Text 0">
            <a:extLst>
              <a:ext uri="{FF2B5EF4-FFF2-40B4-BE49-F238E27FC236}">
                <a16:creationId xmlns:a16="http://schemas.microsoft.com/office/drawing/2014/main" id="{638B0010-06CA-9A34-5474-92101EE1533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 IN DETAILS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115568"/>
            <a:ext cx="8503920" cy="28803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rgbClr val="FF7900"/>
                </a:solidFill>
                <a:latin typeface="Helvetica Neue"/>
              </a:rPr>
              <a:t>Stage 3. Predictive Correction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ΔC = g(C₀, x), where x = {entropy trajectory from Stage 0, hidden-state probe output, optionally one extra short self-consistency sample}</a:t>
            </a:r>
            <a:endParaRPr lang="en-US" sz="1100" dirty="0"/>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g is a lightweight regression model (not a full retraining of the base LLM) trained on the residual between C₀ and the empirically optimal compute measured during the Methodology A experiments — it only learns the correction on top of Stage 1's starting point</a:t>
            </a:r>
            <a:endParaRPr lang="en-US" sz="1100" dirty="0"/>
          </a:p>
          <a:p>
            <a:pPr marL="457200" lvl="1" indent="-228600">
              <a:spcAft>
                <a:spcPts val="800"/>
              </a:spcAft>
              <a:buSzPct val="100000"/>
              <a:buChar char="•"/>
            </a:pPr>
            <a:r>
              <a:rPr lang="en-US" sz="950" dirty="0">
                <a:solidFill>
                  <a:srgbClr val="FFFFFF"/>
                </a:solidFill>
                <a:latin typeface="Arial" pitchFamily="34" charset="0"/>
                <a:ea typeface="Arial" pitchFamily="34" charset="-122"/>
                <a:cs typeface="Arial" pitchFamily="34" charset="-120"/>
              </a:rPr>
              <a:t>Compared directly against DiffAdapt's probe and Damani's marginal-value predictor in the evaluation, since all three occupy the same predictive slot in the pipeline</a:t>
            </a:r>
            <a:endParaRPr lang="en-US" sz="1100" dirty="0"/>
          </a:p>
          <a:p>
            <a:pPr marL="177800" indent="-177800">
              <a:spcAft>
                <a:spcPts val="400"/>
              </a:spcAft>
              <a:buSzPct val="100000"/>
              <a:buChar char="●"/>
            </a:pPr>
            <a:r>
              <a:rPr lang="en-US" sz="1200" b="1">
                <a:solidFill>
                  <a:srgbClr val="FF7900"/>
                </a:solidFill>
                <a:latin typeface="Helvetica Neue"/>
              </a:rPr>
              <a:t>Stage 4. </a:t>
            </a:r>
            <a:r>
              <a:rPr lang="en-US" sz="1200" b="1" dirty="0">
                <a:solidFill>
                  <a:srgbClr val="FF7900"/>
                </a:solidFill>
                <a:latin typeface="Helvetica Neue"/>
              </a:rPr>
              <a:t>Reactive Exception Layer with a Statistical Guarantee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Stages 0–2 fix a budget before generation starts; Stage 3 watches the generation as it happens for the subset of queries where the pre-set budget is likely wrong</a:t>
            </a:r>
            <a:endParaRPr lang="en-US" sz="1100" dirty="0"/>
          </a:p>
          <a:p>
            <a:pPr marL="457200" lvl="1" indent="-228600">
              <a:spcAft>
                <a:spcPts val="400"/>
              </a:spcAft>
              <a:buSzPct val="100000"/>
              <a:buChar char="•"/>
            </a:pPr>
            <a:r>
              <a:rPr lang="en-US" sz="950" b="1" dirty="0">
                <a:solidFill>
                  <a:srgbClr val="FFFFFF"/>
                </a:solidFill>
                <a:latin typeface="Arial" pitchFamily="34" charset="0"/>
                <a:ea typeface="Arial" pitchFamily="34" charset="-122"/>
                <a:cs typeface="Arial" pitchFamily="34" charset="-120"/>
              </a:rPr>
              <a:t>A better reactive signal is tested, not assumed: </a:t>
            </a:r>
            <a:r>
              <a:rPr lang="en-US" sz="950" dirty="0">
                <a:solidFill>
                  <a:srgbClr val="FFFFFF"/>
                </a:solidFill>
                <a:latin typeface="Arial" pitchFamily="34" charset="0"/>
                <a:ea typeface="Arial" pitchFamily="34" charset="-122"/>
                <a:cs typeface="Arial" pitchFamily="34" charset="-120"/>
              </a:rPr>
              <a:t>evaluates the same hidden-state-derived indicator investigated under H5 as the stopping trigger, on calibration (ECE) and stopping accuracy against confidence/entropy baselines</a:t>
            </a:r>
            <a:endParaRPr lang="en-US" sz="1100" dirty="0"/>
          </a:p>
          <a:p>
            <a:pPr marL="457200" lvl="1" indent="-228600">
              <a:spcAft>
                <a:spcPts val="500"/>
              </a:spcAft>
              <a:buSzPct val="100000"/>
              <a:buChar char="•"/>
            </a:pPr>
            <a:r>
              <a:rPr lang="en-US" sz="950" b="1" dirty="0">
                <a:solidFill>
                  <a:srgbClr val="FFFFFF"/>
                </a:solidFill>
                <a:latin typeface="Arial" pitchFamily="34" charset="0"/>
                <a:ea typeface="Arial" pitchFamily="34" charset="-122"/>
                <a:cs typeface="Arial" pitchFamily="34" charset="-120"/>
              </a:rPr>
              <a:t>The trigger is calibrated, not hand-tuned: </a:t>
            </a:r>
            <a:r>
              <a:rPr lang="en-US" sz="950" dirty="0">
                <a:solidFill>
                  <a:srgbClr val="FFFFFF"/>
                </a:solidFill>
                <a:latin typeface="Arial" pitchFamily="34" charset="0"/>
                <a:ea typeface="Arial" pitchFamily="34" charset="-122"/>
                <a:cs typeface="Arial" pitchFamily="34" charset="-120"/>
              </a:rPr>
              <a:t>Learn-Then-Test conformal risk control derives an upper threshold (stop when confident) and a lower threshold (pre-emptively stop likely-unsolvable queries) with a finite-sample guarantee that stopping error stays below α — overriding C₀ + ΔC only for the flagged long-tail cases</a:t>
            </a:r>
            <a:endParaRPr lang="en-US" sz="1100" dirty="0"/>
          </a:p>
        </p:txBody>
      </p:sp>
      <p:sp>
        <p:nvSpPr>
          <p:cNvPr id="4" name="Shape 2"/>
          <p:cNvSpPr/>
          <p:nvPr/>
        </p:nvSpPr>
        <p:spPr>
          <a:xfrm>
            <a:off x="320040" y="3840480"/>
            <a:ext cx="85039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429768" y="3886200"/>
            <a:ext cx="8284464" cy="182880"/>
          </a:xfrm>
          <a:prstGeom prst="rect">
            <a:avLst/>
          </a:prstGeom>
          <a:noFill/>
          <a:ln/>
        </p:spPr>
        <p:txBody>
          <a:bodyPr wrap="square" lIns="0" tIns="0" rIns="0" bIns="0" rtlCol="0" anchor="ctr"/>
          <a:lstStyle/>
          <a:p>
            <a:pPr marL="0" indent="0">
              <a:buNone/>
            </a:pPr>
            <a:r>
              <a:rPr lang="en-US" sz="850" b="1" dirty="0">
                <a:solidFill>
                  <a:srgbClr val="FF6600"/>
                </a:solidFill>
                <a:latin typeface="Arial" pitchFamily="34" charset="0"/>
                <a:ea typeface="Arial" pitchFamily="34" charset="-122"/>
                <a:cs typeface="Arial" pitchFamily="34" charset="-120"/>
              </a:rPr>
              <a:t>Generation timeline with conformal thresholds</a:t>
            </a:r>
            <a:endParaRPr lang="en-US" sz="850" dirty="0"/>
          </a:p>
        </p:txBody>
      </p:sp>
      <p:sp>
        <p:nvSpPr>
          <p:cNvPr id="6" name="Shape 4"/>
          <p:cNvSpPr/>
          <p:nvPr/>
        </p:nvSpPr>
        <p:spPr>
          <a:xfrm>
            <a:off x="777240" y="4407408"/>
            <a:ext cx="7589520" cy="0"/>
          </a:xfrm>
          <a:prstGeom prst="line">
            <a:avLst/>
          </a:prstGeom>
          <a:noFill/>
          <a:ln w="19050">
            <a:solidFill>
              <a:srgbClr val="FFFFFF"/>
            </a:solidFill>
            <a:prstDash val="solid"/>
          </a:ln>
        </p:spPr>
      </p:sp>
      <p:sp>
        <p:nvSpPr>
          <p:cNvPr id="7" name="Shape 5"/>
          <p:cNvSpPr/>
          <p:nvPr/>
        </p:nvSpPr>
        <p:spPr>
          <a:xfrm>
            <a:off x="5938114" y="4242816"/>
            <a:ext cx="0" cy="164592"/>
          </a:xfrm>
          <a:prstGeom prst="line">
            <a:avLst/>
          </a:prstGeom>
          <a:noFill/>
          <a:ln w="19050">
            <a:solidFill>
              <a:srgbClr val="FF6600"/>
            </a:solidFill>
            <a:prstDash val="dash"/>
          </a:ln>
        </p:spPr>
      </p:sp>
      <p:sp>
        <p:nvSpPr>
          <p:cNvPr id="8" name="Text 6"/>
          <p:cNvSpPr txBox="1"/>
          <p:nvPr/>
        </p:nvSpPr>
        <p:spPr>
          <a:xfrm>
            <a:off x="5435194" y="4023360"/>
            <a:ext cx="109728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lower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(pre-emptive stop)</a:t>
            </a:r>
            <a:endParaRPr lang="en-US" sz="700" dirty="0"/>
          </a:p>
        </p:txBody>
      </p:sp>
      <p:sp>
        <p:nvSpPr>
          <p:cNvPr id="9" name="Shape 7"/>
          <p:cNvSpPr/>
          <p:nvPr/>
        </p:nvSpPr>
        <p:spPr>
          <a:xfrm>
            <a:off x="3433572" y="4242816"/>
            <a:ext cx="0" cy="164592"/>
          </a:xfrm>
          <a:prstGeom prst="line">
            <a:avLst/>
          </a:prstGeom>
          <a:noFill/>
          <a:ln w="19050">
            <a:solidFill>
              <a:srgbClr val="FF6600"/>
            </a:solidFill>
            <a:prstDash val="dash"/>
          </a:ln>
        </p:spPr>
      </p:sp>
      <p:sp>
        <p:nvSpPr>
          <p:cNvPr id="10" name="Text 8"/>
          <p:cNvSpPr txBox="1"/>
          <p:nvPr/>
        </p:nvSpPr>
        <p:spPr>
          <a:xfrm>
            <a:off x="2884932" y="4023360"/>
            <a:ext cx="118872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upper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(stop when confident)</a:t>
            </a:r>
            <a:endParaRPr lang="en-US" sz="700" dirty="0"/>
          </a:p>
        </p:txBody>
      </p:sp>
      <p:sp>
        <p:nvSpPr>
          <p:cNvPr id="11" name="Text 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12" name="Text 0">
            <a:extLst>
              <a:ext uri="{FF2B5EF4-FFF2-40B4-BE49-F238E27FC236}">
                <a16:creationId xmlns:a16="http://schemas.microsoft.com/office/drawing/2014/main" id="{EA728A91-AC16-2DCE-931E-B3087F0C76D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000000"/>
        </a:solidFill>
        <a:effectLst/>
      </p:bgPr>
    </p:bg>
    <p:spTree>
      <p:nvGrpSpPr>
        <p:cNvPr id="1" name="Shape 290"/>
        <p:cNvGrpSpPr/>
        <p:nvPr/>
      </p:nvGrpSpPr>
      <p:grpSpPr>
        <a:xfrm>
          <a:off x="0" y="0"/>
          <a:ext cx="0" cy="0"/>
          <a:chOff x="0" y="0"/>
          <a:chExt cx="0" cy="0"/>
        </a:xfrm>
      </p:grpSpPr>
      <p:sp>
        <p:nvSpPr>
          <p:cNvPr id="291" name="Google Shape;291;p8"/>
          <p:cNvSpPr/>
          <p:nvPr/>
        </p:nvSpPr>
        <p:spPr>
          <a:xfrm>
            <a:off x="342900" y="240030"/>
            <a:ext cx="30861" cy="342900"/>
          </a:xfrm>
          <a:prstGeom prst="rect">
            <a:avLst/>
          </a:prstGeom>
          <a:solidFill>
            <a:srgbClr val="FF7900"/>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Helvetica Neue"/>
              <a:ea typeface="Helvetica Neue"/>
              <a:cs typeface="Helvetica Neue"/>
              <a:sym typeface="Helvetica Neue"/>
            </a:endParaRPr>
          </a:p>
        </p:txBody>
      </p:sp>
      <p:sp>
        <p:nvSpPr>
          <p:cNvPr id="292" name="Google Shape;292;p8"/>
          <p:cNvSpPr/>
          <p:nvPr/>
        </p:nvSpPr>
        <p:spPr>
          <a:xfrm>
            <a:off x="452628" y="198882"/>
            <a:ext cx="1783080" cy="192024"/>
          </a:xfrm>
          <a:prstGeom prst="rect">
            <a:avLst/>
          </a:prstGeom>
          <a:noFill/>
          <a:ln>
            <a:noFill/>
          </a:ln>
        </p:spPr>
        <p:txBody>
          <a:bodyPr spcFirstLastPara="1" wrap="square" lIns="0" tIns="0" rIns="0" bIns="0" anchor="t" anchorCtr="0">
            <a:noAutofit/>
          </a:bodyPr>
          <a:lstStyle/>
          <a:p>
            <a:pPr defTabSz="685800">
              <a:buClr>
                <a:srgbClr val="FF7900"/>
              </a:buClr>
              <a:buSzPts val="1400"/>
            </a:pPr>
            <a:r>
              <a:rPr lang="en-US" sz="1050" b="1" kern="0">
                <a:solidFill>
                  <a:srgbClr val="FF7900"/>
                </a:solidFill>
                <a:latin typeface="Helvetica Neue"/>
                <a:ea typeface="Helvetica Neue"/>
                <a:cs typeface="Helvetica Neue"/>
                <a:sym typeface="Helvetica Neue"/>
              </a:rPr>
              <a:t>Orange</a:t>
            </a:r>
            <a:endParaRPr sz="1050" kern="0">
              <a:solidFill>
                <a:srgbClr val="FFFFFF"/>
              </a:solidFill>
              <a:latin typeface="Helvetica Neue"/>
              <a:ea typeface="Helvetica Neue"/>
              <a:cs typeface="Helvetica Neue"/>
              <a:sym typeface="Helvetica Neue"/>
            </a:endParaRPr>
          </a:p>
        </p:txBody>
      </p:sp>
      <p:sp>
        <p:nvSpPr>
          <p:cNvPr id="293" name="Google Shape;293;p8"/>
          <p:cNvSpPr/>
          <p:nvPr/>
        </p:nvSpPr>
        <p:spPr>
          <a:xfrm>
            <a:off x="452628" y="384048"/>
            <a:ext cx="1783080" cy="192024"/>
          </a:xfrm>
          <a:prstGeom prst="rect">
            <a:avLst/>
          </a:prstGeom>
          <a:noFill/>
          <a:ln>
            <a:noFill/>
          </a:ln>
        </p:spPr>
        <p:txBody>
          <a:bodyPr spcFirstLastPara="1" wrap="square" lIns="0" tIns="0" rIns="0" bIns="0" anchor="t" anchorCtr="0">
            <a:noAutofit/>
          </a:bodyPr>
          <a:lstStyle/>
          <a:p>
            <a:pPr defTabSz="685800">
              <a:buClr>
                <a:srgbClr val="FFFFFF"/>
              </a:buClr>
              <a:buSzPts val="1400"/>
            </a:pPr>
            <a:r>
              <a:rPr lang="en-US" sz="1050" b="1" kern="0">
                <a:solidFill>
                  <a:srgbClr val="FFFFFF"/>
                </a:solidFill>
                <a:latin typeface="Helvetica Neue"/>
                <a:ea typeface="Helvetica Neue"/>
                <a:cs typeface="Helvetica Neue"/>
                <a:sym typeface="Helvetica Neue"/>
              </a:rPr>
              <a:t>Innovation</a:t>
            </a:r>
            <a:endParaRPr sz="1050" kern="0">
              <a:solidFill>
                <a:srgbClr val="FFFFFF"/>
              </a:solidFill>
              <a:latin typeface="Helvetica Neue"/>
              <a:ea typeface="Helvetica Neue"/>
              <a:cs typeface="Helvetica Neue"/>
              <a:sym typeface="Helvetica Neue"/>
            </a:endParaRPr>
          </a:p>
        </p:txBody>
      </p:sp>
      <p:sp>
        <p:nvSpPr>
          <p:cNvPr id="294" name="Google Shape;294;p8"/>
          <p:cNvSpPr/>
          <p:nvPr/>
        </p:nvSpPr>
        <p:spPr>
          <a:xfrm>
            <a:off x="342900" y="672084"/>
            <a:ext cx="7886700" cy="219456"/>
          </a:xfrm>
          <a:prstGeom prst="rect">
            <a:avLst/>
          </a:prstGeom>
          <a:noFill/>
          <a:ln>
            <a:noFill/>
          </a:ln>
        </p:spPr>
        <p:txBody>
          <a:bodyPr spcFirstLastPara="1" wrap="square" lIns="0" tIns="0" rIns="0" bIns="0" anchor="ctr" anchorCtr="0">
            <a:noAutofit/>
          </a:bodyPr>
          <a:lstStyle/>
          <a:p>
            <a:pPr>
              <a:buClr>
                <a:srgbClr val="FF7900"/>
              </a:buClr>
              <a:buSzPts val="1500"/>
              <a:defRPr/>
            </a:pPr>
            <a:r>
              <a:rPr lang="en-US" sz="2000" b="1" dirty="0">
                <a:solidFill>
                  <a:srgbClr val="FF7900"/>
                </a:solidFill>
                <a:latin typeface="Helvetica Neue"/>
                <a:sym typeface="Helvetica Neue"/>
              </a:rPr>
              <a:t>4. TIMELINE</a:t>
            </a:r>
            <a:endParaRPr sz="2000" b="1" dirty="0">
              <a:solidFill>
                <a:srgbClr val="FF7900"/>
              </a:solidFill>
              <a:latin typeface="Helvetica Neue"/>
              <a:sym typeface="Helvetica Neue"/>
            </a:endParaRPr>
          </a:p>
        </p:txBody>
      </p:sp>
      <p:sp>
        <p:nvSpPr>
          <p:cNvPr id="295" name="Google Shape;295;p8"/>
          <p:cNvSpPr/>
          <p:nvPr/>
        </p:nvSpPr>
        <p:spPr>
          <a:xfrm>
            <a:off x="342900" y="905256"/>
            <a:ext cx="8435340" cy="425196"/>
          </a:xfrm>
          <a:prstGeom prst="rect">
            <a:avLst/>
          </a:prstGeom>
          <a:noFill/>
          <a:ln>
            <a:noFill/>
          </a:ln>
        </p:spPr>
        <p:txBody>
          <a:bodyPr spcFirstLastPara="1" wrap="square" lIns="0" tIns="0" rIns="0" bIns="0" anchor="ctr" anchorCtr="0">
            <a:noAutofit/>
          </a:bodyPr>
          <a:lstStyle/>
          <a:p>
            <a:pPr defTabSz="685800">
              <a:buClr>
                <a:srgbClr val="FFFFFF"/>
              </a:buClr>
              <a:buSzPts val="2600"/>
            </a:pPr>
            <a:r>
              <a:rPr lang="en-US" sz="1500" b="1" kern="0" dirty="0">
                <a:solidFill>
                  <a:srgbClr val="FFFFFF"/>
                </a:solidFill>
                <a:latin typeface="Helvetica Neue"/>
                <a:ea typeface="Helvetica Neue"/>
                <a:cs typeface="Helvetica Neue"/>
                <a:sym typeface="Helvetica Neue"/>
              </a:rPr>
              <a:t>10-week research plan</a:t>
            </a:r>
            <a:endParaRPr sz="1500" kern="0" dirty="0">
              <a:solidFill>
                <a:srgbClr val="FFFFFF"/>
              </a:solidFill>
              <a:latin typeface="Helvetica Neue"/>
              <a:ea typeface="Helvetica Neue"/>
              <a:cs typeface="Helvetica Neue"/>
              <a:sym typeface="Helvetica Neue"/>
            </a:endParaRPr>
          </a:p>
        </p:txBody>
      </p:sp>
      <p:sp>
        <p:nvSpPr>
          <p:cNvPr id="296" name="Google Shape;296;p8"/>
          <p:cNvSpPr/>
          <p:nvPr/>
        </p:nvSpPr>
        <p:spPr>
          <a:xfrm>
            <a:off x="342900" y="4855464"/>
            <a:ext cx="4114800" cy="205650"/>
          </a:xfrm>
          <a:prstGeom prst="rect">
            <a:avLst/>
          </a:prstGeom>
          <a:noFill/>
          <a:ln>
            <a:noFill/>
          </a:ln>
        </p:spPr>
        <p:txBody>
          <a:bodyPr spcFirstLastPara="1" wrap="square" lIns="0" tIns="0" rIns="0" bIns="0" anchor="ctr" anchorCtr="0">
            <a:noAutofit/>
          </a:bodyPr>
          <a:lstStyle/>
          <a:p>
            <a:pPr defTabSz="685800">
              <a:buClr>
                <a:srgbClr val="9A9A9A"/>
              </a:buClr>
              <a:buSzPts val="1000"/>
            </a:pPr>
            <a:r>
              <a:rPr lang="en-US" sz="750" kern="0">
                <a:solidFill>
                  <a:srgbClr val="9A9A9A"/>
                </a:solidFill>
                <a:latin typeface="Helvetica Neue"/>
                <a:ea typeface="Helvetica Neue"/>
                <a:cs typeface="Helvetica Neue"/>
                <a:sym typeface="Helvetica Neue"/>
              </a:rPr>
              <a:t>Dynamic Test-Time Compute Allocation</a:t>
            </a:r>
            <a:endParaRPr sz="750" kern="0">
              <a:solidFill>
                <a:srgbClr val="FFFFFF"/>
              </a:solidFill>
              <a:latin typeface="Helvetica Neue"/>
              <a:ea typeface="Helvetica Neue"/>
              <a:cs typeface="Helvetica Neue"/>
              <a:sym typeface="Helvetica Neue"/>
            </a:endParaRPr>
          </a:p>
        </p:txBody>
      </p:sp>
      <p:sp>
        <p:nvSpPr>
          <p:cNvPr id="297" name="Google Shape;297;p8"/>
          <p:cNvSpPr/>
          <p:nvPr/>
        </p:nvSpPr>
        <p:spPr>
          <a:xfrm>
            <a:off x="8320811" y="4855464"/>
            <a:ext cx="480060" cy="205740"/>
          </a:xfrm>
          <a:prstGeom prst="rect">
            <a:avLst/>
          </a:prstGeom>
          <a:noFill/>
          <a:ln>
            <a:noFill/>
          </a:ln>
        </p:spPr>
        <p:txBody>
          <a:bodyPr spcFirstLastPara="1" wrap="square" lIns="0" tIns="0" rIns="0" bIns="0" anchor="ctr" anchorCtr="0">
            <a:noAutofit/>
          </a:bodyPr>
          <a:lstStyle/>
          <a:p>
            <a:pPr algn="r" defTabSz="685800">
              <a:buClr>
                <a:srgbClr val="9A9A9A"/>
              </a:buClr>
              <a:buSzPts val="1000"/>
            </a:pPr>
            <a:r>
              <a:rPr lang="en-US" sz="750" kern="0">
                <a:solidFill>
                  <a:srgbClr val="9A9A9A"/>
                </a:solidFill>
                <a:latin typeface="Helvetica Neue"/>
                <a:ea typeface="Helvetica Neue"/>
                <a:cs typeface="Helvetica Neue"/>
                <a:sym typeface="Helvetica Neue"/>
              </a:rPr>
              <a:t>08</a:t>
            </a:r>
            <a:endParaRPr sz="750" kern="0">
              <a:solidFill>
                <a:srgbClr val="FFFFFF"/>
              </a:solidFill>
              <a:latin typeface="Helvetica Neue"/>
              <a:ea typeface="Helvetica Neue"/>
              <a:cs typeface="Helvetica Neue"/>
              <a:sym typeface="Helvetica Neue"/>
            </a:endParaRPr>
          </a:p>
        </p:txBody>
      </p:sp>
      <p:graphicFrame>
        <p:nvGraphicFramePr>
          <p:cNvPr id="298" name="Google Shape;298;p8"/>
          <p:cNvGraphicFramePr/>
          <p:nvPr>
            <p:extLst>
              <p:ext uri="{D42A27DB-BD31-4B8C-83A1-F6EECF244321}">
                <p14:modId xmlns:p14="http://schemas.microsoft.com/office/powerpoint/2010/main" val="367530726"/>
              </p:ext>
            </p:extLst>
          </p:nvPr>
        </p:nvGraphicFramePr>
        <p:xfrm>
          <a:off x="377190" y="1371600"/>
          <a:ext cx="8401050" cy="2160270"/>
        </p:xfrm>
        <a:graphic>
          <a:graphicData uri="http://schemas.openxmlformats.org/drawingml/2006/chart">
            <c:chart xmlns:c="http://schemas.openxmlformats.org/drawingml/2006/chart" xmlns:r="http://schemas.openxmlformats.org/officeDocument/2006/relationships" r:id="rId3"/>
          </a:graphicData>
        </a:graphic>
      </p:graphicFrame>
      <p:sp>
        <p:nvSpPr>
          <p:cNvPr id="299" name="Google Shape;299;p8"/>
          <p:cNvSpPr/>
          <p:nvPr/>
        </p:nvSpPr>
        <p:spPr>
          <a:xfrm>
            <a:off x="377190" y="3669030"/>
            <a:ext cx="8366760" cy="1303020"/>
          </a:xfrm>
          <a:prstGeom prst="rect">
            <a:avLst/>
          </a:prstGeom>
          <a:noFill/>
          <a:ln>
            <a:noFill/>
          </a:ln>
        </p:spPr>
        <p:txBody>
          <a:bodyPr spcFirstLastPara="1" wrap="square" lIns="68569" tIns="34275" rIns="68569" bIns="34275" anchor="t" anchorCtr="0">
            <a:noAutofit/>
          </a:bodyPr>
          <a:lstStyle/>
          <a:p>
            <a:pPr marL="133350" lvl="1" defTabSz="685800">
              <a:buClr>
                <a:srgbClr val="D6D6D6"/>
              </a:buClr>
              <a:buSzPts val="1050"/>
            </a:pPr>
            <a:r>
              <a:rPr lang="en-US" sz="1000" kern="0" dirty="0">
                <a:solidFill>
                  <a:srgbClr val="D6D6D6"/>
                </a:solidFill>
                <a:latin typeface="Helvetica Neue"/>
                <a:ea typeface="Helvetica Neue"/>
                <a:cs typeface="Helvetica Neue"/>
                <a:sym typeface="Helvetica Neue"/>
              </a:rPr>
              <a:t>W1&amp;2 : single-model, single-task compute–performance curves; confirm under/overthinking exists.</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W3&amp;4 : repeat the H1 protocol across model families and sizes.</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W5&amp;6 : cross-task generalization tests; derive the theoretical allocation equation.</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7&amp;8 : train and evaluate the predictive correction layer on top of the theoretical estimate.</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9&amp;10 : RL residual policy; assemble the full pipeline; write-up and defense prep.</a:t>
            </a:r>
            <a:endParaRPr lang="en-US" sz="1000" kern="0" dirty="0">
              <a:solidFill>
                <a:srgbClr val="FFFFFF"/>
              </a:solidFill>
              <a:latin typeface="Helvetica Neue"/>
              <a:ea typeface="Helvetica Neue"/>
              <a:cs typeface="Helvetica Neue"/>
              <a:sym typeface="Helvetica Neue"/>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1600200"/>
            <a:ext cx="7315200" cy="192024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endParaRPr kumimoji="0" lang="en-US" sz="4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endParaRPr>
          </a:p>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H1 Testing</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868680" y="3794760"/>
            <a:ext cx="59436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39765678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indent="-177800">
              <a:spcBef>
                <a:spcPts val="800"/>
              </a:spcBef>
              <a:spcAft>
                <a:spcPts val="200"/>
              </a:spcAft>
              <a:buSzPct val="100000"/>
              <a:buFontTx/>
              <a:buChar cha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Hypothesis</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Poor test-time compute allocation harms performance — underthinking on hard problems, overthinking on easy ones. This is tested via statistically controlled compute–accuracy curves (≥5 samples per compute level), checking for saturation or an inverted-U pattern.</a:t>
            </a:r>
            <a:endPar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Motivation: Simulating Everyday Use.</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goal is not to test one specific problem type, but to simulate realistic LLM usage, where users encounter a mix of task types (code, math, general questions, MCQ, etc.) at varying difficulty levels. For this reason, a mixture of several benchmarks will be used instead of relying on a single benchmark, so that the resulting distribution reasonably represents general-purpose use rather than being biased toward one task type.</a:t>
            </a: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 </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The Problem: Simpson's Paradox.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If raw accuracy scores are pooled directly across different benchmarks into a single "aggregate" curve, there's a real risk that the resulting shape is misleading as in:</a:t>
            </a:r>
          </a:p>
          <a:p>
            <a:pPr marL="403225" marR="0" lvl="0" algn="l" defTabSz="914400" rtl="0" eaLnBrk="1" fontAlgn="auto" latinLnBrk="0" hangingPunct="1">
              <a:lnSpc>
                <a:spcPct val="100000"/>
              </a:lnSpc>
              <a:spcAft>
                <a:spcPts val="200"/>
              </a:spcAft>
              <a:buClrTx/>
              <a:buSzPct val="100000"/>
              <a:tabLst/>
              <a:defRPr/>
            </a:pPr>
            <a:r>
              <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If a generation-type benchmark (e.g., proof writing or code synthesis) produces an inverted-U curve (i.e., beyond some point, more compute hurts performance)</a:t>
            </a:r>
          </a:p>
          <a:p>
            <a:pPr marL="574675" marR="0" lvl="0" indent="-171450" algn="l" defTabSz="914400" rtl="0" eaLnBrk="1" fontAlgn="auto" latinLnBrk="0" hangingPunct="1">
              <a:lnSpc>
                <a:spcPct val="100000"/>
              </a:lnSpc>
              <a:spcAft>
                <a:spcPts val="200"/>
              </a:spcAft>
              <a:buClrTx/>
              <a:buSzPct val="100000"/>
              <a:buFontTx/>
              <a:buChar char="-"/>
              <a:tabLst/>
              <a:defRPr/>
            </a:pPr>
            <a:r>
              <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while a selection-type benchmark (e.g., MCQ) produces a monotonically increasing curve,</a:t>
            </a:r>
          </a:p>
          <a:p>
            <a:pPr marL="174625">
              <a:spcAft>
                <a:spcPts val="200"/>
              </a:spcAft>
              <a:buSzPct val="100000"/>
            </a:pPr>
            <a:r>
              <a:rPr lang="en-US" sz="1200" dirty="0">
                <a:solidFill>
                  <a:srgbClr val="FFFFFF"/>
                </a:solidFill>
                <a:latin typeface="Arial" pitchFamily="34" charset="0"/>
                <a:cs typeface="Arial" pitchFamily="34" charset="-120"/>
              </a:rPr>
              <a:t>then averaging or pooling the raw scores can produce a flat or ambiguous curve that reflects neither pattern accurately. This risks masking the exact underthinking/overthinking effect that H1 is meant to establish or rule out — even though it may genuinely exist in part of the data.</a:t>
            </a:r>
          </a:p>
          <a:p>
            <a:pPr marL="174625">
              <a:spcAft>
                <a:spcPts val="200"/>
              </a:spcAft>
              <a:buSzPct val="100000"/>
            </a:pPr>
            <a:endParaRPr lang="en-US" sz="12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437335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Hypothesis</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Poor test-time compute allocation harms performance — underthinking on hard problems, overthinking on easy ones. This is tested via statistically controlled compute–accuracy curves (≥5 samples per compute level), checking for saturation or an inverted-U pattern.</a:t>
            </a:r>
            <a:endPar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Motivation: Simulating Everyday Use.</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goal is not to test one specific problem type or difficulty level, but to simulate realistic LLM usage across a mix of task types and difficulty levels. For this reason, a mixture of easy/medium/hard questions drawn from several different benchmarks will be built, rather than relying on a single benchmark or a single tier.</a:t>
            </a: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 </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Model Selection.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target model for this study is Qwen3-8B. Reasons for this choice:</a:t>
            </a:r>
          </a:p>
          <a:p>
            <a:pPr marL="346075" marR="0" lvl="0" indent="-171450" algn="l" defTabSz="914400" rtl="0" eaLnBrk="1" fontAlgn="auto" latinLnBrk="0" hangingPunct="1">
              <a:lnSpc>
                <a:spcPct val="100000"/>
              </a:lnSpc>
              <a:spcBef>
                <a:spcPts val="0"/>
              </a:spcBef>
              <a:spcAft>
                <a:spcPts val="200"/>
              </a:spcAft>
              <a:buClrTx/>
              <a:buSzPct val="100000"/>
              <a:buFontTx/>
              <a:buChar char="-"/>
              <a:tabLst/>
              <a:defRPr/>
            </a:pPr>
            <a:r>
              <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Open-weight access. Full local/self-hosted access is required to run the large number of inference calls this protocol demands (every question × every compute level × ≥5 samples, across multiple benchmarks and tiers).</a:t>
            </a:r>
          </a:p>
          <a:p>
            <a:pPr marL="346075" marR="0" lvl="0" indent="-171450" algn="l" defTabSz="914400" rtl="0" eaLnBrk="1" fontAlgn="auto" latinLnBrk="0" hangingPunct="1">
              <a:lnSpc>
                <a:spcPct val="100000"/>
              </a:lnSpc>
              <a:spcBef>
                <a:spcPts val="0"/>
              </a:spcBef>
              <a:spcAft>
                <a:spcPts val="200"/>
              </a:spcAft>
              <a:buClrTx/>
              <a:buSzPct val="100000"/>
              <a:buFontTx/>
              <a:buChar char="-"/>
              <a:tabLst/>
              <a:defRPr/>
            </a:pPr>
            <a:r>
              <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Well-documented reported benchmark scores. Qwen3-8B has official, published scores across a wide spread of benchmarks — from near-ceiling (e.g., MATH-500, GSM8K) to far from ceiling (e.g., AIME'25, GPQA-Diamond).</a:t>
            </a:r>
          </a:p>
          <a:p>
            <a:pPr marL="346075" marR="0" lvl="0" indent="-171450" algn="l" defTabSz="914400" rtl="0" eaLnBrk="1" fontAlgn="auto" latinLnBrk="0" hangingPunct="1">
              <a:lnSpc>
                <a:spcPct val="100000"/>
              </a:lnSpc>
              <a:spcBef>
                <a:spcPts val="0"/>
              </a:spcBef>
              <a:spcAft>
                <a:spcPts val="200"/>
              </a:spcAft>
              <a:buClrTx/>
              <a:buSzPct val="100000"/>
              <a:buFontTx/>
              <a:buChar char="-"/>
              <a:tabLst/>
              <a:defRPr/>
            </a:pPr>
            <a:r>
              <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Recent release, reducing contamination risk. Being a newer model, it has had less exposure to the very latest benchmark revisions (e.g., AIME'25, </a:t>
            </a:r>
            <a:r>
              <a:rPr kumimoji="0" lang="en-US" sz="1050" b="0" i="0" u="none" strike="noStrike" kern="1200" cap="none" spc="0" normalizeH="0" baseline="0" noProof="0" dirty="0" err="1">
                <a:ln>
                  <a:noFill/>
                </a:ln>
                <a:solidFill>
                  <a:srgbClr val="FFFFFF"/>
                </a:solidFill>
                <a:effectLst/>
                <a:uLnTx/>
                <a:uFillTx/>
                <a:latin typeface="Arial" pitchFamily="34" charset="0"/>
                <a:ea typeface="+mn-ea"/>
                <a:cs typeface="Arial" pitchFamily="34" charset="-120"/>
              </a:rPr>
              <a:t>LiveCodeBench</a:t>
            </a:r>
            <a:r>
              <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v6).</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Benchmark Selection and Difficulty Tiering.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benchmark pool is built as a deliberate two-dimensional mix: a mix of difficulty tiers (easy/medium/hard, defined relative to the target model's capability) crossed with a mix of task types within each tier (math generation, code generation, MCQ selection), so that no single tier is driven by one difficulty level or dominated by one task format.</a:t>
            </a: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4625" marR="0" lvl="0" algn="l" defTabSz="914400" rtl="0" eaLnBrk="1" fontAlgn="auto" latinLnBrk="0" hangingPunct="1">
              <a:lnSpc>
                <a:spcPct val="100000"/>
              </a:lnSpc>
              <a:spcBef>
                <a:spcPts val="0"/>
              </a:spcBef>
              <a:spcAft>
                <a:spcPts val="200"/>
              </a:spcAft>
              <a:buClrTx/>
              <a:buSzPct val="100000"/>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lang="en-US" sz="10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lang="en-US" sz="10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lang="en-US" sz="10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lang="en-US" sz="1000" dirty="0">
              <a:solidFill>
                <a:srgbClr val="FFFFFF"/>
              </a:solidFill>
              <a:latin typeface="Arial" pitchFamily="34" charset="0"/>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042767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1709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Google Shape;113;p3">
            <a:extLst>
              <a:ext uri="{FF2B5EF4-FFF2-40B4-BE49-F238E27FC236}">
                <a16:creationId xmlns:a16="http://schemas.microsoft.com/office/drawing/2014/main" id="{EAB2B1D9-1B89-A717-5B1A-64174D6BEFA1}"/>
              </a:ext>
            </a:extLst>
          </p:cNvPr>
          <p:cNvSpPr/>
          <p:nvPr/>
        </p:nvSpPr>
        <p:spPr>
          <a:xfrm>
            <a:off x="1708435" y="883359"/>
            <a:ext cx="4963512" cy="295637"/>
          </a:xfrm>
          <a:prstGeom prst="rect">
            <a:avLst/>
          </a:prstGeom>
          <a:noFill/>
          <a:ln>
            <a:noFill/>
          </a:ln>
        </p:spPr>
        <p:txBody>
          <a:bodyPr spcFirstLastPara="1" wrap="square" lIns="0" tIns="0" rIns="0" bIns="0" anchor="ctr" anchorCtr="0">
            <a:noAutofit/>
          </a:bodyPr>
          <a:lstStyle/>
          <a:p>
            <a:pPr>
              <a:buClr>
                <a:srgbClr val="000000"/>
              </a:buClr>
              <a:buSzPts val="1100"/>
            </a:pPr>
            <a:endParaRPr sz="1100" b="1" dirty="0">
              <a:solidFill>
                <a:srgbClr val="000000"/>
              </a:solidFill>
              <a:latin typeface="Helvetica Neue"/>
              <a:sym typeface="Helvetica Neue"/>
            </a:endParaRPr>
          </a:p>
        </p:txBody>
      </p:sp>
      <p:sp>
        <p:nvSpPr>
          <p:cNvPr id="29" name="Google Shape;115;p3">
            <a:extLst>
              <a:ext uri="{FF2B5EF4-FFF2-40B4-BE49-F238E27FC236}">
                <a16:creationId xmlns:a16="http://schemas.microsoft.com/office/drawing/2014/main" id="{014088FE-7DAE-665E-173B-7E28164DE61B}"/>
              </a:ext>
            </a:extLst>
          </p:cNvPr>
          <p:cNvSpPr/>
          <p:nvPr/>
        </p:nvSpPr>
        <p:spPr>
          <a:xfrm>
            <a:off x="6810787" y="883359"/>
            <a:ext cx="1943753"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r>
              <a:rPr lang="en-US" sz="1100" b="1">
                <a:solidFill>
                  <a:srgbClr val="000000"/>
                </a:solidFill>
                <a:latin typeface="Helvetica Neue"/>
                <a:ea typeface="Helvetica Neue"/>
                <a:cs typeface="Helvetica Neue"/>
                <a:sym typeface="Helvetica Neue"/>
              </a:rPr>
              <a:t>Evidence</a:t>
            </a:r>
            <a:endParaRPr sz="1100">
              <a:solidFill>
                <a:schemeClr val="dk1"/>
              </a:solidFill>
              <a:latin typeface="Helvetica Neue"/>
              <a:ea typeface="Helvetica Neue"/>
              <a:cs typeface="Helvetica Neue"/>
              <a:sym typeface="Helvetica Neue"/>
            </a:endParaRPr>
          </a:p>
        </p:txBody>
      </p:sp>
      <p:sp>
        <p:nvSpPr>
          <p:cNvPr id="100" name="Text 0">
            <a:extLst>
              <a:ext uri="{FF2B5EF4-FFF2-40B4-BE49-F238E27FC236}">
                <a16:creationId xmlns:a16="http://schemas.microsoft.com/office/drawing/2014/main" id="{1D8DD251-F3B7-6D34-1FFF-EDF82CF56E22}"/>
              </a:ext>
            </a:extLst>
          </p:cNvPr>
          <p:cNvSpPr txBox="1"/>
          <p:nvPr/>
        </p:nvSpPr>
        <p:spPr>
          <a:xfrm>
            <a:off x="228600" y="1194338"/>
            <a:ext cx="8854439" cy="2173702"/>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800"/>
              </a:spcAft>
              <a:buClr>
                <a:srgbClr val="FF7900"/>
              </a:buClr>
              <a:buSzPts val="1500"/>
              <a:buFontTx/>
              <a:buNone/>
              <a:tabLst/>
              <a:defRPr/>
            </a:pPr>
            <a:r>
              <a:rPr lang="en-US" sz="1200" b="1" dirty="0">
                <a:solidFill>
                  <a:schemeClr val="bg1"/>
                </a:solidFill>
                <a:latin typeface="Consolas" panose="020B0609020204030204" pitchFamily="49" charset="0"/>
                <a:sym typeface="Arial"/>
              </a:rPr>
              <a:t>Important Notes:</a:t>
            </a:r>
          </a:p>
          <a:p>
            <a:pPr marL="0" marR="0" lvl="0" indent="0" algn="l" defTabSz="914400" rtl="0" eaLnBrk="1" fontAlgn="auto" latinLnBrk="0" hangingPunct="1">
              <a:lnSpc>
                <a:spcPct val="100000"/>
              </a:lnSpc>
              <a:spcBef>
                <a:spcPts val="0"/>
              </a:spcBef>
              <a:spcAft>
                <a:spcPts val="800"/>
              </a:spcAft>
              <a:buClr>
                <a:srgbClr val="FF7900"/>
              </a:buClr>
              <a:buSzPts val="1500"/>
              <a:buFontTx/>
              <a:buNone/>
              <a:tabLst/>
              <a:defRPr/>
            </a:pPr>
            <a:r>
              <a:rPr lang="en-US" sz="1200" b="1" dirty="0">
                <a:solidFill>
                  <a:schemeClr val="bg1"/>
                </a:solidFill>
                <a:latin typeface="Consolas" panose="020B0609020204030204" pitchFamily="49" charset="0"/>
                <a:sym typeface="Arial"/>
              </a:rPr>
              <a:t>- Empirical tier verification: </a:t>
            </a:r>
            <a:r>
              <a:rPr lang="en-US" sz="1200" dirty="0">
                <a:solidFill>
                  <a:srgbClr val="FFFFFF"/>
                </a:solidFill>
                <a:latin typeface="Arial" pitchFamily="34" charset="0"/>
                <a:cs typeface="Arial" pitchFamily="34" charset="-120"/>
                <a:sym typeface="Arial"/>
              </a:rPr>
              <a:t>Run a small pilot on Qwen3-8B to confirm the expected difficulty ordering.</a:t>
            </a:r>
          </a:p>
          <a:p>
            <a:pPr>
              <a:spcAft>
                <a:spcPts val="800"/>
              </a:spcAft>
              <a:buClr>
                <a:srgbClr val="FF7900"/>
              </a:buClr>
              <a:buSzPts val="1500"/>
              <a:defRPr/>
            </a:pPr>
            <a:r>
              <a:rPr lang="en-US" sz="1200" b="1" dirty="0">
                <a:solidFill>
                  <a:schemeClr val="bg1"/>
                </a:solidFill>
                <a:latin typeface="Consolas" panose="020B0609020204030204" pitchFamily="49" charset="0"/>
                <a:sym typeface="Arial"/>
              </a:rPr>
              <a:t>- Diverse coverage: </a:t>
            </a:r>
            <a:r>
              <a:rPr lang="en-US" sz="1200" dirty="0">
                <a:solidFill>
                  <a:srgbClr val="FFFFFF"/>
                </a:solidFill>
                <a:latin typeface="Arial" pitchFamily="34" charset="0"/>
                <a:cs typeface="Arial" pitchFamily="34" charset="-120"/>
                <a:sym typeface="Arial"/>
              </a:rPr>
              <a:t>Each tier should span different domains and task types to avoid being dominated by one skill or answer format, making the compute–accuracy curves more representative of realistic LLM workloads.</a:t>
            </a:r>
          </a:p>
          <a:p>
            <a:pPr marL="0" marR="0" lvl="0" indent="0" algn="l" defTabSz="914400" rtl="0" eaLnBrk="1" fontAlgn="auto" latinLnBrk="0" hangingPunct="1">
              <a:lnSpc>
                <a:spcPct val="100000"/>
              </a:lnSpc>
              <a:spcBef>
                <a:spcPts val="0"/>
              </a:spcBef>
              <a:spcAft>
                <a:spcPts val="800"/>
              </a:spcAft>
              <a:buClr>
                <a:srgbClr val="FF7900"/>
              </a:buClr>
              <a:buSzPts val="1500"/>
              <a:buFontTx/>
              <a:buNone/>
              <a:tabLst/>
              <a:defRPr/>
            </a:pPr>
            <a:r>
              <a:rPr lang="en-US" sz="1200" b="1" dirty="0">
                <a:solidFill>
                  <a:schemeClr val="bg1"/>
                </a:solidFill>
                <a:latin typeface="Consolas" panose="020B0609020204030204" pitchFamily="49" charset="0"/>
                <a:sym typeface="Arial"/>
              </a:rPr>
              <a:t>- Task-type tagging: </a:t>
            </a:r>
            <a:r>
              <a:rPr lang="en-US" sz="1200" dirty="0">
                <a:solidFill>
                  <a:srgbClr val="FFFFFF"/>
                </a:solidFill>
                <a:latin typeface="Arial" pitchFamily="34" charset="0"/>
                <a:cs typeface="Arial" pitchFamily="34" charset="-120"/>
              </a:rPr>
              <a:t>Task-type tagging: Tag each question as generation or selection, since each format needs its own separate scoring/processing (its own parser/verifier) before results can be combined.</a:t>
            </a:r>
            <a:endParaRPr lang="en-US" sz="1200" dirty="0">
              <a:solidFill>
                <a:srgbClr val="FFFFFF"/>
              </a:solidFill>
              <a:latin typeface="Arial" pitchFamily="34" charset="0"/>
              <a:cs typeface="Arial" pitchFamily="34" charset="-120"/>
              <a:sym typeface="Arial"/>
            </a:endParaRPr>
          </a:p>
          <a:p>
            <a:pPr marL="0" marR="0" lvl="0" indent="0" algn="l" defTabSz="914400" rtl="0" eaLnBrk="1" fontAlgn="auto" latinLnBrk="0" hangingPunct="1">
              <a:lnSpc>
                <a:spcPct val="100000"/>
              </a:lnSpc>
              <a:spcBef>
                <a:spcPts val="0"/>
              </a:spcBef>
              <a:spcAft>
                <a:spcPts val="800"/>
              </a:spcAft>
              <a:buClr>
                <a:srgbClr val="FF7900"/>
              </a:buClr>
              <a:buSzPts val="1500"/>
              <a:buFontTx/>
              <a:buNone/>
              <a:tabLst/>
              <a:defRPr/>
            </a:pPr>
            <a:endParaRPr lang="en-US" sz="1200" dirty="0">
              <a:solidFill>
                <a:srgbClr val="FFFFFF"/>
              </a:solidFill>
              <a:latin typeface="Arial" pitchFamily="34" charset="0"/>
              <a:cs typeface="Arial" pitchFamily="34" charset="-120"/>
              <a:sym typeface="Arial"/>
            </a:endParaRPr>
          </a:p>
        </p:txBody>
      </p:sp>
      <p:grpSp>
        <p:nvGrpSpPr>
          <p:cNvPr id="190" name="Group 189">
            <a:extLst>
              <a:ext uri="{FF2B5EF4-FFF2-40B4-BE49-F238E27FC236}">
                <a16:creationId xmlns:a16="http://schemas.microsoft.com/office/drawing/2014/main" id="{55046C15-BBE0-B0AB-DF3E-EFA7C51A2C57}"/>
              </a:ext>
            </a:extLst>
          </p:cNvPr>
          <p:cNvGrpSpPr/>
          <p:nvPr/>
        </p:nvGrpSpPr>
        <p:grpSpPr>
          <a:xfrm>
            <a:off x="252299" y="2936182"/>
            <a:ext cx="8762160" cy="1558662"/>
            <a:chOff x="252299" y="1130242"/>
            <a:chExt cx="8762160" cy="1558662"/>
          </a:xfrm>
        </p:grpSpPr>
        <p:sp>
          <p:nvSpPr>
            <p:cNvPr id="191" name="Google Shape;113;p3">
              <a:extLst>
                <a:ext uri="{FF2B5EF4-FFF2-40B4-BE49-F238E27FC236}">
                  <a16:creationId xmlns:a16="http://schemas.microsoft.com/office/drawing/2014/main" id="{6C668F1C-B978-F291-AA2D-CB7693F592B1}"/>
                </a:ext>
              </a:extLst>
            </p:cNvPr>
            <p:cNvSpPr/>
            <p:nvPr/>
          </p:nvSpPr>
          <p:spPr>
            <a:xfrm>
              <a:off x="1716055" y="2285439"/>
              <a:ext cx="4963512"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r>
                <a:rPr lang="en-US" sz="1100" b="1">
                  <a:solidFill>
                    <a:srgbClr val="000000"/>
                  </a:solidFill>
                  <a:latin typeface="Helvetica Neue"/>
                  <a:ea typeface="Helvetica Neue"/>
                  <a:cs typeface="Helvetica Neue"/>
                  <a:sym typeface="Helvetica Neue"/>
                </a:rPr>
                <a:t>Description</a:t>
              </a:r>
              <a:endParaRPr sz="1100">
                <a:solidFill>
                  <a:schemeClr val="dk1"/>
                </a:solidFill>
                <a:latin typeface="Helvetica Neue"/>
                <a:ea typeface="Helvetica Neue"/>
                <a:cs typeface="Helvetica Neue"/>
                <a:sym typeface="Helvetica Neue"/>
              </a:endParaRPr>
            </a:p>
          </p:txBody>
        </p:sp>
        <p:sp>
          <p:nvSpPr>
            <p:cNvPr id="192" name="Google Shape;115;p3">
              <a:extLst>
                <a:ext uri="{FF2B5EF4-FFF2-40B4-BE49-F238E27FC236}">
                  <a16:creationId xmlns:a16="http://schemas.microsoft.com/office/drawing/2014/main" id="{360A334C-FF84-6C5D-BE4C-32394CE75538}"/>
                </a:ext>
              </a:extLst>
            </p:cNvPr>
            <p:cNvSpPr/>
            <p:nvPr/>
          </p:nvSpPr>
          <p:spPr>
            <a:xfrm>
              <a:off x="6818407" y="2285439"/>
              <a:ext cx="1943753"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r>
                <a:rPr lang="en-US" sz="1100" b="1">
                  <a:solidFill>
                    <a:srgbClr val="000000"/>
                  </a:solidFill>
                  <a:latin typeface="Helvetica Neue"/>
                  <a:ea typeface="Helvetica Neue"/>
                  <a:cs typeface="Helvetica Neue"/>
                  <a:sym typeface="Helvetica Neue"/>
                </a:rPr>
                <a:t>Evidence</a:t>
              </a:r>
              <a:endParaRPr sz="1100">
                <a:solidFill>
                  <a:schemeClr val="dk1"/>
                </a:solidFill>
                <a:latin typeface="Helvetica Neue"/>
                <a:ea typeface="Helvetica Neue"/>
                <a:cs typeface="Helvetica Neue"/>
                <a:sym typeface="Helvetica Neue"/>
              </a:endParaRPr>
            </a:p>
          </p:txBody>
        </p:sp>
        <p:grpSp>
          <p:nvGrpSpPr>
            <p:cNvPr id="193" name="Group 192">
              <a:extLst>
                <a:ext uri="{FF2B5EF4-FFF2-40B4-BE49-F238E27FC236}">
                  <a16:creationId xmlns:a16="http://schemas.microsoft.com/office/drawing/2014/main" id="{66BB32FF-81BC-9CC6-5D9B-7D41A4285267}"/>
                </a:ext>
              </a:extLst>
            </p:cNvPr>
            <p:cNvGrpSpPr/>
            <p:nvPr/>
          </p:nvGrpSpPr>
          <p:grpSpPr>
            <a:xfrm>
              <a:off x="252299" y="1130242"/>
              <a:ext cx="2775245" cy="1558662"/>
              <a:chOff x="389460" y="943172"/>
              <a:chExt cx="3809974" cy="1738112"/>
            </a:xfrm>
          </p:grpSpPr>
          <p:sp>
            <p:nvSpPr>
              <p:cNvPr id="234" name="Google Shape;112;p3">
                <a:extLst>
                  <a:ext uri="{FF2B5EF4-FFF2-40B4-BE49-F238E27FC236}">
                    <a16:creationId xmlns:a16="http://schemas.microsoft.com/office/drawing/2014/main" id="{EC326E3D-0856-7541-49AF-D54055E45C90}"/>
                  </a:ext>
                </a:extLst>
              </p:cNvPr>
              <p:cNvSpPr/>
              <p:nvPr/>
            </p:nvSpPr>
            <p:spPr>
              <a:xfrm>
                <a:off x="1335633" y="943172"/>
                <a:ext cx="2863801"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35" name="Google Shape;110;p3">
                <a:extLst>
                  <a:ext uri="{FF2B5EF4-FFF2-40B4-BE49-F238E27FC236}">
                    <a16:creationId xmlns:a16="http://schemas.microsoft.com/office/drawing/2014/main" id="{1294492F-3D70-A0F5-D23E-54C2263EB02B}"/>
                  </a:ext>
                </a:extLst>
              </p:cNvPr>
              <p:cNvSpPr/>
              <p:nvPr/>
            </p:nvSpPr>
            <p:spPr>
              <a:xfrm>
                <a:off x="389460" y="943172"/>
                <a:ext cx="946173"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36" name="Google Shape;111;p3">
                <a:extLst>
                  <a:ext uri="{FF2B5EF4-FFF2-40B4-BE49-F238E27FC236}">
                    <a16:creationId xmlns:a16="http://schemas.microsoft.com/office/drawing/2014/main" id="{B4D9A545-EEB8-DC64-134E-EFE29D649054}"/>
                  </a:ext>
                </a:extLst>
              </p:cNvPr>
              <p:cNvSpPr/>
              <p:nvPr/>
            </p:nvSpPr>
            <p:spPr>
              <a:xfrm>
                <a:off x="439259" y="943172"/>
                <a:ext cx="3758552" cy="295637"/>
              </a:xfrm>
              <a:prstGeom prst="rect">
                <a:avLst/>
              </a:prstGeom>
              <a:noFill/>
              <a:ln>
                <a:noFill/>
              </a:ln>
            </p:spPr>
            <p:txBody>
              <a:bodyPr spcFirstLastPara="1" wrap="square" lIns="0" tIns="0" rIns="0" bIns="0" anchor="ctr" anchorCtr="0">
                <a:noAutofit/>
              </a:bodyPr>
              <a:lstStyle/>
              <a:p>
                <a:pPr algn="ctr">
                  <a:buClr>
                    <a:srgbClr val="000000"/>
                  </a:buClr>
                  <a:buSzPts val="1100"/>
                </a:pPr>
                <a:r>
                  <a:rPr lang="en-US" sz="1200" b="1" dirty="0">
                    <a:solidFill>
                      <a:srgbClr val="141414"/>
                    </a:solidFill>
                    <a:latin typeface="Helvetica Neue"/>
                  </a:rPr>
                  <a:t>Easy Tier</a:t>
                </a:r>
                <a:endParaRPr sz="1200" b="1" dirty="0">
                  <a:solidFill>
                    <a:srgbClr val="000000"/>
                  </a:solidFill>
                  <a:latin typeface="Helvetica Neue"/>
                  <a:sym typeface="Helvetica Neue"/>
                </a:endParaRPr>
              </a:p>
            </p:txBody>
          </p:sp>
          <p:sp>
            <p:nvSpPr>
              <p:cNvPr id="237" name="Google Shape;116;p3">
                <a:extLst>
                  <a:ext uri="{FF2B5EF4-FFF2-40B4-BE49-F238E27FC236}">
                    <a16:creationId xmlns:a16="http://schemas.microsoft.com/office/drawing/2014/main" id="{8BC891AF-8328-6E5F-B39C-BCD03A873157}"/>
                  </a:ext>
                </a:extLst>
              </p:cNvPr>
              <p:cNvSpPr/>
              <p:nvPr/>
            </p:nvSpPr>
            <p:spPr>
              <a:xfrm>
                <a:off x="389460" y="123880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38" name="Google Shape;117;p3">
                <a:extLst>
                  <a:ext uri="{FF2B5EF4-FFF2-40B4-BE49-F238E27FC236}">
                    <a16:creationId xmlns:a16="http://schemas.microsoft.com/office/drawing/2014/main" id="{63DB81FA-AACE-E83F-71A5-4A3B6AEAD961}"/>
                  </a:ext>
                </a:extLst>
              </p:cNvPr>
              <p:cNvSpPr/>
              <p:nvPr/>
            </p:nvSpPr>
            <p:spPr>
              <a:xfrm>
                <a:off x="439259" y="123880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GSM8K</a:t>
                </a:r>
                <a:endParaRPr sz="1000" b="1" dirty="0">
                  <a:solidFill>
                    <a:srgbClr val="141414"/>
                  </a:solidFill>
                  <a:latin typeface="Helvetica Neue"/>
                  <a:sym typeface="Helvetica Neue"/>
                </a:endParaRPr>
              </a:p>
            </p:txBody>
          </p:sp>
          <p:sp>
            <p:nvSpPr>
              <p:cNvPr id="239" name="Google Shape;118;p3">
                <a:extLst>
                  <a:ext uri="{FF2B5EF4-FFF2-40B4-BE49-F238E27FC236}">
                    <a16:creationId xmlns:a16="http://schemas.microsoft.com/office/drawing/2014/main" id="{CB16AF09-D93D-6CEB-D92D-7309422A169E}"/>
                  </a:ext>
                </a:extLst>
              </p:cNvPr>
              <p:cNvSpPr/>
              <p:nvPr/>
            </p:nvSpPr>
            <p:spPr>
              <a:xfrm>
                <a:off x="1335633" y="1238809"/>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0" name="Google Shape;119;p3">
                <a:extLst>
                  <a:ext uri="{FF2B5EF4-FFF2-40B4-BE49-F238E27FC236}">
                    <a16:creationId xmlns:a16="http://schemas.microsoft.com/office/drawing/2014/main" id="{B774AAFC-063C-8360-D788-A86556E2F305}"/>
                  </a:ext>
                </a:extLst>
              </p:cNvPr>
              <p:cNvSpPr/>
              <p:nvPr/>
            </p:nvSpPr>
            <p:spPr>
              <a:xfrm>
                <a:off x="1385431" y="1238809"/>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Math</a:t>
                </a:r>
                <a:endParaRPr sz="1080" dirty="0">
                  <a:solidFill>
                    <a:srgbClr val="141414"/>
                  </a:solidFill>
                  <a:latin typeface="Helvetica Neue"/>
                  <a:ea typeface="Helvetica Neue"/>
                  <a:cs typeface="Helvetica Neue"/>
                  <a:sym typeface="Helvetica Neue"/>
                </a:endParaRPr>
              </a:p>
            </p:txBody>
          </p:sp>
          <p:sp>
            <p:nvSpPr>
              <p:cNvPr id="241" name="Google Shape;122;p3">
                <a:extLst>
                  <a:ext uri="{FF2B5EF4-FFF2-40B4-BE49-F238E27FC236}">
                    <a16:creationId xmlns:a16="http://schemas.microsoft.com/office/drawing/2014/main" id="{AD40EF9E-E5D2-C2E0-A350-DE7EFEA37704}"/>
                  </a:ext>
                </a:extLst>
              </p:cNvPr>
              <p:cNvSpPr/>
              <p:nvPr/>
            </p:nvSpPr>
            <p:spPr>
              <a:xfrm>
                <a:off x="389460" y="1721165"/>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2" name="Google Shape;123;p3">
                <a:extLst>
                  <a:ext uri="{FF2B5EF4-FFF2-40B4-BE49-F238E27FC236}">
                    <a16:creationId xmlns:a16="http://schemas.microsoft.com/office/drawing/2014/main" id="{3F7E4BD7-6955-C379-566F-1148DCCC3107}"/>
                  </a:ext>
                </a:extLst>
              </p:cNvPr>
              <p:cNvSpPr/>
              <p:nvPr/>
            </p:nvSpPr>
            <p:spPr>
              <a:xfrm>
                <a:off x="439259" y="1721165"/>
                <a:ext cx="995970"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MMLU-Redux</a:t>
                </a:r>
                <a:endParaRPr sz="1000" b="1" dirty="0">
                  <a:solidFill>
                    <a:srgbClr val="141414"/>
                  </a:solidFill>
                  <a:latin typeface="Helvetica Neue"/>
                  <a:sym typeface="Helvetica Neue"/>
                </a:endParaRPr>
              </a:p>
            </p:txBody>
          </p:sp>
          <p:sp>
            <p:nvSpPr>
              <p:cNvPr id="243" name="Google Shape;124;p3">
                <a:extLst>
                  <a:ext uri="{FF2B5EF4-FFF2-40B4-BE49-F238E27FC236}">
                    <a16:creationId xmlns:a16="http://schemas.microsoft.com/office/drawing/2014/main" id="{009FD71E-5381-EC12-26E1-32149D393A96}"/>
                  </a:ext>
                </a:extLst>
              </p:cNvPr>
              <p:cNvSpPr/>
              <p:nvPr/>
            </p:nvSpPr>
            <p:spPr>
              <a:xfrm>
                <a:off x="1335633" y="1721165"/>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4" name="Google Shape;125;p3">
                <a:extLst>
                  <a:ext uri="{FF2B5EF4-FFF2-40B4-BE49-F238E27FC236}">
                    <a16:creationId xmlns:a16="http://schemas.microsoft.com/office/drawing/2014/main" id="{C376E9B0-14F2-3354-1D87-9073755FA64E}"/>
                  </a:ext>
                </a:extLst>
              </p:cNvPr>
              <p:cNvSpPr/>
              <p:nvPr/>
            </p:nvSpPr>
            <p:spPr>
              <a:xfrm>
                <a:off x="1385431" y="1721165"/>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General knowledge</a:t>
                </a:r>
                <a:endParaRPr sz="1080" dirty="0">
                  <a:solidFill>
                    <a:srgbClr val="141414"/>
                  </a:solidFill>
                  <a:latin typeface="Helvetica Neue"/>
                  <a:ea typeface="Helvetica Neue"/>
                  <a:cs typeface="Helvetica Neue"/>
                  <a:sym typeface="Helvetica Neue"/>
                </a:endParaRPr>
              </a:p>
            </p:txBody>
          </p:sp>
          <p:sp>
            <p:nvSpPr>
              <p:cNvPr id="245" name="Google Shape;111;p3">
                <a:extLst>
                  <a:ext uri="{FF2B5EF4-FFF2-40B4-BE49-F238E27FC236}">
                    <a16:creationId xmlns:a16="http://schemas.microsoft.com/office/drawing/2014/main" id="{D195A51D-EA8D-0A9B-4FF4-1AD5A739818E}"/>
                  </a:ext>
                </a:extLst>
              </p:cNvPr>
              <p:cNvSpPr/>
              <p:nvPr/>
            </p:nvSpPr>
            <p:spPr>
              <a:xfrm>
                <a:off x="444725" y="2345252"/>
                <a:ext cx="846576"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endParaRPr sz="1100" dirty="0">
                  <a:solidFill>
                    <a:schemeClr val="dk1"/>
                  </a:solidFill>
                  <a:latin typeface="Helvetica Neue"/>
                  <a:ea typeface="Helvetica Neue"/>
                  <a:cs typeface="Helvetica Neue"/>
                  <a:sym typeface="Helvetica Neue"/>
                </a:endParaRPr>
              </a:p>
            </p:txBody>
          </p:sp>
          <p:sp>
            <p:nvSpPr>
              <p:cNvPr id="246" name="Google Shape;116;p3">
                <a:extLst>
                  <a:ext uri="{FF2B5EF4-FFF2-40B4-BE49-F238E27FC236}">
                    <a16:creationId xmlns:a16="http://schemas.microsoft.com/office/drawing/2014/main" id="{DB05CF15-5AE4-9103-50A2-6DE79CAE95D1}"/>
                  </a:ext>
                </a:extLst>
              </p:cNvPr>
              <p:cNvSpPr/>
              <p:nvPr/>
            </p:nvSpPr>
            <p:spPr>
              <a:xfrm>
                <a:off x="394926" y="219892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7" name="Google Shape;117;p3">
                <a:extLst>
                  <a:ext uri="{FF2B5EF4-FFF2-40B4-BE49-F238E27FC236}">
                    <a16:creationId xmlns:a16="http://schemas.microsoft.com/office/drawing/2014/main" id="{75888047-0163-479C-43E4-303D46D5D040}"/>
                  </a:ext>
                </a:extLst>
              </p:cNvPr>
              <p:cNvSpPr/>
              <p:nvPr/>
            </p:nvSpPr>
            <p:spPr>
              <a:xfrm>
                <a:off x="444725" y="219892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err="1">
                    <a:solidFill>
                      <a:srgbClr val="141414"/>
                    </a:solidFill>
                    <a:latin typeface="Helvetica Neue"/>
                  </a:rPr>
                  <a:t>IFEval</a:t>
                </a:r>
                <a:endParaRPr sz="1000" b="1" dirty="0">
                  <a:solidFill>
                    <a:srgbClr val="141414"/>
                  </a:solidFill>
                  <a:latin typeface="Helvetica Neue"/>
                  <a:sym typeface="Helvetica Neue"/>
                </a:endParaRPr>
              </a:p>
            </p:txBody>
          </p:sp>
          <p:sp>
            <p:nvSpPr>
              <p:cNvPr id="248" name="Google Shape;118;p3">
                <a:extLst>
                  <a:ext uri="{FF2B5EF4-FFF2-40B4-BE49-F238E27FC236}">
                    <a16:creationId xmlns:a16="http://schemas.microsoft.com/office/drawing/2014/main" id="{C569436E-A5D3-5E46-48AF-A1A58D3388AA}"/>
                  </a:ext>
                </a:extLst>
              </p:cNvPr>
              <p:cNvSpPr/>
              <p:nvPr/>
            </p:nvSpPr>
            <p:spPr>
              <a:xfrm>
                <a:off x="1341099" y="2198929"/>
                <a:ext cx="2043861"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49" name="Google Shape;119;p3">
                <a:extLst>
                  <a:ext uri="{FF2B5EF4-FFF2-40B4-BE49-F238E27FC236}">
                    <a16:creationId xmlns:a16="http://schemas.microsoft.com/office/drawing/2014/main" id="{BC636D16-F409-784C-524A-A59A697336E4}"/>
                  </a:ext>
                </a:extLst>
              </p:cNvPr>
              <p:cNvSpPr/>
              <p:nvPr/>
            </p:nvSpPr>
            <p:spPr>
              <a:xfrm>
                <a:off x="1390898" y="2198929"/>
                <a:ext cx="1994062"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Instruction-following</a:t>
                </a:r>
                <a:endParaRPr sz="1080" dirty="0">
                  <a:solidFill>
                    <a:srgbClr val="141414"/>
                  </a:solidFill>
                  <a:latin typeface="Helvetica Neue"/>
                  <a:ea typeface="Helvetica Neue"/>
                  <a:cs typeface="Helvetica Neue"/>
                  <a:sym typeface="Helvetica Neue"/>
                </a:endParaRPr>
              </a:p>
            </p:txBody>
          </p:sp>
          <p:sp>
            <p:nvSpPr>
              <p:cNvPr id="250" name="Google Shape;117;p3">
                <a:extLst>
                  <a:ext uri="{FF2B5EF4-FFF2-40B4-BE49-F238E27FC236}">
                    <a16:creationId xmlns:a16="http://schemas.microsoft.com/office/drawing/2014/main" id="{BCA2CCBD-CAB0-07E3-66AD-FFCBB26F8EC8}"/>
                  </a:ext>
                </a:extLst>
              </p:cNvPr>
              <p:cNvSpPr/>
              <p:nvPr/>
            </p:nvSpPr>
            <p:spPr>
              <a:xfrm>
                <a:off x="3351235" y="1244219"/>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97.4%</a:t>
                </a:r>
                <a:endParaRPr sz="1180" b="1" dirty="0">
                  <a:solidFill>
                    <a:srgbClr val="141414"/>
                  </a:solidFill>
                  <a:latin typeface="Helvetica Neue"/>
                  <a:sym typeface="Helvetica Neue"/>
                </a:endParaRPr>
              </a:p>
            </p:txBody>
          </p:sp>
          <p:sp>
            <p:nvSpPr>
              <p:cNvPr id="251" name="Google Shape;123;p3">
                <a:extLst>
                  <a:ext uri="{FF2B5EF4-FFF2-40B4-BE49-F238E27FC236}">
                    <a16:creationId xmlns:a16="http://schemas.microsoft.com/office/drawing/2014/main" id="{D67FBBB2-B860-9DC3-45AC-CDFCF9E8CCC3}"/>
                  </a:ext>
                </a:extLst>
              </p:cNvPr>
              <p:cNvSpPr/>
              <p:nvPr/>
            </p:nvSpPr>
            <p:spPr>
              <a:xfrm>
                <a:off x="3352858" y="1727648"/>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87.5%</a:t>
                </a:r>
                <a:endParaRPr sz="1180" b="1" dirty="0">
                  <a:solidFill>
                    <a:srgbClr val="141414"/>
                  </a:solidFill>
                  <a:latin typeface="Helvetica Neue"/>
                  <a:sym typeface="Helvetica Neue"/>
                </a:endParaRPr>
              </a:p>
            </p:txBody>
          </p:sp>
          <p:sp>
            <p:nvSpPr>
              <p:cNvPr id="252" name="Google Shape;117;p3">
                <a:extLst>
                  <a:ext uri="{FF2B5EF4-FFF2-40B4-BE49-F238E27FC236}">
                    <a16:creationId xmlns:a16="http://schemas.microsoft.com/office/drawing/2014/main" id="{F6195466-3C6A-4670-0B08-9CAA9B79CF2F}"/>
                  </a:ext>
                </a:extLst>
              </p:cNvPr>
              <p:cNvSpPr/>
              <p:nvPr/>
            </p:nvSpPr>
            <p:spPr>
              <a:xfrm>
                <a:off x="3351383" y="2196447"/>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85.0%</a:t>
                </a:r>
                <a:endParaRPr sz="1180" b="1" dirty="0">
                  <a:solidFill>
                    <a:srgbClr val="141414"/>
                  </a:solidFill>
                  <a:latin typeface="Helvetica Neue"/>
                  <a:sym typeface="Helvetica Neue"/>
                </a:endParaRPr>
              </a:p>
            </p:txBody>
          </p:sp>
        </p:grpSp>
        <p:grpSp>
          <p:nvGrpSpPr>
            <p:cNvPr id="194" name="Group 193">
              <a:extLst>
                <a:ext uri="{FF2B5EF4-FFF2-40B4-BE49-F238E27FC236}">
                  <a16:creationId xmlns:a16="http://schemas.microsoft.com/office/drawing/2014/main" id="{4B3379A6-075E-6FF9-E55B-B512CEB7F67E}"/>
                </a:ext>
              </a:extLst>
            </p:cNvPr>
            <p:cNvGrpSpPr/>
            <p:nvPr/>
          </p:nvGrpSpPr>
          <p:grpSpPr>
            <a:xfrm>
              <a:off x="3158618" y="1130242"/>
              <a:ext cx="3008821" cy="1558662"/>
              <a:chOff x="389460" y="943172"/>
              <a:chExt cx="3809974" cy="1738112"/>
            </a:xfrm>
          </p:grpSpPr>
          <p:sp>
            <p:nvSpPr>
              <p:cNvPr id="215" name="Google Shape;112;p3">
                <a:extLst>
                  <a:ext uri="{FF2B5EF4-FFF2-40B4-BE49-F238E27FC236}">
                    <a16:creationId xmlns:a16="http://schemas.microsoft.com/office/drawing/2014/main" id="{6ADF1E56-07B8-BF99-E933-BBBE5EB67D0F}"/>
                  </a:ext>
                </a:extLst>
              </p:cNvPr>
              <p:cNvSpPr/>
              <p:nvPr/>
            </p:nvSpPr>
            <p:spPr>
              <a:xfrm>
                <a:off x="1335633" y="943172"/>
                <a:ext cx="2863801"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elvetica Neue"/>
                  <a:ea typeface="Helvetica Neue"/>
                  <a:cs typeface="Helvetica Neue"/>
                  <a:sym typeface="Helvetica Neue"/>
                </a:endParaRPr>
              </a:p>
            </p:txBody>
          </p:sp>
          <p:sp>
            <p:nvSpPr>
              <p:cNvPr id="216" name="Google Shape;110;p3">
                <a:extLst>
                  <a:ext uri="{FF2B5EF4-FFF2-40B4-BE49-F238E27FC236}">
                    <a16:creationId xmlns:a16="http://schemas.microsoft.com/office/drawing/2014/main" id="{A2BDEDD6-4003-9089-1243-7285551F661F}"/>
                  </a:ext>
                </a:extLst>
              </p:cNvPr>
              <p:cNvSpPr/>
              <p:nvPr/>
            </p:nvSpPr>
            <p:spPr>
              <a:xfrm>
                <a:off x="389460" y="943172"/>
                <a:ext cx="946173"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17" name="Google Shape;111;p3">
                <a:extLst>
                  <a:ext uri="{FF2B5EF4-FFF2-40B4-BE49-F238E27FC236}">
                    <a16:creationId xmlns:a16="http://schemas.microsoft.com/office/drawing/2014/main" id="{379044E3-90AC-EC03-67F2-26D08193B936}"/>
                  </a:ext>
                </a:extLst>
              </p:cNvPr>
              <p:cNvSpPr/>
              <p:nvPr/>
            </p:nvSpPr>
            <p:spPr>
              <a:xfrm>
                <a:off x="439259" y="943172"/>
                <a:ext cx="3758552" cy="295637"/>
              </a:xfrm>
              <a:prstGeom prst="rect">
                <a:avLst/>
              </a:prstGeom>
              <a:noFill/>
              <a:ln>
                <a:noFill/>
              </a:ln>
            </p:spPr>
            <p:txBody>
              <a:bodyPr spcFirstLastPara="1" wrap="square" lIns="0" tIns="0" rIns="0" bIns="0" anchor="ctr" anchorCtr="0">
                <a:noAutofit/>
              </a:bodyPr>
              <a:lstStyle/>
              <a:p>
                <a:pPr algn="ctr">
                  <a:buClr>
                    <a:srgbClr val="000000"/>
                  </a:buClr>
                  <a:buSzPts val="1100"/>
                </a:pPr>
                <a:r>
                  <a:rPr lang="en-US" sz="1200" b="1" dirty="0" err="1">
                    <a:solidFill>
                      <a:srgbClr val="141414"/>
                    </a:solidFill>
                    <a:latin typeface="Helvetica Neue"/>
                  </a:rPr>
                  <a:t>Meduim</a:t>
                </a:r>
                <a:r>
                  <a:rPr lang="en-US" sz="1200" b="1" dirty="0">
                    <a:solidFill>
                      <a:srgbClr val="141414"/>
                    </a:solidFill>
                    <a:latin typeface="Helvetica Neue"/>
                  </a:rPr>
                  <a:t> Tier</a:t>
                </a:r>
                <a:endParaRPr sz="1200" b="1" dirty="0">
                  <a:solidFill>
                    <a:srgbClr val="000000"/>
                  </a:solidFill>
                  <a:latin typeface="Helvetica Neue"/>
                  <a:sym typeface="Helvetica Neue"/>
                </a:endParaRPr>
              </a:p>
            </p:txBody>
          </p:sp>
          <p:sp>
            <p:nvSpPr>
              <p:cNvPr id="218" name="Google Shape;116;p3">
                <a:extLst>
                  <a:ext uri="{FF2B5EF4-FFF2-40B4-BE49-F238E27FC236}">
                    <a16:creationId xmlns:a16="http://schemas.microsoft.com/office/drawing/2014/main" id="{99760842-E456-DBC3-654D-64060C3C9AEC}"/>
                  </a:ext>
                </a:extLst>
              </p:cNvPr>
              <p:cNvSpPr/>
              <p:nvPr/>
            </p:nvSpPr>
            <p:spPr>
              <a:xfrm>
                <a:off x="389460" y="123880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19" name="Google Shape;117;p3">
                <a:extLst>
                  <a:ext uri="{FF2B5EF4-FFF2-40B4-BE49-F238E27FC236}">
                    <a16:creationId xmlns:a16="http://schemas.microsoft.com/office/drawing/2014/main" id="{15D58A69-DF3E-5A10-8437-61E001AC609D}"/>
                  </a:ext>
                </a:extLst>
              </p:cNvPr>
              <p:cNvSpPr/>
              <p:nvPr/>
            </p:nvSpPr>
            <p:spPr>
              <a:xfrm>
                <a:off x="439259" y="1238809"/>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000" b="1" dirty="0">
                    <a:solidFill>
                      <a:srgbClr val="141414"/>
                    </a:solidFill>
                    <a:latin typeface="Helvetica Neue"/>
                  </a:rPr>
                  <a:t>MATH (full),</a:t>
                </a:r>
                <a:endParaRPr sz="1000" b="1" dirty="0">
                  <a:solidFill>
                    <a:srgbClr val="141414"/>
                  </a:solidFill>
                  <a:latin typeface="Helvetica Neue"/>
                  <a:sym typeface="Helvetica Neue"/>
                </a:endParaRPr>
              </a:p>
            </p:txBody>
          </p:sp>
          <p:sp>
            <p:nvSpPr>
              <p:cNvPr id="220" name="Google Shape;118;p3">
                <a:extLst>
                  <a:ext uri="{FF2B5EF4-FFF2-40B4-BE49-F238E27FC236}">
                    <a16:creationId xmlns:a16="http://schemas.microsoft.com/office/drawing/2014/main" id="{FAE2BBBD-11C4-22AB-13AA-A5BFB7EBE1DE}"/>
                  </a:ext>
                </a:extLst>
              </p:cNvPr>
              <p:cNvSpPr/>
              <p:nvPr/>
            </p:nvSpPr>
            <p:spPr>
              <a:xfrm>
                <a:off x="1335633" y="1238809"/>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21" name="Google Shape;119;p3">
                <a:extLst>
                  <a:ext uri="{FF2B5EF4-FFF2-40B4-BE49-F238E27FC236}">
                    <a16:creationId xmlns:a16="http://schemas.microsoft.com/office/drawing/2014/main" id="{E44426C2-BF2B-B57D-A1DB-7DF8798D2BE8}"/>
                  </a:ext>
                </a:extLst>
              </p:cNvPr>
              <p:cNvSpPr/>
              <p:nvPr/>
            </p:nvSpPr>
            <p:spPr>
              <a:xfrm>
                <a:off x="1385431" y="1238809"/>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Math</a:t>
                </a:r>
                <a:endParaRPr sz="1080" dirty="0">
                  <a:solidFill>
                    <a:srgbClr val="141414"/>
                  </a:solidFill>
                  <a:latin typeface="Helvetica Neue"/>
                  <a:ea typeface="Helvetica Neue"/>
                  <a:cs typeface="Helvetica Neue"/>
                  <a:sym typeface="Helvetica Neue"/>
                </a:endParaRPr>
              </a:p>
            </p:txBody>
          </p:sp>
          <p:sp>
            <p:nvSpPr>
              <p:cNvPr id="222" name="Google Shape;122;p3">
                <a:extLst>
                  <a:ext uri="{FF2B5EF4-FFF2-40B4-BE49-F238E27FC236}">
                    <a16:creationId xmlns:a16="http://schemas.microsoft.com/office/drawing/2014/main" id="{77EE72C6-C56B-26A1-C315-F778D25F6849}"/>
                  </a:ext>
                </a:extLst>
              </p:cNvPr>
              <p:cNvSpPr/>
              <p:nvPr/>
            </p:nvSpPr>
            <p:spPr>
              <a:xfrm>
                <a:off x="389460" y="1721165"/>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23" name="Google Shape;123;p3">
                <a:extLst>
                  <a:ext uri="{FF2B5EF4-FFF2-40B4-BE49-F238E27FC236}">
                    <a16:creationId xmlns:a16="http://schemas.microsoft.com/office/drawing/2014/main" id="{99DDEEE4-19E3-5017-4A23-76053B6C8EF8}"/>
                  </a:ext>
                </a:extLst>
              </p:cNvPr>
              <p:cNvSpPr/>
              <p:nvPr/>
            </p:nvSpPr>
            <p:spPr>
              <a:xfrm>
                <a:off x="439259" y="1721165"/>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MMLU-Pro</a:t>
                </a:r>
                <a:endParaRPr sz="1000" b="1" dirty="0">
                  <a:solidFill>
                    <a:srgbClr val="141414"/>
                  </a:solidFill>
                  <a:latin typeface="Helvetica Neue"/>
                  <a:sym typeface="Helvetica Neue"/>
                </a:endParaRPr>
              </a:p>
            </p:txBody>
          </p:sp>
          <p:sp>
            <p:nvSpPr>
              <p:cNvPr id="224" name="Google Shape;124;p3">
                <a:extLst>
                  <a:ext uri="{FF2B5EF4-FFF2-40B4-BE49-F238E27FC236}">
                    <a16:creationId xmlns:a16="http://schemas.microsoft.com/office/drawing/2014/main" id="{3195445D-B418-6AF9-EE1A-C1CB6B93B3ED}"/>
                  </a:ext>
                </a:extLst>
              </p:cNvPr>
              <p:cNvSpPr/>
              <p:nvPr/>
            </p:nvSpPr>
            <p:spPr>
              <a:xfrm>
                <a:off x="1335633" y="1721165"/>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25" name="Google Shape;125;p3">
                <a:extLst>
                  <a:ext uri="{FF2B5EF4-FFF2-40B4-BE49-F238E27FC236}">
                    <a16:creationId xmlns:a16="http://schemas.microsoft.com/office/drawing/2014/main" id="{CBA9810C-4D31-3FF8-E245-F67CEC97E4B3}"/>
                  </a:ext>
                </a:extLst>
              </p:cNvPr>
              <p:cNvSpPr/>
              <p:nvPr/>
            </p:nvSpPr>
            <p:spPr>
              <a:xfrm>
                <a:off x="1385431" y="1721165"/>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General knowledge</a:t>
                </a:r>
                <a:endParaRPr sz="1080" dirty="0">
                  <a:solidFill>
                    <a:srgbClr val="141414"/>
                  </a:solidFill>
                  <a:latin typeface="Helvetica Neue"/>
                  <a:ea typeface="Helvetica Neue"/>
                  <a:cs typeface="Helvetica Neue"/>
                  <a:sym typeface="Helvetica Neue"/>
                </a:endParaRPr>
              </a:p>
            </p:txBody>
          </p:sp>
          <p:sp>
            <p:nvSpPr>
              <p:cNvPr id="226" name="Google Shape;111;p3">
                <a:extLst>
                  <a:ext uri="{FF2B5EF4-FFF2-40B4-BE49-F238E27FC236}">
                    <a16:creationId xmlns:a16="http://schemas.microsoft.com/office/drawing/2014/main" id="{4A789890-191E-6A73-3AF8-7E380F96D63B}"/>
                  </a:ext>
                </a:extLst>
              </p:cNvPr>
              <p:cNvSpPr/>
              <p:nvPr/>
            </p:nvSpPr>
            <p:spPr>
              <a:xfrm>
                <a:off x="444725" y="2345252"/>
                <a:ext cx="846576"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endParaRPr sz="1100" dirty="0">
                  <a:solidFill>
                    <a:schemeClr val="dk1"/>
                  </a:solidFill>
                  <a:latin typeface="Helvetica Neue"/>
                  <a:ea typeface="Helvetica Neue"/>
                  <a:cs typeface="Helvetica Neue"/>
                  <a:sym typeface="Helvetica Neue"/>
                </a:endParaRPr>
              </a:p>
            </p:txBody>
          </p:sp>
          <p:sp>
            <p:nvSpPr>
              <p:cNvPr id="227" name="Google Shape;116;p3">
                <a:extLst>
                  <a:ext uri="{FF2B5EF4-FFF2-40B4-BE49-F238E27FC236}">
                    <a16:creationId xmlns:a16="http://schemas.microsoft.com/office/drawing/2014/main" id="{E9FEE5D2-47C4-9C68-BD3E-EA9205CB80DC}"/>
                  </a:ext>
                </a:extLst>
              </p:cNvPr>
              <p:cNvSpPr/>
              <p:nvPr/>
            </p:nvSpPr>
            <p:spPr>
              <a:xfrm>
                <a:off x="394926" y="219892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28" name="Google Shape;117;p3">
                <a:extLst>
                  <a:ext uri="{FF2B5EF4-FFF2-40B4-BE49-F238E27FC236}">
                    <a16:creationId xmlns:a16="http://schemas.microsoft.com/office/drawing/2014/main" id="{7B1EE0EF-920E-5365-EA74-7100053AF274}"/>
                  </a:ext>
                </a:extLst>
              </p:cNvPr>
              <p:cNvSpPr/>
              <p:nvPr/>
            </p:nvSpPr>
            <p:spPr>
              <a:xfrm>
                <a:off x="444725" y="219892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BFCL v3</a:t>
                </a:r>
                <a:endParaRPr sz="1000" b="1" dirty="0">
                  <a:solidFill>
                    <a:srgbClr val="141414"/>
                  </a:solidFill>
                  <a:latin typeface="Helvetica Neue"/>
                  <a:sym typeface="Helvetica Neue"/>
                </a:endParaRPr>
              </a:p>
            </p:txBody>
          </p:sp>
          <p:sp>
            <p:nvSpPr>
              <p:cNvPr id="229" name="Google Shape;118;p3">
                <a:extLst>
                  <a:ext uri="{FF2B5EF4-FFF2-40B4-BE49-F238E27FC236}">
                    <a16:creationId xmlns:a16="http://schemas.microsoft.com/office/drawing/2014/main" id="{185774EF-8F3F-0A51-CEB9-9244626DC819}"/>
                  </a:ext>
                </a:extLst>
              </p:cNvPr>
              <p:cNvSpPr/>
              <p:nvPr/>
            </p:nvSpPr>
            <p:spPr>
              <a:xfrm>
                <a:off x="1341099" y="2198929"/>
                <a:ext cx="2043861"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30" name="Google Shape;119;p3">
                <a:extLst>
                  <a:ext uri="{FF2B5EF4-FFF2-40B4-BE49-F238E27FC236}">
                    <a16:creationId xmlns:a16="http://schemas.microsoft.com/office/drawing/2014/main" id="{205844A6-5867-CA36-4748-ECB9CAF38125}"/>
                  </a:ext>
                </a:extLst>
              </p:cNvPr>
              <p:cNvSpPr/>
              <p:nvPr/>
            </p:nvSpPr>
            <p:spPr>
              <a:xfrm>
                <a:off x="1390898" y="2198929"/>
                <a:ext cx="1994062"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Agentic / tool-use</a:t>
                </a:r>
                <a:endParaRPr sz="1080" dirty="0">
                  <a:solidFill>
                    <a:srgbClr val="141414"/>
                  </a:solidFill>
                  <a:latin typeface="Helvetica Neue"/>
                  <a:ea typeface="Helvetica Neue"/>
                  <a:cs typeface="Helvetica Neue"/>
                  <a:sym typeface="Helvetica Neue"/>
                </a:endParaRPr>
              </a:p>
            </p:txBody>
          </p:sp>
          <p:sp>
            <p:nvSpPr>
              <p:cNvPr id="231" name="Google Shape;117;p3">
                <a:extLst>
                  <a:ext uri="{FF2B5EF4-FFF2-40B4-BE49-F238E27FC236}">
                    <a16:creationId xmlns:a16="http://schemas.microsoft.com/office/drawing/2014/main" id="{308E744F-035B-345C-6F28-FE5C04032D22}"/>
                  </a:ext>
                </a:extLst>
              </p:cNvPr>
              <p:cNvSpPr/>
              <p:nvPr/>
            </p:nvSpPr>
            <p:spPr>
              <a:xfrm>
                <a:off x="3351235" y="1244219"/>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72.1%</a:t>
                </a:r>
                <a:endParaRPr sz="1180" b="1" dirty="0">
                  <a:solidFill>
                    <a:srgbClr val="141414"/>
                  </a:solidFill>
                  <a:latin typeface="Helvetica Neue"/>
                  <a:sym typeface="Helvetica Neue"/>
                </a:endParaRPr>
              </a:p>
            </p:txBody>
          </p:sp>
          <p:sp>
            <p:nvSpPr>
              <p:cNvPr id="232" name="Google Shape;123;p3">
                <a:extLst>
                  <a:ext uri="{FF2B5EF4-FFF2-40B4-BE49-F238E27FC236}">
                    <a16:creationId xmlns:a16="http://schemas.microsoft.com/office/drawing/2014/main" id="{8E958CA0-4049-EFB7-D52A-095002391672}"/>
                  </a:ext>
                </a:extLst>
              </p:cNvPr>
              <p:cNvSpPr/>
              <p:nvPr/>
            </p:nvSpPr>
            <p:spPr>
              <a:xfrm>
                <a:off x="3352858" y="1727648"/>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000" dirty="0"/>
                  <a:t>Not documented</a:t>
                </a:r>
                <a:endParaRPr sz="1000" b="1" dirty="0">
                  <a:solidFill>
                    <a:srgbClr val="141414"/>
                  </a:solidFill>
                  <a:latin typeface="Helvetica Neue"/>
                  <a:sym typeface="Helvetica Neue"/>
                </a:endParaRPr>
              </a:p>
            </p:txBody>
          </p:sp>
          <p:sp>
            <p:nvSpPr>
              <p:cNvPr id="233" name="Google Shape;117;p3">
                <a:extLst>
                  <a:ext uri="{FF2B5EF4-FFF2-40B4-BE49-F238E27FC236}">
                    <a16:creationId xmlns:a16="http://schemas.microsoft.com/office/drawing/2014/main" id="{52A1F997-25FF-E3D8-6839-ED723DAD1DD2}"/>
                  </a:ext>
                </a:extLst>
              </p:cNvPr>
              <p:cNvSpPr/>
              <p:nvPr/>
            </p:nvSpPr>
            <p:spPr>
              <a:xfrm>
                <a:off x="3351383" y="2196447"/>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68.1</a:t>
                </a:r>
                <a:endParaRPr sz="1180" b="1" dirty="0">
                  <a:solidFill>
                    <a:srgbClr val="141414"/>
                  </a:solidFill>
                  <a:latin typeface="Helvetica Neue"/>
                  <a:sym typeface="Helvetica Neue"/>
                </a:endParaRPr>
              </a:p>
            </p:txBody>
          </p:sp>
        </p:grpSp>
        <p:grpSp>
          <p:nvGrpSpPr>
            <p:cNvPr id="195" name="Group 194">
              <a:extLst>
                <a:ext uri="{FF2B5EF4-FFF2-40B4-BE49-F238E27FC236}">
                  <a16:creationId xmlns:a16="http://schemas.microsoft.com/office/drawing/2014/main" id="{23A83924-98FA-372D-D967-C9BA724044BC}"/>
                </a:ext>
              </a:extLst>
            </p:cNvPr>
            <p:cNvGrpSpPr/>
            <p:nvPr/>
          </p:nvGrpSpPr>
          <p:grpSpPr>
            <a:xfrm>
              <a:off x="6313900" y="1130242"/>
              <a:ext cx="2700559" cy="1556437"/>
              <a:chOff x="389460" y="943172"/>
              <a:chExt cx="3809974" cy="1738112"/>
            </a:xfrm>
          </p:grpSpPr>
          <p:sp>
            <p:nvSpPr>
              <p:cNvPr id="196" name="Google Shape;112;p3">
                <a:extLst>
                  <a:ext uri="{FF2B5EF4-FFF2-40B4-BE49-F238E27FC236}">
                    <a16:creationId xmlns:a16="http://schemas.microsoft.com/office/drawing/2014/main" id="{2E73F989-D4A5-5495-CB82-95F1C11472A0}"/>
                  </a:ext>
                </a:extLst>
              </p:cNvPr>
              <p:cNvSpPr/>
              <p:nvPr/>
            </p:nvSpPr>
            <p:spPr>
              <a:xfrm>
                <a:off x="1335633" y="943172"/>
                <a:ext cx="2863801"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7" name="Google Shape;110;p3">
                <a:extLst>
                  <a:ext uri="{FF2B5EF4-FFF2-40B4-BE49-F238E27FC236}">
                    <a16:creationId xmlns:a16="http://schemas.microsoft.com/office/drawing/2014/main" id="{27EE416E-389C-9C99-2263-6963E1D96614}"/>
                  </a:ext>
                </a:extLst>
              </p:cNvPr>
              <p:cNvSpPr/>
              <p:nvPr/>
            </p:nvSpPr>
            <p:spPr>
              <a:xfrm>
                <a:off x="389460" y="943172"/>
                <a:ext cx="946173" cy="295637"/>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8" name="Google Shape;111;p3">
                <a:extLst>
                  <a:ext uri="{FF2B5EF4-FFF2-40B4-BE49-F238E27FC236}">
                    <a16:creationId xmlns:a16="http://schemas.microsoft.com/office/drawing/2014/main" id="{E13C9CF4-C03F-1D67-192E-47BCA9FF3DA6}"/>
                  </a:ext>
                </a:extLst>
              </p:cNvPr>
              <p:cNvSpPr/>
              <p:nvPr/>
            </p:nvSpPr>
            <p:spPr>
              <a:xfrm>
                <a:off x="439259" y="943172"/>
                <a:ext cx="3758552" cy="295637"/>
              </a:xfrm>
              <a:prstGeom prst="rect">
                <a:avLst/>
              </a:prstGeom>
              <a:noFill/>
              <a:ln>
                <a:noFill/>
              </a:ln>
            </p:spPr>
            <p:txBody>
              <a:bodyPr spcFirstLastPara="1" wrap="square" lIns="0" tIns="0" rIns="0" bIns="0" anchor="ctr" anchorCtr="0">
                <a:noAutofit/>
              </a:bodyPr>
              <a:lstStyle/>
              <a:p>
                <a:pPr algn="ctr">
                  <a:buClr>
                    <a:srgbClr val="000000"/>
                  </a:buClr>
                  <a:buSzPts val="1100"/>
                </a:pPr>
                <a:r>
                  <a:rPr lang="en-US" sz="1200" b="1" dirty="0">
                    <a:solidFill>
                      <a:srgbClr val="141414"/>
                    </a:solidFill>
                    <a:latin typeface="Helvetica Neue"/>
                  </a:rPr>
                  <a:t>Hard Tier</a:t>
                </a:r>
                <a:endParaRPr sz="1200" b="1" dirty="0">
                  <a:solidFill>
                    <a:srgbClr val="000000"/>
                  </a:solidFill>
                  <a:latin typeface="Helvetica Neue"/>
                  <a:sym typeface="Helvetica Neue"/>
                </a:endParaRPr>
              </a:p>
            </p:txBody>
          </p:sp>
          <p:sp>
            <p:nvSpPr>
              <p:cNvPr id="199" name="Google Shape;116;p3">
                <a:extLst>
                  <a:ext uri="{FF2B5EF4-FFF2-40B4-BE49-F238E27FC236}">
                    <a16:creationId xmlns:a16="http://schemas.microsoft.com/office/drawing/2014/main" id="{CBF8C745-EAA3-D394-9C77-1BE2D5DC6541}"/>
                  </a:ext>
                </a:extLst>
              </p:cNvPr>
              <p:cNvSpPr/>
              <p:nvPr/>
            </p:nvSpPr>
            <p:spPr>
              <a:xfrm>
                <a:off x="389460" y="123880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0" name="Google Shape;117;p3">
                <a:extLst>
                  <a:ext uri="{FF2B5EF4-FFF2-40B4-BE49-F238E27FC236}">
                    <a16:creationId xmlns:a16="http://schemas.microsoft.com/office/drawing/2014/main" id="{D1247DD0-C098-5FE5-48E5-B4487691540A}"/>
                  </a:ext>
                </a:extLst>
              </p:cNvPr>
              <p:cNvSpPr/>
              <p:nvPr/>
            </p:nvSpPr>
            <p:spPr>
              <a:xfrm>
                <a:off x="439259" y="123880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AIME’25</a:t>
                </a:r>
                <a:endParaRPr sz="1000" b="1" dirty="0">
                  <a:solidFill>
                    <a:srgbClr val="141414"/>
                  </a:solidFill>
                  <a:latin typeface="Helvetica Neue"/>
                  <a:sym typeface="Helvetica Neue"/>
                </a:endParaRPr>
              </a:p>
            </p:txBody>
          </p:sp>
          <p:sp>
            <p:nvSpPr>
              <p:cNvPr id="201" name="Google Shape;118;p3">
                <a:extLst>
                  <a:ext uri="{FF2B5EF4-FFF2-40B4-BE49-F238E27FC236}">
                    <a16:creationId xmlns:a16="http://schemas.microsoft.com/office/drawing/2014/main" id="{FE064EEA-7B1E-F6ED-2280-17DE2C90D68D}"/>
                  </a:ext>
                </a:extLst>
              </p:cNvPr>
              <p:cNvSpPr/>
              <p:nvPr/>
            </p:nvSpPr>
            <p:spPr>
              <a:xfrm>
                <a:off x="1335633" y="1238809"/>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2" name="Google Shape;119;p3">
                <a:extLst>
                  <a:ext uri="{FF2B5EF4-FFF2-40B4-BE49-F238E27FC236}">
                    <a16:creationId xmlns:a16="http://schemas.microsoft.com/office/drawing/2014/main" id="{B9E0BFB6-E523-9577-526F-AAA6B994B4E8}"/>
                  </a:ext>
                </a:extLst>
              </p:cNvPr>
              <p:cNvSpPr/>
              <p:nvPr/>
            </p:nvSpPr>
            <p:spPr>
              <a:xfrm>
                <a:off x="1385431" y="1238809"/>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Math</a:t>
                </a:r>
                <a:endParaRPr sz="1080" dirty="0">
                  <a:solidFill>
                    <a:srgbClr val="141414"/>
                  </a:solidFill>
                  <a:latin typeface="Helvetica Neue"/>
                  <a:ea typeface="Helvetica Neue"/>
                  <a:cs typeface="Helvetica Neue"/>
                  <a:sym typeface="Helvetica Neue"/>
                </a:endParaRPr>
              </a:p>
            </p:txBody>
          </p:sp>
          <p:sp>
            <p:nvSpPr>
              <p:cNvPr id="203" name="Google Shape;122;p3">
                <a:extLst>
                  <a:ext uri="{FF2B5EF4-FFF2-40B4-BE49-F238E27FC236}">
                    <a16:creationId xmlns:a16="http://schemas.microsoft.com/office/drawing/2014/main" id="{0D92471E-EB48-88A1-C1D7-937B2460E9A6}"/>
                  </a:ext>
                </a:extLst>
              </p:cNvPr>
              <p:cNvSpPr/>
              <p:nvPr/>
            </p:nvSpPr>
            <p:spPr>
              <a:xfrm>
                <a:off x="389460" y="1721165"/>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4" name="Google Shape;123;p3">
                <a:extLst>
                  <a:ext uri="{FF2B5EF4-FFF2-40B4-BE49-F238E27FC236}">
                    <a16:creationId xmlns:a16="http://schemas.microsoft.com/office/drawing/2014/main" id="{A9698BAD-CF3A-92DB-393A-2D7CEE41BFC4}"/>
                  </a:ext>
                </a:extLst>
              </p:cNvPr>
              <p:cNvSpPr/>
              <p:nvPr/>
            </p:nvSpPr>
            <p:spPr>
              <a:xfrm>
                <a:off x="439259" y="1721165"/>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a:solidFill>
                      <a:srgbClr val="141414"/>
                    </a:solidFill>
                    <a:latin typeface="Helvetica Neue"/>
                  </a:rPr>
                  <a:t>GPQA-Diamond</a:t>
                </a:r>
                <a:endParaRPr sz="1000" b="1" dirty="0">
                  <a:solidFill>
                    <a:srgbClr val="141414"/>
                  </a:solidFill>
                  <a:latin typeface="Helvetica Neue"/>
                  <a:sym typeface="Helvetica Neue"/>
                </a:endParaRPr>
              </a:p>
            </p:txBody>
          </p:sp>
          <p:sp>
            <p:nvSpPr>
              <p:cNvPr id="205" name="Google Shape;124;p3">
                <a:extLst>
                  <a:ext uri="{FF2B5EF4-FFF2-40B4-BE49-F238E27FC236}">
                    <a16:creationId xmlns:a16="http://schemas.microsoft.com/office/drawing/2014/main" id="{46406468-176F-8413-04CD-9BF2FAA51458}"/>
                  </a:ext>
                </a:extLst>
              </p:cNvPr>
              <p:cNvSpPr/>
              <p:nvPr/>
            </p:nvSpPr>
            <p:spPr>
              <a:xfrm>
                <a:off x="1335633" y="1721165"/>
                <a:ext cx="2049327"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6" name="Google Shape;125;p3">
                <a:extLst>
                  <a:ext uri="{FF2B5EF4-FFF2-40B4-BE49-F238E27FC236}">
                    <a16:creationId xmlns:a16="http://schemas.microsoft.com/office/drawing/2014/main" id="{1E216C48-0AEC-F4FF-94C9-3FD16B0BF61E}"/>
                  </a:ext>
                </a:extLst>
              </p:cNvPr>
              <p:cNvSpPr/>
              <p:nvPr/>
            </p:nvSpPr>
            <p:spPr>
              <a:xfrm>
                <a:off x="1385431" y="1721165"/>
                <a:ext cx="1999529"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PhD-level science</a:t>
                </a:r>
                <a:endParaRPr sz="1080" dirty="0">
                  <a:solidFill>
                    <a:srgbClr val="141414"/>
                  </a:solidFill>
                  <a:latin typeface="Helvetica Neue"/>
                  <a:ea typeface="Helvetica Neue"/>
                  <a:cs typeface="Helvetica Neue"/>
                  <a:sym typeface="Helvetica Neue"/>
                </a:endParaRPr>
              </a:p>
            </p:txBody>
          </p:sp>
          <p:sp>
            <p:nvSpPr>
              <p:cNvPr id="207" name="Google Shape;111;p3">
                <a:extLst>
                  <a:ext uri="{FF2B5EF4-FFF2-40B4-BE49-F238E27FC236}">
                    <a16:creationId xmlns:a16="http://schemas.microsoft.com/office/drawing/2014/main" id="{8E50892D-F393-1DC7-9E13-307D76F6324F}"/>
                  </a:ext>
                </a:extLst>
              </p:cNvPr>
              <p:cNvSpPr/>
              <p:nvPr/>
            </p:nvSpPr>
            <p:spPr>
              <a:xfrm>
                <a:off x="444725" y="2345252"/>
                <a:ext cx="846576" cy="295637"/>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100"/>
                  <a:buFont typeface="Arial"/>
                  <a:buNone/>
                </a:pPr>
                <a:endParaRPr sz="1100" dirty="0">
                  <a:solidFill>
                    <a:schemeClr val="dk1"/>
                  </a:solidFill>
                  <a:latin typeface="Helvetica Neue"/>
                  <a:ea typeface="Helvetica Neue"/>
                  <a:cs typeface="Helvetica Neue"/>
                  <a:sym typeface="Helvetica Neue"/>
                </a:endParaRPr>
              </a:p>
            </p:txBody>
          </p:sp>
          <p:sp>
            <p:nvSpPr>
              <p:cNvPr id="208" name="Google Shape;116;p3">
                <a:extLst>
                  <a:ext uri="{FF2B5EF4-FFF2-40B4-BE49-F238E27FC236}">
                    <a16:creationId xmlns:a16="http://schemas.microsoft.com/office/drawing/2014/main" id="{09059513-8FF2-9D70-069A-D15FA02AF4B6}"/>
                  </a:ext>
                </a:extLst>
              </p:cNvPr>
              <p:cNvSpPr/>
              <p:nvPr/>
            </p:nvSpPr>
            <p:spPr>
              <a:xfrm>
                <a:off x="394926" y="2198929"/>
                <a:ext cx="946173"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09" name="Google Shape;117;p3">
                <a:extLst>
                  <a:ext uri="{FF2B5EF4-FFF2-40B4-BE49-F238E27FC236}">
                    <a16:creationId xmlns:a16="http://schemas.microsoft.com/office/drawing/2014/main" id="{B76D1D35-7393-55D4-787A-9F3480918CD8}"/>
                  </a:ext>
                </a:extLst>
              </p:cNvPr>
              <p:cNvSpPr/>
              <p:nvPr/>
            </p:nvSpPr>
            <p:spPr>
              <a:xfrm>
                <a:off x="444725" y="2198929"/>
                <a:ext cx="846576" cy="482355"/>
              </a:xfrm>
              <a:prstGeom prst="rect">
                <a:avLst/>
              </a:prstGeom>
              <a:solidFill>
                <a:srgbClr val="FFD6CA"/>
              </a:solidFill>
              <a:ln>
                <a:noFill/>
              </a:ln>
            </p:spPr>
            <p:txBody>
              <a:bodyPr spcFirstLastPara="1" wrap="square" lIns="0" tIns="0" rIns="0" bIns="0" anchor="ctr" anchorCtr="0">
                <a:noAutofit/>
              </a:bodyPr>
              <a:lstStyle/>
              <a:p>
                <a:pPr>
                  <a:buClr>
                    <a:srgbClr val="FFFFFF"/>
                  </a:buClr>
                  <a:buSzPts val="1180"/>
                </a:pPr>
                <a:r>
                  <a:rPr lang="en-US" sz="1000" b="1" dirty="0" err="1">
                    <a:solidFill>
                      <a:srgbClr val="141414"/>
                    </a:solidFill>
                    <a:latin typeface="Helvetica Neue"/>
                  </a:rPr>
                  <a:t>LiveCodeBench</a:t>
                </a:r>
                <a:r>
                  <a:rPr lang="en-US" sz="1000" b="1" dirty="0">
                    <a:solidFill>
                      <a:srgbClr val="141414"/>
                    </a:solidFill>
                    <a:latin typeface="Helvetica Neue"/>
                  </a:rPr>
                  <a:t> v6</a:t>
                </a:r>
                <a:endParaRPr sz="1000" b="1" dirty="0">
                  <a:solidFill>
                    <a:srgbClr val="141414"/>
                  </a:solidFill>
                  <a:latin typeface="Helvetica Neue"/>
                  <a:sym typeface="Helvetica Neue"/>
                </a:endParaRPr>
              </a:p>
            </p:txBody>
          </p:sp>
          <p:sp>
            <p:nvSpPr>
              <p:cNvPr id="210" name="Google Shape;118;p3">
                <a:extLst>
                  <a:ext uri="{FF2B5EF4-FFF2-40B4-BE49-F238E27FC236}">
                    <a16:creationId xmlns:a16="http://schemas.microsoft.com/office/drawing/2014/main" id="{D61E713E-ACDD-E945-DCDD-8247A172D255}"/>
                  </a:ext>
                </a:extLst>
              </p:cNvPr>
              <p:cNvSpPr/>
              <p:nvPr/>
            </p:nvSpPr>
            <p:spPr>
              <a:xfrm>
                <a:off x="1341099" y="2198929"/>
                <a:ext cx="2043861" cy="482355"/>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141414"/>
                  </a:solidFill>
                  <a:latin typeface="Helvetica Neue"/>
                  <a:ea typeface="Helvetica Neue"/>
                  <a:cs typeface="Helvetica Neue"/>
                  <a:sym typeface="Helvetica Neue"/>
                </a:endParaRPr>
              </a:p>
            </p:txBody>
          </p:sp>
          <p:sp>
            <p:nvSpPr>
              <p:cNvPr id="211" name="Google Shape;119;p3">
                <a:extLst>
                  <a:ext uri="{FF2B5EF4-FFF2-40B4-BE49-F238E27FC236}">
                    <a16:creationId xmlns:a16="http://schemas.microsoft.com/office/drawing/2014/main" id="{2FAE9732-06DB-7DB1-0FAD-10C739E43E0C}"/>
                  </a:ext>
                </a:extLst>
              </p:cNvPr>
              <p:cNvSpPr/>
              <p:nvPr/>
            </p:nvSpPr>
            <p:spPr>
              <a:xfrm>
                <a:off x="1390898" y="2198929"/>
                <a:ext cx="1994062"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1080"/>
                  <a:buFont typeface="Arial"/>
                  <a:buNone/>
                </a:pPr>
                <a:r>
                  <a:rPr lang="en-US" sz="1100" dirty="0"/>
                  <a:t>Coding</a:t>
                </a:r>
                <a:endParaRPr sz="1080" dirty="0">
                  <a:solidFill>
                    <a:srgbClr val="141414"/>
                  </a:solidFill>
                  <a:latin typeface="Helvetica Neue"/>
                  <a:ea typeface="Helvetica Neue"/>
                  <a:cs typeface="Helvetica Neue"/>
                  <a:sym typeface="Helvetica Neue"/>
                </a:endParaRPr>
              </a:p>
            </p:txBody>
          </p:sp>
          <p:sp>
            <p:nvSpPr>
              <p:cNvPr id="212" name="Google Shape;117;p3">
                <a:extLst>
                  <a:ext uri="{FF2B5EF4-FFF2-40B4-BE49-F238E27FC236}">
                    <a16:creationId xmlns:a16="http://schemas.microsoft.com/office/drawing/2014/main" id="{E02C289C-1ED0-9281-0A9D-EEE24EFD1EDA}"/>
                  </a:ext>
                </a:extLst>
              </p:cNvPr>
              <p:cNvSpPr/>
              <p:nvPr/>
            </p:nvSpPr>
            <p:spPr>
              <a:xfrm>
                <a:off x="3351235" y="1244219"/>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63.3%</a:t>
                </a:r>
                <a:endParaRPr sz="1180" b="1" dirty="0">
                  <a:solidFill>
                    <a:srgbClr val="141414"/>
                  </a:solidFill>
                  <a:latin typeface="Helvetica Neue"/>
                  <a:sym typeface="Helvetica Neue"/>
                </a:endParaRPr>
              </a:p>
            </p:txBody>
          </p:sp>
          <p:sp>
            <p:nvSpPr>
              <p:cNvPr id="213" name="Google Shape;123;p3">
                <a:extLst>
                  <a:ext uri="{FF2B5EF4-FFF2-40B4-BE49-F238E27FC236}">
                    <a16:creationId xmlns:a16="http://schemas.microsoft.com/office/drawing/2014/main" id="{74323AEB-4A61-B74D-331C-D7FC6F89A6D4}"/>
                  </a:ext>
                </a:extLst>
              </p:cNvPr>
              <p:cNvSpPr/>
              <p:nvPr/>
            </p:nvSpPr>
            <p:spPr>
              <a:xfrm>
                <a:off x="3352858" y="1727648"/>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62.0%</a:t>
                </a:r>
                <a:endParaRPr sz="1180" b="1" dirty="0">
                  <a:solidFill>
                    <a:srgbClr val="141414"/>
                  </a:solidFill>
                  <a:latin typeface="Helvetica Neue"/>
                  <a:sym typeface="Helvetica Neue"/>
                </a:endParaRPr>
              </a:p>
            </p:txBody>
          </p:sp>
          <p:sp>
            <p:nvSpPr>
              <p:cNvPr id="214" name="Google Shape;117;p3">
                <a:extLst>
                  <a:ext uri="{FF2B5EF4-FFF2-40B4-BE49-F238E27FC236}">
                    <a16:creationId xmlns:a16="http://schemas.microsoft.com/office/drawing/2014/main" id="{57698201-77D7-7825-0959-0FEBAF35BC8A}"/>
                  </a:ext>
                </a:extLst>
              </p:cNvPr>
              <p:cNvSpPr/>
              <p:nvPr/>
            </p:nvSpPr>
            <p:spPr>
              <a:xfrm>
                <a:off x="3351383" y="2196447"/>
                <a:ext cx="846576" cy="482355"/>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80"/>
                  <a:buFont typeface="Arial"/>
                  <a:buNone/>
                </a:pPr>
                <a:r>
                  <a:rPr lang="en-US" sz="1200" dirty="0"/>
                  <a:t>57.5%</a:t>
                </a:r>
                <a:endParaRPr sz="1180" b="1" dirty="0">
                  <a:solidFill>
                    <a:srgbClr val="141414"/>
                  </a:solidFill>
                  <a:latin typeface="Helvetica Neue"/>
                  <a:sym typeface="Helvetica Neue"/>
                </a:endParaRPr>
              </a:p>
            </p:txBody>
          </p:sp>
        </p:grpSp>
      </p:grpSp>
    </p:spTree>
    <p:extLst>
      <p:ext uri="{BB962C8B-B14F-4D97-AF65-F5344CB8AC3E}">
        <p14:creationId xmlns:p14="http://schemas.microsoft.com/office/powerpoint/2010/main" val="38737489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lang="en-US" sz="1200" b="1" dirty="0">
                <a:solidFill>
                  <a:srgbClr val="FF7900"/>
                </a:solidFill>
                <a:latin typeface="Helvetica Neue"/>
              </a:rPr>
              <a:t>Benchmark collection Protocol</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Pooling raw accuracy directly across different benchmarks/tiers risks producing a misleading shape — e.g., if an easy tier saturates early while a hard tier keeps rising, direct averaging can produce a flat curve reflecting neither pattern, masking the exact over/underthinking evidence H1 is meant to establish. </a:t>
            </a:r>
          </a:p>
          <a:p>
            <a:pPr marL="514350" indent="-171450">
              <a:spcBef>
                <a:spcPts val="800"/>
              </a:spcBef>
              <a:spcAft>
                <a:spcPts val="200"/>
              </a:spcAft>
              <a:buSzPct val="100000"/>
              <a:buFontTx/>
              <a:buChar char="-"/>
            </a:pPr>
            <a:r>
              <a:rPr lang="en-US" sz="1200" b="1" dirty="0">
                <a:solidFill>
                  <a:schemeClr val="bg1"/>
                </a:solidFill>
                <a:latin typeface="Consolas" panose="020B0609020204030204" pitchFamily="49" charset="0"/>
              </a:rPr>
              <a:t>The Problem: Simpson's Paradox: </a:t>
            </a:r>
            <a:r>
              <a:rPr lang="en-US" sz="1200" dirty="0">
                <a:solidFill>
                  <a:srgbClr val="FFFFFF"/>
                </a:solidFill>
                <a:latin typeface="Arial" pitchFamily="34" charset="0"/>
                <a:cs typeface="Arial" pitchFamily="34" charset="-120"/>
              </a:rPr>
              <a:t>Pooling raw accuracy directly across different benchmarks/tiers risks producing a misleading shape — e.g., if an easy tier saturates early while a hard tier keeps rising, direct averaging can produce a flat curve reflecting neither pattern, masking the exact over/underthinking evidence H1 is meant to establish.</a:t>
            </a:r>
          </a:p>
          <a:p>
            <a:pPr marL="514350" indent="-171450">
              <a:spcBef>
                <a:spcPts val="800"/>
              </a:spcBef>
              <a:spcAft>
                <a:spcPts val="200"/>
              </a:spcAft>
              <a:buSzPct val="100000"/>
              <a:buFontTx/>
              <a:buChar char="-"/>
            </a:pPr>
            <a:r>
              <a:rPr lang="en-US" sz="1200" b="1" dirty="0">
                <a:solidFill>
                  <a:schemeClr val="bg1"/>
                </a:solidFill>
                <a:latin typeface="Consolas" panose="020B0609020204030204" pitchFamily="49" charset="0"/>
              </a:rPr>
              <a:t>The Fix: Normalize, Then Aggregate:</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Every question is collected with its label from the start: [benchmark, </a:t>
            </a:r>
            <a:r>
              <a:rPr lang="en-US" sz="1050" dirty="0" err="1">
                <a:solidFill>
                  <a:srgbClr val="FFFFFF"/>
                </a:solidFill>
                <a:latin typeface="Arial" pitchFamily="34" charset="0"/>
                <a:cs typeface="Arial" pitchFamily="34" charset="-120"/>
              </a:rPr>
              <a:t>difficulty_tier</a:t>
            </a:r>
            <a:r>
              <a:rPr lang="en-US" sz="1050" dirty="0">
                <a:solidFill>
                  <a:srgbClr val="FFFFFF"/>
                </a:solidFill>
                <a:latin typeface="Arial" pitchFamily="34" charset="0"/>
                <a:cs typeface="Arial" pitchFamily="34" charset="-120"/>
              </a:rPr>
              <a:t>, </a:t>
            </a:r>
            <a:r>
              <a:rPr lang="en-US" sz="1050" dirty="0" err="1">
                <a:solidFill>
                  <a:srgbClr val="FFFFFF"/>
                </a:solidFill>
                <a:latin typeface="Arial" pitchFamily="34" charset="0"/>
                <a:cs typeface="Arial" pitchFamily="34" charset="-120"/>
              </a:rPr>
              <a:t>task_type</a:t>
            </a:r>
            <a:r>
              <a:rPr lang="en-US" sz="1050" dirty="0">
                <a:solidFill>
                  <a:srgbClr val="FFFFFF"/>
                </a:solidFill>
                <a:latin typeface="Arial" pitchFamily="34" charset="0"/>
                <a:cs typeface="Arial" pitchFamily="34" charset="-120"/>
              </a:rPr>
              <a:t>] .</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Compute a separate curve for each (benchmark × tier) first: accuracy(</a:t>
            </a:r>
            <a:r>
              <a:rPr lang="en-US" sz="1050" dirty="0" err="1">
                <a:solidFill>
                  <a:srgbClr val="FFFFFF"/>
                </a:solidFill>
                <a:latin typeface="Arial" pitchFamily="34" charset="0"/>
                <a:cs typeface="Arial" pitchFamily="34" charset="-120"/>
              </a:rPr>
              <a:t>compute_level</a:t>
            </a:r>
            <a:r>
              <a:rPr lang="en-US" sz="1050" dirty="0">
                <a:solidFill>
                  <a:srgbClr val="FFFFFF"/>
                </a:solidFill>
                <a:latin typeface="Arial" pitchFamily="34" charset="0"/>
                <a:cs typeface="Arial" pitchFamily="34" charset="-120"/>
              </a:rPr>
              <a:t>).</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Normalize each curve (z-score or min-max) based on that subgroup's own performance across compute levels, removing the effect of differing scale/ceiling.</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Aggregate curve = mean of the normalized curves, not the mean of raw accuracy.</a:t>
            </a:r>
          </a:p>
          <a:p>
            <a:pPr marL="746125" indent="-174625">
              <a:spcAft>
                <a:spcPts val="200"/>
              </a:spcAft>
              <a:buSzPct val="100000"/>
              <a:buFont typeface="Arial" panose="020B0604020202020204" pitchFamily="34" charset="0"/>
              <a:buChar char="•"/>
            </a:pPr>
            <a:r>
              <a:rPr lang="en-US" sz="1050" dirty="0">
                <a:solidFill>
                  <a:srgbClr val="FFFFFF"/>
                </a:solidFill>
                <a:latin typeface="Arial" pitchFamily="34" charset="0"/>
                <a:cs typeface="Arial" pitchFamily="34" charset="-120"/>
              </a:rPr>
              <a:t>Always report disaggregated curves alongside the aggregate as a robustness/sanity check, to confirm the average isn't masking a real conflict between categories.</a:t>
            </a:r>
          </a:p>
          <a:p>
            <a:pPr marL="514350" marR="0" lvl="0" indent="-171450" fontAlgn="auto">
              <a:lnSpc>
                <a:spcPct val="100000"/>
              </a:lnSpc>
              <a:spcBef>
                <a:spcPts val="800"/>
              </a:spcBef>
              <a:spcAft>
                <a:spcPts val="200"/>
              </a:spcAft>
              <a:buClrTx/>
              <a:buSzPct val="100000"/>
              <a:buFontTx/>
              <a:buChar char="-"/>
              <a:tabLst/>
              <a:defRPr/>
            </a:pPr>
            <a:endParaRPr lang="en-US" sz="1200" b="1" dirty="0">
              <a:solidFill>
                <a:schemeClr val="bg1"/>
              </a:solidFill>
              <a:latin typeface="Consolas" panose="020B0609020204030204" pitchFamily="49" charset="0"/>
            </a:endParaRPr>
          </a:p>
          <a:p>
            <a:pPr marL="514350" marR="0" lvl="0" indent="-171450" fontAlgn="auto">
              <a:lnSpc>
                <a:spcPct val="100000"/>
              </a:lnSpc>
              <a:spcBef>
                <a:spcPts val="800"/>
              </a:spcBef>
              <a:spcAft>
                <a:spcPts val="200"/>
              </a:spcAft>
              <a:buClrTx/>
              <a:buSzPct val="100000"/>
              <a:buFontTx/>
              <a:buChar char="-"/>
              <a:tabLst/>
              <a:defRPr/>
            </a:pPr>
            <a:endParaRPr lang="en-US" sz="1200" b="1" dirty="0">
              <a:solidFill>
                <a:schemeClr val="bg1"/>
              </a:solidFill>
              <a:latin typeface="Consolas" panose="020B0609020204030204" pitchFamily="49" charset="0"/>
            </a:endParaRPr>
          </a:p>
          <a:p>
            <a:pPr marL="514350" marR="0" lvl="0" indent="-171450" fontAlgn="auto">
              <a:lnSpc>
                <a:spcPct val="100000"/>
              </a:lnSpc>
              <a:spcBef>
                <a:spcPts val="800"/>
              </a:spcBef>
              <a:spcAft>
                <a:spcPts val="200"/>
              </a:spcAft>
              <a:buClrTx/>
              <a:buSzPct val="100000"/>
              <a:buFontTx/>
              <a:buChar char="-"/>
              <a:tabLst/>
              <a:defRPr/>
            </a:pPr>
            <a:endParaRPr lang="en-US" sz="1200" b="1" dirty="0">
              <a:solidFill>
                <a:schemeClr val="bg1"/>
              </a:solidFill>
              <a:latin typeface="Consolas" panose="020B0609020204030204" pitchFamily="49" charset="0"/>
            </a:endParaRPr>
          </a:p>
          <a:p>
            <a:pPr marL="514350" marR="0" lvl="0" indent="-171450" fontAlgn="auto">
              <a:lnSpc>
                <a:spcPct val="100000"/>
              </a:lnSpc>
              <a:spcBef>
                <a:spcPts val="800"/>
              </a:spcBef>
              <a:spcAft>
                <a:spcPts val="200"/>
              </a:spcAft>
              <a:buClrTx/>
              <a:buSzPct val="100000"/>
              <a:buFontTx/>
              <a:buChar char="-"/>
              <a:tabLst/>
              <a:defRPr/>
            </a:pPr>
            <a:endParaRPr lang="en-US" sz="1200" b="1" dirty="0">
              <a:solidFill>
                <a:schemeClr val="bg1"/>
              </a:solidFill>
              <a:latin typeface="Consolas" panose="020B0609020204030204" pitchFamily="49" charset="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424893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Execution Approach. </a:t>
            </a: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1. Pilot (5–10 questions): </a:t>
            </a:r>
            <a:r>
              <a:rPr lang="en-US" sz="1200" dirty="0">
                <a:solidFill>
                  <a:srgbClr val="FFFFFF"/>
                </a:solidFill>
                <a:latin typeface="Arial" pitchFamily="34" charset="0"/>
                <a:cs typeface="Arial" pitchFamily="34" charset="-120"/>
              </a:rPr>
              <a:t>Run a tiny pilot across a handful of questions to sanity-check the setup — confirm the parser/evaluator works correctly for each </a:t>
            </a:r>
            <a:r>
              <a:rPr lang="en-US" sz="1200" dirty="0" err="1">
                <a:solidFill>
                  <a:srgbClr val="FFFFFF"/>
                </a:solidFill>
                <a:latin typeface="Arial" pitchFamily="34" charset="0"/>
                <a:cs typeface="Arial" pitchFamily="34" charset="-120"/>
              </a:rPr>
              <a:t>task_type</a:t>
            </a:r>
            <a:r>
              <a:rPr lang="en-US" sz="1200" dirty="0">
                <a:solidFill>
                  <a:srgbClr val="FFFFFF"/>
                </a:solidFill>
                <a:latin typeface="Arial" pitchFamily="34" charset="0"/>
                <a:cs typeface="Arial" pitchFamily="34" charset="-120"/>
              </a:rPr>
              <a:t>/domain, the budget-enforcement mechanism behaves as expected, and no tier is trivially 0%/100%.</a:t>
            </a: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2. Full run across compute levels: </a:t>
            </a:r>
            <a:r>
              <a:rPr lang="en-US" sz="1200" dirty="0">
                <a:solidFill>
                  <a:srgbClr val="FFFFFF"/>
                </a:solidFill>
                <a:latin typeface="Arial" pitchFamily="34" charset="0"/>
                <a:cs typeface="Arial" pitchFamily="34" charset="-120"/>
              </a:rPr>
              <a:t>Once the pilot looks correct, run the full question set at every predefined compute level (256, 512, 1024, 2048, 4096, 8192 tokens), taking ≥5 samples per question per level, and log every row into the raw data table (</a:t>
            </a:r>
            <a:r>
              <a:rPr lang="en-US" sz="1200" dirty="0" err="1">
                <a:solidFill>
                  <a:srgbClr val="FFFFFF"/>
                </a:solidFill>
                <a:latin typeface="Arial" pitchFamily="34" charset="0"/>
                <a:cs typeface="Arial" pitchFamily="34" charset="-120"/>
              </a:rPr>
              <a:t>question_id</a:t>
            </a:r>
            <a:r>
              <a:rPr lang="en-US" sz="1200" dirty="0">
                <a:solidFill>
                  <a:srgbClr val="FFFFFF"/>
                </a:solidFill>
                <a:latin typeface="Arial" pitchFamily="34" charset="0"/>
                <a:cs typeface="Arial" pitchFamily="34" charset="-120"/>
              </a:rPr>
              <a:t>, benchmark, </a:t>
            </a:r>
            <a:r>
              <a:rPr lang="en-US" sz="1200" dirty="0" err="1">
                <a:solidFill>
                  <a:srgbClr val="FFFFFF"/>
                </a:solidFill>
                <a:latin typeface="Arial" pitchFamily="34" charset="0"/>
                <a:cs typeface="Arial" pitchFamily="34" charset="-120"/>
              </a:rPr>
              <a:t>difficulty_tier</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task_type</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compute_level</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sample_index</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raw_model_output</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parsed_answer</a:t>
            </a:r>
            <a:r>
              <a:rPr lang="en-US" sz="1200" dirty="0">
                <a:solidFill>
                  <a:srgbClr val="FFFFFF"/>
                </a:solidFill>
                <a:latin typeface="Arial" pitchFamily="34" charset="0"/>
                <a:cs typeface="Arial" pitchFamily="34" charset="-120"/>
              </a:rPr>
              <a:t>, </a:t>
            </a:r>
            <a:r>
              <a:rPr lang="en-US" sz="1200" dirty="0" err="1">
                <a:solidFill>
                  <a:srgbClr val="FFFFFF"/>
                </a:solidFill>
                <a:latin typeface="Arial" pitchFamily="34" charset="0"/>
                <a:cs typeface="Arial" pitchFamily="34" charset="-120"/>
              </a:rPr>
              <a:t>is_correct</a:t>
            </a:r>
            <a:r>
              <a:rPr lang="en-US" sz="1200" dirty="0">
                <a:solidFill>
                  <a:srgbClr val="FFFFFF"/>
                </a:solidFill>
                <a:latin typeface="Arial" pitchFamily="34" charset="0"/>
                <a:cs typeface="Arial" pitchFamily="34" charset="-120"/>
              </a:rPr>
              <a:t>) — no aggregation yet.</a:t>
            </a: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3. Normalize: </a:t>
            </a:r>
            <a:r>
              <a:rPr lang="en-US" sz="1200" dirty="0">
                <a:solidFill>
                  <a:srgbClr val="FFFFFF"/>
                </a:solidFill>
                <a:latin typeface="Arial" pitchFamily="34" charset="0"/>
                <a:cs typeface="Arial" pitchFamily="34" charset="-120"/>
              </a:rPr>
              <a:t>Compute a separate accuracy(</a:t>
            </a:r>
            <a:r>
              <a:rPr lang="en-US" sz="1200" dirty="0" err="1">
                <a:solidFill>
                  <a:srgbClr val="FFFFFF"/>
                </a:solidFill>
                <a:latin typeface="Arial" pitchFamily="34" charset="0"/>
                <a:cs typeface="Arial" pitchFamily="34" charset="-120"/>
              </a:rPr>
              <a:t>compute_level</a:t>
            </a:r>
            <a:r>
              <a:rPr lang="en-US" sz="1200" dirty="0">
                <a:solidFill>
                  <a:srgbClr val="FFFFFF"/>
                </a:solidFill>
                <a:latin typeface="Arial" pitchFamily="34" charset="0"/>
                <a:cs typeface="Arial" pitchFamily="34" charset="-120"/>
              </a:rPr>
              <a:t>) curve for each (benchmark × tier), then normalize each curve (z-score or min-max) based on its own performance across compute levels — this removes the effect of differing scale/ceiling before anything gets combined.</a:t>
            </a: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4. Aggregate: </a:t>
            </a:r>
            <a:r>
              <a:rPr lang="en-US" sz="1200" dirty="0">
                <a:solidFill>
                  <a:srgbClr val="FFFFFF"/>
                </a:solidFill>
                <a:latin typeface="Arial" pitchFamily="34" charset="0"/>
                <a:cs typeface="Arial" pitchFamily="34" charset="-120"/>
              </a:rPr>
              <a:t>Compute the aggregate curve as the mean of the normalized per-subgroup curves — never the mean of raw accuracy — and keep the disaggregated (per-subgroup) curves alongside it as a sanity check.</a:t>
            </a:r>
          </a:p>
          <a:p>
            <a:pPr marL="514350" marR="0" lvl="0" indent="-171450" algn="l" defTabSz="914400" rtl="0" eaLnBrk="1" fontAlgn="auto" latinLnBrk="0" hangingPunct="1">
              <a:lnSpc>
                <a:spcPct val="100000"/>
              </a:lnSpc>
              <a:spcBef>
                <a:spcPts val="400"/>
              </a:spcBef>
              <a:spcAft>
                <a:spcPts val="200"/>
              </a:spcAft>
              <a:buClrTx/>
              <a:buSzPct val="100000"/>
              <a:buFontTx/>
              <a:buChar char="-"/>
              <a:tabLst/>
              <a:defRPr/>
            </a:pPr>
            <a:r>
              <a:rPr lang="en-US" sz="1200" b="1" dirty="0">
                <a:solidFill>
                  <a:schemeClr val="bg1"/>
                </a:solidFill>
                <a:latin typeface="Consolas" panose="020B0609020204030204" pitchFamily="49" charset="0"/>
              </a:rPr>
              <a:t>5. Record results: </a:t>
            </a:r>
            <a:r>
              <a:rPr lang="en-US" sz="1200" dirty="0">
                <a:solidFill>
                  <a:srgbClr val="FFFFFF"/>
                </a:solidFill>
                <a:latin typeface="Arial" pitchFamily="34" charset="0"/>
                <a:cs typeface="Arial" pitchFamily="34" charset="-120"/>
              </a:rPr>
              <a:t>Save the final curves (raw per-subgroup, normalized per-subgroup, and aggregate) along with the knee-detection outputs (global knee, tier-specific knees, </a:t>
            </a:r>
            <a:r>
              <a:rPr lang="en-US" sz="1200" dirty="0" err="1">
                <a:solidFill>
                  <a:srgbClr val="FFFFFF"/>
                </a:solidFill>
                <a:latin typeface="Arial" pitchFamily="34" charset="0"/>
                <a:cs typeface="Arial" pitchFamily="34" charset="-120"/>
              </a:rPr>
              <a:t>Δcompute</a:t>
            </a:r>
            <a:r>
              <a:rPr lang="en-US" sz="1200" dirty="0">
                <a:solidFill>
                  <a:srgbClr val="FFFFFF"/>
                </a:solidFill>
                <a:latin typeface="Arial" pitchFamily="34" charset="0"/>
                <a:cs typeface="Arial" pitchFamily="34" charset="-120"/>
              </a:rPr>
              <a:t> per tier) as the deliverable output of the analysis phase.</a:t>
            </a: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79027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H1 — Testing Methodology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Test Findings </a:t>
            </a: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14350" marR="0" lvl="0" indent="-17145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574675" marR="0" lvl="0" indent="-171450" algn="l" defTabSz="914400" rtl="0" eaLnBrk="1" fontAlgn="auto" latinLnBrk="0" hangingPunct="1">
              <a:lnSpc>
                <a:spcPct val="100000"/>
              </a:lnSpc>
              <a:spcBef>
                <a:spcPts val="0"/>
              </a:spcBef>
              <a:spcAft>
                <a:spcPts val="200"/>
              </a:spcAft>
              <a:buClrTx/>
              <a:buSzPct val="100000"/>
              <a:buFontTx/>
              <a:buChar char="-"/>
              <a:tabLst/>
              <a:defRPr/>
            </a:pPr>
            <a:endParaRPr kumimoji="0" lang="en-US" sz="1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344336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
</a:t>
            </a:r>
            <a:endParaRPr lang="en-US" sz="2000" dirty="0"/>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L="0" indent="0" algn="l">
              <a:buNone/>
            </a:pPr>
            <a:r>
              <a:rPr lang="en-US" sz="4000">
                <a:solidFill>
                  <a:srgbClr val="FFFFFF"/>
                </a:solidFill>
                <a:latin typeface="Arial" pitchFamily="34" charset="0"/>
                <a:ea typeface="Arial" pitchFamily="34" charset="-122"/>
                <a:cs typeface="Arial" pitchFamily="34" charset="-120"/>
              </a:rPr>
              <a:t>Thanks</a:t>
            </a:r>
            <a:endParaRPr lang="en-US" sz="4000" dirty="0"/>
          </a:p>
        </p:txBody>
      </p:sp>
      <p:sp>
        <p:nvSpPr>
          <p:cNvPr id="5" name="Shape 3"/>
          <p:cNvSpPr/>
          <p:nvPr/>
        </p:nvSpPr>
        <p:spPr>
          <a:xfrm>
            <a:off x="8229600" y="4233672"/>
            <a:ext cx="612648" cy="612648"/>
          </a:xfrm>
          <a:prstGeom prst="rect">
            <a:avLst/>
          </a:prstGeom>
          <a:solidFill>
            <a:srgbClr val="FF6600"/>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ck Master 2021">
  <a:themeElements>
    <a:clrScheme name="Orange BLK Core">
      <a:dk1>
        <a:srgbClr val="FFFFFF"/>
      </a:dk1>
      <a:lt1>
        <a:srgbClr val="000000"/>
      </a:lt1>
      <a:dk2>
        <a:srgbClr val="8F8F8F"/>
      </a:dk2>
      <a:lt2>
        <a:srgbClr val="FF7900"/>
      </a:lt2>
      <a:accent1>
        <a:srgbClr val="FF7900"/>
      </a:accent1>
      <a:accent2>
        <a:srgbClr val="FFFFFF"/>
      </a:accent2>
      <a:accent3>
        <a:srgbClr val="595959"/>
      </a:accent3>
      <a:accent4>
        <a:srgbClr val="8F8F8F"/>
      </a:accent4>
      <a:accent5>
        <a:srgbClr val="D6D6D6"/>
      </a:accent5>
      <a:accent6>
        <a:srgbClr val="595959"/>
      </a:accent6>
      <a:hlink>
        <a:srgbClr val="FF7900"/>
      </a:hlink>
      <a:folHlink>
        <a:srgbClr val="FF79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353</TotalTime>
  <Words>4387</Words>
  <Application>Microsoft Office PowerPoint</Application>
  <PresentationFormat>On-screen Show (16:9)</PresentationFormat>
  <Paragraphs>410</Paragraphs>
  <Slides>25</Slides>
  <Notes>25</Notes>
  <HiddenSlides>1</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Arial</vt:lpstr>
      <vt:lpstr>Calibri</vt:lpstr>
      <vt:lpstr>Consolas</vt:lpstr>
      <vt:lpstr>Helvetica Neue</vt:lpstr>
      <vt:lpstr>Noto Sans Symbols</vt:lpstr>
      <vt:lpstr>Office Theme</vt:lpstr>
      <vt:lpstr>Black Master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Ahmed fathy ahmed</cp:lastModifiedBy>
  <cp:revision>15</cp:revision>
  <dcterms:created xsi:type="dcterms:W3CDTF">2026-09-12T01:52:22Z</dcterms:created>
  <dcterms:modified xsi:type="dcterms:W3CDTF">2026-09-22T08:35:41Z</dcterms:modified>
</cp:coreProperties>
</file>